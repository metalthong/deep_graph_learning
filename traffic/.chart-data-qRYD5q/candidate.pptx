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7.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8.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9.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0.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1393959bd0945cb" /><Relationship Type="http://schemas.openxmlformats.org/officeDocument/2006/relationships/extended-properties" Target="/docProps/app.xml" Id="R67d6dd1b06f14350" /><Relationship Type="http://schemas.openxmlformats.org/officeDocument/2006/relationships/officeDocument" Target="/ppt/presentation.xml" Id="R014fe1488fbd4fd3" /></Relationships>
</file>

<file path=ppt/presentation.xml><?xml version="1.0" encoding="utf-8"?>
<p:presentation xmlns:p="http://schemas.openxmlformats.org/presentationml/2006/main">
  <p:sldMasterIdLst>
    <p:sldMasterId xmlns:r="http://schemas.openxmlformats.org/officeDocument/2006/relationships" id="2147483648" r:id="R5d05d850aa384f73"/>
  </p:sldMasterIdLst>
  <p:notesMasterIdLst>
    <p:notesMasterId xmlns:r="http://schemas.openxmlformats.org/officeDocument/2006/relationships" r:id="R449db502df574bd3"/>
  </p:notesMasterIdLst>
  <p:sldIdLst>
    <p:sldId xmlns:r="http://schemas.openxmlformats.org/officeDocument/2006/relationships" id="256" r:id="Rd7d2b39361ee4ead"/>
    <p:sldId xmlns:r="http://schemas.openxmlformats.org/officeDocument/2006/relationships" id="257" r:id="R2fa1929d43c64140"/>
    <p:sldId xmlns:r="http://schemas.openxmlformats.org/officeDocument/2006/relationships" id="258" r:id="Red20e7abc773421f"/>
    <p:sldId xmlns:r="http://schemas.openxmlformats.org/officeDocument/2006/relationships" id="259" r:id="Ra8ed91bd135c4658"/>
    <p:sldId xmlns:r="http://schemas.openxmlformats.org/officeDocument/2006/relationships" id="260" r:id="R5abaa5279c704780"/>
    <p:sldId xmlns:r="http://schemas.openxmlformats.org/officeDocument/2006/relationships" id="261" r:id="R076a47bf6b094c44"/>
    <p:sldId xmlns:r="http://schemas.openxmlformats.org/officeDocument/2006/relationships" id="262" r:id="Rb5d94ba228b34dc4"/>
    <p:sldId xmlns:r="http://schemas.openxmlformats.org/officeDocument/2006/relationships" id="263" r:id="R24660eeba0b54d51"/>
    <p:sldId xmlns:r="http://schemas.openxmlformats.org/officeDocument/2006/relationships" id="264" r:id="Rda66682a12ff400c"/>
    <p:sldId xmlns:r="http://schemas.openxmlformats.org/officeDocument/2006/relationships" id="265" r:id="Re348d7d9581e4d1a"/>
    <p:sldId xmlns:r="http://schemas.openxmlformats.org/officeDocument/2006/relationships" id="266" r:id="Rabebe446f3654593"/>
    <p:sldId xmlns:r="http://schemas.openxmlformats.org/officeDocument/2006/relationships" id="267" r:id="Rcbffd749758c4ca9"/>
    <p:sldId xmlns:r="http://schemas.openxmlformats.org/officeDocument/2006/relationships" id="268" r:id="Re76cc37adb8b4357"/>
    <p:sldId xmlns:r="http://schemas.openxmlformats.org/officeDocument/2006/relationships" id="269" r:id="Rd4723890e10042cc"/>
    <p:sldId xmlns:r="http://schemas.openxmlformats.org/officeDocument/2006/relationships" id="270" r:id="R9831ab245979412d"/>
    <p:sldId xmlns:r="http://schemas.openxmlformats.org/officeDocument/2006/relationships" id="271" r:id="R2db6686f4dca4259"/>
    <p:sldId xmlns:r="http://schemas.openxmlformats.org/officeDocument/2006/relationships" id="272" r:id="R989559185cc24c7e"/>
    <p:sldId xmlns:r="http://schemas.openxmlformats.org/officeDocument/2006/relationships" id="273" r:id="R01e1176a57dc4144"/>
    <p:sldId xmlns:r="http://schemas.openxmlformats.org/officeDocument/2006/relationships" id="274" r:id="Rdd9035acf3d04404"/>
    <p:sldId xmlns:r="http://schemas.openxmlformats.org/officeDocument/2006/relationships" id="275" r:id="R7b8758acffe944bb"/>
    <p:sldId xmlns:r="http://schemas.openxmlformats.org/officeDocument/2006/relationships" id="276" r:id="R3080517909054cb6"/>
    <p:sldId xmlns:r="http://schemas.openxmlformats.org/officeDocument/2006/relationships" id="277" r:id="Rf06c94d61727496c"/>
    <p:sldId xmlns:r="http://schemas.openxmlformats.org/officeDocument/2006/relationships" id="278" r:id="R8fda96e9e2f048a0"/>
    <p:sldId xmlns:r="http://schemas.openxmlformats.org/officeDocument/2006/relationships" id="279" r:id="R63279a2ca3104b78"/>
    <p:sldId xmlns:r="http://schemas.openxmlformats.org/officeDocument/2006/relationships" id="280" r:id="R1ce3b2bd80a24327"/>
    <p:sldId xmlns:r="http://schemas.openxmlformats.org/officeDocument/2006/relationships" id="281" r:id="R7bc843db138844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6e267bf9634bf3" /><Relationship Type="http://schemas.openxmlformats.org/officeDocument/2006/relationships/slideMaster" Target="/ppt/slideMasters/slideMaster1.xml" Id="R5d05d850aa384f73" /><Relationship Type="http://schemas.openxmlformats.org/officeDocument/2006/relationships/notesMaster" Target="/ppt/notesMasters/notesMaster1.xml" Id="R449db502df574bd3" /><Relationship Type="http://schemas.openxmlformats.org/officeDocument/2006/relationships/presProps" Target="/ppt/presProps.xml" Id="Ra52c94d2083e4fdc" /><Relationship Type="http://schemas.openxmlformats.org/officeDocument/2006/relationships/tableStyles" Target="/ppt/tableStyles.xml" Id="Rd600378a759143a5" /><Relationship Type="http://schemas.openxmlformats.org/officeDocument/2006/relationships/slide" Target="/ppt/slides/slide1.xml" Id="Rd7d2b39361ee4ead" /><Relationship Type="http://schemas.openxmlformats.org/officeDocument/2006/relationships/slide" Target="/ppt/slides/slide2.xml" Id="R2fa1929d43c64140" /><Relationship Type="http://schemas.openxmlformats.org/officeDocument/2006/relationships/slide" Target="/ppt/slides/slide3.xml" Id="Red20e7abc773421f" /><Relationship Type="http://schemas.openxmlformats.org/officeDocument/2006/relationships/slide" Target="/ppt/slides/slide4.xml" Id="Ra8ed91bd135c4658" /><Relationship Type="http://schemas.openxmlformats.org/officeDocument/2006/relationships/slide" Target="/ppt/slides/slide5.xml" Id="R5abaa5279c704780" /><Relationship Type="http://schemas.openxmlformats.org/officeDocument/2006/relationships/slide" Target="/ppt/slides/slide6.xml" Id="R076a47bf6b094c44" /><Relationship Type="http://schemas.openxmlformats.org/officeDocument/2006/relationships/slide" Target="/ppt/slides/slide7.xml" Id="Rb5d94ba228b34dc4" /><Relationship Type="http://schemas.openxmlformats.org/officeDocument/2006/relationships/slide" Target="/ppt/slides/slide8.xml" Id="R24660eeba0b54d51" /><Relationship Type="http://schemas.openxmlformats.org/officeDocument/2006/relationships/slide" Target="/ppt/slides/slide9.xml" Id="Rda66682a12ff400c" /><Relationship Type="http://schemas.openxmlformats.org/officeDocument/2006/relationships/slide" Target="/ppt/slides/slide10.xml" Id="Re348d7d9581e4d1a" /><Relationship Type="http://schemas.openxmlformats.org/officeDocument/2006/relationships/slide" Target="/ppt/slides/slide11.xml" Id="Rabebe446f3654593" /><Relationship Type="http://schemas.openxmlformats.org/officeDocument/2006/relationships/slide" Target="/ppt/slides/slide12.xml" Id="Rcbffd749758c4ca9" /><Relationship Type="http://schemas.openxmlformats.org/officeDocument/2006/relationships/slide" Target="/ppt/slides/slide13.xml" Id="Re76cc37adb8b4357" /><Relationship Type="http://schemas.openxmlformats.org/officeDocument/2006/relationships/slide" Target="/ppt/slides/slide14.xml" Id="Rd4723890e10042cc" /><Relationship Type="http://schemas.openxmlformats.org/officeDocument/2006/relationships/slide" Target="/ppt/slides/slide15.xml" Id="R9831ab245979412d" /><Relationship Type="http://schemas.openxmlformats.org/officeDocument/2006/relationships/slide" Target="/ppt/slides/slide16.xml" Id="R2db6686f4dca4259" /><Relationship Type="http://schemas.openxmlformats.org/officeDocument/2006/relationships/slide" Target="/ppt/slides/slide17.xml" Id="R989559185cc24c7e" /><Relationship Type="http://schemas.openxmlformats.org/officeDocument/2006/relationships/slide" Target="/ppt/slides/slide18.xml" Id="R01e1176a57dc4144" /><Relationship Type="http://schemas.openxmlformats.org/officeDocument/2006/relationships/slide" Target="/ppt/slides/slide19.xml" Id="Rdd9035acf3d04404" /><Relationship Type="http://schemas.openxmlformats.org/officeDocument/2006/relationships/slide" Target="/ppt/slides/slide20.xml" Id="R7b8758acffe944bb" /><Relationship Type="http://schemas.openxmlformats.org/officeDocument/2006/relationships/slide" Target="/ppt/slides/slide21.xml" Id="R3080517909054cb6" /><Relationship Type="http://schemas.openxmlformats.org/officeDocument/2006/relationships/slide" Target="/ppt/slides/slide22.xml" Id="Rf06c94d61727496c" /><Relationship Type="http://schemas.openxmlformats.org/officeDocument/2006/relationships/slide" Target="/ppt/slides/slide23.xml" Id="R8fda96e9e2f048a0" /><Relationship Type="http://schemas.openxmlformats.org/officeDocument/2006/relationships/slide" Target="/ppt/slides/slide24.xml" Id="R63279a2ca3104b78" /><Relationship Type="http://schemas.openxmlformats.org/officeDocument/2006/relationships/slide" Target="/ppt/slides/slide25.xml" Id="R1ce3b2bd80a24327" /><Relationship Type="http://schemas.openxmlformats.org/officeDocument/2006/relationships/slide" Target="/ppt/slides/slide26.xml" Id="R7bc843db138844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4524e4115845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d54dfaea9c46c4" /><Relationship Type="http://schemas.openxmlformats.org/officeDocument/2006/relationships/notesMaster" Target="/ppt/notesMasters/notesMaster1.xml" Id="Rae637d4c743540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0be127a1d04c4f" /><Relationship Type="http://schemas.openxmlformats.org/officeDocument/2006/relationships/notesMaster" Target="/ppt/notesMasters/notesMaster1.xml" Id="Re8fd10c1617645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18286fa455460f" /><Relationship Type="http://schemas.openxmlformats.org/officeDocument/2006/relationships/notesMaster" Target="/ppt/notesMasters/notesMaster1.xml" Id="R3014caf7bf0b4b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77ed30910e4d2f" /><Relationship Type="http://schemas.openxmlformats.org/officeDocument/2006/relationships/notesMaster" Target="/ppt/notesMasters/notesMaster1.xml" Id="Rd8c346bd966a4b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2be46e5580419d" /><Relationship Type="http://schemas.openxmlformats.org/officeDocument/2006/relationships/notesMaster" Target="/ppt/notesMasters/notesMaster1.xml" Id="Rce293cc52b3445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09ad87c1df4311" /><Relationship Type="http://schemas.openxmlformats.org/officeDocument/2006/relationships/notesMaster" Target="/ppt/notesMasters/notesMaster1.xml" Id="Rf57010d0bff24f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cb3da178464035" /><Relationship Type="http://schemas.openxmlformats.org/officeDocument/2006/relationships/notesMaster" Target="/ppt/notesMasters/notesMaster1.xml" Id="R882d8b53b7534f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206e4f87484b52" /><Relationship Type="http://schemas.openxmlformats.org/officeDocument/2006/relationships/notesMaster" Target="/ppt/notesMasters/notesMaster1.xml" Id="R7cfd711c9d9f48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e4c4c6cf6c428a" /><Relationship Type="http://schemas.openxmlformats.org/officeDocument/2006/relationships/notesMaster" Target="/ppt/notesMasters/notesMaster1.xml" Id="R752856197e3d4e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8c74cfe6104802" /><Relationship Type="http://schemas.openxmlformats.org/officeDocument/2006/relationships/notesMaster" Target="/ppt/notesMasters/notesMaster1.xml" Id="R098b3b076e5345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de7b0a3b0d4f08" /><Relationship Type="http://schemas.openxmlformats.org/officeDocument/2006/relationships/notesMaster" Target="/ppt/notesMasters/notesMaster1.xml" Id="Re7f184c984504b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de0aee50ed4a35" /><Relationship Type="http://schemas.openxmlformats.org/officeDocument/2006/relationships/notesMaster" Target="/ppt/notesMasters/notesMaster1.xml" Id="Re293823d21264f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6316d2fc614afe" /><Relationship Type="http://schemas.openxmlformats.org/officeDocument/2006/relationships/notesMaster" Target="/ppt/notesMasters/notesMaster1.xml" Id="R0c387b9a879d46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40503729304249" /><Relationship Type="http://schemas.openxmlformats.org/officeDocument/2006/relationships/notesMaster" Target="/ppt/notesMasters/notesMaster1.xml" Id="R2702b0c4c5e648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ee8e94b2b4426a" /><Relationship Type="http://schemas.openxmlformats.org/officeDocument/2006/relationships/notesMaster" Target="/ppt/notesMasters/notesMaster1.xml" Id="R4b7ef3f83746457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90aa9274954045" /><Relationship Type="http://schemas.openxmlformats.org/officeDocument/2006/relationships/notesMaster" Target="/ppt/notesMasters/notesMaster1.xml" Id="R71b8ac788cdf463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b5ddfe7a5b4ed5" /><Relationship Type="http://schemas.openxmlformats.org/officeDocument/2006/relationships/notesMaster" Target="/ppt/notesMasters/notesMaster1.xml" Id="Read8f6d28ccb40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f4f1bfa7b94300" /><Relationship Type="http://schemas.openxmlformats.org/officeDocument/2006/relationships/notesMaster" Target="/ppt/notesMasters/notesMaster1.xml" Id="Rdb2a0c7e2fae4e5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41dbe7d66a14519" /><Relationship Type="http://schemas.openxmlformats.org/officeDocument/2006/relationships/notesMaster" Target="/ppt/notesMasters/notesMaster1.xml" Id="R66ec8198c91c43f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4c9c164e2ce4ad5" /><Relationship Type="http://schemas.openxmlformats.org/officeDocument/2006/relationships/notesMaster" Target="/ppt/notesMasters/notesMaster1.xml" Id="R03bfae309706481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96a0efd88942e1" /><Relationship Type="http://schemas.openxmlformats.org/officeDocument/2006/relationships/notesMaster" Target="/ppt/notesMasters/notesMaster1.xml" Id="Rd43b89cb34594f3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2218b1356a24db0" /><Relationship Type="http://schemas.openxmlformats.org/officeDocument/2006/relationships/notesMaster" Target="/ppt/notesMasters/notesMaster1.xml" Id="R3838e93fbdd4434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b6362aae22f4eec" /><Relationship Type="http://schemas.openxmlformats.org/officeDocument/2006/relationships/notesMaster" Target="/ppt/notesMasters/notesMaster1.xml" Id="Rdffe3eb5d29b4ff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f288bc5e14542be" /><Relationship Type="http://schemas.openxmlformats.org/officeDocument/2006/relationships/notesMaster" Target="/ppt/notesMasters/notesMaster1.xml" Id="Ra6d5e90951854e7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358e24dc16b4bc4" /><Relationship Type="http://schemas.openxmlformats.org/officeDocument/2006/relationships/notesMaster" Target="/ppt/notesMasters/notesMaster1.xml" Id="R3789f832b796470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5391835ce084e2e" /><Relationship Type="http://schemas.openxmlformats.org/officeDocument/2006/relationships/notesMaster" Target="/ppt/notesMasters/notesMaster1.xml" Id="R2ee7a2bcffc14f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1/26 | 00:00–00:45</a:t>
            </a:r>
          </a:p>
          <a:p xmlns:a="http://schemas.openxmlformats.org/drawingml/2006/main">
            <a:r>
              <a:t/>
            </a:r>
          </a:p>
          <a:p xmlns:a="http://schemas.openxmlformats.org/drawingml/2006/main">
            <a:r>
              <a:t>LỜI THUYẾT TRÌNH</a:t>
            </a:r>
          </a:p>
          <a:p xmlns:a="http://schemas.openxmlformats.org/drawingml/2006/main">
            <a:r>
              <a:t>Chào thầy và các bạn. Nhóm chúng em trình bày ứng dụng Deep Graph để dự báo tốc độ giao thông trước 15 phút. Bài toán của nhóm là sử dụng một giờ dữ liệu đã quan sát tại các cảm biến trên mạng đường, rồi dự báo tốc độ ở thời điểm tiếp theo cần quan tâm. Nhóm có mã huấn luyện, so sánh các phương pháp và một ứng dụng chạy được. Trong bài này, chúng em sẽ đi từ một tình huống thực tế, giải thích dữ liệu và mô hình, sau đó kiểm tra dự báo trực tiếp trên demo.</a:t>
            </a:r>
          </a:p>
          <a:p xmlns:a="http://schemas.openxmlformats.org/drawingml/2006/main">
            <a:r>
              <a:t/>
            </a:r>
          </a:p>
          <a:p xmlns:a="http://schemas.openxmlformats.org/drawingml/2006/main">
            <a:r>
              <a:t>THAO TÁC</a:t>
            </a:r>
          </a:p>
          <a:p xmlns:a="http://schemas.openxmlformats.org/drawingml/2006/main">
            <a:r>
              <a:t>Giới thiệu tên bốn thành viên. Chỉ vào cụm “trước 15 phút”. Không giải thích thuật toán ở slide đầu.</a:t>
            </a:r>
          </a:p>
          <a:p xmlns:a="http://schemas.openxmlformats.org/drawingml/2006/main">
            <a:r>
              <a:t/>
            </a:r>
          </a:p>
          <a:p xmlns:a="http://schemas.openxmlformats.org/drawingml/2006/main">
            <a:r>
              <a:t>CHUYỂN TIẾP</a:t>
            </a:r>
          </a:p>
          <a:p xmlns:a="http://schemas.openxmlformats.org/drawingml/2006/main">
            <a:r>
              <a:t>Trước hết, mời thầy và các bạn xem một tình huống giao thông.</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2/26 | 00:45–02:30</a:t>
            </a:r>
          </a:p>
          <a:p xmlns:a="http://schemas.openxmlformats.org/drawingml/2006/main">
            <a:r>
              <a:t/>
            </a:r>
          </a:p>
          <a:p xmlns:a="http://schemas.openxmlformats.org/drawingml/2006/main">
            <a:r>
              <a:t>LỜI THUYẾT TRÌNH</a:t>
            </a:r>
          </a:p>
          <a:p xmlns:a="http://schemas.openxmlformats.org/drawingml/2006/main">
            <a:r>
              <a:t>Tại thời điểm đang quan sát, cảm biến này ghi nhận khoảng 14,5 km/h. Nếu phải đoán tốc độ sau 15 phút, một cách hợp lý là dự đoán vẫn bằng 14,5. Nhưng cũng có khả năng dòng xe đang phục hồi. Em xin mời mọi người đoán: tốc độ sẽ giữ nguyên, giảm tiếp hay tăng lên? Chúng ta chưa mở dữ liệu tương lai. Đây là một mẫu trong tập kiểm tra, tại Los Angeles ngày 6 tháng 6 năm 2012. Nhóm cố ý bắt đầu bằng một ví dụ cụ thể để sau đó quay lại kiểm tra dự đoán của từng phương pháp. Ví dụ này đã được chọn sau khi hoàn thành đánh giá để dễ trình bày. Nó không đại diện cho độ chính xác trên mọi thời điểm. Khi kết luận chất lượng, nhóm sẽ dùng toàn bộ tập kiểm tra, gồm hàng nghìn cửa sổ và hơn một triệu mục tiêu hợp lệ.</a:t>
            </a:r>
          </a:p>
          <a:p xmlns:a="http://schemas.openxmlformats.org/drawingml/2006/main">
            <a:r>
              <a:t/>
            </a:r>
          </a:p>
          <a:p xmlns:a="http://schemas.openxmlformats.org/drawingml/2006/main">
            <a:r>
              <a:t>THAO TÁC</a:t>
            </a:r>
          </a:p>
          <a:p xmlns:a="http://schemas.openxmlformats.org/drawingml/2006/main">
            <a:r>
              <a:t>Dừng 15–20 giây để lớp đoán. Có thể mở demo ở nút “Graph có ích”, giữ ẩn dữ liệu tương lai rồi quay lại slide. Không bật kết quả sớm.</a:t>
            </a:r>
          </a:p>
          <a:p xmlns:a="http://schemas.openxmlformats.org/drawingml/2006/main">
            <a:r>
              <a:t/>
            </a:r>
          </a:p>
          <a:p xmlns:a="http://schemas.openxmlformats.org/drawingml/2006/main">
            <a:r>
              <a:t>CHUYỂN TIẾP</a:t>
            </a:r>
          </a:p>
          <a:p xmlns:a="http://schemas.openxmlformats.org/drawingml/2006/main">
            <a:r>
              <a:t>Câu hỏi tiếp theo là vì sao chúng ta cần biết điều đó trước 15 phút.</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3/26 | 02:30–03:50</a:t>
            </a:r>
          </a:p>
          <a:p xmlns:a="http://schemas.openxmlformats.org/drawingml/2006/main">
            <a:r>
              <a:t/>
            </a:r>
          </a:p>
          <a:p xmlns:a="http://schemas.openxmlformats.org/drawingml/2006/main">
            <a:r>
              <a:t>LỜI THUYẾT TRÌNH</a:t>
            </a:r>
          </a:p>
          <a:p xmlns:a="http://schemas.openxmlformats.org/drawingml/2006/main">
            <a:r>
              <a:t>Tốc độ hiện tại cho biết tình trạng đã xảy ra. Dự báo ngắn hạn bổ sung một khoảng thời gian để người sử dụng chuẩn bị: trung tâm điều hành có thể theo dõi vị trí có nguy cơ chậm lại, còn người lập kế hoạch hành trình có thêm thông tin về trạng thái sắp tới. Tuy nhiên, dự báo tốc độ mới chỉ là một thành phần. Muốn chỉ đường tối ưu còn cần chiều dài đoạn đường, các ràng buộc tuyến và một hệ thống định tuyến. Nhóm không đánh đồng dự báo tốc độ với tính thời gian đến nơi. Trong phạm vi môn học, nhóm xây dựng một hệ thống thực nghiệm có đầu vào và đầu ra rõ ràng, có phương pháp đối chứng, có thước đo và có ứng dụng để kiểm tra. Nhóm dùng dữ liệu lịch sử nước ngoài nên chưa thể tuyên bố hệ thống đã có hiệu quả trên đường phố Việt Nam.</a:t>
            </a:r>
          </a:p>
          <a:p xmlns:a="http://schemas.openxmlformats.org/drawingml/2006/main">
            <a:r>
              <a:t/>
            </a:r>
          </a:p>
          <a:p xmlns:a="http://schemas.openxmlformats.org/drawingml/2006/main">
            <a:r>
              <a:t>THAO TÁC</a:t>
            </a:r>
          </a:p>
          <a:p xmlns:a="http://schemas.openxmlformats.org/drawingml/2006/main">
            <a:r>
              <a:t>Nêu một ví dụ gần gũi như chuẩn bị đi học hoặc theo dõi giờ cao điểm. Phân biệt dự báo tốc độ và chọn tuyến đường.</a:t>
            </a:r>
          </a:p>
          <a:p xmlns:a="http://schemas.openxmlformats.org/drawingml/2006/main">
            <a:r>
              <a:t/>
            </a:r>
          </a:p>
          <a:p xmlns:a="http://schemas.openxmlformats.org/drawingml/2006/main">
            <a:r>
              <a:t>CHUYỂN TIẾP</a:t>
            </a:r>
          </a:p>
          <a:p xmlns:a="http://schemas.openxmlformats.org/drawingml/2006/main">
            <a:r>
              <a:t>Muốn dự báo, mô hình cần nhìn những loại thông tin nào?</a:t>
            </a:r>
          </a:p>
          <a:p xmlns:a="http://schemas.openxmlformats.org/drawingml/2006/main">
            <a:r>
              <a:t/>
            </a:r>
          </a:p>
          <a:p xmlns:a="http://schemas.openxmlformats.org/drawingml/2006/main">
            <a:r>
              <a:t>NGUỒN</a:t>
            </a:r>
          </a:p>
          <a:p xmlns:a="http://schemas.openxmlformats.org/drawingml/2006/main">
            <a:r>
              <a:t>https://github.com/liyaguang/DCRNN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4/26 | 03:50–05:20</a:t>
            </a:r>
          </a:p>
          <a:p xmlns:a="http://schemas.openxmlformats.org/drawingml/2006/main">
            <a:r>
              <a:t/>
            </a:r>
          </a:p>
          <a:p xmlns:a="http://schemas.openxmlformats.org/drawingml/2006/main">
            <a:r>
              <a:t>LỜI THUYẾT TRÌNH</a:t>
            </a:r>
          </a:p>
          <a:p xmlns:a="http://schemas.openxmlformats.org/drawingml/2006/main">
            <a:r>
              <a:t>Thông tin thứ nhất là thời gian. Một vị trí có thể đang giảm tốc liên tục hoặc vừa bắt đầu phục hồi. Hai tình huống có cùng tốc độ hiện tại vẫn có thể có tương lai khác nhau. Thông tin thứ hai là không gian. Những vị trí có liên quan trên mạng đường có thể cùng chịu tác động của dòng xe. Vì vậy, khi dự báo cho một cảm biến, ta có thể xem thêm các cảm biến liên quan. Quan hệ ở đây dựa trên mạng đường và khoảng cách của dữ liệu nguồn, không chỉ dựa vào việc hai điểm nhìn có vẻ gần nhau trên bản đồ. Mối liên hệ thống kê cũng không chứng minh rằng một điểm gây ra ùn tắc ở điểm khác. Trong mô hình của nhóm, graph cung cấp cấu trúc để tổng hợp thông tin. Việc tổng hợp ấy có giúp dự báo tốt hơn hay không phải kiểm tra bằng thực nghiệm.</a:t>
            </a:r>
          </a:p>
          <a:p xmlns:a="http://schemas.openxmlformats.org/drawingml/2006/main">
            <a:r>
              <a:t/>
            </a:r>
          </a:p>
          <a:p xmlns:a="http://schemas.openxmlformats.org/drawingml/2006/main">
            <a:r>
              <a:t>THAO TÁC</a:t>
            </a:r>
          </a:p>
          <a:p xmlns:a="http://schemas.openxmlformats.org/drawingml/2006/main">
            <a:r>
              <a:t>Chỉ lần lượt vào đường tốc độ theo thời gian và những nút liên quan. Nhấn mạnh “có thể giúp” thay vì “chắc chắn giúp”.</a:t>
            </a:r>
          </a:p>
          <a:p xmlns:a="http://schemas.openxmlformats.org/drawingml/2006/main">
            <a:r>
              <a:t/>
            </a:r>
          </a:p>
          <a:p xmlns:a="http://schemas.openxmlformats.org/drawingml/2006/main">
            <a:r>
              <a:t>CHUYỂN TIẾP</a:t>
            </a:r>
          </a:p>
          <a:p xmlns:a="http://schemas.openxmlformats.org/drawingml/2006/main">
            <a:r>
              <a:t>Đây là lý do Deep Graph phù hợp với cách biểu diễn bài toán.</a:t>
            </a:r>
          </a:p>
          <a:p xmlns:a="http://schemas.openxmlformats.org/drawingml/2006/main">
            <a:r>
              <a:t/>
            </a:r>
          </a:p>
          <a:p xmlns:a="http://schemas.openxmlformats.org/drawingml/2006/main">
            <a:r>
              <a:t>NGUỒN</a:t>
            </a:r>
          </a:p>
          <a:p xmlns:a="http://schemas.openxmlformats.org/drawingml/2006/main">
            <a:r>
              <a:t>https://github.com/liyaguang/DCRNN</a:t>
            </a:r>
          </a:p>
          <a:p xmlns:a="http://schemas.openxmlformats.org/drawingml/2006/main">
            <a:r>
              <a:t>https://arxiv.org/abs/1811.05320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5/26 | 05:20–06:40</a:t>
            </a:r>
          </a:p>
          <a:p xmlns:a="http://schemas.openxmlformats.org/drawingml/2006/main">
            <a:r>
              <a:t/>
            </a:r>
          </a:p>
          <a:p xmlns:a="http://schemas.openxmlformats.org/drawingml/2006/main">
            <a:r>
              <a:t>LỜI THUYẾT TRÌNH</a:t>
            </a:r>
          </a:p>
          <a:p xmlns:a="http://schemas.openxmlformats.org/drawingml/2006/main">
            <a:r>
              <a:t>Graph gồm các nút và các cạnh. Trong bài này, mỗi nút là một cảm biến, còn cạnh biểu diễn quan hệ đã xây dựng giữa các cảm biến. Deep Graph là hướng học sâu sử dụng cấu trúc quan hệ đó. Nhóm chọn mạng neural trên graph, cụ thể một lớp tích chập graph kết hợp GRU. Kiến thức đã học vẫn được giữ lại: chuẩn bị dữ liệu, chia tập, hàm mất mát, tối ưu tham số và kiểm tra kết quả. So với MLP xử lý đặc trưng của từng đối tượng, lớp graph thêm bước tổng hợp đặc trưng theo quan hệ. So với CNN trên ảnh, ý tưởng khai thác lân cận vẫn còn, nhưng lân cận được xác định bằng cạnh graph thay vì một cửa sổ vuông trên lưới pixel. Graph ở đây cũng khác graph tri thức trong RAG: mục tiêu của chúng em là học dự báo một giá trị số, không phải truy xuất tài liệu để sinh câu trả lời.</a:t>
            </a:r>
          </a:p>
          <a:p xmlns:a="http://schemas.openxmlformats.org/drawingml/2006/main">
            <a:r>
              <a:t/>
            </a:r>
          </a:p>
          <a:p xmlns:a="http://schemas.openxmlformats.org/drawingml/2006/main">
            <a:r>
              <a:t>THAO TÁC</a:t>
            </a:r>
          </a:p>
          <a:p xmlns:a="http://schemas.openxmlformats.org/drawingml/2006/main">
            <a:r>
              <a:t>Liên hệ ngắn với MLP ở Chương 3 và CNN ở Chương 4. Phần so sánh với KG/RAG chỉ nói một câu.</a:t>
            </a:r>
          </a:p>
          <a:p xmlns:a="http://schemas.openxmlformats.org/drawingml/2006/main">
            <a:r>
              <a:t/>
            </a:r>
          </a:p>
          <a:p xmlns:a="http://schemas.openxmlformats.org/drawingml/2006/main">
            <a:r>
              <a:t>CHUYỂN TIẾP</a:t>
            </a:r>
          </a:p>
          <a:p xmlns:a="http://schemas.openxmlformats.org/drawingml/2006/main">
            <a:r>
              <a:t>Từ cách biểu diễn đó, nhóm đặt ra một bài toán dự báo cụ thể.</a:t>
            </a:r>
          </a:p>
          <a:p xmlns:a="http://schemas.openxmlformats.org/drawingml/2006/main">
            <a:r>
              <a:t/>
            </a:r>
          </a:p>
          <a:p xmlns:a="http://schemas.openxmlformats.org/drawingml/2006/main">
            <a:r>
              <a:t>NGUỒN</a:t>
            </a:r>
          </a:p>
          <a:p xmlns:a="http://schemas.openxmlformats.org/drawingml/2006/main">
            <a:r>
              <a:t>https://arxiv.org/abs/1609.02907</a:t>
            </a:r>
          </a:p>
          <a:p xmlns:a="http://schemas.openxmlformats.org/drawingml/2006/main">
            <a:r>
              <a:t>Tài liệu môn học tại D:/School/PT HTTM. Chương 1: biểu diễn dữ liệu và hệ thống thông minh. Assignment2: pipeline và đánh giá. Chương 3: mạng neural, tối ưu. Chương 4: locality và chia sẻ trọng số của CNN. Chương 5: graph tri thức và truy xuất.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6/26 | 06:40–08:00</a:t>
            </a:r>
          </a:p>
          <a:p xmlns:a="http://schemas.openxmlformats.org/drawingml/2006/main">
            <a:r>
              <a:t/>
            </a:r>
          </a:p>
          <a:p xmlns:a="http://schemas.openxmlformats.org/drawingml/2006/main">
            <a:r>
              <a:t>LỜI THUYẾT TRÌNH</a:t>
            </a:r>
          </a:p>
          <a:p xmlns:a="http://schemas.openxmlformats.org/drawingml/2006/main">
            <a:r>
              <a:t>Đầu vào gồm 12 mốc liên tiếp, mỗi mốc cách nhau 5 phút. Cách gọi thông dụng là cửa sổ một giờ; từ mốc đầu tới mốc cuối cách nhau 55 phút. Tại mỗi mốc, hệ thống có tốc độ, trạng thái có quan sát hay bị thiếu và thông tin lịch. Graph giữ cố định trong toàn bộ thực nghiệm. Đầu ra là tốc độ của từng cảm biến ở đúng mốc sau 15 phút, tức ba bước thời gian sau mốc cuối. Mô hình dự báo trực tiếp mốc này, không dự báo lần lượt từng bước rồi đưa dự báo trở lại làm đầu vào. Toàn bộ giao diện dùng km/h để dễ đọc, trong khi dữ liệu gốc dùng mph. Câu hỏi nghiên cứu là: khi giữ điều kiện so sánh tương đương, bổ sung quan hệ graph có giúp giảm sai số so với mô hình chỉ dùng thông tin thời gian không?</a:t>
            </a:r>
          </a:p>
          <a:p xmlns:a="http://schemas.openxmlformats.org/drawingml/2006/main">
            <a:r>
              <a:t/>
            </a:r>
          </a:p>
          <a:p xmlns:a="http://schemas.openxmlformats.org/drawingml/2006/main">
            <a:r>
              <a:t>THAO TÁC</a:t>
            </a:r>
          </a:p>
          <a:p xmlns:a="http://schemas.openxmlformats.org/drawingml/2006/main">
            <a:r>
              <a:t>Chỉ ranh giới giữa dữ liệu đã quan sát và mốc +15 phút. Đọc đầu vào–đầu ra bằng lời, không đọc kích thước tensor.</a:t>
            </a:r>
          </a:p>
          <a:p xmlns:a="http://schemas.openxmlformats.org/drawingml/2006/main">
            <a:r>
              <a:t/>
            </a:r>
          </a:p>
          <a:p xmlns:a="http://schemas.openxmlformats.org/drawingml/2006/main">
            <a:r>
              <a:t>CHUYỂN TIẾP</a:t>
            </a:r>
          </a:p>
          <a:p xmlns:a="http://schemas.openxmlformats.org/drawingml/2006/main">
            <a:r>
              <a:t>Em xin chuyển sang bạn tiếp theo để trình bày dataset và cách xây dựng dữ liệu huấn luyện.</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7/26 | 08:00–09:25</a:t>
            </a:r>
          </a:p>
          <a:p xmlns:a="http://schemas.openxmlformats.org/drawingml/2006/main">
            <a:r>
              <a:t/>
            </a:r>
          </a:p>
          <a:p xmlns:a="http://schemas.openxmlformats.org/drawingml/2006/main">
            <a:r>
              <a:t>LỜI THUYẾT TRÌNH</a:t>
            </a:r>
          </a:p>
          <a:p xmlns:a="http://schemas.openxmlformats.org/drawingml/2006/main">
            <a:r>
              <a:t>Nhóm sử dụng bản METR-LA được công bố cùng công trình DCRNN. Bản đã tải có 207 cảm biến và 34.272 mốc thời gian, từ ngày 1 tháng 3 đến ngày 27 tháng 6 năm 2012. Các mốc cách nhau 5 phút. Dataset có bảng tốc độ, graph khoảng cách và tọa độ cảm biến nên phù hợp cho cả học mô hình lẫn xây dựng giao diện trực quan. Nhóm đã đối chiếu thứ tự mã cảm biến giữa bảng tốc độ và ma trận graph. Bước này quan trọng vì nếu thứ tự lệch, dữ liệu của cảm biến này sẽ bị gắn vào quan hệ của cảm biến khác. Dữ liệu là lịch sử tại Los Angeles, không phải dữ liệu thời gian thực của một ứng dụng bản đồ. Trên demo, nhãn thời gian giữ nguyên như trong bộ dữ liệu.</a:t>
            </a:r>
          </a:p>
          <a:p xmlns:a="http://schemas.openxmlformats.org/drawingml/2006/main">
            <a:r>
              <a:t/>
            </a:r>
          </a:p>
          <a:p xmlns:a="http://schemas.openxmlformats.org/drawingml/2006/main">
            <a:r>
              <a:t>THAO TÁC</a:t>
            </a:r>
          </a:p>
          <a:p xmlns:a="http://schemas.openxmlformats.org/drawingml/2006/main">
            <a:r>
              <a:t>Đọc ba con số chính 207, 34.272 và 5 phút. Chỉ nguồn dữ liệu trong Notes khi được hỏi.</a:t>
            </a:r>
          </a:p>
          <a:p xmlns:a="http://schemas.openxmlformats.org/drawingml/2006/main">
            <a:r>
              <a:t/>
            </a:r>
          </a:p>
          <a:p xmlns:a="http://schemas.openxmlformats.org/drawingml/2006/main">
            <a:r>
              <a:t>CHUYỂN TIẾP</a:t>
            </a:r>
          </a:p>
          <a:p xmlns:a="http://schemas.openxmlformats.org/drawingml/2006/main">
            <a:r>
              <a:t>Ta hãy đọc một phần nhỏ của bảng để hiểu ý nghĩa từng hàng và cột.</a:t>
            </a:r>
          </a:p>
          <a:p xmlns:a="http://schemas.openxmlformats.org/drawingml/2006/main">
            <a:r>
              <a:t/>
            </a:r>
          </a:p>
          <a:p xmlns:a="http://schemas.openxmlformats.org/drawingml/2006/main">
            <a:r>
              <a:t>NGUỒN</a:t>
            </a:r>
          </a:p>
          <a:p xmlns:a="http://schemas.openxmlformats.org/drawingml/2006/main">
            <a:r>
              <a:t>https://github.com/liyaguang/DCRNN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8/26 | 09:25–10:50</a:t>
            </a:r>
          </a:p>
          <a:p xmlns:a="http://schemas.openxmlformats.org/drawingml/2006/main">
            <a:r>
              <a:t/>
            </a:r>
          </a:p>
          <a:p xmlns:a="http://schemas.openxmlformats.org/drawingml/2006/main">
            <a:r>
              <a:t>LỜI THUYẾT TRÌNH</a:t>
            </a:r>
          </a:p>
          <a:p xmlns:a="http://schemas.openxmlformats.org/drawingml/2006/main">
            <a:r>
              <a:t>Mỗi hàng ứng với một thời điểm, mỗi cột ứng với một cảm biến. Một ô cho biết tốc độ tại vị trí và thời điểm đó. Trên slide chỉ hiện vài cột để dễ nhìn; mô hình xử lý cả mạng 207 cảm biến. Đặc điểm đáng chú ý là khoảng 8,1 phần trăm giá trị của bản dữ liệu này bằng không. Theo quy ước chấm điểm của benchmark, nhóm coi các mục tiêu bằng không là thiếu. Điều đó không có nghĩa mọi trường hợp xe dừng ngoài thực tế đều là dữ liệu thiếu. Với đầu vào thiếu, nhóm dùng quan sát hợp lệ gần nhất trong quá khứ. Nếu chưa có quan sát nào, dùng trung vị của cảm biến tính trên tập huấn luyện. Nhóm đưa thêm mặt nạ vào mô hình để phân biệt giá trị thật và giá trị đã bù. Mục tiêu thiếu được loại khỏi phép tính sai số.</a:t>
            </a:r>
          </a:p>
          <a:p xmlns:a="http://schemas.openxmlformats.org/drawingml/2006/main">
            <a:r>
              <a:t/>
            </a:r>
          </a:p>
          <a:p xmlns:a="http://schemas.openxmlformats.org/drawingml/2006/main">
            <a:r>
              <a:t>THAO TÁC</a:t>
            </a:r>
          </a:p>
          <a:p xmlns:a="http://schemas.openxmlformats.org/drawingml/2006/main">
            <a:r>
              <a:t>Chỉ một hàng, một cột, rồi một ô. Đọc tốc độ mẫu. Giải thích rõ sự khác nhau giữa giá trị 0 trong quy ước dataset và xe dừng thực tế.</a:t>
            </a:r>
          </a:p>
          <a:p xmlns:a="http://schemas.openxmlformats.org/drawingml/2006/main">
            <a:r>
              <a:t/>
            </a:r>
          </a:p>
          <a:p xmlns:a="http://schemas.openxmlformats.org/drawingml/2006/main">
            <a:r>
              <a:t>CHUYỂN TIẾP</a:t>
            </a:r>
          </a:p>
          <a:p xmlns:a="http://schemas.openxmlformats.org/drawingml/2006/main">
            <a:r>
              <a:t>Bảng này mô tả tốc độ. Graph bổ sung quan hệ giữa các cột.</a:t>
            </a:r>
          </a:p>
          <a:p xmlns:a="http://schemas.openxmlformats.org/drawingml/2006/main">
            <a:r>
              <a:t/>
            </a:r>
          </a:p>
          <a:p xmlns:a="http://schemas.openxmlformats.org/drawingml/2006/main">
            <a:r>
              <a:t>NGUỒN</a:t>
            </a:r>
          </a:p>
          <a:p xmlns:a="http://schemas.openxmlformats.org/drawingml/2006/main">
            <a:r>
              <a:t>https://github.com/liyaguang/DCRNN</a:t>
            </a:r>
          </a:p>
          <a:p xmlns:a="http://schemas.openxmlformats.org/drawingml/2006/main">
            <a:r>
              <a:t>https://github.com/liyaguang/DCRNN/blob/master/scripts/eval_baseline_methods.py</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9/26 | 10:50–12:30</a:t>
            </a:r>
          </a:p>
          <a:p xmlns:a="http://schemas.openxmlformats.org/drawingml/2006/main">
            <a:r>
              <a:t/>
            </a:r>
          </a:p>
          <a:p xmlns:a="http://schemas.openxmlformats.org/drawingml/2006/main">
            <a:r>
              <a:t>LỜI THUYẾT TRÌNH</a:t>
            </a:r>
          </a:p>
          <a:p xmlns:a="http://schemas.openxmlformats.org/drawingml/2006/main">
            <a:r>
              <a:t>Mỗi chấm trên hình là một cảm biến ở tọa độ thực. Nét nối là cạnh của graph, không phải đường đi vẽ chính xác trên bản đồ. Graph nguồn dùng trọng số liên quan đến khoảng cách trên mạng đường. Trong bản gọn của nhóm, chúng em lấy trọng số lớn hơn giữa hai chiều để tạo graph không hướng. Sau bước đó, có 1.313 cạnh giữa những cặp nút khác nhau. Nhóm giữ cạnh bản thân để mỗi cảm biến vẫn có thông tin của chính nó, rồi chuẩn hóa trọng số theo bậc hai đầu cạnh. Khi học một nút, lớp graph nhận tín hiệu đã tổng hợp từ các nút liên quan. Việc đối xứng hóa giúp mô hình dễ triển khai và giải thích hơn nhưng đánh mất thông tin hướng. Đây là một giới hạn thật của thiết kế. Những mô hình như DCRNN xử lý quan hệ có hướng chi tiết hơn.</a:t>
            </a:r>
          </a:p>
          <a:p xmlns:a="http://schemas.openxmlformats.org/drawingml/2006/main">
            <a:r>
              <a:t/>
            </a:r>
          </a:p>
          <a:p xmlns:a="http://schemas.openxmlformats.org/drawingml/2006/main">
            <a:r>
              <a:t>THAO TÁC</a:t>
            </a:r>
          </a:p>
          <a:p xmlns:a="http://schemas.openxmlformats.org/drawingml/2006/main">
            <a:r>
              <a:t>Chọn cảm biến trên hình hoặc demo. Chỉ các hàng xóm và phân biệt đường nối graph với hình dạng đường giao thông.</a:t>
            </a:r>
          </a:p>
          <a:p xmlns:a="http://schemas.openxmlformats.org/drawingml/2006/main">
            <a:r>
              <a:t/>
            </a:r>
          </a:p>
          <a:p xmlns:a="http://schemas.openxmlformats.org/drawingml/2006/main">
            <a:r>
              <a:t>CHUYỂN TIẾP</a:t>
            </a:r>
          </a:p>
          <a:p xmlns:a="http://schemas.openxmlformats.org/drawingml/2006/main">
            <a:r>
              <a:t>Tiếp theo, bảng tốc độ và graph được ghép thành các mẫu học theo thời gian.</a:t>
            </a:r>
          </a:p>
          <a:p xmlns:a="http://schemas.openxmlformats.org/drawingml/2006/main">
            <a:r>
              <a:t/>
            </a:r>
          </a:p>
          <a:p xmlns:a="http://schemas.openxmlformats.org/drawingml/2006/main">
            <a:r>
              <a:t>NGUỒN</a:t>
            </a:r>
          </a:p>
          <a:p xmlns:a="http://schemas.openxmlformats.org/drawingml/2006/main">
            <a:r>
              <a:t>https://github.com/liyaguang/DCRNN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10/26 | 12:30–14:10</a:t>
            </a:r>
          </a:p>
          <a:p xmlns:a="http://schemas.openxmlformats.org/drawingml/2006/main">
            <a:r>
              <a:t/>
            </a:r>
          </a:p>
          <a:p xmlns:a="http://schemas.openxmlformats.org/drawingml/2006/main">
            <a:r>
              <a:t>LỜI THUYẾT TRÌNH</a:t>
            </a:r>
          </a:p>
          <a:p xmlns:a="http://schemas.openxmlformats.org/drawingml/2006/main">
            <a:r>
              <a:t>Xét thời điểm cuối t. Nhóm lấy dữ liệu từ t trừ 11 bước đến t, tổng cộng 12 mốc. Nhãn cần dự báo là giá trị ở t cộng 3 bước. Khi trượt cửa sổ sang mốc tiếp theo, đầu vào bỏ mốc cũ nhất và thêm một quan sát mới. Trong huấn luyện, một mẫu tính toán là cặp cửa sổ và cảm biến. Thông tin hàng xóm tại từng mốc được tổng hợp trước bằng graph cố định, nhưng trọng số biến đổi đặc trưng và GRU vẫn được học chung bằng lan truyền ngược. Cách tiền tính phần tổng hợp này giúp chạy nhanh mà không cần thay đổi ý nghĩa của mô hình. Khi demo dự báo, toàn bộ thông tin đầu vào đều thuộc thời điểm hiện tại hoặc quá khứ. Dữ liệu thực tế sau 15 phút chỉ được dùng để đối chiếu, không được đưa vào đầu vào của dự báo đó.</a:t>
            </a:r>
          </a:p>
          <a:p xmlns:a="http://schemas.openxmlformats.org/drawingml/2006/main">
            <a:r>
              <a:t/>
            </a:r>
          </a:p>
          <a:p xmlns:a="http://schemas.openxmlformats.org/drawingml/2006/main">
            <a:r>
              <a:t>THAO TÁC</a:t>
            </a:r>
          </a:p>
          <a:p xmlns:a="http://schemas.openxmlformats.org/drawingml/2006/main">
            <a:r>
              <a:t>Dùng ngón tay hoặc con trỏ đi qua 12 mốc, dừng ở mốc hiện tại, rồi chỉ mục tiêu +15. Phân biệt nhãn lúc học và dữ liệu lúc dự báo.</a:t>
            </a:r>
          </a:p>
          <a:p xmlns:a="http://schemas.openxmlformats.org/drawingml/2006/main">
            <a:r>
              <a:t/>
            </a:r>
          </a:p>
          <a:p xmlns:a="http://schemas.openxmlformats.org/drawingml/2006/main">
            <a:r>
              <a:t>CHUYỂN TIẾP</a:t>
            </a:r>
          </a:p>
          <a:p xmlns:a="http://schemas.openxmlformats.org/drawingml/2006/main">
            <a:r>
              <a:t>Để đánh giá đúng một hệ thống dự báo, cách chia dữ liệu cũng phải tôn trọng thời gian.</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11/26 | 14:10–15:40</a:t>
            </a:r>
          </a:p>
          <a:p xmlns:a="http://schemas.openxmlformats.org/drawingml/2006/main">
            <a:r>
              <a:t/>
            </a:r>
          </a:p>
          <a:p xmlns:a="http://schemas.openxmlformats.org/drawingml/2006/main">
            <a:r>
              <a:t>LỜI THUYẾT TRÌNH</a:t>
            </a:r>
          </a:p>
          <a:p xmlns:a="http://schemas.openxmlformats.org/drawingml/2006/main">
            <a:r>
              <a:t>Nhóm chia theo thời điểm của mục tiêu: 70 phần trăm đầu để huấn luyện, 10 phần trăm tiếp để chọn checkpoint và 20 phần trăm cuối để kiểm tra. Với quy tắc này, mục tiêu train, validation và test không trùng nhau. Cửa sổ đầu vào của một dự báo có thể đi qua ranh giới phân chia, vì tại lúc dự báo những quan sát quá khứ ấy đã tồn tại. Trung bình và độ lệch chuẩn để chuẩn hóa chỉ được tính từ các quan sát hợp lệ trong train. Nhóm cũng không dùng bù ngược từ tương lai để sửa giá trị thiếu. Trong quá trình huấn luyện, nhóm chọn epoch có MAE validation thấp nhất. Sau khi chọn xong các checkpoint mới chấm test. Cả hai mô hình neural dùng chung cách chia này để phép so sánh có ý nghĩa.</a:t>
            </a:r>
          </a:p>
          <a:p xmlns:a="http://schemas.openxmlformats.org/drawingml/2006/main">
            <a:r>
              <a:t/>
            </a:r>
          </a:p>
          <a:p xmlns:a="http://schemas.openxmlformats.org/drawingml/2006/main">
            <a:r>
              <a:t>THAO TÁC</a:t>
            </a:r>
          </a:p>
          <a:p xmlns:a="http://schemas.openxmlformats.org/drawingml/2006/main">
            <a:r>
              <a:t>Chỉ ba khoảng ngày theo thứ tự. Nhấn mạnh tập test có vai trò kiểm tra cuối cùng và “không dùng test để chọn mô hình demo”.</a:t>
            </a:r>
          </a:p>
          <a:p xmlns:a="http://schemas.openxmlformats.org/drawingml/2006/main">
            <a:r>
              <a:t/>
            </a:r>
          </a:p>
          <a:p xmlns:a="http://schemas.openxmlformats.org/drawingml/2006/main">
            <a:r>
              <a:t>CHUYỂN TIẾP</a:t>
            </a:r>
          </a:p>
          <a:p xmlns:a="http://schemas.openxmlformats.org/drawingml/2006/main">
            <a:r>
              <a:t>Sau các bước đó, ta có một quy trình hoàn chỉnh để huấn luyện và đưa lên ứng dụng.</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12/26 | 15:40–17:00</a:t>
            </a:r>
          </a:p>
          <a:p xmlns:a="http://schemas.openxmlformats.org/drawingml/2006/main">
            <a:r>
              <a:t/>
            </a:r>
          </a:p>
          <a:p xmlns:a="http://schemas.openxmlformats.org/drawingml/2006/main">
            <a:r>
              <a:t>LỜI THUYẾT TRÌNH</a:t>
            </a:r>
          </a:p>
          <a:p xmlns:a="http://schemas.openxmlformats.org/drawingml/2006/main">
            <a:r>
              <a:t>Quy trình bắt đầu từ tải dữ liệu và kiểm tra mã cảm biến. Sau đó nhóm xử lý giá trị thiếu, chuẩn hóa và chuẩn bị các cửa sổ. Phần huấn luyện học tham số rồi lưu checkpoint tốt nhất theo validation. Phần đánh giá chạy trên toàn bộ các mốc test và xuất các chỉ số, dự báo cùng nhật ký. Cuối cùng, nhóm xuất trọng số sang định dạng dùng được trong trình duyệt. Nhờ vậy, người trình bày không phải chờ huấn luyện khi đứng trước lớp. Giao diện nạp dữ liệu lịch sử, tính dự báo bằng trọng số đã học và cho phép mở đáp án thực tế. Các file kết quả và chương trình kiểm tra được lưu cùng mã nguồn để người khác có thể chạy lại. Đây cũng là cách nối đề tài với quy trình phát triển hệ thống thông minh đã học trong môn.</a:t>
            </a:r>
          </a:p>
          <a:p xmlns:a="http://schemas.openxmlformats.org/drawingml/2006/main">
            <a:r>
              <a:t/>
            </a:r>
          </a:p>
          <a:p xmlns:a="http://schemas.openxmlformats.org/drawingml/2006/main">
            <a:r>
              <a:t>THAO TÁC</a:t>
            </a:r>
          </a:p>
          <a:p xmlns:a="http://schemas.openxmlformats.org/drawingml/2006/main">
            <a:r>
              <a:t>Chỉ tên các file tương ứng trên slide. Không đi vào toàn bộ mã nguồn.</a:t>
            </a:r>
          </a:p>
          <a:p xmlns:a="http://schemas.openxmlformats.org/drawingml/2006/main">
            <a:r>
              <a:t/>
            </a:r>
          </a:p>
          <a:p xmlns:a="http://schemas.openxmlformats.org/drawingml/2006/main">
            <a:r>
              <a:t>CHUYỂN TIẾP</a:t>
            </a:r>
          </a:p>
          <a:p xmlns:a="http://schemas.openxmlformats.org/drawingml/2006/main">
            <a:r>
              <a:t>Bạn tiếp theo sẽ giải thích ba phương pháp dự báo và cách nhóm so sánh chúng.</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a:p xmlns:a="http://schemas.openxmlformats.org/drawingml/2006/main">
            <a:r>
              <a:t>Tài liệu môn học tại D:/School/PT HTTM. Chương 1: biểu diễn dữ liệu và hệ thống thông minh. Assignment2: pipeline và đánh giá. Chương 3: mạng neural, tối ưu. Chương 4: locality và chia sẻ trọng số của CNN. Chương 5: graph tri thức và truy xuất.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13/26 | 17:00–18:10</a:t>
            </a:r>
          </a:p>
          <a:p xmlns:a="http://schemas.openxmlformats.org/drawingml/2006/main">
            <a:r>
              <a:t/>
            </a:r>
          </a:p>
          <a:p xmlns:a="http://schemas.openxmlformats.org/drawingml/2006/main">
            <a:r>
              <a:t>LỜI THUYẾT TRÌNH</a:t>
            </a:r>
          </a:p>
          <a:p xmlns:a="http://schemas.openxmlformats.org/drawingml/2006/main">
            <a:r>
              <a:t>Phương pháp đầu tiên dự đoán rằng tốc độ sau 15 phút bằng tốc độ mới nhất đã biết. Ví dụ hiện tại là 14,5 km/h thì dự đoán cũng là 14,5. Nếu quan sát hiện tại thiếu, phương pháp dùng giá trị đã bù từ quá khứ như các mô hình còn lại. Phương pháp này không cần huấn luyện nhưng rất quan trọng. Giao thông nhiều thời điểm thay đổi ít, nên một dự báo giữ nguyên có thể đã khá tốt. Nếu mô hình phức tạp không thắng được đối chứng đơn giản này, ta cần xem lại lợi ích của việc xây dựng nó. Do đó, nhóm bắt đầu bằng một mốc so sánh rõ ràng thay vì chỉ so hai mạng neural với nhau.</a:t>
            </a:r>
          </a:p>
          <a:p xmlns:a="http://schemas.openxmlformats.org/drawingml/2006/main">
            <a:r>
              <a:t/>
            </a:r>
          </a:p>
          <a:p xmlns:a="http://schemas.openxmlformats.org/drawingml/2006/main">
            <a:r>
              <a:t>THAO TÁC</a:t>
            </a:r>
          </a:p>
          <a:p xmlns:a="http://schemas.openxmlformats.org/drawingml/2006/main">
            <a:r>
              <a:t>Đọc ví dụ 14,5 km/h. Mời lớp đoán khi nào phương pháp giữ nguyên sẽ tốt và khi nào dễ sai.</a:t>
            </a:r>
          </a:p>
          <a:p xmlns:a="http://schemas.openxmlformats.org/drawingml/2006/main">
            <a:r>
              <a:t/>
            </a:r>
          </a:p>
          <a:p xmlns:a="http://schemas.openxmlformats.org/drawingml/2006/main">
            <a:r>
              <a:t>CHUYỂN TIẾP</a:t>
            </a:r>
          </a:p>
          <a:p xmlns:a="http://schemas.openxmlformats.org/drawingml/2006/main">
            <a:r>
              <a:t>Mô hình GRU bổ sung khả năng học từ cả chuỗi quá khứ.</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14/26 | 18:10–19:40</a:t>
            </a:r>
          </a:p>
          <a:p xmlns:a="http://schemas.openxmlformats.org/drawingml/2006/main">
            <a:r>
              <a:t/>
            </a:r>
          </a:p>
          <a:p xmlns:a="http://schemas.openxmlformats.org/drawingml/2006/main">
            <a:r>
              <a:t>LỜI THUYẾT TRÌNH</a:t>
            </a:r>
          </a:p>
          <a:p xmlns:a="http://schemas.openxmlformats.org/drawingml/2006/main">
            <a:r>
              <a:t>GRU là một mạng xử lý chuỗi. Nó đọc lần lượt các mốc và duy trì một trạng thái ẩn để tóm tắt những thông tin hữu ích. Có thể hình dung trạng thái này là một bộ nhớ có cơ chế học để giữ hoặc cập nhật thông tin. Trong bài của nhóm, GRU nhìn 12 mốc để nhận biết những mẫu diễn biến như ổn định, giảm tốc hoặc phục hồi. Mô hình còn nhận thông tin thời gian trong ngày, thứ trong tuần và mặt nạ dữ liệu thiếu. Các đặc trưng lịch được biểu diễn bằng sin và cos để các thời điểm gần nhau quanh ranh giới ngày vẫn có cách biểu diễn gần nhau. Để giữ phép so sánh công bằng, bản GRU của nhóm dùng cùng khung mã với bản có graph, nhưng thay ma trận graph bằng ma trận đơn vị. Như vậy không có thông tin từ cảm biến khác đi vào dự báo.</a:t>
            </a:r>
          </a:p>
          <a:p xmlns:a="http://schemas.openxmlformats.org/drawingml/2006/main">
            <a:r>
              <a:t/>
            </a:r>
          </a:p>
          <a:p xmlns:a="http://schemas.openxmlformats.org/drawingml/2006/main">
            <a:r>
              <a:t>THAO TÁC</a:t>
            </a:r>
          </a:p>
          <a:p xmlns:a="http://schemas.openxmlformats.org/drawingml/2006/main">
            <a:r>
              <a:t>Chỉ chuỗi thời gian. Giải thích bộ nhớ bằng lời, không trình bày các phương trình cổng GRU.</a:t>
            </a:r>
          </a:p>
          <a:p xmlns:a="http://schemas.openxmlformats.org/drawingml/2006/main">
            <a:r>
              <a:t/>
            </a:r>
          </a:p>
          <a:p xmlns:a="http://schemas.openxmlformats.org/drawingml/2006/main">
            <a:r>
              <a:t>CHUYỂN TIẾP</a:t>
            </a:r>
          </a:p>
          <a:p xmlns:a="http://schemas.openxmlformats.org/drawingml/2006/main">
            <a:r>
              <a:t>GRU giải quyết phần thời gian. Lớp graph bổ sung thông tin giữa các vị trí.</a:t>
            </a:r>
          </a:p>
          <a:p xmlns:a="http://schemas.openxmlformats.org/drawingml/2006/main">
            <a:r>
              <a:t/>
            </a:r>
          </a:p>
          <a:p xmlns:a="http://schemas.openxmlformats.org/drawingml/2006/main">
            <a:r>
              <a:t>NGUỒN</a:t>
            </a:r>
          </a:p>
          <a:p xmlns:a="http://schemas.openxmlformats.org/drawingml/2006/main">
            <a:r>
              <a:t>https://arxiv.org/abs/1406.1078</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15/26 | 19:40–21:20</a:t>
            </a:r>
          </a:p>
          <a:p xmlns:a="http://schemas.openxmlformats.org/drawingml/2006/main">
            <a:r>
              <a:t/>
            </a:r>
          </a:p>
          <a:p xmlns:a="http://schemas.openxmlformats.org/drawingml/2006/main">
            <a:r>
              <a:t>LỜI THUYẾT TRÌNH</a:t>
            </a:r>
          </a:p>
          <a:p xmlns:a="http://schemas.openxmlformats.org/drawingml/2006/main">
            <a:r>
              <a:t>Ở mỗi mốc thời gian, lớp graph tổng hợp đặc trưng của những cảm biến liên quan bằng các trọng số của graph đã chuẩn hóa. Sau đó mô hình kết hợp tín hiệu tổng hợp này với đặc trưng của chính nút qua một phép biến đổi có tham số học được và hàm ReLU. Nhánh giữ đặc trưng nút giúp mô hình không phải chỉ dựa vào một giá trị đã trộn với hàng xóm. Trên hình, các đường tốc độ của những cảm biến liên quan có thể khác nhau nhưng mang thêm ngữ cảnh. Chúng em không nói trọng số cạnh khoảng cách chính là mức độ nguyên nhân hay là lời giải thích hoàn chỉnh của dự báo. Các cạnh là cấu trúc đầu vào. Trọng số neural mới là những tham số mô hình học từ dữ liệu. Một lớp chỉ tổng hợp một bước lân cận của graph này.</a:t>
            </a:r>
          </a:p>
          <a:p xmlns:a="http://schemas.openxmlformats.org/drawingml/2006/main">
            <a:r>
              <a:t/>
            </a:r>
          </a:p>
          <a:p xmlns:a="http://schemas.openxmlformats.org/drawingml/2006/main">
            <a:r>
              <a:t>THAO TÁC</a:t>
            </a:r>
          </a:p>
          <a:p xmlns:a="http://schemas.openxmlformats.org/drawingml/2006/main">
            <a:r>
              <a:t>Chỉ nút đang dự báo và các đường tốc độ hàng xóm. Dùng từ “tổng hợp có trọng số”, tránh khẳng định chỉ lấy trung bình cộng.</a:t>
            </a:r>
          </a:p>
          <a:p xmlns:a="http://schemas.openxmlformats.org/drawingml/2006/main">
            <a:r>
              <a:t/>
            </a:r>
          </a:p>
          <a:p xmlns:a="http://schemas.openxmlformats.org/drawingml/2006/main">
            <a:r>
              <a:t>CHUYỂN TIẾP</a:t>
            </a:r>
          </a:p>
          <a:p xmlns:a="http://schemas.openxmlformats.org/drawingml/2006/main">
            <a:r>
              <a:t>Nhóm ghép lớp không gian đó với GRU thành một hệ thống dự báo.</a:t>
            </a:r>
          </a:p>
          <a:p xmlns:a="http://schemas.openxmlformats.org/drawingml/2006/main">
            <a:r>
              <a:t/>
            </a:r>
          </a:p>
          <a:p xmlns:a="http://schemas.openxmlformats.org/drawingml/2006/main">
            <a:r>
              <a:t>NGUỒN</a:t>
            </a:r>
          </a:p>
          <a:p xmlns:a="http://schemas.openxmlformats.org/drawingml/2006/main">
            <a:r>
              <a:t>https://arxiv.org/abs/1609.02907</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16/26 | 21:20–23:00</a:t>
            </a:r>
          </a:p>
          <a:p xmlns:a="http://schemas.openxmlformats.org/drawingml/2006/main">
            <a:r>
              <a:t/>
            </a:r>
          </a:p>
          <a:p xmlns:a="http://schemas.openxmlformats.org/drawingml/2006/main">
            <a:r>
              <a:t>LỜI THUYẾT TRÌNH</a:t>
            </a:r>
          </a:p>
          <a:p xmlns:a="http://schemas.openxmlformats.org/drawingml/2006/main">
            <a:r>
              <a:t>Mô hình có ba phần chính. Phần không gian tạo ra tám đặc trưng tại mỗi mốc từ thông tin của nút và graph. Nhóm ghép thêm bốn đặc trưng lịch rồi đưa chuỗi 12 mốc vào GRU có trạng thái ẩn 16 chiều. Lớp cuối dự đoán phần thay đổi so với tốc độ ở mốc cuối, sau đó cộng lại để ra tốc độ dự báo. Cả hệ thống có 1.497 tham số học được. Bản GRU đối chứng giữ nguyên số tham số và mọi khối tính toán, chỉ thay graph bằng ma trận đơn vị. Đây là kiến trúc gọn do nhóm triển khai, lấy cảm hứng từ việc kết hợp không gian và thời gian trong các công trình trước. Nhóm không gọi nó là bản tái lập đầy đủ T-GCN hoặc DCRNN vì cấu trúc và quy trình thực nghiệm có những điểm khác.</a:t>
            </a:r>
          </a:p>
          <a:p xmlns:a="http://schemas.openxmlformats.org/drawingml/2006/main">
            <a:r>
              <a:t/>
            </a:r>
          </a:p>
          <a:p xmlns:a="http://schemas.openxmlformats.org/drawingml/2006/main">
            <a:r>
              <a:t>THAO TÁC</a:t>
            </a:r>
          </a:p>
          <a:p xmlns:a="http://schemas.openxmlformats.org/drawingml/2006/main">
            <a:r>
              <a:t>Đi theo thứ tự các khối. Chỉ rõ đầu ra cuối là một số cho mỗi cảm biến và không đọc toàn bộ tên tensor.</a:t>
            </a:r>
          </a:p>
          <a:p xmlns:a="http://schemas.openxmlformats.org/drawingml/2006/main">
            <a:r>
              <a:t/>
            </a:r>
          </a:p>
          <a:p xmlns:a="http://schemas.openxmlformats.org/drawingml/2006/main">
            <a:r>
              <a:t>CHUYỂN TIẾP</a:t>
            </a:r>
          </a:p>
          <a:p xmlns:a="http://schemas.openxmlformats.org/drawingml/2006/main">
            <a:r>
              <a:t>Các tham số này được học bằng cách giảm sai số giữa dự báo và dữ liệu thật.</a:t>
            </a:r>
          </a:p>
          <a:p xmlns:a="http://schemas.openxmlformats.org/drawingml/2006/main">
            <a:r>
              <a:t/>
            </a:r>
          </a:p>
          <a:p xmlns:a="http://schemas.openxmlformats.org/drawingml/2006/main">
            <a:r>
              <a:t>NGUỒN</a:t>
            </a:r>
          </a:p>
          <a:p xmlns:a="http://schemas.openxmlformats.org/drawingml/2006/main">
            <a:r>
              <a:t>https://arxiv.org/abs/1811.05320</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17/26 | 23:00–24:25</a:t>
            </a:r>
          </a:p>
          <a:p xmlns:a="http://schemas.openxmlformats.org/drawingml/2006/main">
            <a:r>
              <a:t/>
            </a:r>
          </a:p>
          <a:p xmlns:a="http://schemas.openxmlformats.org/drawingml/2006/main">
            <a:r>
              <a:t>LỜI THUYẾT TRÌNH</a:t>
            </a:r>
          </a:p>
          <a:p xmlns:a="http://schemas.openxmlformats.org/drawingml/2006/main">
            <a:r>
              <a:t>Mỗi bước huấn luyện lấy một batch các cặp cửa sổ và cảm biến trong train. Mô hình tính dự báo, so với tốc độ thật ở mốc cộng 15 phút và tính độ lệch tuyệt đối trên các mục tiêu hợp lệ. Sau đó lan truyền ngược để cập nhật tham số bằng Adam. Nhóm dùng batch 512, mỗi epoch lấy ngẫu nhiên 32.768 cặp cửa sổ–cảm biến. Chạy tối đa 35 epoch, dừng sớm nếu validation không cải thiện trong bảy epoch. Cách lấy mẫu này là một giới hạn ngân sách huấn luyện rõ ràng, không có nghĩa mỗi epoch đã đi qua mọi cặp có thể có. Đường validation giúp chọn checkpoint. Đường train được tính trên mẫu ngẫu nhiên nên dao động là bình thường. Khi phục vụ demo, hệ thống chỉ nạp checkpoint và tính toán, không tiếp tục cập nhật trọng số.</a:t>
            </a:r>
          </a:p>
          <a:p xmlns:a="http://schemas.openxmlformats.org/drawingml/2006/main">
            <a:r>
              <a:t/>
            </a:r>
          </a:p>
          <a:p xmlns:a="http://schemas.openxmlformats.org/drawingml/2006/main">
            <a:r>
              <a:t>THAO TÁC</a:t>
            </a:r>
          </a:p>
          <a:p xmlns:a="http://schemas.openxmlformats.org/drawingml/2006/main">
            <a:r>
              <a:t>Chỉ đường MAE validation và epoch được chọn. Giải thích “epoch” theo đúng cách lấy mẫu của thực nghiệm này.</a:t>
            </a:r>
          </a:p>
          <a:p xmlns:a="http://schemas.openxmlformats.org/drawingml/2006/main">
            <a:r>
              <a:t/>
            </a:r>
          </a:p>
          <a:p xmlns:a="http://schemas.openxmlformats.org/drawingml/2006/main">
            <a:r>
              <a:t>CHUYỂN TIẾP</a:t>
            </a:r>
          </a:p>
          <a:p xmlns:a="http://schemas.openxmlformats.org/drawingml/2006/main">
            <a:r>
              <a:t>Để kết luận vai trò của graph, nhóm cần giữ các điều kiện so sánh tương đương.</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18/26 | 24:25–25:50</a:t>
            </a:r>
          </a:p>
          <a:p xmlns:a="http://schemas.openxmlformats.org/drawingml/2006/main">
            <a:r>
              <a:t/>
            </a:r>
          </a:p>
          <a:p xmlns:a="http://schemas.openxmlformats.org/drawingml/2006/main">
            <a:r>
              <a:t>LỜI THUYẾT TRÌNH</a:t>
            </a:r>
          </a:p>
          <a:p xmlns:a="http://schemas.openxmlformats.org/drawingml/2006/main">
            <a:r>
              <a:t>Nhóm so sánh phương pháp giữ nguyên, GRU và GCN kết hợp GRU. Hai mô hình neural có cùng kích thước, số tham số, đầu vào lịch, cách xử lý dữ liệu thiếu, optimizer và ngân sách huấn luyện. Mỗi mô hình chạy ba seed 42, 43 và 44. Seed điều khiển khởi tạo tham số và quá trình lấy mẫu; các lần chạy vẫn dùng cùng một lần chia dữ liệu theo thời gian. Điều này giúp thấy mức dao động khi huấn luyện nhưng chưa chứng minh khả năng khái quát sang một thành phố hay một mùa khác. Validation được chấm cách ba mốc để giảm thời gian, còn test chấm mọi mốc hợp lệ. Nhóm chọn mô hình phục vụ demo theo MAE validation thấp nhất, không chọn theo kết quả test đẹp nhất.</a:t>
            </a:r>
          </a:p>
          <a:p xmlns:a="http://schemas.openxmlformats.org/drawingml/2006/main">
            <a:r>
              <a:t/>
            </a:r>
          </a:p>
          <a:p xmlns:a="http://schemas.openxmlformats.org/drawingml/2006/main">
            <a:r>
              <a:t>THAO TÁC</a:t>
            </a:r>
          </a:p>
          <a:p xmlns:a="http://schemas.openxmlformats.org/drawingml/2006/main">
            <a:r>
              <a:t>Chỉ dòng số tham số bằng nhau. Nhấn mạnh ba seed không phải ba dataset độc lập.</a:t>
            </a:r>
          </a:p>
          <a:p xmlns:a="http://schemas.openxmlformats.org/drawingml/2006/main">
            <a:r>
              <a:t/>
            </a:r>
          </a:p>
          <a:p xmlns:a="http://schemas.openxmlformats.org/drawingml/2006/main">
            <a:r>
              <a:t>CHUYỂN TIẾP</a:t>
            </a:r>
          </a:p>
          <a:p xmlns:a="http://schemas.openxmlformats.org/drawingml/2006/main">
            <a:r>
              <a:t>Vậy sai số trên bảng kết quả được hiểu như thế nào?</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19/26 | 25:50–27:00</a:t>
            </a:r>
          </a:p>
          <a:p xmlns:a="http://schemas.openxmlformats.org/drawingml/2006/main">
            <a:r>
              <a:t/>
            </a:r>
          </a:p>
          <a:p xmlns:a="http://schemas.openxmlformats.org/drawingml/2006/main">
            <a:r>
              <a:t>LỜI THUYẾT TRÌNH</a:t>
            </a:r>
          </a:p>
          <a:p xmlns:a="http://schemas.openxmlformats.org/drawingml/2006/main">
            <a:r>
              <a:t>MAE là độ lệch tuyệt đối trung bình giữa dự báo và thực tế. Nếu ba lần dự đoán lệch 2, 4 và 6 km/h thì MAE là 4 km/h. RMSE bình phương sai số trước khi lấy trung bình rồi lấy căn, nên nhạy hơn với những lần dự đoán sai lớn. Cả hai thước đo đều càng nhỏ càng tốt và đều có đơn vị km/h trong báo cáo này. MAE khoảng 5 km/h không có nghĩa mọi dự đoán đều lệch đúng 5, cũng không có nghĩa hệ thống chính xác 95 phần trăm. Nó là một giá trị trung bình. Vì vậy nhóm còn xem nhóm tốc độ thấp và các tình huống cụ thể để tránh che khuất những lỗi nghiêm trọng.</a:t>
            </a:r>
          </a:p>
          <a:p xmlns:a="http://schemas.openxmlformats.org/drawingml/2006/main">
            <a:r>
              <a:t/>
            </a:r>
          </a:p>
          <a:p xmlns:a="http://schemas.openxmlformats.org/drawingml/2006/main">
            <a:r>
              <a:t>THAO TÁC</a:t>
            </a:r>
          </a:p>
          <a:p xmlns:a="http://schemas.openxmlformats.org/drawingml/2006/main">
            <a:r>
              <a:t>Làm phép tính (2 + 4 + 6) / 3 bằng lời. Không biến phần này thành một bài suy diễn công thức.</a:t>
            </a:r>
          </a:p>
          <a:p xmlns:a="http://schemas.openxmlformats.org/drawingml/2006/main">
            <a:r>
              <a:t/>
            </a:r>
          </a:p>
          <a:p xmlns:a="http://schemas.openxmlformats.org/drawingml/2006/main">
            <a:r>
              <a:t>CHUYỂN TIẾP</a:t>
            </a:r>
          </a:p>
          <a:p xmlns:a="http://schemas.openxmlformats.org/drawingml/2006/main">
            <a:r>
              <a:t>Em xin chuyển sang phần kết quả và demo để xem mô hình hoạt động thực tế.</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20/26 | 27:00–28:05</a:t>
            </a:r>
          </a:p>
          <a:p xmlns:a="http://schemas.openxmlformats.org/drawingml/2006/main">
            <a:r>
              <a:t/>
            </a:r>
          </a:p>
          <a:p xmlns:a="http://schemas.openxmlformats.org/drawingml/2006/main">
            <a:r>
              <a:t>LỜI THUYẾT TRÌNH</a:t>
            </a:r>
          </a:p>
          <a:p xmlns:a="http://schemas.openxmlformats.org/drawingml/2006/main">
            <a:r>
              <a:t>Kết quả trung bình của phương pháp giữ nguyên là MAE 5,63 km/h. GRU đạt khoảng 4,96, còn GCN kết hợp GRU đạt khoảng 4,93. Như vậy mô hình có graph giảm khoảng 12,4 phần trăm MAE so với giữ nguyên, nhưng chỉ giảm khoảng 0,54 phần trăm so với GRU. Chênh lệch sau rất nhỏ. Nhóm kết luận graph có lợi ích nhỏ trong cấu hình này, không kết luận graph luôn vượt trội. Các số cộng trừ là độ lệch chuẩn của ba seed dùng chung tập test, không phải khoảng tin cậy. Những kết quả này thuộc quy trình riêng của nhóm và không dùng để tuyên bố tái lập số liệu của paper.</a:t>
            </a:r>
          </a:p>
          <a:p xmlns:a="http://schemas.openxmlformats.org/drawingml/2006/main">
            <a:r>
              <a:t/>
            </a:r>
          </a:p>
          <a:p xmlns:a="http://schemas.openxmlformats.org/drawingml/2006/main">
            <a:r>
              <a:t>THAO TÁC</a:t>
            </a:r>
          </a:p>
          <a:p xmlns:a="http://schemas.openxmlformats.org/drawingml/2006/main">
            <a:r>
              <a:t>Đọc số làm tròn. Dừng ở chênh lệch nhỏ giữa hai mô hình neural, không dùng từ “vượt trội”.</a:t>
            </a:r>
          </a:p>
          <a:p xmlns:a="http://schemas.openxmlformats.org/drawingml/2006/main">
            <a:r>
              <a:t/>
            </a:r>
          </a:p>
          <a:p xmlns:a="http://schemas.openxmlformats.org/drawingml/2006/main">
            <a:r>
              <a:t>CHUYỂN TIẾP</a:t>
            </a:r>
          </a:p>
          <a:p xmlns:a="http://schemas.openxmlformats.org/drawingml/2006/main">
            <a:r>
              <a:t>Một ví dụ cụ thể giúp nhìn rõ cách các mô hình có thể khác nhau.</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21/26 | 28:05–29:00</a:t>
            </a:r>
          </a:p>
          <a:p xmlns:a="http://schemas.openxmlformats.org/drawingml/2006/main">
            <a:r>
              <a:t/>
            </a:r>
          </a:p>
          <a:p xmlns:a="http://schemas.openxmlformats.org/drawingml/2006/main">
            <a:r>
              <a:t>LỜI THUYẾT TRÌNH</a:t>
            </a:r>
          </a:p>
          <a:p xmlns:a="http://schemas.openxmlformats.org/drawingml/2006/main">
            <a:r>
              <a:t>Quay lại ví dụ mở đầu, tốc độ hiện tại khoảng 14,5 km/h. GRU dự đoán 18,7, GCN kết hợp GRU dự đoán 24,6. Quan sát thực tế sau 15 phút là 24,7 km/h. Trong tình huống này, mô hình có graph dự đoán sự phục hồi tốt hơn. Sai số rất nhỏ ở một mẫu không có nghĩa mô hình luôn chính xác như vậy. Nhóm chọn ví dụ này để minh họa sau khi đã đánh giá toàn bộ test. Bảng kết quả tổng thể ở slide trước vẫn là căn cứ chính để so sánh. Trên ứng dụng, chúng ta có thể đổi cảm biến và thời điểm để tự xem các tình huống khác.</a:t>
            </a:r>
          </a:p>
          <a:p xmlns:a="http://schemas.openxmlformats.org/drawingml/2006/main">
            <a:r>
              <a:t/>
            </a:r>
          </a:p>
          <a:p xmlns:a="http://schemas.openxmlformats.org/drawingml/2006/main">
            <a:r>
              <a:t>THAO TÁC</a:t>
            </a:r>
          </a:p>
          <a:p xmlns:a="http://schemas.openxmlformats.org/drawingml/2006/main">
            <a:r>
              <a:t>Chỉ mốc dự báo và mốc thực tế. Nêu rõ đây là ví dụ chọn để giải thích, không phải một phép đánh giá riêng.</a:t>
            </a:r>
          </a:p>
          <a:p xmlns:a="http://schemas.openxmlformats.org/drawingml/2006/main">
            <a:r>
              <a:t/>
            </a:r>
          </a:p>
          <a:p xmlns:a="http://schemas.openxmlformats.org/drawingml/2006/main">
            <a:r>
              <a:t>CHUYỂN TIẾP</a:t>
            </a:r>
          </a:p>
          <a:p xmlns:a="http://schemas.openxmlformats.org/drawingml/2006/main">
            <a:r>
              <a:t>Trước khi thao tác, em giới thiệu ngắn cách đưa mô hình vào ứng dụng.</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22/26 | 29:00–29:45</a:t>
            </a:r>
          </a:p>
          <a:p xmlns:a="http://schemas.openxmlformats.org/drawingml/2006/main">
            <a:r>
              <a:t/>
            </a:r>
          </a:p>
          <a:p xmlns:a="http://schemas.openxmlformats.org/drawingml/2006/main">
            <a:r>
              <a:t>LỜI THUYẾT TRÌNH</a:t>
            </a:r>
          </a:p>
          <a:p xmlns:a="http://schemas.openxmlformats.org/drawingml/2006/main">
            <a:r>
              <a:t>Mô hình được huấn luyện bằng Python rồi xuất trọng số sang JSON. Ứng dụng web đọc các trọng số và thực hiện phép tính graph, GRU ngay trong trình duyệt. Nhóm đã đối chiếu đầu ra JavaScript với PyTorch trên nhiều cảm biến và thời điểm; sai lệch nhỏ hơn 0,001 mph. Vì không cần gọi dịch vụ dự báo bên ngoài, bản local có thể chạy không cần Internet sau khi đã có đủ file. Bản triển khai trên web thuận tiện cho việc mở demo, còn bản local dùng làm phương án dự phòng khi thuyết trình. Dữ liệu tương lai dùng để đối chiếu nằm riêng về mặt vai trò và không tham gia phép suy luận.</a:t>
            </a:r>
          </a:p>
          <a:p xmlns:a="http://schemas.openxmlformats.org/drawingml/2006/main">
            <a:r>
              <a:t/>
            </a:r>
          </a:p>
          <a:p xmlns:a="http://schemas.openxmlformats.org/drawingml/2006/main">
            <a:r>
              <a:t>THAO TÁC</a:t>
            </a:r>
          </a:p>
          <a:p xmlns:a="http://schemas.openxmlformats.org/drawingml/2006/main">
            <a:r>
              <a:t>Chỉ ba thành phần checkpoint, inference.mjs và giao diện. Không mở toàn bộ mã nguồn khi chưa được hỏi.</a:t>
            </a:r>
          </a:p>
          <a:p xmlns:a="http://schemas.openxmlformats.org/drawingml/2006/main">
            <a:r>
              <a:t/>
            </a:r>
          </a:p>
          <a:p xmlns:a="http://schemas.openxmlformats.org/drawingml/2006/main">
            <a:r>
              <a:t>CHUYỂN TIẾP</a:t>
            </a:r>
          </a:p>
          <a:p xmlns:a="http://schemas.openxmlformats.org/drawingml/2006/main">
            <a:r>
              <a:t>Bây giờ chúng em thực hiện demo.</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23/26 | 29:45–34:45</a:t>
            </a:r>
          </a:p>
          <a:p xmlns:a="http://schemas.openxmlformats.org/drawingml/2006/main">
            <a:r>
              <a:t/>
            </a:r>
          </a:p>
          <a:p xmlns:a="http://schemas.openxmlformats.org/drawingml/2006/main">
            <a:r>
              <a:t>LỜI THUYẾT TRÌNH</a:t>
            </a:r>
          </a:p>
          <a:p xmlns:a="http://schemas.openxmlformats.org/drawingml/2006/main">
            <a:r>
              <a:t>Đầu tiên em chọn tình huống Graph có ích. Ở đây là mã cảm biến và thời điểm dự báo. Bản đồ hiển thị vị trí thật của các cảm biến, các nét nối là quan hệ graph. Biểu đồ bên phải cho thấy những quan sát gần nhất. Dữ liệu tương lai đang ẩn. Mọi người có thể nhìn các dự báo của ba phương pháp trước khi xem đáp án.</a:t>
            </a:r>
          </a:p>
          <a:p xmlns:a="http://schemas.openxmlformats.org/drawingml/2006/main">
            <a:r>
              <a:t/>
            </a:r>
          </a:p>
          <a:p xmlns:a="http://schemas.openxmlformats.org/drawingml/2006/main">
            <a:r>
              <a:t>Em bấm Xem điều gì thực sự xảy ra. Hệ thống hiển thị tốc độ thật và sai số của từng phương pháp. Tiếp theo em chọn Tình huống khó, để cho thấy đây không phải hệ thống chỉ có những ví dụ đẹp. Chúng ta sẽ nhìn kỹ trường hợp này ở slide sau.</a:t>
            </a:r>
          </a:p>
          <a:p xmlns:a="http://schemas.openxmlformats.org/drawingml/2006/main">
            <a:r>
              <a:t/>
            </a:r>
          </a:p>
          <a:p xmlns:a="http://schemas.openxmlformats.org/drawingml/2006/main">
            <a:r>
              <a:t>Em chọn một cảm biến khác hoặc kéo dòng thời gian. Mỗi lần thay đổi, hai mô hình tính lại dự báo cho cả mạng. Có thể bật phát lại để thấy diễn biến qua các mốc 5 phút. Việc phát lại dùng dữ liệu lịch sử, không phải luồng giao thông đang xảy ra ngoài thực tế.</a:t>
            </a:r>
          </a:p>
          <a:p xmlns:a="http://schemas.openxmlformats.org/drawingml/2006/main">
            <a:r>
              <a:t/>
            </a:r>
          </a:p>
          <a:p xmlns:a="http://schemas.openxmlformats.org/drawingml/2006/main">
            <a:r>
              <a:t>Cuối cùng, em mở kiểm tra độ nhạy và bật chỉ giữ thông tin của chính cảm biến. Hệ thống giữ nguyên trọng số, thay graph bằng ma trận đơn vị rồi tính lại. Chênh lệch cho biết mô hình nhạy với việc bỏ thông tin hàng xóm trong tình huống này. Thao tác đó không mô phỏng đóng đường, cũng không chứng minh quan hệ nhân quả. Bản GRU ở bảng thực nghiệm khác phép thử này vì GRU đã được huấn luyện từ đầu với graph đơn vị.</a:t>
            </a:r>
          </a:p>
          <a:p xmlns:a="http://schemas.openxmlformats.org/drawingml/2006/main">
            <a:r>
              <a:t/>
            </a:r>
          </a:p>
          <a:p xmlns:a="http://schemas.openxmlformats.org/drawingml/2006/main">
            <a:r>
              <a:t>THAO TÁC</a:t>
            </a:r>
          </a:p>
          <a:p xmlns:a="http://schemas.openxmlformats.org/drawingml/2006/main">
            <a:r>
              <a:t>0:00–0:50 chọn ví dụ tốt và giải thích hiện tại. 0:50–1:30 mở đáp án. 1:30–2:20 xem ví dụ khó. 2:20–3:15 đổi cảm biến hoặc thời gian. 3:15–4:15 kiểm tra độ nhạy. 4:15–5:00 mở bảng thực nghiệm, trả lời một câu hỏi ngắn. Dừng phát lại trước khi chuyển slide.</a:t>
            </a:r>
          </a:p>
          <a:p xmlns:a="http://schemas.openxmlformats.org/drawingml/2006/main">
            <a:r>
              <a:t/>
            </a:r>
          </a:p>
          <a:p xmlns:a="http://schemas.openxmlformats.org/drawingml/2006/main">
            <a:r>
              <a:t>CHUYỂN TIẾP</a:t>
            </a:r>
          </a:p>
          <a:p xmlns:a="http://schemas.openxmlformats.org/drawingml/2006/main">
            <a:r>
              <a:t>Tình huống khó cho thấy một giới hạn quan trọng của mô hình.</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24/26 | 34:45–35:55</a:t>
            </a:r>
          </a:p>
          <a:p xmlns:a="http://schemas.openxmlformats.org/drawingml/2006/main">
            <a:r>
              <a:t/>
            </a:r>
          </a:p>
          <a:p xmlns:a="http://schemas.openxmlformats.org/drawingml/2006/main">
            <a:r>
              <a:t>LỜI THUYẾT TRÌNH</a:t>
            </a:r>
          </a:p>
          <a:p xmlns:a="http://schemas.openxmlformats.org/drawingml/2006/main">
            <a:r>
              <a:t>Ở ví dụ khó, tốc độ hiện tại khoảng 94,1 km/h nhưng thực tế sau 15 phút chỉ còn khoảng 42,8. GCN kết hợp GRU vẫn dự đoán gần 99,0 nên sai khoảng 56,1 km/h. Những đầu vào quá khứ và cấu trúc graph của mô hình chưa giúp nó dự đoán được cú giảm này. Nhóm không biết nguyên nhân thực tế có phải tai nạn hay một sự kiện khác hay không, vì dataset không cung cấp nhãn sự cố cho ví dụ đó. Trên toàn bộ nhóm mục tiêu có tốc độ dưới 30 km/h, MAE của GCN kết hợp GRU còn cao hơn phương pháp giữ nguyên. Kết quả này nhắc chúng ta rằng sai số trung bình khá tốt vẫn có thể che khuất lỗi ở các tình huống người sử dụng quan tâm nhất.</a:t>
            </a:r>
          </a:p>
          <a:p xmlns:a="http://schemas.openxmlformats.org/drawingml/2006/main">
            <a:r>
              <a:t/>
            </a:r>
          </a:p>
          <a:p xmlns:a="http://schemas.openxmlformats.org/drawingml/2006/main">
            <a:r>
              <a:t>THAO TÁC</a:t>
            </a:r>
          </a:p>
          <a:p xmlns:a="http://schemas.openxmlformats.org/drawingml/2006/main">
            <a:r>
              <a:t>Chỉ khoảng cách giữa điểm dự báo và thực tế. Không tự gán nguyên nhân “tai nạn”. Đọc thêm hàng MAE tốc độ thấp nếu thầy hỏi.</a:t>
            </a:r>
          </a:p>
          <a:p xmlns:a="http://schemas.openxmlformats.org/drawingml/2006/main">
            <a:r>
              <a:t/>
            </a:r>
          </a:p>
          <a:p xmlns:a="http://schemas.openxmlformats.org/drawingml/2006/main">
            <a:r>
              <a:t>CHUYỂN TIẾP</a:t>
            </a:r>
          </a:p>
          <a:p xmlns:a="http://schemas.openxmlformats.org/drawingml/2006/main">
            <a:r>
              <a:t>Từ các lỗi đó, nhóm xác định các giới hạn và hướng phát triển.</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25/26 | 35:55–36:35</a:t>
            </a:r>
          </a:p>
          <a:p xmlns:a="http://schemas.openxmlformats.org/drawingml/2006/main">
            <a:r>
              <a:t/>
            </a:r>
          </a:p>
          <a:p xmlns:a="http://schemas.openxmlformats.org/drawingml/2006/main">
            <a:r>
              <a:t>LỜI THUYẾT TRÌNH</a:t>
            </a:r>
          </a:p>
          <a:p xmlns:a="http://schemas.openxmlformats.org/drawingml/2006/main">
            <a:r>
              <a:t>Thực nghiệm dùng một dataset cũ và một lần chia thời gian, nên chưa đủ để suy rộng ra Việt Nam hoặc các giai đoạn khác. Mô hình đã đối xứng hóa graph, còn bỏ qua thông tin hướng, thời tiết và sự cố. Ngân sách huấn luyện gọn phù hợp cho việc học và trình diễn nhưng chưa nhằm đạt kết quả tốt nhất của benchmark. Các bước phát triển hợp lý là kiểm tra thêm những giai đoạn khác, giữ graph có hướng, bổ sung dữ liệu ngoại cảnh và đánh giá riêng các tình huống giảm tốc mạnh. Chỉ sau những kiểm chứng đó mới nên bàn đến sử dụng trong một hệ thống điều hành thực tế.</a:t>
            </a:r>
          </a:p>
          <a:p xmlns:a="http://schemas.openxmlformats.org/drawingml/2006/main">
            <a:r>
              <a:t/>
            </a:r>
          </a:p>
          <a:p xmlns:a="http://schemas.openxmlformats.org/drawingml/2006/main">
            <a:r>
              <a:t>THAO TÁC</a:t>
            </a:r>
          </a:p>
          <a:p xmlns:a="http://schemas.openxmlformats.org/drawingml/2006/main">
            <a:r>
              <a:t>Nêu các giới hạn ngắn, chọn một hướng phát triển để giải thích nếu được hỏi.</a:t>
            </a:r>
          </a:p>
          <a:p xmlns:a="http://schemas.openxmlformats.org/drawingml/2006/main">
            <a:r>
              <a:t/>
            </a:r>
          </a:p>
          <a:p xmlns:a="http://schemas.openxmlformats.org/drawingml/2006/main">
            <a:r>
              <a:t>CHUYỂN TIẾP</a:t>
            </a:r>
          </a:p>
          <a:p xmlns:a="http://schemas.openxmlformats.org/drawingml/2006/main">
            <a:r>
              <a:t>Nhóm xin kết lại bằng câu trả lời cho câu hỏi nghiên cứu.</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26/26 | 36:35–37:00</a:t>
            </a:r>
          </a:p>
          <a:p xmlns:a="http://schemas.openxmlformats.org/drawingml/2006/main">
            <a:r>
              <a:t/>
            </a:r>
          </a:p>
          <a:p xmlns:a="http://schemas.openxmlformats.org/drawingml/2006/main">
            <a:r>
              <a:t>LỜI THUYẾT TRÌNH</a:t>
            </a:r>
          </a:p>
          <a:p xmlns:a="http://schemas.openxmlformats.org/drawingml/2006/main">
            <a:r>
              <a:t>Nhóm đã xây dựng một quy trình dự báo tốc độ giao thông, huấn luyện các phương pháp đối chứng và triển khai demo tính dự báo thật. Trong cấu hình này, graph giúp giảm nhẹ sai số tổng thể so với GRU, nhưng không cải thiện mọi tình huống. Điều nhóm học được là phải kiểm chứng lợi ích của quan hệ bằng dữ liệu và xem cả những trường hợp mô hình sai. Nhóm xin cảm ơn thầy và các bạn, và sẵn sàng trao đổi.</a:t>
            </a:r>
          </a:p>
          <a:p xmlns:a="http://schemas.openxmlformats.org/drawingml/2006/main">
            <a:r>
              <a:t/>
            </a:r>
          </a:p>
          <a:p xmlns:a="http://schemas.openxmlformats.org/drawingml/2006/main">
            <a:r>
              <a:t>THAO TÁC</a:t>
            </a:r>
          </a:p>
          <a:p xmlns:a="http://schemas.openxmlformats.org/drawingml/2006/main">
            <a:r>
              <a:t>Dừng ở slide cuối. Dành khoảng ba phút hỏi đáp. Người phụ trách nội dung trả lời trước, các thành viên khác bổ sung.</a:t>
            </a:r>
          </a:p>
          <a:p xmlns:a="http://schemas.openxmlformats.org/drawingml/2006/main">
            <a:r>
              <a:t/>
            </a:r>
          </a:p>
          <a:p xmlns:a="http://schemas.openxmlformats.org/drawingml/2006/main">
            <a:r>
              <a:t>CHUYỂN TIẾP</a:t>
            </a:r>
          </a:p>
          <a:p xmlns:a="http://schemas.openxmlformats.org/drawingml/2006/main">
            <a:r>
              <a:t>Hỏi đáp.</a:t>
            </a:r>
          </a:p>
          <a:p xmlns:a="http://schemas.openxmlformats.org/drawingml/2006/main">
            <a:r>
              <a:t/>
            </a:r>
          </a:p>
          <a:p xmlns:a="http://schemas.openxmlformats.org/drawingml/2006/main">
            <a:r>
              <a:t>NGUỒN</a:t>
            </a:r>
          </a:p>
          <a:p xmlns:a="http://schemas.openxmlformats.org/drawingml/2006/main">
            <a:r>
              <a:t>Thực nghiệm của nhóm: traffic/results/metrics.json, data_manifest.json, demo_cases.json; mã nguồn prepare_data.py, train.py, export_demo.py và dist/inference.mjs.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b4c50d95d141b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62395f1e1f4f8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6cb5bf9c3e4c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2add7900945463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c05cb3776c4c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a2bf06f07d4e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685F8E-FD43-4287-BD52-45B7BBD8D5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9C88C0E-4710-429A-870B-AEE833738C5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3E44814-D4E4-4FD2-A89C-EE930FD8022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460F33-A33B-435B-A621-E4BDB3CF74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77A2D1A-B4A0-4C88-9B3A-39FE92C96D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8F1601-3768-48CA-BFBD-4EE5A15562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CAA600-2AD1-403D-B6E4-DF5FE511C0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B15E09-AA1E-4A9B-B0E9-29413ED5ECD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87FBFA-3915-4AC3-883A-87B3B30D6F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8830D4-0421-4273-8EDF-82A7AE4091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e504f5952e44f9" /><Relationship Type="http://schemas.openxmlformats.org/officeDocument/2006/relationships/slideLayout" Target="/ppt/slideLayouts/slideLayout1.xml" Id="Re5ae52ea18dd4654" /><Relationship Type="http://schemas.openxmlformats.org/officeDocument/2006/relationships/slideLayout" Target="/ppt/slideLayouts/slideLayout2.xml" Id="R75841bc16e384c57" /><Relationship Type="http://schemas.openxmlformats.org/officeDocument/2006/relationships/slideLayout" Target="/ppt/slideLayouts/slideLayout3.xml" Id="R47d6e5b64df747b3" /><Relationship Type="http://schemas.openxmlformats.org/officeDocument/2006/relationships/slideLayout" Target="/ppt/slideLayouts/slideLayout4.xml" Id="Rfdd45577cb1b4f9e" /><Relationship Type="http://schemas.openxmlformats.org/officeDocument/2006/relationships/slideLayout" Target="/ppt/slideLayouts/slideLayout5.xml" Id="Rf2d78e5225434d1b" /><Relationship Type="http://schemas.openxmlformats.org/officeDocument/2006/relationships/slideLayout" Target="/ppt/slideLayouts/slideLayout6.xml" Id="Re2ecb6b9c5314e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ae52ea18dd4654"/>
    <p:sldLayoutId xmlns:r="http://schemas.openxmlformats.org/officeDocument/2006/relationships" id="2147483650" r:id="R75841bc16e384c57"/>
    <p:sldLayoutId xmlns:r="http://schemas.openxmlformats.org/officeDocument/2006/relationships" id="2147483651" r:id="R47d6e5b64df747b3"/>
    <p:sldLayoutId xmlns:r="http://schemas.openxmlformats.org/officeDocument/2006/relationships" id="2147483652" r:id="Rfdd45577cb1b4f9e"/>
    <p:sldLayoutId xmlns:r="http://schemas.openxmlformats.org/officeDocument/2006/relationships" id="2147483653" r:id="Rf2d78e5225434d1b"/>
    <p:sldLayoutId xmlns:r="http://schemas.openxmlformats.org/officeDocument/2006/relationships" id="2147483654" r:id="Re2ecb6b9c5314e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7fecdfd5a36437b" /><Relationship Type="http://schemas.openxmlformats.org/officeDocument/2006/relationships/image" Target="/ppt/media/image.png" Id="R2d82b2ec2f574454" /><Relationship Type="http://schemas.openxmlformats.org/officeDocument/2006/relationships/notesSlide" Target="/ppt/notesSlides/notesSlide1.xml" Id="R08c67c17349e43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6d03f054a4a4f27" /><Relationship Type="http://schemas.openxmlformats.org/officeDocument/2006/relationships/chart" Target="/ppt/slides/charts/chart1.xml" Id="Rc6c1d74fc2064544" /><Relationship Type="http://schemas.openxmlformats.org/officeDocument/2006/relationships/notesSlide" Target="/ppt/notesSlides/notesSlide2.xml" Id="R01a02d1c7ca94f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0026a325bc94e9b" /><Relationship Type="http://schemas.openxmlformats.org/officeDocument/2006/relationships/notesSlide" Target="/ppt/notesSlides/notesSlide3.xml" Id="Rfca045b91f5347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9a65a28271a45e1" /><Relationship Type="http://schemas.openxmlformats.org/officeDocument/2006/relationships/chart" Target="/ppt/slides/charts/chart2.xml" Id="R1e731738f4124d39" /><Relationship Type="http://schemas.openxmlformats.org/officeDocument/2006/relationships/notesSlide" Target="/ppt/notesSlides/notesSlide4.xml" Id="R6e7c978ad51049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96fd0bed69f49d2" /><Relationship Type="http://schemas.openxmlformats.org/officeDocument/2006/relationships/notesSlide" Target="/ppt/notesSlides/notesSlide5.xml" Id="R7d2c0ca15ce64d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4b7d92bb88d41e7" /><Relationship Type="http://schemas.openxmlformats.org/officeDocument/2006/relationships/chart" Target="/ppt/slides/charts/chart3.xml" Id="Rb06f0eedd8534795" /><Relationship Type="http://schemas.openxmlformats.org/officeDocument/2006/relationships/notesSlide" Target="/ppt/notesSlides/notesSlide6.xml" Id="R0bf2f0ed6f8549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57076f82a5e40d1" /><Relationship Type="http://schemas.openxmlformats.org/officeDocument/2006/relationships/notesSlide" Target="/ppt/notesSlides/notesSlide7.xml" Id="R3495c10327bd48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f676cefa26b447b" /><Relationship Type="http://schemas.openxmlformats.org/officeDocument/2006/relationships/notesSlide" Target="/ppt/notesSlides/notesSlide8.xml" Id="R2044bdeb7bfa45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3ea62cedf2740c8" /><Relationship Type="http://schemas.openxmlformats.org/officeDocument/2006/relationships/image" Target="/ppt/media/image.jpeg" Id="R1abdd2f6dcab49a9" /><Relationship Type="http://schemas.openxmlformats.org/officeDocument/2006/relationships/notesSlide" Target="/ppt/notesSlides/notesSlide9.xml" Id="Ref153bd00c9540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ae37e5077cb4291" /><Relationship Type="http://schemas.openxmlformats.org/officeDocument/2006/relationships/chart" Target="/ppt/slides/charts/chart4.xml" Id="R2cbab431d0384f7b" /><Relationship Type="http://schemas.openxmlformats.org/officeDocument/2006/relationships/notesSlide" Target="/ppt/notesSlides/notesSlide10.xml" Id="R26b868ac72dc44e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ae39da3bba9436d" /><Relationship Type="http://schemas.openxmlformats.org/officeDocument/2006/relationships/notesSlide" Target="/ppt/notesSlides/notesSlide11.xml" Id="Rb70343bee2f948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a9df44de4a34300" /><Relationship Type="http://schemas.openxmlformats.org/officeDocument/2006/relationships/notesSlide" Target="/ppt/notesSlides/notesSlide12.xml" Id="Rdab7e5ce645b40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5436eb02a364885" /><Relationship Type="http://schemas.openxmlformats.org/officeDocument/2006/relationships/chart" Target="/ppt/slides/charts/chart5.xml" Id="Rea0549a78bd84f14" /><Relationship Type="http://schemas.openxmlformats.org/officeDocument/2006/relationships/notesSlide" Target="/ppt/notesSlides/notesSlide13.xml" Id="Rfcc31fb112264a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8e3d142c14e4309" /><Relationship Type="http://schemas.openxmlformats.org/officeDocument/2006/relationships/chart" Target="/ppt/slides/charts/chart6.xml" Id="Rd6655ab5ef3c4ee4" /><Relationship Type="http://schemas.openxmlformats.org/officeDocument/2006/relationships/notesSlide" Target="/ppt/notesSlides/notesSlide14.xml" Id="Ree2cfa0225df43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032190d84394d2b" /><Relationship Type="http://schemas.openxmlformats.org/officeDocument/2006/relationships/chart" Target="/ppt/slides/charts/chart7.xml" Id="R120ff53db73f4abb" /><Relationship Type="http://schemas.openxmlformats.org/officeDocument/2006/relationships/notesSlide" Target="/ppt/notesSlides/notesSlide15.xml" Id="Rc889c47ad44f47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b3327aeec904427" /><Relationship Type="http://schemas.openxmlformats.org/officeDocument/2006/relationships/notesSlide" Target="/ppt/notesSlides/notesSlide16.xml" Id="R6e2e49088fa946c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34780315bca4025" /><Relationship Type="http://schemas.openxmlformats.org/officeDocument/2006/relationships/chart" Target="/ppt/slides/charts/chart8.xml" Id="Rdd9a60d2b6494cdc" /><Relationship Type="http://schemas.openxmlformats.org/officeDocument/2006/relationships/notesSlide" Target="/ppt/notesSlides/notesSlide17.xml" Id="R7ed174cb1c6e4c7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93242785b9a4f70" /><Relationship Type="http://schemas.openxmlformats.org/officeDocument/2006/relationships/notesSlide" Target="/ppt/notesSlides/notesSlide18.xml" Id="Rd6b7115d080d4ef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4495e7f75c042f6" /><Relationship Type="http://schemas.openxmlformats.org/officeDocument/2006/relationships/notesSlide" Target="/ppt/notesSlides/notesSlide19.xml" Id="R8f8a0fe2567d495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820d4d9e84b4fa1" /><Relationship Type="http://schemas.openxmlformats.org/officeDocument/2006/relationships/chart" Target="/ppt/slides/charts/chart9.xml" Id="R2022f1d752f5418a" /><Relationship Type="http://schemas.openxmlformats.org/officeDocument/2006/relationships/notesSlide" Target="/ppt/notesSlides/notesSlide20.xml" Id="Re884cd950375488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a9d11b37a524a89" /><Relationship Type="http://schemas.openxmlformats.org/officeDocument/2006/relationships/chart" Target="/ppt/slides/charts/chart10.xml" Id="R17a8c8b8af3540b7" /><Relationship Type="http://schemas.openxmlformats.org/officeDocument/2006/relationships/notesSlide" Target="/ppt/notesSlides/notesSlide21.xml" Id="Rf4764b7f3715416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5e70659ea1b452b" /><Relationship Type="http://schemas.openxmlformats.org/officeDocument/2006/relationships/notesSlide" Target="/ppt/notesSlides/notesSlide22.xml" Id="R727a7fd7342141b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365e995ebdb47a9" /><Relationship Type="http://schemas.openxmlformats.org/officeDocument/2006/relationships/image" Target="/ppt/media/image2.jpeg" Id="R22c1c41ab0b44611" /><Relationship Type="http://schemas.openxmlformats.org/officeDocument/2006/relationships/notesSlide" Target="/ppt/notesSlides/notesSlide23.xml" Id="R9cbc00c50fb14cf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47f85205c804fc8" /><Relationship Type="http://schemas.openxmlformats.org/officeDocument/2006/relationships/chart" Target="/ppt/slides/charts/chart11.xml" Id="Ra3f82ffd30b6493f" /><Relationship Type="http://schemas.openxmlformats.org/officeDocument/2006/relationships/notesSlide" Target="/ppt/notesSlides/notesSlide24.xml" Id="Rc328166ee70c4b5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2fb2451faea4a65" /><Relationship Type="http://schemas.openxmlformats.org/officeDocument/2006/relationships/notesSlide" Target="/ppt/notesSlides/notesSlide25.xml" Id="Rb62b4328363f41c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1ea8245a0a9441b" /><Relationship Type="http://schemas.openxmlformats.org/officeDocument/2006/relationships/notesSlide" Target="/ppt/notesSlides/notesSlide26.xml" Id="R021e9e0a930d4f5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Đã quan sát</c:v>
          </c:tx>
          <c:spPr>
            <a:ln xmlns:a="http://schemas.openxmlformats.org/drawingml/2006/main" w="28575">
              <a:solidFill>
                <a:srgbClr val="163B3B"/>
              </a:solidFill>
            </a:ln>
          </c:spPr>
          <c:marker>
            <c:symbol val="circle"/>
            <c:size val="4"/>
            <c:spPr>
              <a:solidFill xmlns:a="http://schemas.openxmlformats.org/drawingml/2006/main">
                <a:srgbClr val="163B3B"/>
              </a:solidFill>
            </c:spPr>
          </c:marker>
          <c:xVal>
            <c:numRef>
              <c:f>'Chart Data'!$A$2:$A$13</c:f>
              <c:numCache>
                <c:formatCode>General</c:formatCode>
                <c:ptCount val="12"/>
                <c:pt idx="0">
                  <c:v>-55</c:v>
                </c:pt>
                <c:pt idx="1">
                  <c:v>-50</c:v>
                </c:pt>
                <c:pt idx="2">
                  <c:v>-45</c:v>
                </c:pt>
                <c:pt idx="3">
                  <c:v>-40</c:v>
                </c:pt>
                <c:pt idx="4">
                  <c:v>-35</c:v>
                </c:pt>
                <c:pt idx="5">
                  <c:v>-30</c:v>
                </c:pt>
                <c:pt idx="6">
                  <c:v>-25</c:v>
                </c:pt>
                <c:pt idx="7">
                  <c:v>-20</c:v>
                </c:pt>
                <c:pt idx="8">
                  <c:v>-15</c:v>
                </c:pt>
                <c:pt idx="9">
                  <c:v>-10</c:v>
                </c:pt>
                <c:pt idx="10">
                  <c:v>-5</c:v>
                </c:pt>
                <c:pt idx="11">
                  <c:v>0</c:v>
                </c:pt>
              </c:numCache>
            </c:numRef>
          </c:xVal>
          <c:yVal>
            <c:numRef>
              <c:f>'Chart Data'!$B$2:$B$13</c:f>
              <c:numCache>
                <c:formatCode>0</c:formatCode>
                <c:ptCount val="12"/>
                <c:pt idx="0">
                  <c:v>5.632704</c:v>
                </c:pt>
                <c:pt idx="1">
                  <c:v>7.845552</c:v>
                </c:pt>
                <c:pt idx="2">
                  <c:v>17.903952</c:v>
                </c:pt>
                <c:pt idx="3">
                  <c:v>13.880592</c:v>
                </c:pt>
                <c:pt idx="4">
                  <c:v>17.099279</c:v>
                </c:pt>
                <c:pt idx="5">
                  <c:v>19.915632</c:v>
                </c:pt>
                <c:pt idx="6">
                  <c:v>20.206207</c:v>
                </c:pt>
                <c:pt idx="7">
                  <c:v>21.927313</c:v>
                </c:pt>
                <c:pt idx="8">
                  <c:v>23.737823</c:v>
                </c:pt>
                <c:pt idx="9">
                  <c:v>24.944832</c:v>
                </c:pt>
                <c:pt idx="10">
                  <c:v>16.294607</c:v>
                </c:pt>
                <c:pt idx="11">
                  <c:v>14.484097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50112"/>
      </c:valAx>
      <c:valAx>
        <c:axId val="48650112"/>
        <c:scaling>
          <c:orientation val="minMax"/>
          <c:max val="15"/>
          <c:min val="-55"/>
        </c:scaling>
        <c:delete val="0"/>
        <c:axPos val="b"/>
        <c:numFmt formatCode="0&quot;′&quot;"/>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72768"/>
        <c:majorUnit val="15"/>
      </c:valAx>
      <c:spPr>
        <a:solidFill xmlns:a="http://schemas.openxmlformats.org/drawingml/2006/main">
          <a:srgbClr val="F7F6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63B3B"/>
              </a:solidFill>
              <a:latin typeface="Arial"/>
              <a:ea typeface="Arial"/>
              <a:cs typeface="Arial"/>
            </a:defRPr>
          </a:pPr>
        </a:p>
      </c:txPr>
    </c:legend>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Cảm biến 717458</c:v>
          </c:tx>
          <c:spPr>
            <a:ln xmlns:a="http://schemas.openxmlformats.org/drawingml/2006/main" w="23813">
              <a:solidFill>
                <a:srgbClr val="163B3B"/>
              </a:solidFill>
            </a:ln>
          </c:spPr>
          <c:marker>
            <c:symbol val="none"/>
          </c:marker>
          <c:cat>
            <c:strRef>
              <c:f>'Chart Data'!$A$2:$A$13</c:f>
              <c:strCache>
                <c:ptCount val="12"/>
                <c:pt idx="0">
                  <c:v>17:40</c:v>
                </c:pt>
                <c:pt idx="1">
                  <c:v>17:45</c:v>
                </c:pt>
                <c:pt idx="2">
                  <c:v>17:50</c:v>
                </c:pt>
                <c:pt idx="3">
                  <c:v>17:55</c:v>
                </c:pt>
                <c:pt idx="4">
                  <c:v>18:00</c:v>
                </c:pt>
                <c:pt idx="5">
                  <c:v>18:05</c:v>
                </c:pt>
                <c:pt idx="6">
                  <c:v>18:10</c:v>
                </c:pt>
                <c:pt idx="7">
                  <c:v>18:15</c:v>
                </c:pt>
                <c:pt idx="8">
                  <c:v>18:20</c:v>
                </c:pt>
                <c:pt idx="9">
                  <c:v>18:25</c:v>
                </c:pt>
                <c:pt idx="10">
                  <c:v>18:30</c:v>
                </c:pt>
                <c:pt idx="11">
                  <c:v>18:35</c:v>
                </c:pt>
              </c:strCache>
            </c:strRef>
          </c:cat>
          <c:val>
            <c:numRef>
              <c:f>'Chart Data'!$B$2:$B$13</c:f>
              <c:numCache>
                <c:formatCode>0</c:formatCode>
                <c:ptCount val="12"/>
                <c:pt idx="0">
                  <c:v>5.632704</c:v>
                </c:pt>
                <c:pt idx="1">
                  <c:v>7.845552</c:v>
                </c:pt>
                <c:pt idx="2">
                  <c:v>17.903952</c:v>
                </c:pt>
                <c:pt idx="3">
                  <c:v>13.880592</c:v>
                </c:pt>
                <c:pt idx="4">
                  <c:v>17.099279</c:v>
                </c:pt>
                <c:pt idx="5">
                  <c:v>19.915632</c:v>
                </c:pt>
                <c:pt idx="6">
                  <c:v>20.206207</c:v>
                </c:pt>
                <c:pt idx="7">
                  <c:v>21.927313</c:v>
                </c:pt>
                <c:pt idx="8">
                  <c:v>23.737823</c:v>
                </c:pt>
                <c:pt idx="9">
                  <c:v>24.944832</c:v>
                </c:pt>
                <c:pt idx="10">
                  <c:v>16.294607</c:v>
                </c:pt>
                <c:pt idx="11">
                  <c:v>14.484097</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50112"/>
        <c:crossBetween val="between"/>
      </c:valAx>
      <c:spPr>
        <a:solidFill xmlns:a="http://schemas.openxmlformats.org/drawingml/2006/main">
          <a:srgbClr val="F7F6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63B3B"/>
              </a:solidFill>
              <a:latin typeface="Arial"/>
              <a:ea typeface="Arial"/>
              <a:cs typeface="Arial"/>
            </a:defRPr>
          </a:pPr>
        </a:p>
      </c:txPr>
    </c:legend>
    <c:plotVisOnly val="1"/>
    <c:dispBlanksAs val="gap"/>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Đã quan sát</c:v>
          </c:tx>
          <c:spPr>
            <a:ln xmlns:a="http://schemas.openxmlformats.org/drawingml/2006/main" w="28575">
              <a:solidFill>
                <a:srgbClr val="163B3B"/>
              </a:solidFill>
            </a:ln>
          </c:spPr>
          <c:marker>
            <c:symbol val="circle"/>
            <c:size val="4"/>
            <c:spPr>
              <a:solidFill xmlns:a="http://schemas.openxmlformats.org/drawingml/2006/main">
                <a:srgbClr val="163B3B"/>
              </a:solidFill>
            </c:spPr>
          </c:marker>
          <c:xVal>
            <c:numRef>
              <c:f>'Chart Data'!$A$2:$A$13</c:f>
              <c:numCache>
                <c:formatCode>General</c:formatCode>
                <c:ptCount val="12"/>
                <c:pt idx="0">
                  <c:v>-55</c:v>
                </c:pt>
                <c:pt idx="1">
                  <c:v>-50</c:v>
                </c:pt>
                <c:pt idx="2">
                  <c:v>-45</c:v>
                </c:pt>
                <c:pt idx="3">
                  <c:v>-40</c:v>
                </c:pt>
                <c:pt idx="4">
                  <c:v>-35</c:v>
                </c:pt>
                <c:pt idx="5">
                  <c:v>-30</c:v>
                </c:pt>
                <c:pt idx="6">
                  <c:v>-25</c:v>
                </c:pt>
                <c:pt idx="7">
                  <c:v>-20</c:v>
                </c:pt>
                <c:pt idx="8">
                  <c:v>-15</c:v>
                </c:pt>
                <c:pt idx="9">
                  <c:v>-10</c:v>
                </c:pt>
                <c:pt idx="10">
                  <c:v>-5</c:v>
                </c:pt>
                <c:pt idx="11">
                  <c:v>0</c:v>
                </c:pt>
              </c:numCache>
            </c:numRef>
          </c:xVal>
          <c:yVal>
            <c:numRef>
              <c:f>'Chart Data'!$B$2:$B$13</c:f>
              <c:numCache>
                <c:formatCode>0</c:formatCode>
                <c:ptCount val="12"/>
                <c:pt idx="0">
                  <c:v>5.632704</c:v>
                </c:pt>
                <c:pt idx="1">
                  <c:v>7.845552</c:v>
                </c:pt>
                <c:pt idx="2">
                  <c:v>17.903952</c:v>
                </c:pt>
                <c:pt idx="3">
                  <c:v>13.880592</c:v>
                </c:pt>
                <c:pt idx="4">
                  <c:v>17.099279</c:v>
                </c:pt>
                <c:pt idx="5">
                  <c:v>19.915632</c:v>
                </c:pt>
                <c:pt idx="6">
                  <c:v>20.206207</c:v>
                </c:pt>
                <c:pt idx="7">
                  <c:v>21.927313</c:v>
                </c:pt>
                <c:pt idx="8">
                  <c:v>23.737823</c:v>
                </c:pt>
                <c:pt idx="9">
                  <c:v>24.944832</c:v>
                </c:pt>
                <c:pt idx="10">
                  <c:v>16.294607</c:v>
                </c:pt>
                <c:pt idx="11">
                  <c:v>14.484097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50112"/>
      </c:valAx>
      <c:valAx>
        <c:axId val="48650112"/>
        <c:scaling>
          <c:orientation val="minMax"/>
          <c:max val="15"/>
          <c:min val="-55"/>
        </c:scaling>
        <c:delete val="0"/>
        <c:axPos val="b"/>
        <c:numFmt formatCode="0&quot;′&quot;"/>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72768"/>
        <c:majorUnit val="15"/>
      </c:valAx>
      <c:spPr>
        <a:solidFill xmlns:a="http://schemas.openxmlformats.org/drawingml/2006/main">
          <a:srgbClr val="F7F6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63B3B"/>
              </a:solidFill>
              <a:latin typeface="Arial"/>
              <a:ea typeface="Arial"/>
              <a:cs typeface="Arial"/>
            </a:defRPr>
          </a:pPr>
        </a:p>
      </c:txPr>
    </c:legend>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Đã quan sát</c:v>
          </c:tx>
          <c:spPr>
            <a:ln xmlns:a="http://schemas.openxmlformats.org/drawingml/2006/main" w="28575">
              <a:solidFill>
                <a:srgbClr val="163B3B"/>
              </a:solidFill>
            </a:ln>
          </c:spPr>
          <c:marker>
            <c:symbol val="circle"/>
            <c:size val="4"/>
            <c:spPr>
              <a:solidFill xmlns:a="http://schemas.openxmlformats.org/drawingml/2006/main">
                <a:srgbClr val="163B3B"/>
              </a:solidFill>
            </c:spPr>
          </c:marker>
          <c:xVal>
            <c:numRef>
              <c:f>'Chart Data'!$A$2:$A$13</c:f>
              <c:numCache>
                <c:formatCode>General</c:formatCode>
                <c:ptCount val="12"/>
                <c:pt idx="0">
                  <c:v>-55</c:v>
                </c:pt>
                <c:pt idx="1">
                  <c:v>-50</c:v>
                </c:pt>
                <c:pt idx="2">
                  <c:v>-45</c:v>
                </c:pt>
                <c:pt idx="3">
                  <c:v>-40</c:v>
                </c:pt>
                <c:pt idx="4">
                  <c:v>-35</c:v>
                </c:pt>
                <c:pt idx="5">
                  <c:v>-30</c:v>
                </c:pt>
                <c:pt idx="6">
                  <c:v>-25</c:v>
                </c:pt>
                <c:pt idx="7">
                  <c:v>-20</c:v>
                </c:pt>
                <c:pt idx="8">
                  <c:v>-15</c:v>
                </c:pt>
                <c:pt idx="9">
                  <c:v>-10</c:v>
                </c:pt>
                <c:pt idx="10">
                  <c:v>-5</c:v>
                </c:pt>
                <c:pt idx="11">
                  <c:v>0</c:v>
                </c:pt>
              </c:numCache>
            </c:numRef>
          </c:xVal>
          <c:yVal>
            <c:numRef>
              <c:f>'Chart Data'!$B$2:$B$13</c:f>
              <c:numCache>
                <c:formatCode>0</c:formatCode>
                <c:ptCount val="12"/>
                <c:pt idx="0">
                  <c:v>5.632704</c:v>
                </c:pt>
                <c:pt idx="1">
                  <c:v>7.845552</c:v>
                </c:pt>
                <c:pt idx="2">
                  <c:v>17.903952</c:v>
                </c:pt>
                <c:pt idx="3">
                  <c:v>13.880592</c:v>
                </c:pt>
                <c:pt idx="4">
                  <c:v>17.099279</c:v>
                </c:pt>
                <c:pt idx="5">
                  <c:v>19.915632</c:v>
                </c:pt>
                <c:pt idx="6">
                  <c:v>20.206207</c:v>
                </c:pt>
                <c:pt idx="7">
                  <c:v>21.927313</c:v>
                </c:pt>
                <c:pt idx="8">
                  <c:v>23.737823</c:v>
                </c:pt>
                <c:pt idx="9">
                  <c:v>24.944832</c:v>
                </c:pt>
                <c:pt idx="10">
                  <c:v>16.294607</c:v>
                </c:pt>
                <c:pt idx="11">
                  <c:v>14.484097</c:v>
                </c:pt>
              </c:numCache>
            </c:numRef>
          </c:yVal>
        </c:ser>
        <c:ser>
          <c:idx val="1"/>
          <c:order val="1"/>
          <c:tx>
            <c:v>Giữ nguyên</c:v>
          </c:tx>
          <c:spPr>
            <a:ln xmlns:a="http://schemas.openxmlformats.org/drawingml/2006/main" w="19050">
              <a:solidFill>
                <a:srgbClr val="9BA9A0"/>
              </a:solidFill>
            </a:ln>
          </c:spPr>
          <c:marker>
            <c:symbol val="circle"/>
            <c:size val="7"/>
            <c:spPr>
              <a:solidFill xmlns:a="http://schemas.openxmlformats.org/drawingml/2006/main">
                <a:srgbClr val="9BA9A0"/>
              </a:solidFill>
            </c:spPr>
          </c:marker>
          <c:xVal>
            <c:numRef>
              <c:f>'Chart Data'!$C$2:$C$3</c:f>
              <c:numCache>
                <c:formatCode>General</c:formatCode>
                <c:ptCount val="2"/>
                <c:pt idx="0">
                  <c:v>0</c:v>
                </c:pt>
                <c:pt idx="1">
                  <c:v>15</c:v>
                </c:pt>
              </c:numCache>
            </c:numRef>
          </c:xVal>
          <c:yVal>
            <c:numRef>
              <c:f>'Chart Data'!$D$2:$D$3</c:f>
              <c:numCache>
                <c:formatCode>0</c:formatCode>
                <c:ptCount val="2"/>
                <c:pt idx="0">
                  <c:v>14.484097</c:v>
                </c:pt>
                <c:pt idx="1">
                  <c:v>14.4840965</c:v>
                </c:pt>
              </c:numCache>
            </c:numRef>
          </c:yVal>
        </c:ser>
        <c:ser>
          <c:idx val="2"/>
          <c:order val="2"/>
          <c:tx>
            <c:v>GRU</c:v>
          </c:tx>
          <c:spPr>
            <a:ln xmlns:a="http://schemas.openxmlformats.org/drawingml/2006/main" w="19050">
              <a:solidFill>
                <a:srgbClr val="BE7B2F"/>
              </a:solidFill>
            </a:ln>
          </c:spPr>
          <c:marker>
            <c:symbol val="circle"/>
            <c:size val="7"/>
            <c:spPr>
              <a:solidFill xmlns:a="http://schemas.openxmlformats.org/drawingml/2006/main">
                <a:srgbClr val="BE7B2F"/>
              </a:solidFill>
            </c:spPr>
          </c:marker>
          <c:xVal>
            <c:numRef>
              <c:f>'Chart Data'!$E$2:$E$3</c:f>
              <c:numCache>
                <c:formatCode>General</c:formatCode>
                <c:ptCount val="2"/>
                <c:pt idx="0">
                  <c:v>0</c:v>
                </c:pt>
                <c:pt idx="1">
                  <c:v>15</c:v>
                </c:pt>
              </c:numCache>
            </c:numRef>
          </c:xVal>
          <c:yVal>
            <c:numRef>
              <c:f>'Chart Data'!$F$2:$F$3</c:f>
              <c:numCache>
                <c:formatCode>0</c:formatCode>
                <c:ptCount val="2"/>
                <c:pt idx="0">
                  <c:v>14.484097</c:v>
                </c:pt>
                <c:pt idx="1">
                  <c:v>18.6920052</c:v>
                </c:pt>
              </c:numCache>
            </c:numRef>
          </c:yVal>
        </c:ser>
        <c:ser>
          <c:idx val="3"/>
          <c:order val="3"/>
          <c:tx>
            <c:v>GCN + GRU</c:v>
          </c:tx>
          <c:spPr>
            <a:ln xmlns:a="http://schemas.openxmlformats.org/drawingml/2006/main" w="19050">
              <a:solidFill>
                <a:srgbClr val="087E73"/>
              </a:solidFill>
            </a:ln>
          </c:spPr>
          <c:marker>
            <c:symbol val="circle"/>
            <c:size val="7"/>
            <c:spPr>
              <a:solidFill xmlns:a="http://schemas.openxmlformats.org/drawingml/2006/main">
                <a:srgbClr val="087E73"/>
              </a:solidFill>
            </c:spPr>
          </c:marker>
          <c:xVal>
            <c:numRef>
              <c:f>'Chart Data'!$G$2:$G$3</c:f>
              <c:numCache>
                <c:formatCode>General</c:formatCode>
                <c:ptCount val="2"/>
                <c:pt idx="0">
                  <c:v>0</c:v>
                </c:pt>
                <c:pt idx="1">
                  <c:v>15</c:v>
                </c:pt>
              </c:numCache>
            </c:numRef>
          </c:xVal>
          <c:yVal>
            <c:numRef>
              <c:f>'Chart Data'!$H$2:$H$3</c:f>
              <c:numCache>
                <c:formatCode>0</c:formatCode>
                <c:ptCount val="2"/>
                <c:pt idx="0">
                  <c:v>14.484097</c:v>
                </c:pt>
                <c:pt idx="1">
                  <c:v>24.6380882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50112"/>
      </c:valAx>
      <c:valAx>
        <c:axId val="48650112"/>
        <c:scaling>
          <c:orientation val="minMax"/>
          <c:max val="15"/>
          <c:min val="-55"/>
        </c:scaling>
        <c:delete val="0"/>
        <c:axPos val="b"/>
        <c:numFmt formatCode="0&quot;′&quot;"/>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72768"/>
        <c:majorUnit val="15"/>
      </c:valAx>
      <c:spPr>
        <a:solidFill xmlns:a="http://schemas.openxmlformats.org/drawingml/2006/main">
          <a:srgbClr val="F7F6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63B3B"/>
              </a:solidFill>
              <a:latin typeface="Arial"/>
              <a:ea typeface="Arial"/>
              <a:cs typeface="Arial"/>
            </a:defRPr>
          </a:pPr>
        </a:p>
      </c:txPr>
    </c:legend>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Đã quan sát</c:v>
          </c:tx>
          <c:spPr>
            <a:ln xmlns:a="http://schemas.openxmlformats.org/drawingml/2006/main" w="28575">
              <a:solidFill>
                <a:srgbClr val="163B3B"/>
              </a:solidFill>
            </a:ln>
          </c:spPr>
          <c:marker>
            <c:symbol val="circle"/>
            <c:size val="4"/>
            <c:spPr>
              <a:solidFill xmlns:a="http://schemas.openxmlformats.org/drawingml/2006/main">
                <a:srgbClr val="163B3B"/>
              </a:solidFill>
            </c:spPr>
          </c:marker>
          <c:xVal>
            <c:numRef>
              <c:f>'Chart Data'!$A$2:$A$13</c:f>
              <c:numCache>
                <c:formatCode>General</c:formatCode>
                <c:ptCount val="12"/>
                <c:pt idx="0">
                  <c:v>-55</c:v>
                </c:pt>
                <c:pt idx="1">
                  <c:v>-50</c:v>
                </c:pt>
                <c:pt idx="2">
                  <c:v>-45</c:v>
                </c:pt>
                <c:pt idx="3">
                  <c:v>-40</c:v>
                </c:pt>
                <c:pt idx="4">
                  <c:v>-35</c:v>
                </c:pt>
                <c:pt idx="5">
                  <c:v>-30</c:v>
                </c:pt>
                <c:pt idx="6">
                  <c:v>-25</c:v>
                </c:pt>
                <c:pt idx="7">
                  <c:v>-20</c:v>
                </c:pt>
                <c:pt idx="8">
                  <c:v>-15</c:v>
                </c:pt>
                <c:pt idx="9">
                  <c:v>-10</c:v>
                </c:pt>
                <c:pt idx="10">
                  <c:v>-5</c:v>
                </c:pt>
                <c:pt idx="11">
                  <c:v>0</c:v>
                </c:pt>
              </c:numCache>
            </c:numRef>
          </c:xVal>
          <c:yVal>
            <c:numRef>
              <c:f>'Chart Data'!$B$2:$B$13</c:f>
              <c:numCache>
                <c:formatCode>0</c:formatCode>
                <c:ptCount val="12"/>
                <c:pt idx="0">
                  <c:v>5.632704</c:v>
                </c:pt>
                <c:pt idx="1">
                  <c:v>7.845552</c:v>
                </c:pt>
                <c:pt idx="2">
                  <c:v>17.903952</c:v>
                </c:pt>
                <c:pt idx="3">
                  <c:v>13.880592</c:v>
                </c:pt>
                <c:pt idx="4">
                  <c:v>17.099279</c:v>
                </c:pt>
                <c:pt idx="5">
                  <c:v>19.915632</c:v>
                </c:pt>
                <c:pt idx="6">
                  <c:v>20.206207</c:v>
                </c:pt>
                <c:pt idx="7">
                  <c:v>21.927313</c:v>
                </c:pt>
                <c:pt idx="8">
                  <c:v>23.737823</c:v>
                </c:pt>
                <c:pt idx="9">
                  <c:v>24.944832</c:v>
                </c:pt>
                <c:pt idx="10">
                  <c:v>16.294607</c:v>
                </c:pt>
                <c:pt idx="11">
                  <c:v>14.484097</c:v>
                </c:pt>
              </c:numCache>
            </c:numRef>
          </c:yVal>
        </c:ser>
        <c:ser>
          <c:idx val="1"/>
          <c:order val="1"/>
          <c:tx>
            <c:v>Giữ nguyên</c:v>
          </c:tx>
          <c:spPr>
            <a:ln xmlns:a="http://schemas.openxmlformats.org/drawingml/2006/main" w="19050">
              <a:solidFill>
                <a:srgbClr val="BE7B2F"/>
              </a:solidFill>
            </a:ln>
          </c:spPr>
          <c:marker>
            <c:symbol val="circle"/>
            <c:size val="7"/>
            <c:spPr>
              <a:solidFill xmlns:a="http://schemas.openxmlformats.org/drawingml/2006/main">
                <a:srgbClr val="BE7B2F"/>
              </a:solidFill>
            </c:spPr>
          </c:marker>
          <c:xVal>
            <c:numRef>
              <c:f>'Chart Data'!$C$2:$C$3</c:f>
              <c:numCache>
                <c:formatCode>General</c:formatCode>
                <c:ptCount val="2"/>
                <c:pt idx="0">
                  <c:v>0</c:v>
                </c:pt>
                <c:pt idx="1">
                  <c:v>15</c:v>
                </c:pt>
              </c:numCache>
            </c:numRef>
          </c:xVal>
          <c:yVal>
            <c:numRef>
              <c:f>'Chart Data'!$D$2:$D$3</c:f>
              <c:numCache>
                <c:formatCode>0</c:formatCode>
                <c:ptCount val="2"/>
                <c:pt idx="0">
                  <c:v>14.484097</c:v>
                </c:pt>
                <c:pt idx="1">
                  <c:v>14.4840965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50112"/>
      </c:valAx>
      <c:valAx>
        <c:axId val="48650112"/>
        <c:scaling>
          <c:orientation val="minMax"/>
          <c:max val="15"/>
          <c:min val="-55"/>
        </c:scaling>
        <c:delete val="0"/>
        <c:axPos val="b"/>
        <c:numFmt formatCode="0&quot;′&quot;"/>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72768"/>
        <c:majorUnit val="15"/>
      </c:valAx>
      <c:spPr>
        <a:solidFill xmlns:a="http://schemas.openxmlformats.org/drawingml/2006/main">
          <a:srgbClr val="F7F6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63B3B"/>
              </a:solidFill>
              <a:latin typeface="Arial"/>
              <a:ea typeface="Arial"/>
              <a:cs typeface="Arial"/>
            </a:defRPr>
          </a:pPr>
        </a:p>
      </c:txPr>
    </c:legend>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Tốc độ tại một cảm biến</c:v>
          </c:tx>
          <c:spPr>
            <a:ln xmlns:a="http://schemas.openxmlformats.org/drawingml/2006/main" w="23813">
              <a:solidFill>
                <a:srgbClr val="163B3B"/>
              </a:solidFill>
            </a:ln>
          </c:spPr>
          <c:marker>
            <c:symbol val="none"/>
          </c:marker>
          <c:cat>
            <c:strRef>
              <c:f>'Chart Data'!$A$2:$A$13</c:f>
              <c:strCache>
                <c:ptCount val="12"/>
                <c:pt idx="0">
                  <c:v>17:40</c:v>
                </c:pt>
                <c:pt idx="1">
                  <c:v>17:45</c:v>
                </c:pt>
                <c:pt idx="2">
                  <c:v>17:50</c:v>
                </c:pt>
                <c:pt idx="3">
                  <c:v>17:55</c:v>
                </c:pt>
                <c:pt idx="4">
                  <c:v>18:00</c:v>
                </c:pt>
                <c:pt idx="5">
                  <c:v>18:05</c:v>
                </c:pt>
                <c:pt idx="6">
                  <c:v>18:10</c:v>
                </c:pt>
                <c:pt idx="7">
                  <c:v>18:15</c:v>
                </c:pt>
                <c:pt idx="8">
                  <c:v>18:20</c:v>
                </c:pt>
                <c:pt idx="9">
                  <c:v>18:25</c:v>
                </c:pt>
                <c:pt idx="10">
                  <c:v>18:30</c:v>
                </c:pt>
                <c:pt idx="11">
                  <c:v>18:35</c:v>
                </c:pt>
              </c:strCache>
            </c:strRef>
          </c:cat>
          <c:val>
            <c:numRef>
              <c:f>'Chart Data'!$B$2:$B$13</c:f>
              <c:numCache>
                <c:formatCode>0</c:formatCode>
                <c:ptCount val="12"/>
                <c:pt idx="0">
                  <c:v>5.632704</c:v>
                </c:pt>
                <c:pt idx="1">
                  <c:v>7.845552</c:v>
                </c:pt>
                <c:pt idx="2">
                  <c:v>17.903952</c:v>
                </c:pt>
                <c:pt idx="3">
                  <c:v>13.880592</c:v>
                </c:pt>
                <c:pt idx="4">
                  <c:v>17.099279</c:v>
                </c:pt>
                <c:pt idx="5">
                  <c:v>19.915632</c:v>
                </c:pt>
                <c:pt idx="6">
                  <c:v>20.206207</c:v>
                </c:pt>
                <c:pt idx="7">
                  <c:v>21.927313</c:v>
                </c:pt>
                <c:pt idx="8">
                  <c:v>23.737823</c:v>
                </c:pt>
                <c:pt idx="9">
                  <c:v>24.944832</c:v>
                </c:pt>
                <c:pt idx="10">
                  <c:v>16.294607</c:v>
                </c:pt>
                <c:pt idx="11">
                  <c:v>14.484097</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50112"/>
        <c:crossBetween val="between"/>
      </c:valAx>
      <c:spPr>
        <a:solidFill xmlns:a="http://schemas.openxmlformats.org/drawingml/2006/main">
          <a:srgbClr val="F7F6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63B3B"/>
              </a:solidFill>
              <a:latin typeface="Arial"/>
              <a:ea typeface="Arial"/>
              <a:cs typeface="Arial"/>
            </a:defRPr>
          </a:pPr>
        </a:p>
      </c:txPr>
    </c:legend>
    <c:plotVisOnly val="1"/>
    <c:dispBlanksAs val="gap"/>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Nút 717458</c:v>
          </c:tx>
          <c:spPr>
            <a:ln xmlns:a="http://schemas.openxmlformats.org/drawingml/2006/main" w="23813">
              <a:solidFill>
                <a:srgbClr val="163B3B"/>
              </a:solidFill>
            </a:ln>
          </c:spPr>
          <c:marker>
            <c:symbol val="none"/>
          </c:marker>
          <c:cat>
            <c:strRef>
              <c:f>'Chart Data'!$A$2:$A$13</c:f>
              <c:strCache>
                <c:ptCount val="12"/>
                <c:pt idx="0">
                  <c:v>17:40</c:v>
                </c:pt>
                <c:pt idx="1">
                  <c:v>17:45</c:v>
                </c:pt>
                <c:pt idx="2">
                  <c:v>17:50</c:v>
                </c:pt>
                <c:pt idx="3">
                  <c:v>17:55</c:v>
                </c:pt>
                <c:pt idx="4">
                  <c:v>18:00</c:v>
                </c:pt>
                <c:pt idx="5">
                  <c:v>18:05</c:v>
                </c:pt>
                <c:pt idx="6">
                  <c:v>18:10</c:v>
                </c:pt>
                <c:pt idx="7">
                  <c:v>18:15</c:v>
                </c:pt>
                <c:pt idx="8">
                  <c:v>18:20</c:v>
                </c:pt>
                <c:pt idx="9">
                  <c:v>18:25</c:v>
                </c:pt>
                <c:pt idx="10">
                  <c:v>18:30</c:v>
                </c:pt>
                <c:pt idx="11">
                  <c:v>18:35</c:v>
                </c:pt>
              </c:strCache>
            </c:strRef>
          </c:cat>
          <c:val>
            <c:numRef>
              <c:f>'Chart Data'!$B$2:$B$13</c:f>
              <c:numCache>
                <c:formatCode>0</c:formatCode>
                <c:ptCount val="12"/>
                <c:pt idx="0">
                  <c:v>5.632704</c:v>
                </c:pt>
                <c:pt idx="1">
                  <c:v>7.845552</c:v>
                </c:pt>
                <c:pt idx="2">
                  <c:v>17.903952</c:v>
                </c:pt>
                <c:pt idx="3">
                  <c:v>13.880592</c:v>
                </c:pt>
                <c:pt idx="4">
                  <c:v>17.099279</c:v>
                </c:pt>
                <c:pt idx="5">
                  <c:v>19.915632</c:v>
                </c:pt>
                <c:pt idx="6">
                  <c:v>20.206207</c:v>
                </c:pt>
                <c:pt idx="7">
                  <c:v>21.927313</c:v>
                </c:pt>
                <c:pt idx="8">
                  <c:v>23.737823</c:v>
                </c:pt>
                <c:pt idx="9">
                  <c:v>24.944832</c:v>
                </c:pt>
                <c:pt idx="10">
                  <c:v>16.294607</c:v>
                </c:pt>
                <c:pt idx="11">
                  <c:v>14.484097</c:v>
                </c:pt>
              </c:numCache>
            </c:numRef>
          </c:val>
          <c:smooth val="0"/>
        </c:ser>
        <c:ser>
          <c:idx val="1"/>
          <c:order val="1"/>
          <c:tx>
            <c:v>Nút 717461</c:v>
          </c:tx>
          <c:spPr>
            <a:ln xmlns:a="http://schemas.openxmlformats.org/drawingml/2006/main" w="23813">
              <a:solidFill>
                <a:srgbClr val="087E73"/>
              </a:solidFill>
            </a:ln>
          </c:spPr>
          <c:marker>
            <c:symbol val="none"/>
          </c:marker>
          <c:cat>
            <c:strRef>
              <c:f>'Chart Data'!$C$2:$C$13</c:f>
              <c:strCache>
                <c:ptCount val="12"/>
                <c:pt idx="0">
                  <c:v>17:40</c:v>
                </c:pt>
                <c:pt idx="1">
                  <c:v>17:45</c:v>
                </c:pt>
                <c:pt idx="2">
                  <c:v>17:50</c:v>
                </c:pt>
                <c:pt idx="3">
                  <c:v>17:55</c:v>
                </c:pt>
                <c:pt idx="4">
                  <c:v>18:00</c:v>
                </c:pt>
                <c:pt idx="5">
                  <c:v>18:05</c:v>
                </c:pt>
                <c:pt idx="6">
                  <c:v>18:10</c:v>
                </c:pt>
                <c:pt idx="7">
                  <c:v>18:15</c:v>
                </c:pt>
                <c:pt idx="8">
                  <c:v>18:20</c:v>
                </c:pt>
                <c:pt idx="9">
                  <c:v>18:25</c:v>
                </c:pt>
                <c:pt idx="10">
                  <c:v>18:30</c:v>
                </c:pt>
                <c:pt idx="11">
                  <c:v>18:35</c:v>
                </c:pt>
              </c:strCache>
            </c:strRef>
          </c:cat>
          <c:val>
            <c:numRef>
              <c:f>'Chart Data'!$D$2:$D$13</c:f>
              <c:numCache>
                <c:formatCode>0</c:formatCode>
                <c:ptCount val="12"/>
                <c:pt idx="0">
                  <c:v>9.454896</c:v>
                </c:pt>
                <c:pt idx="1">
                  <c:v>7.242048</c:v>
                </c:pt>
                <c:pt idx="2">
                  <c:v>22.530815</c:v>
                </c:pt>
                <c:pt idx="3">
                  <c:v>14.282928</c:v>
                </c:pt>
                <c:pt idx="4">
                  <c:v>14.282928</c:v>
                </c:pt>
                <c:pt idx="5">
                  <c:v>20.921473</c:v>
                </c:pt>
                <c:pt idx="6">
                  <c:v>21.636736</c:v>
                </c:pt>
                <c:pt idx="7">
                  <c:v>24.944832</c:v>
                </c:pt>
                <c:pt idx="8">
                  <c:v>20.720304</c:v>
                </c:pt>
                <c:pt idx="9">
                  <c:v>27.560017</c:v>
                </c:pt>
                <c:pt idx="10">
                  <c:v>22.530815</c:v>
                </c:pt>
                <c:pt idx="11">
                  <c:v>17.501616</c:v>
                </c:pt>
              </c:numCache>
            </c:numRef>
          </c:val>
          <c:smooth val="0"/>
        </c:ser>
        <c:ser>
          <c:idx val="2"/>
          <c:order val="2"/>
          <c:tx>
            <c:v>Nút 716339</c:v>
          </c:tx>
          <c:spPr>
            <a:ln xmlns:a="http://schemas.openxmlformats.org/drawingml/2006/main" w="23813">
              <a:solidFill>
                <a:srgbClr val="BE7B2F"/>
              </a:solidFill>
            </a:ln>
          </c:spPr>
          <c:marker>
            <c:symbol val="none"/>
          </c:marker>
          <c:cat>
            <c:strRef>
              <c:f>'Chart Data'!$E$2:$E$13</c:f>
              <c:strCache>
                <c:ptCount val="12"/>
                <c:pt idx="0">
                  <c:v>17:40</c:v>
                </c:pt>
                <c:pt idx="1">
                  <c:v>17:45</c:v>
                </c:pt>
                <c:pt idx="2">
                  <c:v>17:50</c:v>
                </c:pt>
                <c:pt idx="3">
                  <c:v>17:55</c:v>
                </c:pt>
                <c:pt idx="4">
                  <c:v>18:00</c:v>
                </c:pt>
                <c:pt idx="5">
                  <c:v>18:05</c:v>
                </c:pt>
                <c:pt idx="6">
                  <c:v>18:10</c:v>
                </c:pt>
                <c:pt idx="7">
                  <c:v>18:15</c:v>
                </c:pt>
                <c:pt idx="8">
                  <c:v>18:20</c:v>
                </c:pt>
                <c:pt idx="9">
                  <c:v>18:25</c:v>
                </c:pt>
                <c:pt idx="10">
                  <c:v>18:30</c:v>
                </c:pt>
                <c:pt idx="11">
                  <c:v>18:35</c:v>
                </c:pt>
              </c:strCache>
            </c:strRef>
          </c:cat>
          <c:val>
            <c:numRef>
              <c:f>'Chart Data'!$F$2:$F$13</c:f>
              <c:numCache>
                <c:formatCode>0</c:formatCode>
                <c:ptCount val="12"/>
                <c:pt idx="0">
                  <c:v>6.437376</c:v>
                </c:pt>
                <c:pt idx="1">
                  <c:v>19.513296</c:v>
                </c:pt>
                <c:pt idx="2">
                  <c:v>13.679424</c:v>
                </c:pt>
                <c:pt idx="3">
                  <c:v>14.484097</c:v>
                </c:pt>
                <c:pt idx="4">
                  <c:v>18.708624</c:v>
                </c:pt>
                <c:pt idx="5">
                  <c:v>26.353008</c:v>
                </c:pt>
                <c:pt idx="6">
                  <c:v>21.279104</c:v>
                </c:pt>
                <c:pt idx="7">
                  <c:v>23.134319</c:v>
                </c:pt>
                <c:pt idx="8">
                  <c:v>26.15184</c:v>
                </c:pt>
                <c:pt idx="9">
                  <c:v>19.11096</c:v>
                </c:pt>
                <c:pt idx="10">
                  <c:v>19.312128</c:v>
                </c:pt>
                <c:pt idx="11">
                  <c:v>22.530815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72768"/>
      </c:catAx>
      <c:valAx>
        <c:axId val="48672768"/>
        <c:scaling>
          <c:orientation val="minMax"/>
          <c:max val="120"/>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50112"/>
        <c:crossBetween val="between"/>
      </c:valAx>
      <c:spPr>
        <a:solidFill xmlns:a="http://schemas.openxmlformats.org/drawingml/2006/main">
          <a:srgbClr val="F7F6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63B3B"/>
              </a:solidFill>
              <a:latin typeface="Arial"/>
              <a:ea typeface="Arial"/>
              <a:cs typeface="Arial"/>
            </a:defRPr>
          </a:pPr>
        </a:p>
      </c:txPr>
    </c:legend>
    <c:plotVisOnly val="1"/>
    <c:dispBlanksAs val="gap"/>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 mẫu từng epoch</c:v>
          </c:tx>
          <c:spPr>
            <a:ln xmlns:a="http://schemas.openxmlformats.org/drawingml/2006/main" w="23813">
              <a:solidFill>
                <a:srgbClr val="163B3B"/>
              </a:solidFill>
            </a:ln>
          </c:spPr>
          <c:marker>
            <c:symbol val="none"/>
          </c:marker>
          <c:cat>
            <c:numRef>
              <c:f>'Chart Data'!$A$2:$A$36</c:f>
              <c:numCache>
                <c:formatCode>General</c:formatCode>
                <c:ptCount val="3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numCache>
            </c:numRef>
          </c:cat>
          <c:val>
            <c:numRef>
              <c:f>'Chart Data'!$B$2:$B$36</c:f>
              <c:numCache>
                <c:formatCode>0</c:formatCode>
                <c:ptCount val="35"/>
                <c:pt idx="0">
                  <c:v>5.7327556</c:v>
                </c:pt>
                <c:pt idx="1">
                  <c:v>5.2317069</c:v>
                </c:pt>
                <c:pt idx="2">
                  <c:v>5.0265275</c:v>
                </c:pt>
                <c:pt idx="3">
                  <c:v>4.9050414</c:v>
                </c:pt>
                <c:pt idx="4">
                  <c:v>4.9129856</c:v>
                </c:pt>
                <c:pt idx="5">
                  <c:v>4.8400784</c:v>
                </c:pt>
                <c:pt idx="6">
                  <c:v>4.812963</c:v>
                </c:pt>
                <c:pt idx="7">
                  <c:v>4.7757651</c:v>
                </c:pt>
                <c:pt idx="8">
                  <c:v>4.8454959</c:v>
                </c:pt>
                <c:pt idx="9">
                  <c:v>4.835001</c:v>
                </c:pt>
                <c:pt idx="10">
                  <c:v>4.7925357</c:v>
                </c:pt>
                <c:pt idx="11">
                  <c:v>4.7940593</c:v>
                </c:pt>
                <c:pt idx="12">
                  <c:v>4.7851109</c:v>
                </c:pt>
                <c:pt idx="13">
                  <c:v>4.7817134</c:v>
                </c:pt>
                <c:pt idx="14">
                  <c:v>4.8623314</c:v>
                </c:pt>
                <c:pt idx="15">
                  <c:v>4.7461855</c:v>
                </c:pt>
                <c:pt idx="16">
                  <c:v>4.8142209</c:v>
                </c:pt>
                <c:pt idx="17">
                  <c:v>4.7222118</c:v>
                </c:pt>
                <c:pt idx="18">
                  <c:v>4.7867682</c:v>
                </c:pt>
                <c:pt idx="19">
                  <c:v>4.7358158</c:v>
                </c:pt>
                <c:pt idx="20">
                  <c:v>4.7792612</c:v>
                </c:pt>
                <c:pt idx="21">
                  <c:v>4.7771469</c:v>
                </c:pt>
                <c:pt idx="22">
                  <c:v>4.7284175</c:v>
                </c:pt>
                <c:pt idx="23">
                  <c:v>4.764189</c:v>
                </c:pt>
                <c:pt idx="24">
                  <c:v>4.8153282</c:v>
                </c:pt>
                <c:pt idx="25">
                  <c:v>4.8130454</c:v>
                </c:pt>
                <c:pt idx="26">
                  <c:v>4.6348152</c:v>
                </c:pt>
                <c:pt idx="27">
                  <c:v>4.7435763</c:v>
                </c:pt>
                <c:pt idx="28">
                  <c:v>4.6909529</c:v>
                </c:pt>
                <c:pt idx="29">
                  <c:v>4.6989429</c:v>
                </c:pt>
                <c:pt idx="30">
                  <c:v>4.7098971</c:v>
                </c:pt>
                <c:pt idx="31">
                  <c:v>4.6938903</c:v>
                </c:pt>
                <c:pt idx="32">
                  <c:v>4.7312408</c:v>
                </c:pt>
                <c:pt idx="33">
                  <c:v>4.6646901</c:v>
                </c:pt>
                <c:pt idx="34">
                  <c:v>4.7331118</c:v>
                </c:pt>
              </c:numCache>
            </c:numRef>
          </c:val>
          <c:smooth val="0"/>
        </c:ser>
        <c:ser>
          <c:idx val="1"/>
          <c:order val="1"/>
          <c:tx>
            <c:v>Validation</c:v>
          </c:tx>
          <c:spPr>
            <a:ln xmlns:a="http://schemas.openxmlformats.org/drawingml/2006/main" w="23813">
              <a:solidFill>
                <a:srgbClr val="087E73"/>
              </a:solidFill>
            </a:ln>
          </c:spPr>
          <c:marker>
            <c:symbol val="none"/>
          </c:marker>
          <c:cat>
            <c:numRef>
              <c:f>'Chart Data'!$C$2:$C$36</c:f>
              <c:numCache>
                <c:formatCode>General</c:formatCode>
                <c:ptCount val="3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numCache>
            </c:numRef>
          </c:cat>
          <c:val>
            <c:numRef>
              <c:f>'Chart Data'!$D$2:$D$36</c:f>
              <c:numCache>
                <c:formatCode>0</c:formatCode>
                <c:ptCount val="35"/>
                <c:pt idx="0">
                  <c:v>5.0739487</c:v>
                </c:pt>
                <c:pt idx="1">
                  <c:v>4.8972585</c:v>
                </c:pt>
                <c:pt idx="2">
                  <c:v>4.7269602</c:v>
                </c:pt>
                <c:pt idx="3">
                  <c:v>4.6533266</c:v>
                </c:pt>
                <c:pt idx="4">
                  <c:v>4.618487</c:v>
                </c:pt>
                <c:pt idx="5">
                  <c:v>4.5988188</c:v>
                </c:pt>
                <c:pt idx="6">
                  <c:v>4.5994307</c:v>
                </c:pt>
                <c:pt idx="7">
                  <c:v>4.5709544</c:v>
                </c:pt>
                <c:pt idx="8">
                  <c:v>4.5726348</c:v>
                </c:pt>
                <c:pt idx="9">
                  <c:v>4.5601554</c:v>
                </c:pt>
                <c:pt idx="10">
                  <c:v>4.5644167</c:v>
                </c:pt>
                <c:pt idx="11">
                  <c:v>4.5599141</c:v>
                </c:pt>
                <c:pt idx="12">
                  <c:v>4.5458258</c:v>
                </c:pt>
                <c:pt idx="13">
                  <c:v>4.5412318</c:v>
                </c:pt>
                <c:pt idx="14">
                  <c:v>4.5751157</c:v>
                </c:pt>
                <c:pt idx="15">
                  <c:v>4.5440602</c:v>
                </c:pt>
                <c:pt idx="16">
                  <c:v>4.5461544</c:v>
                </c:pt>
                <c:pt idx="17">
                  <c:v>4.5262414</c:v>
                </c:pt>
                <c:pt idx="18">
                  <c:v>4.5200736</c:v>
                </c:pt>
                <c:pt idx="19">
                  <c:v>4.5081005</c:v>
                </c:pt>
                <c:pt idx="20">
                  <c:v>4.5066191</c:v>
                </c:pt>
                <c:pt idx="21">
                  <c:v>4.5021347</c:v>
                </c:pt>
                <c:pt idx="22">
                  <c:v>4.5019601</c:v>
                </c:pt>
                <c:pt idx="23">
                  <c:v>4.4965233</c:v>
                </c:pt>
                <c:pt idx="24">
                  <c:v>4.5556319</c:v>
                </c:pt>
                <c:pt idx="25">
                  <c:v>4.4929488</c:v>
                </c:pt>
                <c:pt idx="26">
                  <c:v>4.4885605</c:v>
                </c:pt>
                <c:pt idx="27">
                  <c:v>4.5037675</c:v>
                </c:pt>
                <c:pt idx="28">
                  <c:v>4.5031144</c:v>
                </c:pt>
                <c:pt idx="29">
                  <c:v>4.4955713</c:v>
                </c:pt>
                <c:pt idx="30">
                  <c:v>4.5032778</c:v>
                </c:pt>
                <c:pt idx="31">
                  <c:v>4.5148973</c:v>
                </c:pt>
                <c:pt idx="32">
                  <c:v>4.472926</c:v>
                </c:pt>
                <c:pt idx="33">
                  <c:v>4.4717828</c:v>
                </c:pt>
                <c:pt idx="34">
                  <c:v>4.4798425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72768"/>
      </c:catAx>
      <c:valAx>
        <c:axId val="48672768"/>
        <c:scaling>
          <c:orientation val="minMax"/>
          <c:max val="6"/>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50112"/>
        <c:crossBetween val="between"/>
      </c:valAx>
      <c:spPr>
        <a:solidFill xmlns:a="http://schemas.openxmlformats.org/drawingml/2006/main">
          <a:srgbClr val="F7F6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63B3B"/>
              </a:solidFill>
              <a:latin typeface="Arial"/>
              <a:ea typeface="Arial"/>
              <a:cs typeface="Arial"/>
            </a:defRPr>
          </a:pPr>
        </a:p>
      </c:txPr>
    </c:legend>
    <c:plotVisOnly val="1"/>
    <c:dispBlanksAs val="gap"/>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varyColors val="0"/>
        <c:ser>
          <c:idx val="0"/>
          <c:order val="0"/>
          <c:tx>
            <c:v>MAE (km/h)</c:v>
          </c:tx>
          <c:invertIfNegative val="0"/>
          <c:dPt>
            <c:idx val="0"/>
            <c:invertIfNegative val="0"/>
            <c:spPr>
              <a:solidFill xmlns:a="http://schemas.openxmlformats.org/drawingml/2006/main">
                <a:srgbClr val="9CAD9E"/>
              </a:solidFill>
            </c:spPr>
          </c:dPt>
          <c:dPt>
            <c:idx val="1"/>
            <c:invertIfNegative val="0"/>
            <c:spPr>
              <a:solidFill xmlns:a="http://schemas.openxmlformats.org/drawingml/2006/main">
                <a:srgbClr val="BE7B2F"/>
              </a:solidFill>
            </c:spPr>
          </c:dPt>
          <c:dPt>
            <c:idx val="2"/>
            <c:invertIfNegative val="0"/>
            <c:spPr>
              <a:solidFill xmlns:a="http://schemas.openxmlformats.org/drawingml/2006/main">
                <a:srgbClr val="087E73"/>
              </a:solidFill>
            </c:spPr>
          </c:dPt>
          <c:cat>
            <c:strRef>
              <c:f>'Chart Data'!$A$2:$A$4</c:f>
              <c:strCache>
                <c:ptCount val="3"/>
                <c:pt idx="0">
                  <c:v>Giữ nguyên</c:v>
                </c:pt>
                <c:pt idx="1">
                  <c:v>GRU</c:v>
                </c:pt>
                <c:pt idx="2">
                  <c:v>GCN + GRU</c:v>
                </c:pt>
              </c:strCache>
            </c:strRef>
          </c:cat>
          <c:val>
            <c:numRef>
              <c:f>'Chart Data'!$B$2:$B$4</c:f>
              <c:numCache>
                <c:formatCode>0</c:formatCode>
                <c:ptCount val="3"/>
                <c:pt idx="0">
                  <c:v>5.6285281</c:v>
                </c:pt>
                <c:pt idx="1">
                  <c:v>4.9572946</c:v>
                </c:pt>
                <c:pt idx="2">
                  <c:v>4.9304973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63B3B"/>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72768"/>
      </c:catAx>
      <c:valAx>
        <c:axId val="48672768"/>
        <c:scaling>
          <c:orientation val="minMax"/>
          <c:max val="6.5"/>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50112"/>
        <c:crossBetween val="between"/>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Thực tế</c:v>
          </c:tx>
          <c:spPr>
            <a:ln xmlns:a="http://schemas.openxmlformats.org/drawingml/2006/main" w="28575">
              <a:solidFill>
                <a:srgbClr val="163B3B"/>
              </a:solidFill>
            </a:ln>
          </c:spPr>
          <c:marker>
            <c:symbol val="circle"/>
            <c:size val="4"/>
            <c:spPr>
              <a:solidFill xmlns:a="http://schemas.openxmlformats.org/drawingml/2006/main">
                <a:srgbClr val="163B3B"/>
              </a:solidFill>
            </c:spPr>
          </c:marker>
          <c:xVal>
            <c:numRef>
              <c:f>'Chart Data'!$A$2:$A$16</c:f>
              <c:numCache>
                <c:formatCode>General</c:formatCode>
                <c:ptCount val="15"/>
                <c:pt idx="0">
                  <c:v>-55</c:v>
                </c:pt>
                <c:pt idx="1">
                  <c:v>-50</c:v>
                </c:pt>
                <c:pt idx="2">
                  <c:v>-45</c:v>
                </c:pt>
                <c:pt idx="3">
                  <c:v>-40</c:v>
                </c:pt>
                <c:pt idx="4">
                  <c:v>-35</c:v>
                </c:pt>
                <c:pt idx="5">
                  <c:v>-30</c:v>
                </c:pt>
                <c:pt idx="6">
                  <c:v>-25</c:v>
                </c:pt>
                <c:pt idx="7">
                  <c:v>-20</c:v>
                </c:pt>
                <c:pt idx="8">
                  <c:v>-15</c:v>
                </c:pt>
                <c:pt idx="9">
                  <c:v>-10</c:v>
                </c:pt>
                <c:pt idx="10">
                  <c:v>-5</c:v>
                </c:pt>
                <c:pt idx="11">
                  <c:v>0</c:v>
                </c:pt>
                <c:pt idx="12">
                  <c:v>5</c:v>
                </c:pt>
                <c:pt idx="13">
                  <c:v>10</c:v>
                </c:pt>
                <c:pt idx="14">
                  <c:v>15</c:v>
                </c:pt>
              </c:numCache>
            </c:numRef>
          </c:xVal>
          <c:yVal>
            <c:numRef>
              <c:f>'Chart Data'!$B$2:$B$16</c:f>
              <c:numCache>
                <c:formatCode>0</c:formatCode>
                <c:ptCount val="15"/>
                <c:pt idx="0">
                  <c:v>5.632704</c:v>
                </c:pt>
                <c:pt idx="1">
                  <c:v>7.845552</c:v>
                </c:pt>
                <c:pt idx="2">
                  <c:v>17.903952</c:v>
                </c:pt>
                <c:pt idx="3">
                  <c:v>13.880592</c:v>
                </c:pt>
                <c:pt idx="4">
                  <c:v>17.099279</c:v>
                </c:pt>
                <c:pt idx="5">
                  <c:v>19.915632</c:v>
                </c:pt>
                <c:pt idx="6">
                  <c:v>20.206207</c:v>
                </c:pt>
                <c:pt idx="7">
                  <c:v>21.927313</c:v>
                </c:pt>
                <c:pt idx="8">
                  <c:v>23.737823</c:v>
                </c:pt>
                <c:pt idx="9">
                  <c:v>24.944832</c:v>
                </c:pt>
                <c:pt idx="10">
                  <c:v>16.294607</c:v>
                </c:pt>
                <c:pt idx="11">
                  <c:v>14.484097</c:v>
                </c:pt>
                <c:pt idx="12">
                  <c:v>29.147007</c:v>
                </c:pt>
                <c:pt idx="13">
                  <c:v>23.335487</c:v>
                </c:pt>
                <c:pt idx="14">
                  <c:v>24.676607</c:v>
                </c:pt>
              </c:numCache>
            </c:numRef>
          </c:yVal>
        </c:ser>
        <c:ser>
          <c:idx val="1"/>
          <c:order val="1"/>
          <c:tx>
            <c:v>Giữ nguyên</c:v>
          </c:tx>
          <c:spPr>
            <a:ln xmlns:a="http://schemas.openxmlformats.org/drawingml/2006/main" w="19050">
              <a:solidFill>
                <a:srgbClr val="9BA9A0"/>
              </a:solidFill>
            </a:ln>
          </c:spPr>
          <c:marker>
            <c:symbol val="circle"/>
            <c:size val="7"/>
            <c:spPr>
              <a:solidFill xmlns:a="http://schemas.openxmlformats.org/drawingml/2006/main">
                <a:srgbClr val="9BA9A0"/>
              </a:solidFill>
            </c:spPr>
          </c:marker>
          <c:xVal>
            <c:numRef>
              <c:f>'Chart Data'!$C$2:$C$3</c:f>
              <c:numCache>
                <c:formatCode>General</c:formatCode>
                <c:ptCount val="2"/>
                <c:pt idx="0">
                  <c:v>0</c:v>
                </c:pt>
                <c:pt idx="1">
                  <c:v>15</c:v>
                </c:pt>
              </c:numCache>
            </c:numRef>
          </c:xVal>
          <c:yVal>
            <c:numRef>
              <c:f>'Chart Data'!$D$2:$D$3</c:f>
              <c:numCache>
                <c:formatCode>0</c:formatCode>
                <c:ptCount val="2"/>
                <c:pt idx="0">
                  <c:v>14.484097</c:v>
                </c:pt>
                <c:pt idx="1">
                  <c:v>14.4840965</c:v>
                </c:pt>
              </c:numCache>
            </c:numRef>
          </c:yVal>
        </c:ser>
        <c:ser>
          <c:idx val="2"/>
          <c:order val="2"/>
          <c:tx>
            <c:v>GRU</c:v>
          </c:tx>
          <c:spPr>
            <a:ln xmlns:a="http://schemas.openxmlformats.org/drawingml/2006/main" w="19050">
              <a:solidFill>
                <a:srgbClr val="BE7B2F"/>
              </a:solidFill>
            </a:ln>
          </c:spPr>
          <c:marker>
            <c:symbol val="circle"/>
            <c:size val="7"/>
            <c:spPr>
              <a:solidFill xmlns:a="http://schemas.openxmlformats.org/drawingml/2006/main">
                <a:srgbClr val="BE7B2F"/>
              </a:solidFill>
            </c:spPr>
          </c:marker>
          <c:xVal>
            <c:numRef>
              <c:f>'Chart Data'!$E$2:$E$3</c:f>
              <c:numCache>
                <c:formatCode>General</c:formatCode>
                <c:ptCount val="2"/>
                <c:pt idx="0">
                  <c:v>0</c:v>
                </c:pt>
                <c:pt idx="1">
                  <c:v>15</c:v>
                </c:pt>
              </c:numCache>
            </c:numRef>
          </c:xVal>
          <c:yVal>
            <c:numRef>
              <c:f>'Chart Data'!$F$2:$F$3</c:f>
              <c:numCache>
                <c:formatCode>0</c:formatCode>
                <c:ptCount val="2"/>
                <c:pt idx="0">
                  <c:v>14.484097</c:v>
                </c:pt>
                <c:pt idx="1">
                  <c:v>18.6920052</c:v>
                </c:pt>
              </c:numCache>
            </c:numRef>
          </c:yVal>
        </c:ser>
        <c:ser>
          <c:idx val="3"/>
          <c:order val="3"/>
          <c:tx>
            <c:v>GCN + GRU</c:v>
          </c:tx>
          <c:spPr>
            <a:ln xmlns:a="http://schemas.openxmlformats.org/drawingml/2006/main" w="19050">
              <a:solidFill>
                <a:srgbClr val="087E73"/>
              </a:solidFill>
            </a:ln>
          </c:spPr>
          <c:marker>
            <c:symbol val="circle"/>
            <c:size val="7"/>
            <c:spPr>
              <a:solidFill xmlns:a="http://schemas.openxmlformats.org/drawingml/2006/main">
                <a:srgbClr val="087E73"/>
              </a:solidFill>
            </c:spPr>
          </c:marker>
          <c:xVal>
            <c:numRef>
              <c:f>'Chart Data'!$G$2:$G$3</c:f>
              <c:numCache>
                <c:formatCode>General</c:formatCode>
                <c:ptCount val="2"/>
                <c:pt idx="0">
                  <c:v>0</c:v>
                </c:pt>
                <c:pt idx="1">
                  <c:v>15</c:v>
                </c:pt>
              </c:numCache>
            </c:numRef>
          </c:xVal>
          <c:yVal>
            <c:numRef>
              <c:f>'Chart Data'!$H$2:$H$3</c:f>
              <c:numCache>
                <c:formatCode>0</c:formatCode>
                <c:ptCount val="2"/>
                <c:pt idx="0">
                  <c:v>14.484097</c:v>
                </c:pt>
                <c:pt idx="1">
                  <c:v>24.6380882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50112"/>
      </c:valAx>
      <c:valAx>
        <c:axId val="48650112"/>
        <c:scaling>
          <c:orientation val="minMax"/>
          <c:max val="15"/>
          <c:min val="-55"/>
        </c:scaling>
        <c:delete val="0"/>
        <c:axPos val="b"/>
        <c:numFmt formatCode="0&quot;′&quot;"/>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72768"/>
        <c:majorUnit val="15"/>
      </c:valAx>
      <c:spPr>
        <a:solidFill xmlns:a="http://schemas.openxmlformats.org/drawingml/2006/main">
          <a:srgbClr val="F7F6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63B3B"/>
              </a:solidFill>
              <a:latin typeface="Arial"/>
              <a:ea typeface="Arial"/>
              <a:cs typeface="Arial"/>
            </a:defRPr>
          </a:pPr>
        </a:p>
      </c:txPr>
    </c:legend>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Thực tế</c:v>
          </c:tx>
          <c:spPr>
            <a:ln xmlns:a="http://schemas.openxmlformats.org/drawingml/2006/main" w="28575">
              <a:solidFill>
                <a:srgbClr val="163B3B"/>
              </a:solidFill>
            </a:ln>
          </c:spPr>
          <c:marker>
            <c:symbol val="circle"/>
            <c:size val="4"/>
            <c:spPr>
              <a:solidFill xmlns:a="http://schemas.openxmlformats.org/drawingml/2006/main">
                <a:srgbClr val="163B3B"/>
              </a:solidFill>
            </c:spPr>
          </c:marker>
          <c:xVal>
            <c:numRef>
              <c:f>'Chart Data'!$A$2:$A$16</c:f>
              <c:numCache>
                <c:formatCode>General</c:formatCode>
                <c:ptCount val="15"/>
                <c:pt idx="0">
                  <c:v>-55</c:v>
                </c:pt>
                <c:pt idx="1">
                  <c:v>-50</c:v>
                </c:pt>
                <c:pt idx="2">
                  <c:v>-45</c:v>
                </c:pt>
                <c:pt idx="3">
                  <c:v>-40</c:v>
                </c:pt>
                <c:pt idx="4">
                  <c:v>-35</c:v>
                </c:pt>
                <c:pt idx="5">
                  <c:v>-30</c:v>
                </c:pt>
                <c:pt idx="6">
                  <c:v>-25</c:v>
                </c:pt>
                <c:pt idx="7">
                  <c:v>-20</c:v>
                </c:pt>
                <c:pt idx="8">
                  <c:v>-15</c:v>
                </c:pt>
                <c:pt idx="9">
                  <c:v>-10</c:v>
                </c:pt>
                <c:pt idx="10">
                  <c:v>-5</c:v>
                </c:pt>
                <c:pt idx="11">
                  <c:v>0</c:v>
                </c:pt>
                <c:pt idx="12">
                  <c:v>5</c:v>
                </c:pt>
                <c:pt idx="13">
                  <c:v>10</c:v>
                </c:pt>
                <c:pt idx="14">
                  <c:v>15</c:v>
                </c:pt>
              </c:numCache>
            </c:numRef>
          </c:xVal>
          <c:yVal>
            <c:numRef>
              <c:f>'Chart Data'!$B$2:$B$16</c:f>
              <c:numCache>
                <c:formatCode>0</c:formatCode>
                <c:ptCount val="15"/>
                <c:pt idx="0">
                  <c:v>103.892097</c:v>
                </c:pt>
                <c:pt idx="1">
                  <c:v>100.181664</c:v>
                </c:pt>
                <c:pt idx="2">
                  <c:v>107.021378</c:v>
                </c:pt>
                <c:pt idx="3">
                  <c:v>102.193344</c:v>
                </c:pt>
                <c:pt idx="4">
                  <c:v>104.003853</c:v>
                </c:pt>
                <c:pt idx="5">
                  <c:v>101.7463</c:v>
                </c:pt>
                <c:pt idx="6">
                  <c:v>108.630722</c:v>
                </c:pt>
                <c:pt idx="7">
                  <c:v>106.015533</c:v>
                </c:pt>
                <c:pt idx="8">
                  <c:v>103.400352</c:v>
                </c:pt>
                <c:pt idx="9">
                  <c:v>105.009697</c:v>
                </c:pt>
                <c:pt idx="10">
                  <c:v>103.892097</c:v>
                </c:pt>
                <c:pt idx="11">
                  <c:v>94.146622</c:v>
                </c:pt>
                <c:pt idx="12">
                  <c:v>61.758575</c:v>
                </c:pt>
                <c:pt idx="13">
                  <c:v>70.811134</c:v>
                </c:pt>
                <c:pt idx="14">
                  <c:v>42.848785</c:v>
                </c:pt>
              </c:numCache>
            </c:numRef>
          </c:yVal>
        </c:ser>
        <c:ser>
          <c:idx val="1"/>
          <c:order val="1"/>
          <c:tx>
            <c:v>Giữ nguyên</c:v>
          </c:tx>
          <c:spPr>
            <a:ln xmlns:a="http://schemas.openxmlformats.org/drawingml/2006/main" w="19050">
              <a:solidFill>
                <a:srgbClr val="9BA9A0"/>
              </a:solidFill>
            </a:ln>
          </c:spPr>
          <c:marker>
            <c:symbol val="circle"/>
            <c:size val="7"/>
            <c:spPr>
              <a:solidFill xmlns:a="http://schemas.openxmlformats.org/drawingml/2006/main">
                <a:srgbClr val="9BA9A0"/>
              </a:solidFill>
            </c:spPr>
          </c:marker>
          <c:xVal>
            <c:numRef>
              <c:f>'Chart Data'!$C$2:$C$3</c:f>
              <c:numCache>
                <c:formatCode>General</c:formatCode>
                <c:ptCount val="2"/>
                <c:pt idx="0">
                  <c:v>0</c:v>
                </c:pt>
                <c:pt idx="1">
                  <c:v>15</c:v>
                </c:pt>
              </c:numCache>
            </c:numRef>
          </c:xVal>
          <c:yVal>
            <c:numRef>
              <c:f>'Chart Data'!$D$2:$D$3</c:f>
              <c:numCache>
                <c:formatCode>0</c:formatCode>
                <c:ptCount val="2"/>
                <c:pt idx="0">
                  <c:v>94.146622</c:v>
                </c:pt>
                <c:pt idx="1">
                  <c:v>94.1466217</c:v>
                </c:pt>
              </c:numCache>
            </c:numRef>
          </c:yVal>
        </c:ser>
        <c:ser>
          <c:idx val="2"/>
          <c:order val="2"/>
          <c:tx>
            <c:v>GRU</c:v>
          </c:tx>
          <c:spPr>
            <a:ln xmlns:a="http://schemas.openxmlformats.org/drawingml/2006/main" w="19050">
              <a:solidFill>
                <a:srgbClr val="BE7B2F"/>
              </a:solidFill>
            </a:ln>
          </c:spPr>
          <c:marker>
            <c:symbol val="circle"/>
            <c:size val="7"/>
            <c:spPr>
              <a:solidFill xmlns:a="http://schemas.openxmlformats.org/drawingml/2006/main">
                <a:srgbClr val="BE7B2F"/>
              </a:solidFill>
            </c:spPr>
          </c:marker>
          <c:xVal>
            <c:numRef>
              <c:f>'Chart Data'!$E$2:$E$3</c:f>
              <c:numCache>
                <c:formatCode>General</c:formatCode>
                <c:ptCount val="2"/>
                <c:pt idx="0">
                  <c:v>0</c:v>
                </c:pt>
                <c:pt idx="1">
                  <c:v>15</c:v>
                </c:pt>
              </c:numCache>
            </c:numRef>
          </c:xVal>
          <c:yVal>
            <c:numRef>
              <c:f>'Chart Data'!$F$2:$F$3</c:f>
              <c:numCache>
                <c:formatCode>0</c:formatCode>
                <c:ptCount val="2"/>
                <c:pt idx="0">
                  <c:v>94.146622</c:v>
                </c:pt>
                <c:pt idx="1">
                  <c:v>103.4023819</c:v>
                </c:pt>
              </c:numCache>
            </c:numRef>
          </c:yVal>
        </c:ser>
        <c:ser>
          <c:idx val="3"/>
          <c:order val="3"/>
          <c:tx>
            <c:v>GCN + GRU</c:v>
          </c:tx>
          <c:spPr>
            <a:ln xmlns:a="http://schemas.openxmlformats.org/drawingml/2006/main" w="19050">
              <a:solidFill>
                <a:srgbClr val="087E73"/>
              </a:solidFill>
            </a:ln>
          </c:spPr>
          <c:marker>
            <c:symbol val="circle"/>
            <c:size val="7"/>
            <c:spPr>
              <a:solidFill xmlns:a="http://schemas.openxmlformats.org/drawingml/2006/main">
                <a:srgbClr val="087E73"/>
              </a:solidFill>
            </c:spPr>
          </c:marker>
          <c:xVal>
            <c:numRef>
              <c:f>'Chart Data'!$G$2:$G$3</c:f>
              <c:numCache>
                <c:formatCode>General</c:formatCode>
                <c:ptCount val="2"/>
                <c:pt idx="0">
                  <c:v>0</c:v>
                </c:pt>
                <c:pt idx="1">
                  <c:v>15</c:v>
                </c:pt>
              </c:numCache>
            </c:numRef>
          </c:xVal>
          <c:yVal>
            <c:numRef>
              <c:f>'Chart Data'!$H$2:$H$3</c:f>
              <c:numCache>
                <c:formatCode>0</c:formatCode>
                <c:ptCount val="2"/>
                <c:pt idx="0">
                  <c:v>94.146622</c:v>
                </c:pt>
                <c:pt idx="1">
                  <c:v>98.9685287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30"/>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50112"/>
      </c:valAx>
      <c:valAx>
        <c:axId val="48650112"/>
        <c:scaling>
          <c:orientation val="minMax"/>
          <c:max val="15"/>
          <c:min val="-55"/>
        </c:scaling>
        <c:delete val="0"/>
        <c:axPos val="b"/>
        <c:numFmt formatCode="0&quot;′&quot;"/>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500">
                <a:solidFill>
                  <a:srgbClr val="657B79"/>
                </a:solidFill>
                <a:latin typeface="Arial"/>
                <a:ea typeface="Arial"/>
                <a:cs typeface="Arial"/>
              </a:defRPr>
            </a:pPr>
          </a:p>
        </c:txPr>
        <c:crossAx val="48672768"/>
        <c:majorUnit val="15"/>
      </c:valAx>
      <c:spPr>
        <a:solidFill xmlns:a="http://schemas.openxmlformats.org/drawingml/2006/main">
          <a:srgbClr val="F7F6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63B3B"/>
              </a:solidFill>
              <a:latin typeface="Arial"/>
              <a:ea typeface="Arial"/>
              <a:cs typeface="Arial"/>
            </a:defRPr>
          </a:pPr>
        </a:p>
      </c:txPr>
    </c:legend>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0A4B6644-B257-44FA-BBE0-6D47C29BFBC8}"/>
              </a:ext>
            </a:extLst>
          </p:cNvPr>
          <p:cNvPicPr>
            <a:picLocks xmlns:a="http://schemas.openxmlformats.org/drawingml/2006/main" noChangeAspect="1"/>
          </p:cNvPicPr>
          <p:nvPr/>
        </p:nvPicPr>
        <p:blipFill>
          <a:blip xmlns:r="http://schemas.openxmlformats.org/officeDocument/2006/relationships" xmlns:a="http://schemas.openxmlformats.org/drawingml/2006/main" r:embed="R2d82b2ec2f57445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Ự BÁO TỐC ĐỘ&#10;GIAO THÔNG">
            <a:extLst xmlns:a="http://schemas.openxmlformats.org/drawingml/2006/main">
              <a:ext uri="{FF2B5EF4-FFF2-40B4-BE49-F238E27FC236}">
                <a16:creationId xmlns:a16="http://schemas.microsoft.com/office/drawing/2014/main" id="{FB2A3EE6-ACC1-47E3-90B9-ADB481AABC12}"/>
              </a:ext>
            </a:extLst>
          </p:cNvPr>
          <p:cNvSpPr>
            <a:spLocks xmlns:a="http://schemas.openxmlformats.org/drawingml/2006/main" noGrp="1"/>
          </p:cNvSpPr>
          <p:nvPr/>
        </p:nvSpPr>
        <p:spPr>
          <a:xfrm xmlns:a="http://schemas.openxmlformats.org/drawingml/2006/main">
            <a:off x="590550" y="1552575"/>
            <a:ext cx="7810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Arial"/>
                <a:ea typeface="Arial"/>
                <a:cs typeface="Arial"/>
              </a:defRPr>
            </a:def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DỰ BÁO TỐC ĐỘ</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GIAO THÔNG</a:t>
            </a:r>
          </a:p>
        </p:txBody>
      </p:sp>
      <p:sp>
        <p:nvSpPr>
          <p:cNvPr id="3" name="Deep Graph cho dự báo trước 15 phút">
            <a:extLst xmlns:a="http://schemas.openxmlformats.org/drawingml/2006/main">
              <a:ext uri="{FF2B5EF4-FFF2-40B4-BE49-F238E27FC236}">
                <a16:creationId xmlns:a16="http://schemas.microsoft.com/office/drawing/2014/main" id="{BD34878A-6E95-4DA2-B69F-BF46F7E2E3D6}"/>
              </a:ext>
            </a:extLst>
          </p:cNvPr>
          <p:cNvSpPr>
            <a:spLocks xmlns:a="http://schemas.openxmlformats.org/drawingml/2006/main" noGrp="1"/>
          </p:cNvSpPr>
          <p:nvPr/>
        </p:nvSpPr>
        <p:spPr>
          <a:xfrm xmlns:a="http://schemas.openxmlformats.org/drawingml/2006/main">
            <a:off x="638175" y="3429000"/>
            <a:ext cx="685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a:solidFill>
                  <a:srgbClr val="D4E8DF"/>
                </a:solidFill>
                <a:latin typeface="Arial"/>
                <a:ea typeface="Arial"/>
                <a:cs typeface="Arial"/>
              </a:defRPr>
            </a:defPPr>
          </a:lstStyle>
          <a:p xmlns:a="http://schemas.openxmlformats.org/drawingml/2006/main">
            <a:pPr>
              <a:defRPr sz="2475">
                <a:solidFill>
                  <a:srgbClr val="D4E8DF"/>
                </a:solidFill>
                <a:latin typeface="Arial"/>
                <a:ea typeface="Arial"/>
                <a:cs typeface="Arial"/>
              </a:defRPr>
            </a:pPr>
            <a:r>
              <a:rPr sz="2475">
                <a:solidFill>
                  <a:srgbClr val="D4E8DF"/>
                </a:solidFill>
                <a:latin typeface="Arial"/>
                <a:ea typeface="Arial"/>
                <a:cs typeface="Arial"/>
              </a:rPr>
              <a:t>Deep Graph cho dự báo trước 15 phút</a:t>
            </a:r>
          </a:p>
        </p:txBody>
      </p:sp>
      <p:sp>
        <p:nvSpPr>
          <p:cNvPr id="4" name="Phát triển hệ thống thông minh&#10;Giảng viên Trầ">
            <a:extLst xmlns:a="http://schemas.openxmlformats.org/drawingml/2006/main">
              <a:ext uri="{FF2B5EF4-FFF2-40B4-BE49-F238E27FC236}">
                <a16:creationId xmlns:a16="http://schemas.microsoft.com/office/drawing/2014/main" id="{9F491871-5B15-43C7-B525-0A22B33412A3}"/>
              </a:ext>
            </a:extLst>
          </p:cNvPr>
          <p:cNvSpPr>
            <a:spLocks xmlns:a="http://schemas.openxmlformats.org/drawingml/2006/main" noGrp="1"/>
          </p:cNvSpPr>
          <p:nvPr/>
        </p:nvSpPr>
        <p:spPr>
          <a:xfrm xmlns:a="http://schemas.openxmlformats.org/drawingml/2006/main">
            <a:off x="638175" y="5372100"/>
            <a:ext cx="619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D4E8DF"/>
                </a:solidFill>
                <a:latin typeface="Arial"/>
                <a:ea typeface="Arial"/>
                <a:cs typeface="Arial"/>
              </a:defRPr>
            </a:defPPr>
          </a:lstStyle>
          <a:p xmlns:a="http://schemas.openxmlformats.org/drawingml/2006/main">
            <a:pPr>
              <a:defRPr sz="1875">
                <a:solidFill>
                  <a:srgbClr val="D4E8DF"/>
                </a:solidFill>
                <a:latin typeface="Arial"/>
                <a:ea typeface="Arial"/>
                <a:cs typeface="Arial"/>
              </a:defRPr>
            </a:pPr>
            <a:r>
              <a:rPr sz="1875">
                <a:solidFill>
                  <a:srgbClr val="D4E8DF"/>
                </a:solidFill>
                <a:latin typeface="Arial"/>
                <a:ea typeface="Arial"/>
                <a:cs typeface="Arial"/>
              </a:rPr>
              <a:t>Phát triển hệ thống thông minh</a:t>
            </a:r>
          </a:p>
          <a:p xmlns:a="http://schemas.openxmlformats.org/drawingml/2006/main">
            <a:pPr>
              <a:defRPr sz="1875">
                <a:solidFill>
                  <a:srgbClr val="D4E8DF"/>
                </a:solidFill>
                <a:latin typeface="Arial"/>
                <a:ea typeface="Arial"/>
                <a:cs typeface="Arial"/>
              </a:defRPr>
            </a:pPr>
            <a:r>
              <a:rPr sz="1875">
                <a:solidFill>
                  <a:srgbClr val="D4E8DF"/>
                </a:solidFill>
                <a:latin typeface="Arial"/>
                <a:ea typeface="Arial"/>
                <a:cs typeface="Arial"/>
              </a:rPr>
              <a:t>Giảng viên Trần Đình Quế</a:t>
            </a:r>
          </a:p>
        </p:txBody>
      </p:sp>
    </p:spTree>
    <p:extLst>
      <p:ext uri="{BB962C8B-B14F-4D97-AF65-F5344CB8AC3E}">
        <p14:creationId xmlns:p14="http://schemas.microsoft.com/office/powerpoint/2010/main" val="1349960887"/>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BBA711D-F5D6-41DB-8D9E-65C3F10E63EA}"/>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Một vị trí đang đi chậm</a:t>
            </a:r>
          </a:p>
        </p:txBody>
      </p:sp>
      <p:sp>
        <p:nvSpPr>
          <p:cNvPr id="2" name="02 / 26">
            <a:extLst xmlns:a="http://schemas.openxmlformats.org/drawingml/2006/main">
              <a:ext uri="{FF2B5EF4-FFF2-40B4-BE49-F238E27FC236}">
                <a16:creationId xmlns:a16="http://schemas.microsoft.com/office/drawing/2014/main" id="{18ECD6A2-D676-4436-9107-6E0565DB6E05}"/>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02 / 26</a:t>
            </a:r>
          </a:p>
        </p:txBody>
      </p:sp>
      <p:sp>
        <p:nvSpPr>
          <p:cNvPr id="3" name="14,5">
            <a:extLst xmlns:a="http://schemas.openxmlformats.org/drawingml/2006/main">
              <a:ext uri="{FF2B5EF4-FFF2-40B4-BE49-F238E27FC236}">
                <a16:creationId xmlns:a16="http://schemas.microsoft.com/office/drawing/2014/main" id="{2F471A7B-D97D-4D08-B48C-8D6F766086D7}"/>
              </a:ext>
            </a:extLst>
          </p:cNvPr>
          <p:cNvSpPr>
            <a:spLocks xmlns:a="http://schemas.openxmlformats.org/drawingml/2006/main" noGrp="1"/>
          </p:cNvSpPr>
          <p:nvPr/>
        </p:nvSpPr>
        <p:spPr>
          <a:xfrm xmlns:a="http://schemas.openxmlformats.org/drawingml/2006/main">
            <a:off x="609600" y="1952625"/>
            <a:ext cx="4095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750" b="1">
                <a:solidFill>
                  <a:srgbClr val="087E73"/>
                </a:solidFill>
                <a:latin typeface="Arial"/>
                <a:ea typeface="Arial"/>
                <a:cs typeface="Arial"/>
              </a:defRPr>
            </a:defPPr>
          </a:lstStyle>
          <a:p xmlns:a="http://schemas.openxmlformats.org/drawingml/2006/main">
            <a:pPr>
              <a:defRPr sz="6750" b="1">
                <a:solidFill>
                  <a:srgbClr val="087E73"/>
                </a:solidFill>
                <a:latin typeface="Arial"/>
                <a:ea typeface="Arial"/>
                <a:cs typeface="Arial"/>
              </a:defRPr>
            </a:pPr>
            <a:r>
              <a:rPr sz="6750" b="1">
                <a:solidFill>
                  <a:srgbClr val="087E73"/>
                </a:solidFill>
                <a:latin typeface="Arial"/>
                <a:ea typeface="Arial"/>
                <a:cs typeface="Arial"/>
              </a:rPr>
              <a:t>14,5</a:t>
            </a:r>
          </a:p>
        </p:txBody>
      </p:sp>
      <p:sp>
        <p:nvSpPr>
          <p:cNvPr id="4" name="km/h tại 18:35">
            <a:extLst xmlns:a="http://schemas.openxmlformats.org/drawingml/2006/main">
              <a:ext uri="{FF2B5EF4-FFF2-40B4-BE49-F238E27FC236}">
                <a16:creationId xmlns:a16="http://schemas.microsoft.com/office/drawing/2014/main" id="{65A7B9C2-A193-4B7F-810B-E4CA5F49E550}"/>
              </a:ext>
            </a:extLst>
          </p:cNvPr>
          <p:cNvSpPr>
            <a:spLocks xmlns:a="http://schemas.openxmlformats.org/drawingml/2006/main" noGrp="1"/>
          </p:cNvSpPr>
          <p:nvPr/>
        </p:nvSpPr>
        <p:spPr>
          <a:xfrm xmlns:a="http://schemas.openxmlformats.org/drawingml/2006/main">
            <a:off x="628650" y="31432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63B3B"/>
                </a:solidFill>
                <a:latin typeface="Arial"/>
                <a:ea typeface="Arial"/>
                <a:cs typeface="Arial"/>
              </a:defRPr>
            </a:defPPr>
          </a:lstStyle>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km/h tại 18:35</a:t>
            </a:r>
          </a:p>
        </p:txBody>
      </p:sp>
      <p:sp>
        <p:nvSpPr>
          <p:cNvPr id="5" name="Sau 15 phút:&#10;giảm, giữ nguyên&#10;hay phục hồi?">
            <a:extLst xmlns:a="http://schemas.openxmlformats.org/drawingml/2006/main">
              <a:ext uri="{FF2B5EF4-FFF2-40B4-BE49-F238E27FC236}">
                <a16:creationId xmlns:a16="http://schemas.microsoft.com/office/drawing/2014/main" id="{394335F0-852F-42C5-A50F-280B9978B329}"/>
              </a:ext>
            </a:extLst>
          </p:cNvPr>
          <p:cNvSpPr>
            <a:spLocks xmlns:a="http://schemas.openxmlformats.org/drawingml/2006/main" noGrp="1"/>
          </p:cNvSpPr>
          <p:nvPr/>
        </p:nvSpPr>
        <p:spPr>
          <a:xfrm xmlns:a="http://schemas.openxmlformats.org/drawingml/2006/main">
            <a:off x="619125" y="4133850"/>
            <a:ext cx="3714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163B3B"/>
                </a:solidFill>
                <a:latin typeface="Arial"/>
                <a:ea typeface="Arial"/>
                <a:cs typeface="Arial"/>
              </a:defRPr>
            </a:defPPr>
          </a:lstStyle>
          <a:p xmlns:a="http://schemas.openxmlformats.org/drawingml/2006/main">
            <a:pPr>
              <a:defRPr sz="2550">
                <a:solidFill>
                  <a:srgbClr val="163B3B"/>
                </a:solidFill>
                <a:latin typeface="Arial"/>
                <a:ea typeface="Arial"/>
                <a:cs typeface="Arial"/>
              </a:defRPr>
            </a:pPr>
            <a:r>
              <a:rPr sz="2550">
                <a:solidFill>
                  <a:srgbClr val="163B3B"/>
                </a:solidFill>
                <a:latin typeface="Arial"/>
                <a:ea typeface="Arial"/>
                <a:cs typeface="Arial"/>
              </a:rPr>
              <a:t>Sau 15 phút:</a:t>
            </a:r>
          </a:p>
          <a:p xmlns:a="http://schemas.openxmlformats.org/drawingml/2006/main">
            <a:pPr>
              <a:defRPr sz="2550">
                <a:solidFill>
                  <a:srgbClr val="163B3B"/>
                </a:solidFill>
                <a:latin typeface="Arial"/>
                <a:ea typeface="Arial"/>
                <a:cs typeface="Arial"/>
              </a:defRPr>
            </a:pPr>
            <a:r>
              <a:rPr sz="2550">
                <a:solidFill>
                  <a:srgbClr val="163B3B"/>
                </a:solidFill>
                <a:latin typeface="Arial"/>
                <a:ea typeface="Arial"/>
                <a:cs typeface="Arial"/>
              </a:rPr>
              <a:t>giảm, giữ nguyên</a:t>
            </a:r>
          </a:p>
          <a:p xmlns:a="http://schemas.openxmlformats.org/drawingml/2006/main">
            <a:pPr>
              <a:defRPr sz="2550">
                <a:solidFill>
                  <a:srgbClr val="163B3B"/>
                </a:solidFill>
                <a:latin typeface="Arial"/>
                <a:ea typeface="Arial"/>
                <a:cs typeface="Arial"/>
              </a:defRPr>
            </a:pPr>
            <a:r>
              <a:rPr sz="2550">
                <a:solidFill>
                  <a:srgbClr val="163B3B"/>
                </a:solidFill>
                <a:latin typeface="Arial"/>
                <a:ea typeface="Arial"/>
                <a:cs typeface="Arial"/>
              </a:rPr>
              <a:t>hay phục hồi?</a:t>
            </a:r>
          </a:p>
        </p:txBody>
      </p:sp>
      <p:graphicFrame>
        <p:nvGraphicFramePr>
          <p:cNvPr id="6" name="Chart">
            <a:extLst xmlns:a="http://schemas.openxmlformats.org/drawingml/2006/main">
              <a:ext uri="{FF2B5EF4-FFF2-40B4-BE49-F238E27FC236}">
                <a16:creationId xmlns:a16="http://schemas.microsoft.com/office/drawing/2014/main" id="{CAD57763-468A-4605-8CAC-7106A5945466}"/>
              </a:ext>
            </a:extLst>
          </p:cNvPr>
          <p:cNvGraphicFramePr/>
          <p:nvPr/>
        </p:nvGraphicFramePr>
        <p:xfrm>
          <a:off xmlns:a="http://schemas.openxmlformats.org/drawingml/2006/main" x="4572000" y="1666875"/>
          <a:ext xmlns:a="http://schemas.openxmlformats.org/drawingml/2006/main" cx="6858000" cy="4000500"/>
        </p:xfrm>
        <a:graphic xmlns:a="http://schemas.openxmlformats.org/drawingml/2006/main">
          <a:graphicData uri="http://schemas.openxmlformats.org/drawingml/2006/chart">
            <c:chart xmlns:r="http://schemas.openxmlformats.org/officeDocument/2006/relationships" xmlns:c="http://schemas.openxmlformats.org/drawingml/2006/chart" r:id="Rc6c1d74fc2064544"/>
          </a:graphicData>
        </a:graphic>
      </p:graphicFrame>
      <p:sp>
        <p:nvSpPr>
          <p:cNvPr id="7" name="Cảm biến 717458, 06/06/2012. Ví dụ chọn để mi">
            <a:extLst xmlns:a="http://schemas.openxmlformats.org/drawingml/2006/main">
              <a:ext uri="{FF2B5EF4-FFF2-40B4-BE49-F238E27FC236}">
                <a16:creationId xmlns:a16="http://schemas.microsoft.com/office/drawing/2014/main" id="{064027E5-C94A-41F5-8855-2B36F70B1A37}"/>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Cảm biến 717458, 06/06/2012. Ví dụ chọn để minh họa sau đánh giá.</a:t>
            </a:r>
          </a:p>
        </p:txBody>
      </p:sp>
    </p:spTree>
    <p:extLst>
      <p:ext uri="{BB962C8B-B14F-4D97-AF65-F5344CB8AC3E}">
        <p14:creationId xmlns:p14="http://schemas.microsoft.com/office/powerpoint/2010/main" val="227555666"/>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8A98B33A-6E21-4DA0-8E85-A26E07E7F64C}"/>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Giá trị của dự báo ngắn hạn</a:t>
            </a:r>
          </a:p>
        </p:txBody>
      </p:sp>
      <p:sp>
        <p:nvSpPr>
          <p:cNvPr id="2" name="03 / 26">
            <a:extLst xmlns:a="http://schemas.openxmlformats.org/drawingml/2006/main">
              <a:ext uri="{FF2B5EF4-FFF2-40B4-BE49-F238E27FC236}">
                <a16:creationId xmlns:a16="http://schemas.microsoft.com/office/drawing/2014/main" id="{2B889158-D088-4F8E-97B3-BC9079EA38D7}"/>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03 / 26</a:t>
            </a:r>
          </a:p>
        </p:txBody>
      </p:sp>
      <p:sp>
        <p:nvSpPr>
          <p:cNvPr id="3" name="Một khoảng thời gian&#10;để chuẩn bị">
            <a:extLst xmlns:a="http://schemas.openxmlformats.org/drawingml/2006/main">
              <a:ext uri="{FF2B5EF4-FFF2-40B4-BE49-F238E27FC236}">
                <a16:creationId xmlns:a16="http://schemas.microsoft.com/office/drawing/2014/main" id="{CAF395E2-661F-4245-A3B0-31BBD9B2AE8A}"/>
              </a:ext>
            </a:extLst>
          </p:cNvPr>
          <p:cNvSpPr>
            <a:spLocks xmlns:a="http://schemas.openxmlformats.org/drawingml/2006/main" noGrp="1"/>
          </p:cNvSpPr>
          <p:nvPr/>
        </p:nvSpPr>
        <p:spPr>
          <a:xfrm xmlns:a="http://schemas.openxmlformats.org/drawingml/2006/main">
            <a:off x="609600" y="1752600"/>
            <a:ext cx="5619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63B3B"/>
                </a:solidFill>
                <a:latin typeface="Arial"/>
                <a:ea typeface="Arial"/>
                <a:cs typeface="Arial"/>
              </a:defRPr>
            </a:defPPr>
          </a:lstStyle>
          <a:p xmlns:a="http://schemas.openxmlformats.org/drawingml/2006/main">
            <a:pPr>
              <a:defRPr sz="3600" b="1">
                <a:solidFill>
                  <a:srgbClr val="163B3B"/>
                </a:solidFill>
                <a:latin typeface="Arial"/>
                <a:ea typeface="Arial"/>
                <a:cs typeface="Arial"/>
              </a:defRPr>
            </a:pPr>
            <a:r>
              <a:rPr sz="3600" b="1">
                <a:solidFill>
                  <a:srgbClr val="163B3B"/>
                </a:solidFill>
                <a:latin typeface="Arial"/>
                <a:ea typeface="Arial"/>
                <a:cs typeface="Arial"/>
              </a:rPr>
              <a:t>Một khoảng thời gian</a:t>
            </a:r>
          </a:p>
          <a:p xmlns:a="http://schemas.openxmlformats.org/drawingml/2006/main">
            <a:pPr>
              <a:defRPr sz="3600" b="1">
                <a:solidFill>
                  <a:srgbClr val="163B3B"/>
                </a:solidFill>
                <a:latin typeface="Arial"/>
                <a:ea typeface="Arial"/>
                <a:cs typeface="Arial"/>
              </a:defRPr>
            </a:pPr>
            <a:r>
              <a:rPr sz="3600" b="1">
                <a:solidFill>
                  <a:srgbClr val="163B3B"/>
                </a:solidFill>
                <a:latin typeface="Arial"/>
                <a:ea typeface="Arial"/>
                <a:cs typeface="Arial"/>
              </a:rPr>
              <a:t>để chuẩn bị</a:t>
            </a:r>
          </a:p>
        </p:txBody>
      </p:sp>
      <p:sp>
        <p:nvSpPr>
          <p:cNvPr id="4" name="Theo dõi nguy cơ giảm tốc&#10;Hỗ trợ kế hoạch di ">
            <a:extLst xmlns:a="http://schemas.openxmlformats.org/drawingml/2006/main">
              <a:ext uri="{FF2B5EF4-FFF2-40B4-BE49-F238E27FC236}">
                <a16:creationId xmlns:a16="http://schemas.microsoft.com/office/drawing/2014/main" id="{E1DC7CF0-2DB6-4189-9BD1-B6046E953A70}"/>
              </a:ext>
            </a:extLst>
          </p:cNvPr>
          <p:cNvSpPr>
            <a:spLocks xmlns:a="http://schemas.openxmlformats.org/drawingml/2006/main" noGrp="1"/>
          </p:cNvSpPr>
          <p:nvPr/>
        </p:nvSpPr>
        <p:spPr>
          <a:xfrm xmlns:a="http://schemas.openxmlformats.org/drawingml/2006/main">
            <a:off x="619125" y="3781425"/>
            <a:ext cx="5429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a:solidFill>
                  <a:srgbClr val="657B79"/>
                </a:solidFill>
                <a:latin typeface="Arial"/>
                <a:ea typeface="Arial"/>
                <a:cs typeface="Arial"/>
              </a:defRPr>
            </a:defPPr>
          </a:lstStyle>
          <a:p xmlns:a="http://schemas.openxmlformats.org/drawingml/2006/main">
            <a:pPr>
              <a:defRPr sz="2475">
                <a:solidFill>
                  <a:srgbClr val="657B79"/>
                </a:solidFill>
                <a:latin typeface="Arial"/>
                <a:ea typeface="Arial"/>
                <a:cs typeface="Arial"/>
              </a:defRPr>
            </a:pPr>
            <a:r>
              <a:rPr sz="2475">
                <a:solidFill>
                  <a:srgbClr val="657B79"/>
                </a:solidFill>
                <a:latin typeface="Arial"/>
                <a:ea typeface="Arial"/>
                <a:cs typeface="Arial"/>
              </a:rPr>
              <a:t>Theo dõi nguy cơ giảm tốc</a:t>
            </a:r>
          </a:p>
          <a:p xmlns:a="http://schemas.openxmlformats.org/drawingml/2006/main">
            <a:pPr>
              <a:defRPr sz="2475">
                <a:solidFill>
                  <a:srgbClr val="657B79"/>
                </a:solidFill>
                <a:latin typeface="Arial"/>
                <a:ea typeface="Arial"/>
                <a:cs typeface="Arial"/>
              </a:defRPr>
            </a:pPr>
            <a:r>
              <a:rPr sz="2475">
                <a:solidFill>
                  <a:srgbClr val="657B79"/>
                </a:solidFill>
                <a:latin typeface="Arial"/>
                <a:ea typeface="Arial"/>
                <a:cs typeface="Arial"/>
              </a:rPr>
              <a:t>Hỗ trợ kế hoạch di chuyển</a:t>
            </a:r>
          </a:p>
        </p:txBody>
      </p:sp>
      <p:sp>
        <p:nvSpPr>
          <p:cNvPr id="5" name="15 phút">
            <a:extLst xmlns:a="http://schemas.openxmlformats.org/drawingml/2006/main">
              <a:ext uri="{FF2B5EF4-FFF2-40B4-BE49-F238E27FC236}">
                <a16:creationId xmlns:a16="http://schemas.microsoft.com/office/drawing/2014/main" id="{FE347F18-1888-4F24-96C7-E6B82CD09B9C}"/>
              </a:ext>
            </a:extLst>
          </p:cNvPr>
          <p:cNvSpPr>
            <a:spLocks xmlns:a="http://schemas.openxmlformats.org/drawingml/2006/main" noGrp="1"/>
          </p:cNvSpPr>
          <p:nvPr/>
        </p:nvSpPr>
        <p:spPr>
          <a:xfrm xmlns:a="http://schemas.openxmlformats.org/drawingml/2006/main">
            <a:off x="7334250" y="183832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75" b="1">
                <a:solidFill>
                  <a:srgbClr val="087E73"/>
                </a:solidFill>
                <a:latin typeface="Arial"/>
                <a:ea typeface="Arial"/>
                <a:cs typeface="Arial"/>
              </a:defRPr>
            </a:defPPr>
          </a:lstStyle>
          <a:p xmlns:a="http://schemas.openxmlformats.org/drawingml/2006/main">
            <a:pPr>
              <a:defRPr sz="5475" b="1">
                <a:solidFill>
                  <a:srgbClr val="087E73"/>
                </a:solidFill>
                <a:latin typeface="Arial"/>
                <a:ea typeface="Arial"/>
                <a:cs typeface="Arial"/>
              </a:defRPr>
            </a:pPr>
            <a:r>
              <a:rPr sz="5475" b="1">
                <a:solidFill>
                  <a:srgbClr val="087E73"/>
                </a:solidFill>
                <a:latin typeface="Arial"/>
                <a:ea typeface="Arial"/>
                <a:cs typeface="Arial"/>
              </a:rPr>
              <a:t>15 phút</a:t>
            </a:r>
          </a:p>
        </p:txBody>
      </p:sp>
      <p:sp>
        <p:nvSpPr>
          <p:cNvPr id="6" name="Dự báo tốc độ là đầu vào&#10;cho các hệ thống hỗ ">
            <a:extLst xmlns:a="http://schemas.openxmlformats.org/drawingml/2006/main">
              <a:ext uri="{FF2B5EF4-FFF2-40B4-BE49-F238E27FC236}">
                <a16:creationId xmlns:a16="http://schemas.microsoft.com/office/drawing/2014/main" id="{AA4F237B-5625-4BCE-B977-047F9D0B14D5}"/>
              </a:ext>
            </a:extLst>
          </p:cNvPr>
          <p:cNvSpPr>
            <a:spLocks xmlns:a="http://schemas.openxmlformats.org/drawingml/2006/main" noGrp="1"/>
          </p:cNvSpPr>
          <p:nvPr/>
        </p:nvSpPr>
        <p:spPr>
          <a:xfrm xmlns:a="http://schemas.openxmlformats.org/drawingml/2006/main">
            <a:off x="7334250" y="3419475"/>
            <a:ext cx="4095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63B3B"/>
                </a:solidFill>
                <a:latin typeface="Arial"/>
                <a:ea typeface="Arial"/>
                <a:cs typeface="Arial"/>
              </a:defRPr>
            </a:defPPr>
          </a:lstStyle>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Dự báo tốc độ là đầu vào</a:t>
            </a:r>
          </a:p>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cho các hệ thống hỗ trợ</a:t>
            </a:r>
          </a:p>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ra quyết định.</a:t>
            </a:r>
          </a:p>
        </p:txBody>
      </p:sp>
      <p:sp>
        <p:nvSpPr>
          <p:cNvPr id="7" name="Phạm vi: thực nghiệm dữ liệu lịch sử. Chưa đá">
            <a:extLst xmlns:a="http://schemas.openxmlformats.org/drawingml/2006/main">
              <a:ext uri="{FF2B5EF4-FFF2-40B4-BE49-F238E27FC236}">
                <a16:creationId xmlns:a16="http://schemas.microsoft.com/office/drawing/2014/main" id="{AC45E3D4-2CB6-4045-A397-72A68C475E5E}"/>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Phạm vi: thực nghiệm dữ liệu lịch sử. Chưa đánh giá hiệu quả vận hành thực tế.</a:t>
            </a:r>
          </a:p>
        </p:txBody>
      </p:sp>
    </p:spTree>
    <p:extLst>
      <p:ext uri="{BB962C8B-B14F-4D97-AF65-F5344CB8AC3E}">
        <p14:creationId xmlns:p14="http://schemas.microsoft.com/office/powerpoint/2010/main" val="268019620"/>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BE7F1BA-B680-463E-B887-E0DAB6AA761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Không gian và thời gian</a:t>
            </a:r>
          </a:p>
        </p:txBody>
      </p:sp>
      <p:sp>
        <p:nvSpPr>
          <p:cNvPr id="2" name="04 / 26">
            <a:extLst xmlns:a="http://schemas.openxmlformats.org/drawingml/2006/main">
              <a:ext uri="{FF2B5EF4-FFF2-40B4-BE49-F238E27FC236}">
                <a16:creationId xmlns:a16="http://schemas.microsoft.com/office/drawing/2014/main" id="{6F49C074-1512-46BF-A1A3-D1F8054ACC37}"/>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04 / 26</a:t>
            </a:r>
          </a:p>
        </p:txBody>
      </p:sp>
      <p:sp>
        <p:nvSpPr>
          <p:cNvPr id="3" name="Thời gian">
            <a:extLst xmlns:a="http://schemas.openxmlformats.org/drawingml/2006/main">
              <a:ext uri="{FF2B5EF4-FFF2-40B4-BE49-F238E27FC236}">
                <a16:creationId xmlns:a16="http://schemas.microsoft.com/office/drawing/2014/main" id="{110B7A83-5E5F-4FED-8218-699FDCBB09E4}"/>
              </a:ext>
            </a:extLst>
          </p:cNvPr>
          <p:cNvSpPr>
            <a:spLocks xmlns:a="http://schemas.openxmlformats.org/drawingml/2006/main" noGrp="1"/>
          </p:cNvSpPr>
          <p:nvPr/>
        </p:nvSpPr>
        <p:spPr>
          <a:xfrm xmlns:a="http://schemas.openxmlformats.org/drawingml/2006/main">
            <a:off x="609600" y="1704975"/>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87E73"/>
                </a:solidFill>
                <a:latin typeface="Arial"/>
                <a:ea typeface="Arial"/>
                <a:cs typeface="Arial"/>
              </a:defRPr>
            </a:defPPr>
          </a:lstStyle>
          <a:p xmlns:a="http://schemas.openxmlformats.org/drawingml/2006/main">
            <a:pPr>
              <a:defRPr sz="2400" b="1">
                <a:solidFill>
                  <a:srgbClr val="087E73"/>
                </a:solidFill>
                <a:latin typeface="Arial"/>
                <a:ea typeface="Arial"/>
                <a:cs typeface="Arial"/>
              </a:defRPr>
            </a:pPr>
            <a:r>
              <a:rPr sz="2400" b="1">
                <a:solidFill>
                  <a:srgbClr val="087E73"/>
                </a:solidFill>
                <a:latin typeface="Arial"/>
                <a:ea typeface="Arial"/>
                <a:cs typeface="Arial"/>
              </a:rPr>
              <a:t>Thời gian</a:t>
            </a:r>
          </a:p>
        </p:txBody>
      </p:sp>
      <p:graphicFrame>
        <p:nvGraphicFramePr>
          <p:cNvPr id="4" name="Chart">
            <a:extLst xmlns:a="http://schemas.openxmlformats.org/drawingml/2006/main">
              <a:ext uri="{FF2B5EF4-FFF2-40B4-BE49-F238E27FC236}">
                <a16:creationId xmlns:a16="http://schemas.microsoft.com/office/drawing/2014/main" id="{A36936DF-535C-494A-B936-0769CBF35560}"/>
              </a:ext>
            </a:extLst>
          </p:cNvPr>
          <p:cNvGraphicFramePr/>
          <p:nvPr/>
        </p:nvGraphicFramePr>
        <p:xfrm>
          <a:off xmlns:a="http://schemas.openxmlformats.org/drawingml/2006/main" x="571500" y="2400300"/>
          <a:ext xmlns:a="http://schemas.openxmlformats.org/drawingml/2006/main" cx="6667500" cy="2809875"/>
        </p:xfrm>
        <a:graphic xmlns:a="http://schemas.openxmlformats.org/drawingml/2006/main">
          <a:graphicData uri="http://schemas.openxmlformats.org/drawingml/2006/chart">
            <c:chart xmlns:r="http://schemas.openxmlformats.org/officeDocument/2006/relationships" xmlns:c="http://schemas.openxmlformats.org/drawingml/2006/chart" r:id="R1e731738f4124d39"/>
          </a:graphicData>
        </a:graphic>
      </p:graphicFrame>
      <p:sp>
        <p:nvSpPr>
          <p:cNvPr id="5" name="Không gian">
            <a:extLst xmlns:a="http://schemas.openxmlformats.org/drawingml/2006/main">
              <a:ext uri="{FF2B5EF4-FFF2-40B4-BE49-F238E27FC236}">
                <a16:creationId xmlns:a16="http://schemas.microsoft.com/office/drawing/2014/main" id="{4B5F0844-2DA7-4EA5-92D0-737B3E557E04}"/>
              </a:ext>
            </a:extLst>
          </p:cNvPr>
          <p:cNvSpPr>
            <a:spLocks xmlns:a="http://schemas.openxmlformats.org/drawingml/2006/main" noGrp="1"/>
          </p:cNvSpPr>
          <p:nvPr/>
        </p:nvSpPr>
        <p:spPr>
          <a:xfrm xmlns:a="http://schemas.openxmlformats.org/drawingml/2006/main">
            <a:off x="7896225" y="17240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87E73"/>
                </a:solidFill>
                <a:latin typeface="Arial"/>
                <a:ea typeface="Arial"/>
                <a:cs typeface="Arial"/>
              </a:defRPr>
            </a:defPPr>
          </a:lstStyle>
          <a:p xmlns:a="http://schemas.openxmlformats.org/drawingml/2006/main">
            <a:pPr>
              <a:defRPr sz="2400" b="1">
                <a:solidFill>
                  <a:srgbClr val="087E73"/>
                </a:solidFill>
                <a:latin typeface="Arial"/>
                <a:ea typeface="Arial"/>
                <a:cs typeface="Arial"/>
              </a:defRPr>
            </a:pPr>
            <a:r>
              <a:rPr sz="2400" b="1">
                <a:solidFill>
                  <a:srgbClr val="087E73"/>
                </a:solidFill>
                <a:latin typeface="Arial"/>
                <a:ea typeface="Arial"/>
                <a:cs typeface="Arial"/>
              </a:rPr>
              <a:t>Không gian</a:t>
            </a:r>
          </a:p>
        </p:txBody>
      </p:sp>
      <p:sp>
        <p:nvSpPr>
          <p:cNvPr id="6" name="Tình trạng tại một nút&#10;có thể liên quan đến&#10;c">
            <a:extLst xmlns:a="http://schemas.openxmlformats.org/drawingml/2006/main">
              <a:ext uri="{FF2B5EF4-FFF2-40B4-BE49-F238E27FC236}">
                <a16:creationId xmlns:a16="http://schemas.microsoft.com/office/drawing/2014/main" id="{728C628A-C24B-4BF3-8474-1B01B4189718}"/>
              </a:ext>
            </a:extLst>
          </p:cNvPr>
          <p:cNvSpPr>
            <a:spLocks xmlns:a="http://schemas.openxmlformats.org/drawingml/2006/main" noGrp="1"/>
          </p:cNvSpPr>
          <p:nvPr/>
        </p:nvSpPr>
        <p:spPr>
          <a:xfrm xmlns:a="http://schemas.openxmlformats.org/drawingml/2006/main">
            <a:off x="7896225" y="2600325"/>
            <a:ext cx="3476625"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a:solidFill>
                  <a:srgbClr val="163B3B"/>
                </a:solidFill>
                <a:latin typeface="Arial"/>
                <a:ea typeface="Arial"/>
                <a:cs typeface="Arial"/>
              </a:defRPr>
            </a:defPPr>
          </a:lstStyle>
          <a:p xmlns:a="http://schemas.openxmlformats.org/drawingml/2006/main">
            <a:pPr>
              <a:defRPr sz="2400">
                <a:solidFill>
                  <a:srgbClr val="163B3B"/>
                </a:solidFill>
                <a:latin typeface="Arial"/>
                <a:ea typeface="Arial"/>
                <a:cs typeface="Arial"/>
              </a:defRPr>
            </a:pPr>
            <a:r>
              <a:rPr sz="2400">
                <a:solidFill>
                  <a:srgbClr val="163B3B"/>
                </a:solidFill>
                <a:latin typeface="Arial"/>
                <a:ea typeface="Arial"/>
                <a:cs typeface="Arial"/>
              </a:rPr>
              <a:t>Tình trạng tại một nút</a:t>
            </a:r>
          </a:p>
          <a:p xmlns:a="http://schemas.openxmlformats.org/drawingml/2006/main">
            <a:pPr>
              <a:defRPr sz="2400">
                <a:solidFill>
                  <a:srgbClr val="163B3B"/>
                </a:solidFill>
                <a:latin typeface="Arial"/>
                <a:ea typeface="Arial"/>
                <a:cs typeface="Arial"/>
              </a:defRPr>
            </a:pPr>
            <a:r>
              <a:rPr sz="2400">
                <a:solidFill>
                  <a:srgbClr val="163B3B"/>
                </a:solidFill>
                <a:latin typeface="Arial"/>
                <a:ea typeface="Arial"/>
                <a:cs typeface="Arial"/>
              </a:rPr>
              <a:t>có thể liên quan đến</a:t>
            </a:r>
          </a:p>
          <a:p xmlns:a="http://schemas.openxmlformats.org/drawingml/2006/main">
            <a:pPr>
              <a:defRPr sz="2400">
                <a:solidFill>
                  <a:srgbClr val="163B3B"/>
                </a:solidFill>
                <a:latin typeface="Arial"/>
                <a:ea typeface="Arial"/>
                <a:cs typeface="Arial"/>
              </a:defRPr>
            </a:pPr>
            <a:r>
              <a:rPr sz="2400">
                <a:solidFill>
                  <a:srgbClr val="163B3B"/>
                </a:solidFill>
                <a:latin typeface="Arial"/>
                <a:ea typeface="Arial"/>
                <a:cs typeface="Arial"/>
              </a:rPr>
              <a:t>các vị trí khác</a:t>
            </a:r>
          </a:p>
          <a:p xmlns:a="http://schemas.openxmlformats.org/drawingml/2006/main">
            <a:pPr>
              <a:defRPr sz="2400">
                <a:solidFill>
                  <a:srgbClr val="163B3B"/>
                </a:solidFill>
                <a:latin typeface="Arial"/>
                <a:ea typeface="Arial"/>
                <a:cs typeface="Arial"/>
              </a:defRPr>
            </a:pPr>
            <a:r>
              <a:rPr sz="2400">
                <a:solidFill>
                  <a:srgbClr val="163B3B"/>
                </a:solidFill>
                <a:latin typeface="Arial"/>
                <a:ea typeface="Arial"/>
                <a:cs typeface="Arial"/>
              </a:rPr>
              <a:t>trên mạng đường.</a:t>
            </a:r>
          </a:p>
        </p:txBody>
      </p:sp>
      <p:sp>
        <p:nvSpPr>
          <p:cNvPr id="7" name="Quan hệ có ích hay không cần được kiểm chứng">
            <a:extLst xmlns:a="http://schemas.openxmlformats.org/drawingml/2006/main">
              <a:ext uri="{FF2B5EF4-FFF2-40B4-BE49-F238E27FC236}">
                <a16:creationId xmlns:a16="http://schemas.microsoft.com/office/drawing/2014/main" id="{EA768853-02AF-4773-993D-D434FC0D6700}"/>
              </a:ext>
            </a:extLst>
          </p:cNvPr>
          <p:cNvSpPr>
            <a:spLocks xmlns:a="http://schemas.openxmlformats.org/drawingml/2006/main" noGrp="1"/>
          </p:cNvSpPr>
          <p:nvPr/>
        </p:nvSpPr>
        <p:spPr>
          <a:xfrm xmlns:a="http://schemas.openxmlformats.org/drawingml/2006/main">
            <a:off x="609600" y="540067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Quan hệ có ích hay không cần được kiểm chứng</a:t>
            </a:r>
          </a:p>
        </p:txBody>
      </p:sp>
    </p:spTree>
    <p:extLst>
      <p:ext uri="{BB962C8B-B14F-4D97-AF65-F5344CB8AC3E}">
        <p14:creationId xmlns:p14="http://schemas.microsoft.com/office/powerpoint/2010/main" val="447050289"/>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8B41D95C-E472-4E10-98FF-22D9E8BCC566}"/>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Deep Graph và kiến thức đã học</a:t>
            </a:r>
          </a:p>
        </p:txBody>
      </p:sp>
      <p:sp>
        <p:nvSpPr>
          <p:cNvPr id="2" name="05 / 26">
            <a:extLst xmlns:a="http://schemas.openxmlformats.org/drawingml/2006/main">
              <a:ext uri="{FF2B5EF4-FFF2-40B4-BE49-F238E27FC236}">
                <a16:creationId xmlns:a16="http://schemas.microsoft.com/office/drawing/2014/main" id="{2377681A-0C6B-4356-9367-EB82FE65D097}"/>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05 / 26</a:t>
            </a:r>
          </a:p>
        </p:txBody>
      </p:sp>
      <p:sp>
        <p:nvSpPr>
          <p:cNvPr id="3" name="Nút">
            <a:extLst xmlns:a="http://schemas.openxmlformats.org/drawingml/2006/main">
              <a:ext uri="{FF2B5EF4-FFF2-40B4-BE49-F238E27FC236}">
                <a16:creationId xmlns:a16="http://schemas.microsoft.com/office/drawing/2014/main" id="{AA78EAF5-F75C-4DD7-BAD6-535589F93E0A}"/>
              </a:ext>
            </a:extLst>
          </p:cNvPr>
          <p:cNvSpPr>
            <a:spLocks xmlns:a="http://schemas.openxmlformats.org/drawingml/2006/main" noGrp="1"/>
          </p:cNvSpPr>
          <p:nvPr/>
        </p:nvSpPr>
        <p:spPr>
          <a:xfrm xmlns:a="http://schemas.openxmlformats.org/drawingml/2006/main">
            <a:off x="609600" y="1876425"/>
            <a:ext cx="3286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87E73"/>
                </a:solidFill>
                <a:latin typeface="Arial"/>
                <a:ea typeface="Arial"/>
                <a:cs typeface="Arial"/>
              </a:defRPr>
            </a:defPPr>
          </a:lstStyle>
          <a:p xmlns:a="http://schemas.openxmlformats.org/drawingml/2006/main">
            <a:pPr>
              <a:defRPr sz="3600" b="1">
                <a:solidFill>
                  <a:srgbClr val="087E73"/>
                </a:solidFill>
                <a:latin typeface="Arial"/>
                <a:ea typeface="Arial"/>
                <a:cs typeface="Arial"/>
              </a:defRPr>
            </a:pPr>
            <a:r>
              <a:rPr sz="3600" b="1">
                <a:solidFill>
                  <a:srgbClr val="087E73"/>
                </a:solidFill>
                <a:latin typeface="Arial"/>
                <a:ea typeface="Arial"/>
                <a:cs typeface="Arial"/>
              </a:rPr>
              <a:t>Nút</a:t>
            </a:r>
          </a:p>
        </p:txBody>
      </p:sp>
      <p:sp>
        <p:nvSpPr>
          <p:cNvPr id="4" name="Một cảm biến&#10;và các đặc trưng">
            <a:extLst xmlns:a="http://schemas.openxmlformats.org/drawingml/2006/main">
              <a:ext uri="{FF2B5EF4-FFF2-40B4-BE49-F238E27FC236}">
                <a16:creationId xmlns:a16="http://schemas.microsoft.com/office/drawing/2014/main" id="{13E37688-1AB4-4734-9D71-1E59DE6D3FBF}"/>
              </a:ext>
            </a:extLst>
          </p:cNvPr>
          <p:cNvSpPr>
            <a:spLocks xmlns:a="http://schemas.openxmlformats.org/drawingml/2006/main" noGrp="1"/>
          </p:cNvSpPr>
          <p:nvPr/>
        </p:nvSpPr>
        <p:spPr>
          <a:xfrm xmlns:a="http://schemas.openxmlformats.org/drawingml/2006/main">
            <a:off x="609600" y="276225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a:solidFill>
                  <a:srgbClr val="163B3B"/>
                </a:solidFill>
                <a:latin typeface="Arial"/>
                <a:ea typeface="Arial"/>
                <a:cs typeface="Arial"/>
              </a:defRPr>
            </a:defPPr>
          </a:lstStyle>
          <a:p xmlns:a="http://schemas.openxmlformats.org/drawingml/2006/main">
            <a:pPr>
              <a:defRPr sz="2400">
                <a:solidFill>
                  <a:srgbClr val="163B3B"/>
                </a:solidFill>
                <a:latin typeface="Arial"/>
                <a:ea typeface="Arial"/>
                <a:cs typeface="Arial"/>
              </a:defRPr>
            </a:pPr>
            <a:r>
              <a:rPr sz="2400">
                <a:solidFill>
                  <a:srgbClr val="163B3B"/>
                </a:solidFill>
                <a:latin typeface="Arial"/>
                <a:ea typeface="Arial"/>
                <a:cs typeface="Arial"/>
              </a:rPr>
              <a:t>Một cảm biến</a:t>
            </a:r>
          </a:p>
          <a:p xmlns:a="http://schemas.openxmlformats.org/drawingml/2006/main">
            <a:pPr>
              <a:defRPr sz="2400">
                <a:solidFill>
                  <a:srgbClr val="163B3B"/>
                </a:solidFill>
                <a:latin typeface="Arial"/>
                <a:ea typeface="Arial"/>
                <a:cs typeface="Arial"/>
              </a:defRPr>
            </a:pPr>
            <a:r>
              <a:rPr sz="2400">
                <a:solidFill>
                  <a:srgbClr val="163B3B"/>
                </a:solidFill>
                <a:latin typeface="Arial"/>
                <a:ea typeface="Arial"/>
                <a:cs typeface="Arial"/>
              </a:rPr>
              <a:t>và các đặc trưng</a:t>
            </a:r>
          </a:p>
        </p:txBody>
      </p:sp>
      <p:sp>
        <p:nvSpPr>
          <p:cNvPr id="5" name="Cạnh">
            <a:extLst xmlns:a="http://schemas.openxmlformats.org/drawingml/2006/main">
              <a:ext uri="{FF2B5EF4-FFF2-40B4-BE49-F238E27FC236}">
                <a16:creationId xmlns:a16="http://schemas.microsoft.com/office/drawing/2014/main" id="{197208AC-3EF7-463B-8C23-7DCEBE98AF68}"/>
              </a:ext>
            </a:extLst>
          </p:cNvPr>
          <p:cNvSpPr>
            <a:spLocks xmlns:a="http://schemas.openxmlformats.org/drawingml/2006/main" noGrp="1"/>
          </p:cNvSpPr>
          <p:nvPr/>
        </p:nvSpPr>
        <p:spPr>
          <a:xfrm xmlns:a="http://schemas.openxmlformats.org/drawingml/2006/main">
            <a:off x="4476750" y="1876425"/>
            <a:ext cx="3286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87E73"/>
                </a:solidFill>
                <a:latin typeface="Arial"/>
                <a:ea typeface="Arial"/>
                <a:cs typeface="Arial"/>
              </a:defRPr>
            </a:defPPr>
          </a:lstStyle>
          <a:p xmlns:a="http://schemas.openxmlformats.org/drawingml/2006/main">
            <a:pPr>
              <a:defRPr sz="3600" b="1">
                <a:solidFill>
                  <a:srgbClr val="087E73"/>
                </a:solidFill>
                <a:latin typeface="Arial"/>
                <a:ea typeface="Arial"/>
                <a:cs typeface="Arial"/>
              </a:defRPr>
            </a:pPr>
            <a:r>
              <a:rPr sz="3600" b="1">
                <a:solidFill>
                  <a:srgbClr val="087E73"/>
                </a:solidFill>
                <a:latin typeface="Arial"/>
                <a:ea typeface="Arial"/>
                <a:cs typeface="Arial"/>
              </a:rPr>
              <a:t>Cạnh</a:t>
            </a:r>
          </a:p>
        </p:txBody>
      </p:sp>
      <p:sp>
        <p:nvSpPr>
          <p:cNvPr id="6" name="Quan hệ giữa&#10;các cảm biến">
            <a:extLst xmlns:a="http://schemas.openxmlformats.org/drawingml/2006/main">
              <a:ext uri="{FF2B5EF4-FFF2-40B4-BE49-F238E27FC236}">
                <a16:creationId xmlns:a16="http://schemas.microsoft.com/office/drawing/2014/main" id="{B2474D69-6A79-4FE3-B0F6-46D30750DFDC}"/>
              </a:ext>
            </a:extLst>
          </p:cNvPr>
          <p:cNvSpPr>
            <a:spLocks xmlns:a="http://schemas.openxmlformats.org/drawingml/2006/main" noGrp="1"/>
          </p:cNvSpPr>
          <p:nvPr/>
        </p:nvSpPr>
        <p:spPr>
          <a:xfrm xmlns:a="http://schemas.openxmlformats.org/drawingml/2006/main">
            <a:off x="4476750" y="276225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a:solidFill>
                  <a:srgbClr val="163B3B"/>
                </a:solidFill>
                <a:latin typeface="Arial"/>
                <a:ea typeface="Arial"/>
                <a:cs typeface="Arial"/>
              </a:defRPr>
            </a:defPPr>
          </a:lstStyle>
          <a:p xmlns:a="http://schemas.openxmlformats.org/drawingml/2006/main">
            <a:pPr>
              <a:defRPr sz="2400">
                <a:solidFill>
                  <a:srgbClr val="163B3B"/>
                </a:solidFill>
                <a:latin typeface="Arial"/>
                <a:ea typeface="Arial"/>
                <a:cs typeface="Arial"/>
              </a:defRPr>
            </a:pPr>
            <a:r>
              <a:rPr sz="2400">
                <a:solidFill>
                  <a:srgbClr val="163B3B"/>
                </a:solidFill>
                <a:latin typeface="Arial"/>
                <a:ea typeface="Arial"/>
                <a:cs typeface="Arial"/>
              </a:rPr>
              <a:t>Quan hệ giữa</a:t>
            </a:r>
          </a:p>
          <a:p xmlns:a="http://schemas.openxmlformats.org/drawingml/2006/main">
            <a:pPr>
              <a:defRPr sz="2400">
                <a:solidFill>
                  <a:srgbClr val="163B3B"/>
                </a:solidFill>
                <a:latin typeface="Arial"/>
                <a:ea typeface="Arial"/>
                <a:cs typeface="Arial"/>
              </a:defRPr>
            </a:pPr>
            <a:r>
              <a:rPr sz="2400">
                <a:solidFill>
                  <a:srgbClr val="163B3B"/>
                </a:solidFill>
                <a:latin typeface="Arial"/>
                <a:ea typeface="Arial"/>
                <a:cs typeface="Arial"/>
              </a:rPr>
              <a:t>các cảm biến</a:t>
            </a:r>
          </a:p>
        </p:txBody>
      </p:sp>
      <p:sp>
        <p:nvSpPr>
          <p:cNvPr id="7" name="Mạng neural">
            <a:extLst xmlns:a="http://schemas.openxmlformats.org/drawingml/2006/main">
              <a:ext uri="{FF2B5EF4-FFF2-40B4-BE49-F238E27FC236}">
                <a16:creationId xmlns:a16="http://schemas.microsoft.com/office/drawing/2014/main" id="{766237B2-41B8-4B5C-ADB7-A64A9944112B}"/>
              </a:ext>
            </a:extLst>
          </p:cNvPr>
          <p:cNvSpPr>
            <a:spLocks xmlns:a="http://schemas.openxmlformats.org/drawingml/2006/main" noGrp="1"/>
          </p:cNvSpPr>
          <p:nvPr/>
        </p:nvSpPr>
        <p:spPr>
          <a:xfrm xmlns:a="http://schemas.openxmlformats.org/drawingml/2006/main">
            <a:off x="8210550" y="1876425"/>
            <a:ext cx="342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87E73"/>
                </a:solidFill>
                <a:latin typeface="Arial"/>
                <a:ea typeface="Arial"/>
                <a:cs typeface="Arial"/>
              </a:defRPr>
            </a:defPPr>
          </a:lstStyle>
          <a:p xmlns:a="http://schemas.openxmlformats.org/drawingml/2006/main">
            <a:pPr>
              <a:defRPr sz="3300" b="1">
                <a:solidFill>
                  <a:srgbClr val="087E73"/>
                </a:solidFill>
                <a:latin typeface="Arial"/>
                <a:ea typeface="Arial"/>
                <a:cs typeface="Arial"/>
              </a:defRPr>
            </a:pPr>
            <a:r>
              <a:rPr sz="3300" b="1">
                <a:solidFill>
                  <a:srgbClr val="087E73"/>
                </a:solidFill>
                <a:latin typeface="Arial"/>
                <a:ea typeface="Arial"/>
                <a:cs typeface="Arial"/>
              </a:rPr>
              <a:t>Mạng neural</a:t>
            </a:r>
          </a:p>
        </p:txBody>
      </p:sp>
      <p:sp>
        <p:nvSpPr>
          <p:cNvPr id="8" name="Học biểu diễn&#10;để dự báo">
            <a:extLst xmlns:a="http://schemas.openxmlformats.org/drawingml/2006/main">
              <a:ext uri="{FF2B5EF4-FFF2-40B4-BE49-F238E27FC236}">
                <a16:creationId xmlns:a16="http://schemas.microsoft.com/office/drawing/2014/main" id="{42E1A0A1-5120-4417-AD94-C6E3C3CF329A}"/>
              </a:ext>
            </a:extLst>
          </p:cNvPr>
          <p:cNvSpPr>
            <a:spLocks xmlns:a="http://schemas.openxmlformats.org/drawingml/2006/main" noGrp="1"/>
          </p:cNvSpPr>
          <p:nvPr/>
        </p:nvSpPr>
        <p:spPr>
          <a:xfrm xmlns:a="http://schemas.openxmlformats.org/drawingml/2006/main">
            <a:off x="8210550" y="2762250"/>
            <a:ext cx="335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a:solidFill>
                  <a:srgbClr val="163B3B"/>
                </a:solidFill>
                <a:latin typeface="Arial"/>
                <a:ea typeface="Arial"/>
                <a:cs typeface="Arial"/>
              </a:defRPr>
            </a:defPPr>
          </a:lstStyle>
          <a:p xmlns:a="http://schemas.openxmlformats.org/drawingml/2006/main">
            <a:pPr>
              <a:defRPr sz="2400">
                <a:solidFill>
                  <a:srgbClr val="163B3B"/>
                </a:solidFill>
                <a:latin typeface="Arial"/>
                <a:ea typeface="Arial"/>
                <a:cs typeface="Arial"/>
              </a:defRPr>
            </a:pPr>
            <a:r>
              <a:rPr sz="2400">
                <a:solidFill>
                  <a:srgbClr val="163B3B"/>
                </a:solidFill>
                <a:latin typeface="Arial"/>
                <a:ea typeface="Arial"/>
                <a:cs typeface="Arial"/>
              </a:rPr>
              <a:t>Học biểu diễn</a:t>
            </a:r>
          </a:p>
          <a:p xmlns:a="http://schemas.openxmlformats.org/drawingml/2006/main">
            <a:pPr>
              <a:defRPr sz="2400">
                <a:solidFill>
                  <a:srgbClr val="163B3B"/>
                </a:solidFill>
                <a:latin typeface="Arial"/>
                <a:ea typeface="Arial"/>
                <a:cs typeface="Arial"/>
              </a:defRPr>
            </a:pPr>
            <a:r>
              <a:rPr sz="2400">
                <a:solidFill>
                  <a:srgbClr val="163B3B"/>
                </a:solidFill>
                <a:latin typeface="Arial"/>
                <a:ea typeface="Arial"/>
                <a:cs typeface="Arial"/>
              </a:rPr>
              <a:t>để dự báo</a:t>
            </a:r>
          </a:p>
        </p:txBody>
      </p:sp>
      <p:sp>
        <p:nvSpPr>
          <p:cNvPr id="9" name="Tiếp nối MLP và CNN: thêm cấu trúc quan hệ và">
            <a:extLst xmlns:a="http://schemas.openxmlformats.org/drawingml/2006/main">
              <a:ext uri="{FF2B5EF4-FFF2-40B4-BE49-F238E27FC236}">
                <a16:creationId xmlns:a16="http://schemas.microsoft.com/office/drawing/2014/main" id="{EC554D45-E5FF-4FCA-AD75-B40D681BF7BC}"/>
              </a:ext>
            </a:extLst>
          </p:cNvPr>
          <p:cNvSpPr>
            <a:spLocks xmlns:a="http://schemas.openxmlformats.org/drawingml/2006/main" noGrp="1"/>
          </p:cNvSpPr>
          <p:nvPr/>
        </p:nvSpPr>
        <p:spPr>
          <a:xfrm xmlns:a="http://schemas.openxmlformats.org/drawingml/2006/main">
            <a:off x="609600" y="48958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Tiếp nối MLP và CNN: thêm cấu trúc quan hệ vào quá trình học</a:t>
            </a:r>
          </a:p>
        </p:txBody>
      </p:sp>
      <p:sp>
        <p:nvSpPr>
          <p:cNvPr id="10" name="Liên hệ Chương 3 và 4. Khác mục tiêu truy xuấ">
            <a:extLst xmlns:a="http://schemas.openxmlformats.org/drawingml/2006/main">
              <a:ext uri="{FF2B5EF4-FFF2-40B4-BE49-F238E27FC236}">
                <a16:creationId xmlns:a16="http://schemas.microsoft.com/office/drawing/2014/main" id="{AEEA4E80-C834-4569-8F16-679E7A08080B}"/>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Liên hệ Chương 3 và 4. Khác mục tiêu truy xuất của KG / RAG ở Chương 5.</a:t>
            </a:r>
          </a:p>
        </p:txBody>
      </p:sp>
    </p:spTree>
    <p:extLst>
      <p:ext uri="{BB962C8B-B14F-4D97-AF65-F5344CB8AC3E}">
        <p14:creationId xmlns:p14="http://schemas.microsoft.com/office/powerpoint/2010/main" val="598099821"/>
      </p:ext>
    </p:extLst>
  </p:cSld>
</p:sld>
</file>

<file path=ppt/slides/slide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CF3CDF4-C6D1-4C56-8A52-D1C60719092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Đầu vào và đầu ra</a:t>
            </a:r>
          </a:p>
        </p:txBody>
      </p:sp>
      <p:sp>
        <p:nvSpPr>
          <p:cNvPr id="2" name="06 / 26">
            <a:extLst xmlns:a="http://schemas.openxmlformats.org/drawingml/2006/main">
              <a:ext uri="{FF2B5EF4-FFF2-40B4-BE49-F238E27FC236}">
                <a16:creationId xmlns:a16="http://schemas.microsoft.com/office/drawing/2014/main" id="{949E861F-CF92-4F4A-9F9C-B5210C166F96}"/>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06 / 26</a:t>
            </a:r>
          </a:p>
        </p:txBody>
      </p:sp>
      <p:sp>
        <p:nvSpPr>
          <p:cNvPr id="3" name="12 mốc đã quan sát">
            <a:extLst xmlns:a="http://schemas.openxmlformats.org/drawingml/2006/main">
              <a:ext uri="{FF2B5EF4-FFF2-40B4-BE49-F238E27FC236}">
                <a16:creationId xmlns:a16="http://schemas.microsoft.com/office/drawing/2014/main" id="{D7040544-F71E-4296-8CB6-8C6B7F376229}"/>
              </a:ext>
            </a:extLst>
          </p:cNvPr>
          <p:cNvSpPr>
            <a:spLocks xmlns:a="http://schemas.openxmlformats.org/drawingml/2006/main" noGrp="1"/>
          </p:cNvSpPr>
          <p:nvPr/>
        </p:nvSpPr>
        <p:spPr>
          <a:xfrm xmlns:a="http://schemas.openxmlformats.org/drawingml/2006/main">
            <a:off x="609600" y="1609725"/>
            <a:ext cx="723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63B3B"/>
                </a:solidFill>
                <a:latin typeface="Arial"/>
                <a:ea typeface="Arial"/>
                <a:cs typeface="Arial"/>
              </a:defRPr>
            </a:defPPr>
          </a:lstStyle>
          <a:p xmlns:a="http://schemas.openxmlformats.org/drawingml/2006/main">
            <a:pPr>
              <a:defRPr sz="2550" b="1">
                <a:solidFill>
                  <a:srgbClr val="163B3B"/>
                </a:solidFill>
                <a:latin typeface="Arial"/>
                <a:ea typeface="Arial"/>
                <a:cs typeface="Arial"/>
              </a:defRPr>
            </a:pPr>
            <a:r>
              <a:rPr sz="2550" b="1">
                <a:solidFill>
                  <a:srgbClr val="163B3B"/>
                </a:solidFill>
                <a:latin typeface="Arial"/>
                <a:ea typeface="Arial"/>
                <a:cs typeface="Arial"/>
              </a:rPr>
              <a:t>12 mốc đã quan sát</a:t>
            </a:r>
          </a:p>
        </p:txBody>
      </p:sp>
      <p:graphicFrame>
        <p:nvGraphicFramePr>
          <p:cNvPr id="4" name="Chart">
            <a:extLst xmlns:a="http://schemas.openxmlformats.org/drawingml/2006/main">
              <a:ext uri="{FF2B5EF4-FFF2-40B4-BE49-F238E27FC236}">
                <a16:creationId xmlns:a16="http://schemas.microsoft.com/office/drawing/2014/main" id="{7A35200F-ED6D-4D7A-B697-59F5A312D954}"/>
              </a:ext>
            </a:extLst>
          </p:cNvPr>
          <p:cNvGraphicFramePr/>
          <p:nvPr/>
        </p:nvGraphicFramePr>
        <p:xfrm>
          <a:off xmlns:a="http://schemas.openxmlformats.org/drawingml/2006/main" x="571500" y="2257425"/>
          <a:ext xmlns:a="http://schemas.openxmlformats.org/drawingml/2006/main" cx="7810500" cy="3095625"/>
        </p:xfrm>
        <a:graphic xmlns:a="http://schemas.openxmlformats.org/drawingml/2006/main">
          <a:graphicData uri="http://schemas.openxmlformats.org/drawingml/2006/chart">
            <c:chart xmlns:r="http://schemas.openxmlformats.org/officeDocument/2006/relationships" xmlns:c="http://schemas.openxmlformats.org/drawingml/2006/chart" r:id="Rb06f0eedd8534795"/>
          </a:graphicData>
        </a:graphic>
      </p:graphicFrame>
      <p:sp>
        <p:nvSpPr>
          <p:cNvPr id="5" name="+15′">
            <a:extLst xmlns:a="http://schemas.openxmlformats.org/drawingml/2006/main">
              <a:ext uri="{FF2B5EF4-FFF2-40B4-BE49-F238E27FC236}">
                <a16:creationId xmlns:a16="http://schemas.microsoft.com/office/drawing/2014/main" id="{7A6F96B1-1FEE-4C35-90A2-46D513525468}"/>
              </a:ext>
            </a:extLst>
          </p:cNvPr>
          <p:cNvSpPr>
            <a:spLocks xmlns:a="http://schemas.openxmlformats.org/drawingml/2006/main" noGrp="1"/>
          </p:cNvSpPr>
          <p:nvPr/>
        </p:nvSpPr>
        <p:spPr>
          <a:xfrm xmlns:a="http://schemas.openxmlformats.org/drawingml/2006/main">
            <a:off x="9048750" y="2552700"/>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087E73"/>
                </a:solidFill>
                <a:latin typeface="Arial"/>
                <a:ea typeface="Arial"/>
                <a:cs typeface="Arial"/>
              </a:defRPr>
            </a:defPPr>
          </a:lstStyle>
          <a:p xmlns:a="http://schemas.openxmlformats.org/drawingml/2006/main">
            <a:pPr>
              <a:defRPr sz="5850" b="1">
                <a:solidFill>
                  <a:srgbClr val="087E73"/>
                </a:solidFill>
                <a:latin typeface="Arial"/>
                <a:ea typeface="Arial"/>
                <a:cs typeface="Arial"/>
              </a:defRPr>
            </a:pPr>
            <a:r>
              <a:rPr sz="5850" b="1">
                <a:solidFill>
                  <a:srgbClr val="087E73"/>
                </a:solidFill>
                <a:latin typeface="Arial"/>
                <a:ea typeface="Arial"/>
                <a:cs typeface="Arial"/>
              </a:rPr>
              <a:t>+15′</a:t>
            </a:r>
          </a:p>
        </p:txBody>
      </p:sp>
      <p:sp>
        <p:nvSpPr>
          <p:cNvPr id="6" name="Một tốc độ dự báo&#10;cho mỗi cảm biến">
            <a:extLst xmlns:a="http://schemas.openxmlformats.org/drawingml/2006/main">
              <a:ext uri="{FF2B5EF4-FFF2-40B4-BE49-F238E27FC236}">
                <a16:creationId xmlns:a16="http://schemas.microsoft.com/office/drawing/2014/main" id="{B68BC3E6-04D2-4352-97E0-B2E689E4F860}"/>
              </a:ext>
            </a:extLst>
          </p:cNvPr>
          <p:cNvSpPr>
            <a:spLocks xmlns:a="http://schemas.openxmlformats.org/drawingml/2006/main" noGrp="1"/>
          </p:cNvSpPr>
          <p:nvPr/>
        </p:nvSpPr>
        <p:spPr>
          <a:xfrm xmlns:a="http://schemas.openxmlformats.org/drawingml/2006/main">
            <a:off x="8715375" y="3857625"/>
            <a:ext cx="29051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Một tốc độ dự báo</a:t>
            </a:r>
          </a:p>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cho mỗi cảm biến</a:t>
            </a:r>
          </a:p>
        </p:txBody>
      </p:sp>
      <p:sp>
        <p:nvSpPr>
          <p:cNvPr id="7" name="12 mốc cách nhau 5 phút. Mốc đầu đến mốc cuối">
            <a:extLst xmlns:a="http://schemas.openxmlformats.org/drawingml/2006/main">
              <a:ext uri="{FF2B5EF4-FFF2-40B4-BE49-F238E27FC236}">
                <a16:creationId xmlns:a16="http://schemas.microsoft.com/office/drawing/2014/main" id="{FC1F4CB0-3B15-4187-8CAB-FC6692882F8F}"/>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12 mốc cách nhau 5 phút. Mốc đầu đến mốc cuối cách 55 phút. Dự báo trực tiếp t+3.</a:t>
            </a:r>
          </a:p>
        </p:txBody>
      </p:sp>
    </p:spTree>
    <p:extLst>
      <p:ext uri="{BB962C8B-B14F-4D97-AF65-F5344CB8AC3E}">
        <p14:creationId xmlns:p14="http://schemas.microsoft.com/office/powerpoint/2010/main" val="1467425244"/>
      </p:ext>
    </p:extLst>
  </p:cSld>
</p:sld>
</file>

<file path=ppt/slides/slide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8873C56-C161-4A97-8DE3-75A1A58FFEBE}"/>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Dataset METR-LA</a:t>
            </a:r>
          </a:p>
        </p:txBody>
      </p:sp>
      <p:sp>
        <p:nvSpPr>
          <p:cNvPr id="2" name="07 / 26">
            <a:extLst xmlns:a="http://schemas.openxmlformats.org/drawingml/2006/main">
              <a:ext uri="{FF2B5EF4-FFF2-40B4-BE49-F238E27FC236}">
                <a16:creationId xmlns:a16="http://schemas.microsoft.com/office/drawing/2014/main" id="{31F00EE1-3BFD-4C2A-8F4B-6F3D364F7BF6}"/>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07 / 26</a:t>
            </a:r>
          </a:p>
        </p:txBody>
      </p:sp>
      <p:sp>
        <p:nvSpPr>
          <p:cNvPr id="3" name="207">
            <a:extLst xmlns:a="http://schemas.openxmlformats.org/drawingml/2006/main">
              <a:ext uri="{FF2B5EF4-FFF2-40B4-BE49-F238E27FC236}">
                <a16:creationId xmlns:a16="http://schemas.microsoft.com/office/drawing/2014/main" id="{5D57970C-FD70-408D-B527-1D651D49AA12}"/>
              </a:ext>
            </a:extLst>
          </p:cNvPr>
          <p:cNvSpPr>
            <a:spLocks xmlns:a="http://schemas.openxmlformats.org/drawingml/2006/main" noGrp="1"/>
          </p:cNvSpPr>
          <p:nvPr/>
        </p:nvSpPr>
        <p:spPr>
          <a:xfrm xmlns:a="http://schemas.openxmlformats.org/drawingml/2006/main">
            <a:off x="609600" y="1647825"/>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750" b="1">
                <a:solidFill>
                  <a:srgbClr val="087E73"/>
                </a:solidFill>
                <a:latin typeface="Arial"/>
                <a:ea typeface="Arial"/>
                <a:cs typeface="Arial"/>
              </a:defRPr>
            </a:defPPr>
          </a:lstStyle>
          <a:p xmlns:a="http://schemas.openxmlformats.org/drawingml/2006/main">
            <a:pPr>
              <a:defRPr sz="6750" b="1">
                <a:solidFill>
                  <a:srgbClr val="087E73"/>
                </a:solidFill>
                <a:latin typeface="Arial"/>
                <a:ea typeface="Arial"/>
                <a:cs typeface="Arial"/>
              </a:defRPr>
            </a:pPr>
            <a:r>
              <a:rPr sz="6750" b="1">
                <a:solidFill>
                  <a:srgbClr val="087E73"/>
                </a:solidFill>
                <a:latin typeface="Arial"/>
                <a:ea typeface="Arial"/>
                <a:cs typeface="Arial"/>
              </a:rPr>
              <a:t>207</a:t>
            </a:r>
          </a:p>
        </p:txBody>
      </p:sp>
      <p:sp>
        <p:nvSpPr>
          <p:cNvPr id="4" name="cảm biến">
            <a:extLst xmlns:a="http://schemas.openxmlformats.org/drawingml/2006/main">
              <a:ext uri="{FF2B5EF4-FFF2-40B4-BE49-F238E27FC236}">
                <a16:creationId xmlns:a16="http://schemas.microsoft.com/office/drawing/2014/main" id="{984CF62F-D04A-4698-908B-A3544F53A554}"/>
              </a:ext>
            </a:extLst>
          </p:cNvPr>
          <p:cNvSpPr>
            <a:spLocks xmlns:a="http://schemas.openxmlformats.org/drawingml/2006/main" noGrp="1"/>
          </p:cNvSpPr>
          <p:nvPr/>
        </p:nvSpPr>
        <p:spPr>
          <a:xfrm xmlns:a="http://schemas.openxmlformats.org/drawingml/2006/main">
            <a:off x="647700" y="29241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163B3B"/>
                </a:solidFill>
                <a:latin typeface="Arial"/>
                <a:ea typeface="Arial"/>
                <a:cs typeface="Arial"/>
              </a:defRPr>
            </a:defPPr>
          </a:lstStyle>
          <a:p xmlns:a="http://schemas.openxmlformats.org/drawingml/2006/main">
            <a:pPr>
              <a:defRPr sz="2625">
                <a:solidFill>
                  <a:srgbClr val="163B3B"/>
                </a:solidFill>
                <a:latin typeface="Arial"/>
                <a:ea typeface="Arial"/>
                <a:cs typeface="Arial"/>
              </a:defRPr>
            </a:pPr>
            <a:r>
              <a:rPr sz="2625">
                <a:solidFill>
                  <a:srgbClr val="163B3B"/>
                </a:solidFill>
                <a:latin typeface="Arial"/>
                <a:ea typeface="Arial"/>
                <a:cs typeface="Arial"/>
              </a:rPr>
              <a:t>cảm biến</a:t>
            </a:r>
          </a:p>
        </p:txBody>
      </p:sp>
      <p:sp>
        <p:nvSpPr>
          <p:cNvPr id="5" name="34.272">
            <a:extLst xmlns:a="http://schemas.openxmlformats.org/drawingml/2006/main">
              <a:ext uri="{FF2B5EF4-FFF2-40B4-BE49-F238E27FC236}">
                <a16:creationId xmlns:a16="http://schemas.microsoft.com/office/drawing/2014/main" id="{807D612A-04DC-438D-ADC0-191B0202AF51}"/>
              </a:ext>
            </a:extLst>
          </p:cNvPr>
          <p:cNvSpPr>
            <a:spLocks xmlns:a="http://schemas.openxmlformats.org/drawingml/2006/main" noGrp="1"/>
          </p:cNvSpPr>
          <p:nvPr/>
        </p:nvSpPr>
        <p:spPr>
          <a:xfrm xmlns:a="http://schemas.openxmlformats.org/drawingml/2006/main">
            <a:off x="6381750" y="1647825"/>
            <a:ext cx="5191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750" b="1">
                <a:solidFill>
                  <a:srgbClr val="087E73"/>
                </a:solidFill>
                <a:latin typeface="Arial"/>
                <a:ea typeface="Arial"/>
                <a:cs typeface="Arial"/>
              </a:defRPr>
            </a:defPPr>
          </a:lstStyle>
          <a:p xmlns:a="http://schemas.openxmlformats.org/drawingml/2006/main">
            <a:pPr>
              <a:defRPr sz="6750" b="1">
                <a:solidFill>
                  <a:srgbClr val="087E73"/>
                </a:solidFill>
                <a:latin typeface="Arial"/>
                <a:ea typeface="Arial"/>
                <a:cs typeface="Arial"/>
              </a:defRPr>
            </a:pPr>
            <a:r>
              <a:rPr sz="6750" b="1">
                <a:solidFill>
                  <a:srgbClr val="087E73"/>
                </a:solidFill>
                <a:latin typeface="Arial"/>
                <a:ea typeface="Arial"/>
                <a:cs typeface="Arial"/>
              </a:rPr>
              <a:t>34.272</a:t>
            </a:r>
          </a:p>
        </p:txBody>
      </p:sp>
      <p:sp>
        <p:nvSpPr>
          <p:cNvPr id="6" name="mốc thời gian">
            <a:extLst xmlns:a="http://schemas.openxmlformats.org/drawingml/2006/main">
              <a:ext uri="{FF2B5EF4-FFF2-40B4-BE49-F238E27FC236}">
                <a16:creationId xmlns:a16="http://schemas.microsoft.com/office/drawing/2014/main" id="{F4C5B44D-749E-4B33-A6DA-F2696AEFAAB2}"/>
              </a:ext>
            </a:extLst>
          </p:cNvPr>
          <p:cNvSpPr>
            <a:spLocks xmlns:a="http://schemas.openxmlformats.org/drawingml/2006/main" noGrp="1"/>
          </p:cNvSpPr>
          <p:nvPr/>
        </p:nvSpPr>
        <p:spPr>
          <a:xfrm xmlns:a="http://schemas.openxmlformats.org/drawingml/2006/main">
            <a:off x="6419850" y="2924175"/>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163B3B"/>
                </a:solidFill>
                <a:latin typeface="Arial"/>
                <a:ea typeface="Arial"/>
                <a:cs typeface="Arial"/>
              </a:defRPr>
            </a:defPPr>
          </a:lstStyle>
          <a:p xmlns:a="http://schemas.openxmlformats.org/drawingml/2006/main">
            <a:pPr>
              <a:defRPr sz="2625">
                <a:solidFill>
                  <a:srgbClr val="163B3B"/>
                </a:solidFill>
                <a:latin typeface="Arial"/>
                <a:ea typeface="Arial"/>
                <a:cs typeface="Arial"/>
              </a:defRPr>
            </a:pPr>
            <a:r>
              <a:rPr sz="2625">
                <a:solidFill>
                  <a:srgbClr val="163B3B"/>
                </a:solidFill>
                <a:latin typeface="Arial"/>
                <a:ea typeface="Arial"/>
                <a:cs typeface="Arial"/>
              </a:rPr>
              <a:t>mốc thời gian</a:t>
            </a:r>
          </a:p>
        </p:txBody>
      </p:sp>
      <p:graphicFrame>
        <p:nvGraphicFramePr>
          <p:cNvPr id="7" name="">
            <a:extLst xmlns:a="http://schemas.openxmlformats.org/drawingml/2006/main">
              <a:ext uri="{FF2B5EF4-FFF2-40B4-BE49-F238E27FC236}">
                <a16:creationId xmlns:a16="http://schemas.microsoft.com/office/drawing/2014/main" id="{A172DD2A-76AD-4AB6-B11F-5A8B75E1AC49}"/>
              </a:ext>
            </a:extLst>
          </p:cNvPr>
          <p:cNvGraphicFramePr/>
          <p:nvPr/>
        </p:nvGraphicFramePr>
        <p:xfrm>
          <a:off xmlns:a="http://schemas.openxmlformats.org/drawingml/2006/main" x="609600" y="4219575"/>
          <a:ext xmlns:a="http://schemas.openxmlformats.org/drawingml/2006/main" cx="10972800" cy="1228725"/>
        </p:xfrm>
        <a:graphic xmlns:a="http://schemas.openxmlformats.org/drawingml/2006/main">
          <a:graphicData uri="http://schemas.openxmlformats.org/drawingml/2006/table">
            <a:tbl>
              <a:tblPr firstRow="0" bandRow="0"/>
              <a:tblGrid>
                <a:gridCol w="4343400"/>
                <a:gridCol w="3048000"/>
                <a:gridCol w="3581400"/>
              </a:tblGrid>
              <a:tr h="614363">
                <a:tc>
                  <a:txBody>
                    <a:bodyPr/>
                    <a:lstStyle/>
                    <a:p>
                      <a:r>
                        <a:rPr sz="2025" b="1">
                          <a:solidFill>
                            <a:srgbClr val="FFFFFF"/>
                          </a:solidFill>
                          <a:latin typeface="Arial"/>
                          <a:ea typeface="Arial"/>
                          <a:cs typeface="Arial"/>
                        </a:rPr>
                        <a:t>Giai đoạn</a:t>
                      </a:r>
                    </a:p>
                  </a:txBody>
                  <a:tcPr marL="133350" marR="114300" marT="104775" marB="104775" anchor="ctr">
                    <a:lnL w="5715">
                      <a:solidFill>
                        <a:srgbClr val="D7E1D9"/>
                      </a:solidFill>
                    </a:lnL>
                    <a:lnR w="5715">
                      <a:solidFill>
                        <a:srgbClr val="D7E1D9"/>
                      </a:solidFill>
                    </a:lnR>
                    <a:lnT w="5715">
                      <a:solidFill>
                        <a:srgbClr val="D7E1D9"/>
                      </a:solidFill>
                    </a:lnT>
                    <a:lnB w="5715">
                      <a:solidFill>
                        <a:srgbClr val="D7E1D9"/>
                      </a:solidFill>
                    </a:lnB>
                    <a:solidFill>
                      <a:srgbClr val="163B3B"/>
                    </a:solidFill>
                  </a:tcPr>
                </a:tc>
                <a:tc>
                  <a:txBody>
                    <a:bodyPr/>
                    <a:lstStyle/>
                    <a:p>
                      <a:r>
                        <a:rPr sz="2025" b="1">
                          <a:solidFill>
                            <a:srgbClr val="FFFFFF"/>
                          </a:solidFill>
                          <a:latin typeface="Arial"/>
                          <a:ea typeface="Arial"/>
                          <a:cs typeface="Arial"/>
                        </a:rPr>
                        <a:t>Khoảng lấy mẫu</a:t>
                      </a:r>
                    </a:p>
                  </a:txBody>
                  <a:tcPr marL="133350" marR="114300" marT="104775" marB="104775" anchor="ctr">
                    <a:lnR w="5715">
                      <a:solidFill>
                        <a:srgbClr val="D7E1D9"/>
                      </a:solidFill>
                    </a:lnR>
                    <a:lnT w="5715">
                      <a:solidFill>
                        <a:srgbClr val="D7E1D9"/>
                      </a:solidFill>
                    </a:lnT>
                    <a:lnB w="5715">
                      <a:solidFill>
                        <a:srgbClr val="D7E1D9"/>
                      </a:solidFill>
                    </a:lnB>
                    <a:solidFill>
                      <a:srgbClr val="163B3B"/>
                    </a:solidFill>
                  </a:tcPr>
                </a:tc>
                <a:tc>
                  <a:txBody>
                    <a:bodyPr/>
                    <a:lstStyle/>
                    <a:p>
                      <a:r>
                        <a:rPr sz="2025" b="1">
                          <a:solidFill>
                            <a:srgbClr val="FFFFFF"/>
                          </a:solidFill>
                          <a:latin typeface="Arial"/>
                          <a:ea typeface="Arial"/>
                          <a:cs typeface="Arial"/>
                        </a:rPr>
                        <a:t>Khu vực</a:t>
                      </a:r>
                    </a:p>
                  </a:txBody>
                  <a:tcPr marL="133350" marR="114300" marT="104775" marB="104775" anchor="ctr">
                    <a:lnR w="5715">
                      <a:solidFill>
                        <a:srgbClr val="D7E1D9"/>
                      </a:solidFill>
                    </a:lnR>
                    <a:lnT w="5715">
                      <a:solidFill>
                        <a:srgbClr val="D7E1D9"/>
                      </a:solidFill>
                    </a:lnT>
                    <a:lnB w="5715">
                      <a:solidFill>
                        <a:srgbClr val="D7E1D9"/>
                      </a:solidFill>
                    </a:lnB>
                    <a:solidFill>
                      <a:srgbClr val="163B3B"/>
                    </a:solidFill>
                  </a:tcPr>
                </a:tc>
              </a:tr>
              <a:tr h="614363">
                <a:tc>
                  <a:txBody>
                    <a:bodyPr/>
                    <a:lstStyle/>
                    <a:p>
                      <a:r>
                        <a:rPr sz="2025">
                          <a:solidFill>
                            <a:srgbClr val="163B3B"/>
                          </a:solidFill>
                          <a:latin typeface="Arial"/>
                          <a:ea typeface="Arial"/>
                          <a:cs typeface="Arial"/>
                        </a:rPr>
                        <a:t>01/03–27/06/2012</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5 phút</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Los Angeles</a:t>
                      </a:r>
                    </a:p>
                  </a:txBody>
                  <a:tcPr marL="133350" marR="114300" marT="104775" marB="104775" anchor="ctr">
                    <a:lnR w="5715">
                      <a:solidFill>
                        <a:srgbClr val="D7E1D9"/>
                      </a:solidFill>
                    </a:lnR>
                    <a:lnB w="5715">
                      <a:solidFill>
                        <a:srgbClr val="D7E1D9"/>
                      </a:solidFill>
                    </a:lnB>
                    <a:solidFill>
                      <a:srgbClr val="F7F6F0"/>
                    </a:solidFill>
                  </a:tcPr>
                </a:tc>
              </a:tr>
            </a:tbl>
          </a:graphicData>
        </a:graphic>
      </p:graphicFrame>
      <p:sp>
        <p:nvSpPr>
          <p:cNvPr id="8" name="Nguồn công bố: kho DCRNN. Đã đối chiếu thứ tự">
            <a:extLst xmlns:a="http://schemas.openxmlformats.org/drawingml/2006/main">
              <a:ext uri="{FF2B5EF4-FFF2-40B4-BE49-F238E27FC236}">
                <a16:creationId xmlns:a16="http://schemas.microsoft.com/office/drawing/2014/main" id="{D0C58B44-8EB2-4FA4-94EC-83760A0547EC}"/>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Nguồn công bố: kho DCRNN. Đã đối chiếu thứ tự sensor giữa bảng tốc độ và graph.</a:t>
            </a:r>
          </a:p>
        </p:txBody>
      </p:sp>
    </p:spTree>
    <p:extLst>
      <p:ext uri="{BB962C8B-B14F-4D97-AF65-F5344CB8AC3E}">
        <p14:creationId xmlns:p14="http://schemas.microsoft.com/office/powerpoint/2010/main" val="776993716"/>
      </p:ext>
    </p:extLst>
  </p:cSld>
</p:sld>
</file>

<file path=ppt/slides/slide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4FC403E-00B2-4E97-8F5F-8F72DB9F4163}"/>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Một hàng dữ liệu có ý nghĩa gì?</a:t>
            </a:r>
          </a:p>
        </p:txBody>
      </p:sp>
      <p:sp>
        <p:nvSpPr>
          <p:cNvPr id="2" name="08 / 26">
            <a:extLst xmlns:a="http://schemas.openxmlformats.org/drawingml/2006/main">
              <a:ext uri="{FF2B5EF4-FFF2-40B4-BE49-F238E27FC236}">
                <a16:creationId xmlns:a16="http://schemas.microsoft.com/office/drawing/2014/main" id="{F5600D9B-86D7-4627-A98E-AF7742422BAD}"/>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08 / 26</a:t>
            </a:r>
          </a:p>
        </p:txBody>
      </p:sp>
      <p:graphicFrame>
        <p:nvGraphicFramePr>
          <p:cNvPr id="3" name="">
            <a:extLst xmlns:a="http://schemas.openxmlformats.org/drawingml/2006/main">
              <a:ext uri="{FF2B5EF4-FFF2-40B4-BE49-F238E27FC236}">
                <a16:creationId xmlns:a16="http://schemas.microsoft.com/office/drawing/2014/main" id="{93045793-26F3-42C3-B6C7-C1181EF802CF}"/>
              </a:ext>
            </a:extLst>
          </p:cNvPr>
          <p:cNvGraphicFramePr/>
          <p:nvPr/>
        </p:nvGraphicFramePr>
        <p:xfrm>
          <a:off xmlns:a="http://schemas.openxmlformats.org/drawingml/2006/main" x="609600" y="1733550"/>
          <a:ext xmlns:a="http://schemas.openxmlformats.org/drawingml/2006/main" cx="7286625" cy="3286125"/>
        </p:xfrm>
        <a:graphic xmlns:a="http://schemas.openxmlformats.org/drawingml/2006/main">
          <a:graphicData uri="http://schemas.openxmlformats.org/drawingml/2006/table">
            <a:tbl>
              <a:tblPr firstRow="0" bandRow="0"/>
              <a:tblGrid>
                <a:gridCol w="1571625"/>
                <a:gridCol w="1905000"/>
                <a:gridCol w="1905000"/>
                <a:gridCol w="1905000"/>
              </a:tblGrid>
              <a:tr h="547688">
                <a:tc>
                  <a:txBody>
                    <a:bodyPr/>
                    <a:lstStyle/>
                    <a:p>
                      <a:r>
                        <a:rPr sz="2025" b="1">
                          <a:solidFill>
                            <a:srgbClr val="FFFFFF"/>
                          </a:solidFill>
                          <a:latin typeface="Arial"/>
                          <a:ea typeface="Arial"/>
                          <a:cs typeface="Arial"/>
                        </a:rPr>
                        <a:t>Giờ</a:t>
                      </a:r>
                    </a:p>
                  </a:txBody>
                  <a:tcPr marL="133350" marR="114300" marT="104775" marB="104775" anchor="ctr">
                    <a:lnL w="5715">
                      <a:solidFill>
                        <a:srgbClr val="D7E1D9"/>
                      </a:solidFill>
                    </a:lnL>
                    <a:lnR w="5715">
                      <a:solidFill>
                        <a:srgbClr val="D7E1D9"/>
                      </a:solidFill>
                    </a:lnR>
                    <a:lnT w="5715">
                      <a:solidFill>
                        <a:srgbClr val="D7E1D9"/>
                      </a:solidFill>
                    </a:lnT>
                    <a:lnB w="5715">
                      <a:solidFill>
                        <a:srgbClr val="D7E1D9"/>
                      </a:solidFill>
                    </a:lnB>
                    <a:solidFill>
                      <a:srgbClr val="163B3B"/>
                    </a:solidFill>
                  </a:tcPr>
                </a:tc>
                <a:tc>
                  <a:txBody>
                    <a:bodyPr/>
                    <a:lstStyle/>
                    <a:p>
                      <a:r>
                        <a:rPr sz="2025" b="1">
                          <a:solidFill>
                            <a:srgbClr val="FFFFFF"/>
                          </a:solidFill>
                          <a:latin typeface="Arial"/>
                          <a:ea typeface="Arial"/>
                          <a:cs typeface="Arial"/>
                        </a:rPr>
                        <a:t>717458</a:t>
                      </a:r>
                    </a:p>
                  </a:txBody>
                  <a:tcPr marL="133350" marR="114300" marT="104775" marB="104775" anchor="ctr">
                    <a:lnR w="5715">
                      <a:solidFill>
                        <a:srgbClr val="D7E1D9"/>
                      </a:solidFill>
                    </a:lnR>
                    <a:lnT w="5715">
                      <a:solidFill>
                        <a:srgbClr val="D7E1D9"/>
                      </a:solidFill>
                    </a:lnT>
                    <a:lnB w="5715">
                      <a:solidFill>
                        <a:srgbClr val="D7E1D9"/>
                      </a:solidFill>
                    </a:lnB>
                    <a:solidFill>
                      <a:srgbClr val="163B3B"/>
                    </a:solidFill>
                  </a:tcPr>
                </a:tc>
                <a:tc>
                  <a:txBody>
                    <a:bodyPr/>
                    <a:lstStyle/>
                    <a:p>
                      <a:r>
                        <a:rPr sz="2025" b="1">
                          <a:solidFill>
                            <a:srgbClr val="FFFFFF"/>
                          </a:solidFill>
                          <a:latin typeface="Arial"/>
                          <a:ea typeface="Arial"/>
                          <a:cs typeface="Arial"/>
                        </a:rPr>
                        <a:t>717461</a:t>
                      </a:r>
                    </a:p>
                  </a:txBody>
                  <a:tcPr marL="133350" marR="114300" marT="104775" marB="104775" anchor="ctr">
                    <a:lnR w="5715">
                      <a:solidFill>
                        <a:srgbClr val="D7E1D9"/>
                      </a:solidFill>
                    </a:lnR>
                    <a:lnT w="5715">
                      <a:solidFill>
                        <a:srgbClr val="D7E1D9"/>
                      </a:solidFill>
                    </a:lnT>
                    <a:lnB w="5715">
                      <a:solidFill>
                        <a:srgbClr val="D7E1D9"/>
                      </a:solidFill>
                    </a:lnB>
                    <a:solidFill>
                      <a:srgbClr val="163B3B"/>
                    </a:solidFill>
                  </a:tcPr>
                </a:tc>
                <a:tc>
                  <a:txBody>
                    <a:bodyPr/>
                    <a:lstStyle/>
                    <a:p>
                      <a:r>
                        <a:rPr sz="2025" b="1">
                          <a:solidFill>
                            <a:srgbClr val="FFFFFF"/>
                          </a:solidFill>
                          <a:latin typeface="Arial"/>
                          <a:ea typeface="Arial"/>
                          <a:cs typeface="Arial"/>
                        </a:rPr>
                        <a:t>716339</a:t>
                      </a:r>
                    </a:p>
                  </a:txBody>
                  <a:tcPr marL="133350" marR="114300" marT="104775" marB="104775" anchor="ctr">
                    <a:lnR w="5715">
                      <a:solidFill>
                        <a:srgbClr val="D7E1D9"/>
                      </a:solidFill>
                    </a:lnR>
                    <a:lnT w="5715">
                      <a:solidFill>
                        <a:srgbClr val="D7E1D9"/>
                      </a:solidFill>
                    </a:lnT>
                    <a:lnB w="5715">
                      <a:solidFill>
                        <a:srgbClr val="D7E1D9"/>
                      </a:solidFill>
                    </a:lnB>
                    <a:solidFill>
                      <a:srgbClr val="163B3B"/>
                    </a:solidFill>
                  </a:tcPr>
                </a:tc>
              </a:tr>
              <a:tr h="547688">
                <a:tc>
                  <a:txBody>
                    <a:bodyPr/>
                    <a:lstStyle/>
                    <a:p>
                      <a:r>
                        <a:rPr sz="2025">
                          <a:solidFill>
                            <a:srgbClr val="163B3B"/>
                          </a:solidFill>
                          <a:latin typeface="Arial"/>
                          <a:ea typeface="Arial"/>
                          <a:cs typeface="Arial"/>
                        </a:rPr>
                        <a:t>18:15</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21.9</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24.9</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23.1</a:t>
                      </a:r>
                    </a:p>
                  </a:txBody>
                  <a:tcPr marL="133350" marR="114300" marT="104775" marB="104775" anchor="ctr">
                    <a:lnR w="5715">
                      <a:solidFill>
                        <a:srgbClr val="D7E1D9"/>
                      </a:solidFill>
                    </a:lnR>
                    <a:lnB w="5715">
                      <a:solidFill>
                        <a:srgbClr val="D7E1D9"/>
                      </a:solidFill>
                    </a:lnB>
                    <a:solidFill>
                      <a:srgbClr val="F7F6F0"/>
                    </a:solidFill>
                  </a:tcPr>
                </a:tc>
              </a:tr>
              <a:tr h="547688">
                <a:tc>
                  <a:txBody>
                    <a:bodyPr/>
                    <a:lstStyle/>
                    <a:p>
                      <a:r>
                        <a:rPr sz="2025">
                          <a:solidFill>
                            <a:srgbClr val="163B3B"/>
                          </a:solidFill>
                          <a:latin typeface="Arial"/>
                          <a:ea typeface="Arial"/>
                          <a:cs typeface="Arial"/>
                        </a:rPr>
                        <a:t>18:20</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23.7</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20.7</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26.2</a:t>
                      </a:r>
                    </a:p>
                  </a:txBody>
                  <a:tcPr marL="133350" marR="114300" marT="104775" marB="104775" anchor="ctr">
                    <a:lnR w="5715">
                      <a:solidFill>
                        <a:srgbClr val="D7E1D9"/>
                      </a:solidFill>
                    </a:lnR>
                    <a:lnB w="5715">
                      <a:solidFill>
                        <a:srgbClr val="D7E1D9"/>
                      </a:solidFill>
                    </a:lnB>
                    <a:solidFill>
                      <a:srgbClr val="F7F6F0"/>
                    </a:solidFill>
                  </a:tcPr>
                </a:tc>
              </a:tr>
              <a:tr h="547688">
                <a:tc>
                  <a:txBody>
                    <a:bodyPr/>
                    <a:lstStyle/>
                    <a:p>
                      <a:r>
                        <a:rPr sz="2025">
                          <a:solidFill>
                            <a:srgbClr val="163B3B"/>
                          </a:solidFill>
                          <a:latin typeface="Arial"/>
                          <a:ea typeface="Arial"/>
                          <a:cs typeface="Arial"/>
                        </a:rPr>
                        <a:t>18:25</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24.9</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27.6</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19.1</a:t>
                      </a:r>
                    </a:p>
                  </a:txBody>
                  <a:tcPr marL="133350" marR="114300" marT="104775" marB="104775" anchor="ctr">
                    <a:lnR w="5715">
                      <a:solidFill>
                        <a:srgbClr val="D7E1D9"/>
                      </a:solidFill>
                    </a:lnR>
                    <a:lnB w="5715">
                      <a:solidFill>
                        <a:srgbClr val="D7E1D9"/>
                      </a:solidFill>
                    </a:lnB>
                    <a:solidFill>
                      <a:srgbClr val="F7F6F0"/>
                    </a:solidFill>
                  </a:tcPr>
                </a:tc>
              </a:tr>
              <a:tr h="547688">
                <a:tc>
                  <a:txBody>
                    <a:bodyPr/>
                    <a:lstStyle/>
                    <a:p>
                      <a:r>
                        <a:rPr sz="2025">
                          <a:solidFill>
                            <a:srgbClr val="163B3B"/>
                          </a:solidFill>
                          <a:latin typeface="Arial"/>
                          <a:ea typeface="Arial"/>
                          <a:cs typeface="Arial"/>
                        </a:rPr>
                        <a:t>18:30</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16.3</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22.5</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19.3</a:t>
                      </a:r>
                    </a:p>
                  </a:txBody>
                  <a:tcPr marL="133350" marR="114300" marT="104775" marB="104775" anchor="ctr">
                    <a:lnR w="5715">
                      <a:solidFill>
                        <a:srgbClr val="D7E1D9"/>
                      </a:solidFill>
                    </a:lnR>
                    <a:lnB w="5715">
                      <a:solidFill>
                        <a:srgbClr val="D7E1D9"/>
                      </a:solidFill>
                    </a:lnB>
                    <a:solidFill>
                      <a:srgbClr val="F7F6F0"/>
                    </a:solidFill>
                  </a:tcPr>
                </a:tc>
              </a:tr>
              <a:tr h="547688">
                <a:tc>
                  <a:txBody>
                    <a:bodyPr/>
                    <a:lstStyle/>
                    <a:p>
                      <a:r>
                        <a:rPr sz="2025">
                          <a:solidFill>
                            <a:srgbClr val="163B3B"/>
                          </a:solidFill>
                          <a:latin typeface="Arial"/>
                          <a:ea typeface="Arial"/>
                          <a:cs typeface="Arial"/>
                        </a:rPr>
                        <a:t>18:35</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14.5</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17.5</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22.5</a:t>
                      </a:r>
                    </a:p>
                  </a:txBody>
                  <a:tcPr marL="133350" marR="114300" marT="104775" marB="104775" anchor="ctr">
                    <a:lnR w="5715">
                      <a:solidFill>
                        <a:srgbClr val="D7E1D9"/>
                      </a:solidFill>
                    </a:lnR>
                    <a:lnB w="5715">
                      <a:solidFill>
                        <a:srgbClr val="D7E1D9"/>
                      </a:solidFill>
                    </a:lnB>
                    <a:solidFill>
                      <a:srgbClr val="F7F6F0"/>
                    </a:solidFill>
                  </a:tcPr>
                </a:tc>
              </a:tr>
            </a:tbl>
          </a:graphicData>
        </a:graphic>
      </p:graphicFrame>
      <p:sp>
        <p:nvSpPr>
          <p:cNvPr id="4" name="8,1%">
            <a:extLst xmlns:a="http://schemas.openxmlformats.org/drawingml/2006/main">
              <a:ext uri="{FF2B5EF4-FFF2-40B4-BE49-F238E27FC236}">
                <a16:creationId xmlns:a16="http://schemas.microsoft.com/office/drawing/2014/main" id="{8A7FD680-18EA-4925-A01A-C740ACD0ACB7}"/>
              </a:ext>
            </a:extLst>
          </p:cNvPr>
          <p:cNvSpPr>
            <a:spLocks xmlns:a="http://schemas.openxmlformats.org/drawingml/2006/main" noGrp="1"/>
          </p:cNvSpPr>
          <p:nvPr/>
        </p:nvSpPr>
        <p:spPr>
          <a:xfrm xmlns:a="http://schemas.openxmlformats.org/drawingml/2006/main">
            <a:off x="8629650" y="2009775"/>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00" b="1">
                <a:solidFill>
                  <a:srgbClr val="CE704C"/>
                </a:solidFill>
                <a:latin typeface="Arial"/>
                <a:ea typeface="Arial"/>
                <a:cs typeface="Arial"/>
              </a:defRPr>
            </a:defPPr>
          </a:lstStyle>
          <a:p xmlns:a="http://schemas.openxmlformats.org/drawingml/2006/main">
            <a:pPr>
              <a:defRPr sz="5100" b="1">
                <a:solidFill>
                  <a:srgbClr val="CE704C"/>
                </a:solidFill>
                <a:latin typeface="Arial"/>
                <a:ea typeface="Arial"/>
                <a:cs typeface="Arial"/>
              </a:defRPr>
            </a:pPr>
            <a:r>
              <a:rPr sz="5100" b="1">
                <a:solidFill>
                  <a:srgbClr val="CE704C"/>
                </a:solidFill>
                <a:latin typeface="Arial"/>
                <a:ea typeface="Arial"/>
                <a:cs typeface="Arial"/>
              </a:rPr>
              <a:t>8,1%</a:t>
            </a:r>
          </a:p>
        </p:txBody>
      </p:sp>
      <p:sp>
        <p:nvSpPr>
          <p:cNvPr id="5" name="giá trị thiếu&#10;theo quy ước&#10;benchmark">
            <a:extLst xmlns:a="http://schemas.openxmlformats.org/drawingml/2006/main">
              <a:ext uri="{FF2B5EF4-FFF2-40B4-BE49-F238E27FC236}">
                <a16:creationId xmlns:a16="http://schemas.microsoft.com/office/drawing/2014/main" id="{D07E7A69-A7D2-452E-A2D6-6333B7FF8A93}"/>
              </a:ext>
            </a:extLst>
          </p:cNvPr>
          <p:cNvSpPr>
            <a:spLocks xmlns:a="http://schemas.openxmlformats.org/drawingml/2006/main" noGrp="1"/>
          </p:cNvSpPr>
          <p:nvPr/>
        </p:nvSpPr>
        <p:spPr>
          <a:xfrm xmlns:a="http://schemas.openxmlformats.org/drawingml/2006/main">
            <a:off x="8620125" y="3114675"/>
            <a:ext cx="295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63B3B"/>
                </a:solidFill>
                <a:latin typeface="Arial"/>
                <a:ea typeface="Arial"/>
                <a:cs typeface="Arial"/>
              </a:defRPr>
            </a:defPPr>
          </a:lstStyle>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giá trị thiếu</a:t>
            </a:r>
          </a:p>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theo quy ước</a:t>
            </a:r>
          </a:p>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benchmark</a:t>
            </a:r>
          </a:p>
        </p:txBody>
      </p:sp>
      <p:sp>
        <p:nvSpPr>
          <p:cNvPr id="6" name="Bù từ quá khứ và giữ mặt nạ quan sát">
            <a:extLst xmlns:a="http://schemas.openxmlformats.org/drawingml/2006/main">
              <a:ext uri="{FF2B5EF4-FFF2-40B4-BE49-F238E27FC236}">
                <a16:creationId xmlns:a16="http://schemas.microsoft.com/office/drawing/2014/main" id="{81A42DC2-E798-46D7-BA9F-FA7404FE849D}"/>
              </a:ext>
            </a:extLst>
          </p:cNvPr>
          <p:cNvSpPr>
            <a:spLocks xmlns:a="http://schemas.openxmlformats.org/drawingml/2006/main" noGrp="1"/>
          </p:cNvSpPr>
          <p:nvPr/>
        </p:nvSpPr>
        <p:spPr>
          <a:xfrm xmlns:a="http://schemas.openxmlformats.org/drawingml/2006/main">
            <a:off x="609600" y="53530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Bù từ quá khứ và giữ mặt nạ quan sát</a:t>
            </a:r>
          </a:p>
        </p:txBody>
      </p:sp>
      <p:sp>
        <p:nvSpPr>
          <p:cNvPr id="7" name="Các tốc độ trong bảng đã đổi sang km/h. Khi c">
            <a:extLst xmlns:a="http://schemas.openxmlformats.org/drawingml/2006/main">
              <a:ext uri="{FF2B5EF4-FFF2-40B4-BE49-F238E27FC236}">
                <a16:creationId xmlns:a16="http://schemas.microsoft.com/office/drawing/2014/main" id="{370607F8-35E1-4A15-88F9-63C52C42AC76}"/>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Các tốc độ trong bảng đã đổi sang km/h. Khi chấm điểm, bỏ mục tiêu thiếu.</a:t>
            </a:r>
          </a:p>
        </p:txBody>
      </p:sp>
    </p:spTree>
    <p:extLst>
      <p:ext uri="{BB962C8B-B14F-4D97-AF65-F5344CB8AC3E}">
        <p14:creationId xmlns:p14="http://schemas.microsoft.com/office/powerpoint/2010/main" val="1134496116"/>
      </p:ext>
    </p:extLst>
  </p:cSld>
</p:sld>
</file>

<file path=ppt/slides/slide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C055888-ABC0-4D01-8A14-035349C145F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Graph của 207 cảm biến</a:t>
            </a:r>
          </a:p>
        </p:txBody>
      </p:sp>
      <p:sp>
        <p:nvSpPr>
          <p:cNvPr id="2" name="09 / 26">
            <a:extLst xmlns:a="http://schemas.openxmlformats.org/drawingml/2006/main">
              <a:ext uri="{FF2B5EF4-FFF2-40B4-BE49-F238E27FC236}">
                <a16:creationId xmlns:a16="http://schemas.microsoft.com/office/drawing/2014/main" id="{6323C880-9C99-4239-8533-29DE64682760}"/>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09 / 26</a:t>
            </a:r>
          </a:p>
        </p:txBody>
      </p:sp>
      <p:pic>
        <p:nvPicPr>
          <p:cNvPr id="3" name="">
            <a:extLst xmlns:a="http://schemas.openxmlformats.org/drawingml/2006/main">
              <a:ext uri="{FF2B5EF4-FFF2-40B4-BE49-F238E27FC236}">
                <a16:creationId xmlns:a16="http://schemas.microsoft.com/office/drawing/2014/main" id="{58B07B72-3084-4120-9E90-F69EC69142A8}"/>
              </a:ext>
            </a:extLst>
          </p:cNvPr>
          <p:cNvPicPr>
            <a:picLocks xmlns:a="http://schemas.openxmlformats.org/drawingml/2006/main" noChangeAspect="1"/>
          </p:cNvPicPr>
          <p:nvPr/>
        </p:nvPicPr>
        <p:blipFill>
          <a:blip xmlns:r="http://schemas.openxmlformats.org/officeDocument/2006/relationships" xmlns:a="http://schemas.openxmlformats.org/drawingml/2006/main" r:embed="R1abdd2f6dcab49a9"/>
          <a:stretch xmlns:a="http://schemas.openxmlformats.org/drawingml/2006/main"/>
        </p:blipFill>
        <p:spPr>
          <a:xfrm xmlns:a="http://schemas.openxmlformats.org/drawingml/2006/main">
            <a:off x="1178042" y="1524000"/>
            <a:ext cx="3978041" cy="4286250"/>
          </a:xfrm>
          <a:prstGeom xmlns:a="http://schemas.openxmlformats.org/drawingml/2006/main" prst="rect">
            <a:avLst/>
          </a:prstGeom>
        </p:spPr>
      </p:pic>
      <p:sp>
        <p:nvSpPr>
          <p:cNvPr id="4" name="1.313 cạnh">
            <a:extLst xmlns:a="http://schemas.openxmlformats.org/drawingml/2006/main">
              <a:ext uri="{FF2B5EF4-FFF2-40B4-BE49-F238E27FC236}">
                <a16:creationId xmlns:a16="http://schemas.microsoft.com/office/drawing/2014/main" id="{8799936A-15D8-40AE-9087-20EECEE4C08D}"/>
              </a:ext>
            </a:extLst>
          </p:cNvPr>
          <p:cNvSpPr>
            <a:spLocks xmlns:a="http://schemas.openxmlformats.org/drawingml/2006/main" noGrp="1"/>
          </p:cNvSpPr>
          <p:nvPr/>
        </p:nvSpPr>
        <p:spPr>
          <a:xfrm xmlns:a="http://schemas.openxmlformats.org/drawingml/2006/main">
            <a:off x="6429375" y="1781175"/>
            <a:ext cx="5191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087E73"/>
                </a:solidFill>
                <a:latin typeface="Arial"/>
                <a:ea typeface="Arial"/>
                <a:cs typeface="Arial"/>
              </a:defRPr>
            </a:defPPr>
          </a:lstStyle>
          <a:p xmlns:a="http://schemas.openxmlformats.org/drawingml/2006/main">
            <a:pPr>
              <a:defRPr sz="4275" b="1">
                <a:solidFill>
                  <a:srgbClr val="087E73"/>
                </a:solidFill>
                <a:latin typeface="Arial"/>
                <a:ea typeface="Arial"/>
                <a:cs typeface="Arial"/>
              </a:defRPr>
            </a:pPr>
            <a:r>
              <a:rPr sz="4275" b="1">
                <a:solidFill>
                  <a:srgbClr val="087E73"/>
                </a:solidFill>
                <a:latin typeface="Arial"/>
                <a:ea typeface="Arial"/>
                <a:cs typeface="Arial"/>
              </a:rPr>
              <a:t>1.313 cạnh</a:t>
            </a:r>
          </a:p>
        </p:txBody>
      </p:sp>
      <p:sp>
        <p:nvSpPr>
          <p:cNvPr id="5" name="Graph khoảng cách có trọng số&#10;Đối xứng hóa qu">
            <a:extLst xmlns:a="http://schemas.openxmlformats.org/drawingml/2006/main">
              <a:ext uri="{FF2B5EF4-FFF2-40B4-BE49-F238E27FC236}">
                <a16:creationId xmlns:a16="http://schemas.microsoft.com/office/drawing/2014/main" id="{EC923AB4-685B-4657-8C17-141933869C15}"/>
              </a:ext>
            </a:extLst>
          </p:cNvPr>
          <p:cNvSpPr>
            <a:spLocks xmlns:a="http://schemas.openxmlformats.org/drawingml/2006/main" noGrp="1"/>
          </p:cNvSpPr>
          <p:nvPr/>
        </p:nvSpPr>
        <p:spPr>
          <a:xfrm xmlns:a="http://schemas.openxmlformats.org/drawingml/2006/main">
            <a:off x="6429375" y="3086100"/>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63B3B"/>
                </a:solidFill>
                <a:latin typeface="Arial"/>
                <a:ea typeface="Arial"/>
                <a:cs typeface="Arial"/>
              </a:defRPr>
            </a:defPPr>
          </a:lstStyle>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Graph khoảng cách có trọng số</a:t>
            </a:r>
          </a:p>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Đối xứng hóa quan hệ</a:t>
            </a:r>
          </a:p>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Giữ cạnh bản thân</a:t>
            </a:r>
          </a:p>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Chuẩn hóa theo bậc</a:t>
            </a:r>
          </a:p>
        </p:txBody>
      </p:sp>
      <p:sp>
        <p:nvSpPr>
          <p:cNvPr id="6" name="Nét nối biểu diễn cạnh graph. Đối xứng hóa là">
            <a:extLst xmlns:a="http://schemas.openxmlformats.org/drawingml/2006/main">
              <a:ext uri="{FF2B5EF4-FFF2-40B4-BE49-F238E27FC236}">
                <a16:creationId xmlns:a16="http://schemas.microsoft.com/office/drawing/2014/main" id="{595638B6-EAAD-400F-B0D9-6DE1ED3F45BF}"/>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Nét nối biểu diễn cạnh graph. Đối xứng hóa làm mất thông tin hướng.</a:t>
            </a:r>
          </a:p>
        </p:txBody>
      </p:sp>
    </p:spTree>
    <p:extLst>
      <p:ext uri="{BB962C8B-B14F-4D97-AF65-F5344CB8AC3E}">
        <p14:creationId xmlns:p14="http://schemas.microsoft.com/office/powerpoint/2010/main" val="16942041"/>
      </p:ext>
    </p:extLst>
  </p:cSld>
</p:sld>
</file>

<file path=ppt/slides/slide1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A4DDC77-26CD-44B8-9995-62CABD5F489B}"/>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Một cửa sổ học</a:t>
            </a:r>
          </a:p>
        </p:txBody>
      </p:sp>
      <p:sp>
        <p:nvSpPr>
          <p:cNvPr id="2" name="10 / 26">
            <a:extLst xmlns:a="http://schemas.openxmlformats.org/drawingml/2006/main">
              <a:ext uri="{FF2B5EF4-FFF2-40B4-BE49-F238E27FC236}">
                <a16:creationId xmlns:a16="http://schemas.microsoft.com/office/drawing/2014/main" id="{E45BF40E-801C-4222-8B9D-BCE6A6B40311}"/>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10 / 26</a:t>
            </a:r>
          </a:p>
        </p:txBody>
      </p:sp>
      <p:graphicFrame>
        <p:nvGraphicFramePr>
          <p:cNvPr id="3" name="Chart">
            <a:extLst xmlns:a="http://schemas.openxmlformats.org/drawingml/2006/main">
              <a:ext uri="{FF2B5EF4-FFF2-40B4-BE49-F238E27FC236}">
                <a16:creationId xmlns:a16="http://schemas.microsoft.com/office/drawing/2014/main" id="{0A83B52D-2B80-45F5-94FC-072222FC9F22}"/>
              </a:ext>
            </a:extLst>
          </p:cNvPr>
          <p:cNvGraphicFramePr/>
          <p:nvPr/>
        </p:nvGraphicFramePr>
        <p:xfrm>
          <a:off xmlns:a="http://schemas.openxmlformats.org/drawingml/2006/main" x="609600" y="1762125"/>
          <a:ext xmlns:a="http://schemas.openxmlformats.org/drawingml/2006/main" cx="10934700" cy="3467100"/>
        </p:xfrm>
        <a:graphic xmlns:a="http://schemas.openxmlformats.org/drawingml/2006/main">
          <a:graphicData uri="http://schemas.openxmlformats.org/drawingml/2006/chart">
            <c:chart xmlns:r="http://schemas.openxmlformats.org/officeDocument/2006/relationships" xmlns:c="http://schemas.openxmlformats.org/drawingml/2006/chart" r:id="R2cbab431d0384f7b"/>
          </a:graphicData>
        </a:graphic>
      </p:graphicFrame>
      <p:sp>
        <p:nvSpPr>
          <p:cNvPr id="4" name="Cửa sổ quá khứ kết thúc ở 0′, mục tiêu nằm ở ">
            <a:extLst xmlns:a="http://schemas.openxmlformats.org/drawingml/2006/main">
              <a:ext uri="{FF2B5EF4-FFF2-40B4-BE49-F238E27FC236}">
                <a16:creationId xmlns:a16="http://schemas.microsoft.com/office/drawing/2014/main" id="{98B442B4-D0E7-477C-970C-37E52B2154B9}"/>
              </a:ext>
            </a:extLst>
          </p:cNvPr>
          <p:cNvSpPr>
            <a:spLocks xmlns:a="http://schemas.openxmlformats.org/drawingml/2006/main" noGrp="1"/>
          </p:cNvSpPr>
          <p:nvPr/>
        </p:nvSpPr>
        <p:spPr>
          <a:xfrm xmlns:a="http://schemas.openxmlformats.org/drawingml/2006/main">
            <a:off x="609600" y="547687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Cửa sổ quá khứ kết thúc ở 0′, mục tiêu nằm ở +15′</a:t>
            </a:r>
          </a:p>
        </p:txBody>
      </p:sp>
      <p:sp>
        <p:nvSpPr>
          <p:cNvPr id="5" name="Các đoạn nối dự báo chỉ giúp đọc điểm đích. M">
            <a:extLst xmlns:a="http://schemas.openxmlformats.org/drawingml/2006/main">
              <a:ext uri="{FF2B5EF4-FFF2-40B4-BE49-F238E27FC236}">
                <a16:creationId xmlns:a16="http://schemas.microsoft.com/office/drawing/2014/main" id="{40112F63-2E72-4804-8B2F-FBFB52D8E302}"/>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Các đoạn nối dự báo chỉ giúp đọc điểm đích. Mô hình không dự báo từng bước trung gian.</a:t>
            </a:r>
          </a:p>
        </p:txBody>
      </p:sp>
    </p:spTree>
    <p:extLst>
      <p:ext uri="{BB962C8B-B14F-4D97-AF65-F5344CB8AC3E}">
        <p14:creationId xmlns:p14="http://schemas.microsoft.com/office/powerpoint/2010/main" val="1961634667"/>
      </p:ext>
    </p:extLst>
  </p:cSld>
</p:sld>
</file>

<file path=ppt/slides/slide1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7407DB0-E70D-4F46-9404-71E164509E30}"/>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Chia dữ liệu theo thời gian</a:t>
            </a:r>
          </a:p>
        </p:txBody>
      </p:sp>
      <p:sp>
        <p:nvSpPr>
          <p:cNvPr id="2" name="11 / 26">
            <a:extLst xmlns:a="http://schemas.openxmlformats.org/drawingml/2006/main">
              <a:ext uri="{FF2B5EF4-FFF2-40B4-BE49-F238E27FC236}">
                <a16:creationId xmlns:a16="http://schemas.microsoft.com/office/drawing/2014/main" id="{370AE084-1DEE-4C07-8B04-D078938C1518}"/>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11 / 26</a:t>
            </a:r>
          </a:p>
        </p:txBody>
      </p:sp>
      <p:graphicFrame>
        <p:nvGraphicFramePr>
          <p:cNvPr id="3" name="">
            <a:extLst xmlns:a="http://schemas.openxmlformats.org/drawingml/2006/main">
              <a:ext uri="{FF2B5EF4-FFF2-40B4-BE49-F238E27FC236}">
                <a16:creationId xmlns:a16="http://schemas.microsoft.com/office/drawing/2014/main" id="{9BF0B935-05A7-4F5E-AC8A-50E4A7C48F77}"/>
              </a:ext>
            </a:extLst>
          </p:cNvPr>
          <p:cNvGraphicFramePr/>
          <p:nvPr/>
        </p:nvGraphicFramePr>
        <p:xfrm>
          <a:off xmlns:a="http://schemas.openxmlformats.org/drawingml/2006/main" x="609600" y="1781175"/>
          <a:ext xmlns:a="http://schemas.openxmlformats.org/drawingml/2006/main" cx="10972800" cy="2800350"/>
        </p:xfrm>
        <a:graphic xmlns:a="http://schemas.openxmlformats.org/drawingml/2006/main">
          <a:graphicData uri="http://schemas.openxmlformats.org/drawingml/2006/table">
            <a:tbl>
              <a:tblPr firstRow="0" bandRow="0"/>
              <a:tblGrid>
                <a:gridCol w="2857500"/>
                <a:gridCol w="2895600"/>
                <a:gridCol w="2895600"/>
                <a:gridCol w="2324100"/>
              </a:tblGrid>
              <a:tr h="700088">
                <a:tc>
                  <a:txBody>
                    <a:bodyPr/>
                    <a:lstStyle/>
                    <a:p>
                      <a:r>
                        <a:rPr sz="1950" b="1">
                          <a:solidFill>
                            <a:srgbClr val="FFFFFF"/>
                          </a:solidFill>
                          <a:latin typeface="Arial"/>
                          <a:ea typeface="Arial"/>
                          <a:cs typeface="Arial"/>
                        </a:rPr>
                        <a:t>Tập dữ liệu</a:t>
                      </a:r>
                    </a:p>
                  </a:txBody>
                  <a:tcPr marL="133350" marR="114300" marT="104775" marB="104775" anchor="ctr">
                    <a:lnL w="5715">
                      <a:solidFill>
                        <a:srgbClr val="D7E1D9"/>
                      </a:solidFill>
                    </a:lnL>
                    <a:lnR w="5715">
                      <a:solidFill>
                        <a:srgbClr val="D7E1D9"/>
                      </a:solidFill>
                    </a:lnR>
                    <a:lnT w="5715">
                      <a:solidFill>
                        <a:srgbClr val="D7E1D9"/>
                      </a:solidFill>
                    </a:lnT>
                    <a:lnB w="5715">
                      <a:solidFill>
                        <a:srgbClr val="D7E1D9"/>
                      </a:solidFill>
                    </a:lnB>
                    <a:solidFill>
                      <a:srgbClr val="163B3B"/>
                    </a:solidFill>
                  </a:tcPr>
                </a:tc>
                <a:tc>
                  <a:txBody>
                    <a:bodyPr/>
                    <a:lstStyle/>
                    <a:p>
                      <a:r>
                        <a:rPr sz="1950" b="1">
                          <a:solidFill>
                            <a:srgbClr val="FFFFFF"/>
                          </a:solidFill>
                          <a:latin typeface="Arial"/>
                          <a:ea typeface="Arial"/>
                          <a:cs typeface="Arial"/>
                        </a:rPr>
                        <a:t>Mục tiêu bắt đầu</a:t>
                      </a:r>
                    </a:p>
                  </a:txBody>
                  <a:tcPr marL="133350" marR="114300" marT="104775" marB="104775" anchor="ctr">
                    <a:lnR w="5715">
                      <a:solidFill>
                        <a:srgbClr val="D7E1D9"/>
                      </a:solidFill>
                    </a:lnR>
                    <a:lnT w="5715">
                      <a:solidFill>
                        <a:srgbClr val="D7E1D9"/>
                      </a:solidFill>
                    </a:lnT>
                    <a:lnB w="5715">
                      <a:solidFill>
                        <a:srgbClr val="D7E1D9"/>
                      </a:solidFill>
                    </a:lnB>
                    <a:solidFill>
                      <a:srgbClr val="163B3B"/>
                    </a:solidFill>
                  </a:tcPr>
                </a:tc>
                <a:tc>
                  <a:txBody>
                    <a:bodyPr/>
                    <a:lstStyle/>
                    <a:p>
                      <a:r>
                        <a:rPr sz="1950" b="1">
                          <a:solidFill>
                            <a:srgbClr val="FFFFFF"/>
                          </a:solidFill>
                          <a:latin typeface="Arial"/>
                          <a:ea typeface="Arial"/>
                          <a:cs typeface="Arial"/>
                        </a:rPr>
                        <a:t>Mục tiêu kết thúc</a:t>
                      </a:r>
                    </a:p>
                  </a:txBody>
                  <a:tcPr marL="133350" marR="114300" marT="104775" marB="104775" anchor="ctr">
                    <a:lnR w="5715">
                      <a:solidFill>
                        <a:srgbClr val="D7E1D9"/>
                      </a:solidFill>
                    </a:lnR>
                    <a:lnT w="5715">
                      <a:solidFill>
                        <a:srgbClr val="D7E1D9"/>
                      </a:solidFill>
                    </a:lnT>
                    <a:lnB w="5715">
                      <a:solidFill>
                        <a:srgbClr val="D7E1D9"/>
                      </a:solidFill>
                    </a:lnB>
                    <a:solidFill>
                      <a:srgbClr val="163B3B"/>
                    </a:solidFill>
                  </a:tcPr>
                </a:tc>
                <a:tc>
                  <a:txBody>
                    <a:bodyPr/>
                    <a:lstStyle/>
                    <a:p>
                      <a:r>
                        <a:rPr sz="1950" b="1">
                          <a:solidFill>
                            <a:srgbClr val="FFFFFF"/>
                          </a:solidFill>
                          <a:latin typeface="Arial"/>
                          <a:ea typeface="Arial"/>
                          <a:cs typeface="Arial"/>
                        </a:rPr>
                        <a:t>Cửa sổ</a:t>
                      </a:r>
                    </a:p>
                  </a:txBody>
                  <a:tcPr marL="133350" marR="114300" marT="104775" marB="104775" anchor="ctr">
                    <a:lnR w="5715">
                      <a:solidFill>
                        <a:srgbClr val="D7E1D9"/>
                      </a:solidFill>
                    </a:lnR>
                    <a:lnT w="5715">
                      <a:solidFill>
                        <a:srgbClr val="D7E1D9"/>
                      </a:solidFill>
                    </a:lnT>
                    <a:lnB w="5715">
                      <a:solidFill>
                        <a:srgbClr val="D7E1D9"/>
                      </a:solidFill>
                    </a:lnB>
                    <a:solidFill>
                      <a:srgbClr val="163B3B"/>
                    </a:solidFill>
                  </a:tcPr>
                </a:tc>
              </a:tr>
              <a:tr h="700088">
                <a:tc>
                  <a:txBody>
                    <a:bodyPr/>
                    <a:lstStyle/>
                    <a:p>
                      <a:r>
                        <a:rPr sz="1950">
                          <a:solidFill>
                            <a:srgbClr val="163B3B"/>
                          </a:solidFill>
                          <a:latin typeface="Arial"/>
                          <a:ea typeface="Arial"/>
                          <a:cs typeface="Arial"/>
                        </a:rPr>
                        <a:t>Train · 70%</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1950">
                          <a:solidFill>
                            <a:srgbClr val="163B3B"/>
                          </a:solidFill>
                          <a:latin typeface="Arial"/>
                          <a:ea typeface="Arial"/>
                          <a:cs typeface="Arial"/>
                        </a:rPr>
                        <a:t>01/03 01:10</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1950">
                          <a:solidFill>
                            <a:srgbClr val="163B3B"/>
                          </a:solidFill>
                          <a:latin typeface="Arial"/>
                          <a:ea typeface="Arial"/>
                          <a:cs typeface="Arial"/>
                        </a:rPr>
                        <a:t>23/05 07:05</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1950">
                          <a:solidFill>
                            <a:srgbClr val="163B3B"/>
                          </a:solidFill>
                          <a:latin typeface="Arial"/>
                          <a:ea typeface="Arial"/>
                          <a:cs typeface="Arial"/>
                        </a:rPr>
                        <a:t>23.976</a:t>
                      </a:r>
                    </a:p>
                  </a:txBody>
                  <a:tcPr marL="133350" marR="114300" marT="104775" marB="104775" anchor="ctr">
                    <a:lnR w="5715">
                      <a:solidFill>
                        <a:srgbClr val="D7E1D9"/>
                      </a:solidFill>
                    </a:lnR>
                    <a:lnB w="5715">
                      <a:solidFill>
                        <a:srgbClr val="D7E1D9"/>
                      </a:solidFill>
                    </a:lnB>
                    <a:solidFill>
                      <a:srgbClr val="F7F6F0"/>
                    </a:solidFill>
                  </a:tcPr>
                </a:tc>
              </a:tr>
              <a:tr h="700088">
                <a:tc>
                  <a:txBody>
                    <a:bodyPr/>
                    <a:lstStyle/>
                    <a:p>
                      <a:r>
                        <a:rPr sz="1950">
                          <a:solidFill>
                            <a:srgbClr val="163B3B"/>
                          </a:solidFill>
                          <a:latin typeface="Arial"/>
                          <a:ea typeface="Arial"/>
                          <a:cs typeface="Arial"/>
                        </a:rPr>
                        <a:t>Validation · 10%</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1950">
                          <a:solidFill>
                            <a:srgbClr val="163B3B"/>
                          </a:solidFill>
                          <a:latin typeface="Arial"/>
                          <a:ea typeface="Arial"/>
                          <a:cs typeface="Arial"/>
                        </a:rPr>
                        <a:t>23/05 07:10</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1950">
                          <a:solidFill>
                            <a:srgbClr val="163B3B"/>
                          </a:solidFill>
                          <a:latin typeface="Arial"/>
                          <a:ea typeface="Arial"/>
                          <a:cs typeface="Arial"/>
                        </a:rPr>
                        <a:t>04/06 04:40</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1950">
                          <a:solidFill>
                            <a:srgbClr val="163B3B"/>
                          </a:solidFill>
                          <a:latin typeface="Arial"/>
                          <a:ea typeface="Arial"/>
                          <a:cs typeface="Arial"/>
                        </a:rPr>
                        <a:t>3.427</a:t>
                      </a:r>
                    </a:p>
                  </a:txBody>
                  <a:tcPr marL="133350" marR="114300" marT="104775" marB="104775" anchor="ctr">
                    <a:lnR w="5715">
                      <a:solidFill>
                        <a:srgbClr val="D7E1D9"/>
                      </a:solidFill>
                    </a:lnR>
                    <a:lnB w="5715">
                      <a:solidFill>
                        <a:srgbClr val="D7E1D9"/>
                      </a:solidFill>
                    </a:lnB>
                    <a:solidFill>
                      <a:srgbClr val="F7F6F0"/>
                    </a:solidFill>
                  </a:tcPr>
                </a:tc>
              </a:tr>
              <a:tr h="700088">
                <a:tc>
                  <a:txBody>
                    <a:bodyPr/>
                    <a:lstStyle/>
                    <a:p>
                      <a:r>
                        <a:rPr sz="1950">
                          <a:solidFill>
                            <a:srgbClr val="163B3B"/>
                          </a:solidFill>
                          <a:latin typeface="Arial"/>
                          <a:ea typeface="Arial"/>
                          <a:cs typeface="Arial"/>
                        </a:rPr>
                        <a:t>Test · 20%</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1950">
                          <a:solidFill>
                            <a:srgbClr val="163B3B"/>
                          </a:solidFill>
                          <a:latin typeface="Arial"/>
                          <a:ea typeface="Arial"/>
                          <a:cs typeface="Arial"/>
                        </a:rPr>
                        <a:t>04/06 04:45</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1950">
                          <a:solidFill>
                            <a:srgbClr val="163B3B"/>
                          </a:solidFill>
                          <a:latin typeface="Arial"/>
                          <a:ea typeface="Arial"/>
                          <a:cs typeface="Arial"/>
                        </a:rPr>
                        <a:t>27/06 23:55</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1950">
                          <a:solidFill>
                            <a:srgbClr val="163B3B"/>
                          </a:solidFill>
                          <a:latin typeface="Arial"/>
                          <a:ea typeface="Arial"/>
                          <a:cs typeface="Arial"/>
                        </a:rPr>
                        <a:t>6.855</a:t>
                      </a:r>
                    </a:p>
                  </a:txBody>
                  <a:tcPr marL="133350" marR="114300" marT="104775" marB="104775" anchor="ctr">
                    <a:lnR w="5715">
                      <a:solidFill>
                        <a:srgbClr val="D7E1D9"/>
                      </a:solidFill>
                    </a:lnR>
                    <a:lnB w="5715">
                      <a:solidFill>
                        <a:srgbClr val="D7E1D9"/>
                      </a:solidFill>
                    </a:lnB>
                    <a:solidFill>
                      <a:srgbClr val="F7F6F0"/>
                    </a:solidFill>
                  </a:tcPr>
                </a:tc>
              </a:tr>
            </a:tbl>
          </a:graphicData>
        </a:graphic>
      </p:graphicFrame>
      <p:sp>
        <p:nvSpPr>
          <p:cNvPr id="4" name="Scaler học từ train. Checkpoint chọn bằng val">
            <a:extLst xmlns:a="http://schemas.openxmlformats.org/drawingml/2006/main">
              <a:ext uri="{FF2B5EF4-FFF2-40B4-BE49-F238E27FC236}">
                <a16:creationId xmlns:a16="http://schemas.microsoft.com/office/drawing/2014/main" id="{C2197664-716B-4BD0-9432-BE162F696A7C}"/>
              </a:ext>
            </a:extLst>
          </p:cNvPr>
          <p:cNvSpPr>
            <a:spLocks xmlns:a="http://schemas.openxmlformats.org/drawingml/2006/main" noGrp="1"/>
          </p:cNvSpPr>
          <p:nvPr/>
        </p:nvSpPr>
        <p:spPr>
          <a:xfrm xmlns:a="http://schemas.openxmlformats.org/drawingml/2006/main">
            <a:off x="609600" y="51816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Scaler học từ train. Checkpoint chọn bằng validation.</a:t>
            </a:r>
          </a:p>
        </p:txBody>
      </p:sp>
      <p:sp>
        <p:nvSpPr>
          <p:cNvPr id="5" name="Năm 2012. Các cửa sổ được phép dùng lịch sử đ">
            <a:extLst xmlns:a="http://schemas.openxmlformats.org/drawingml/2006/main">
              <a:ext uri="{FF2B5EF4-FFF2-40B4-BE49-F238E27FC236}">
                <a16:creationId xmlns:a16="http://schemas.microsoft.com/office/drawing/2014/main" id="{B6922B32-0C09-4D74-A780-88C822E726AE}"/>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Năm 2012. Các cửa sổ được phép dùng lịch sử đã xảy ra trước ranh giới chia tập.</a:t>
            </a:r>
          </a:p>
        </p:txBody>
      </p:sp>
    </p:spTree>
    <p:extLst>
      <p:ext uri="{BB962C8B-B14F-4D97-AF65-F5344CB8AC3E}">
        <p14:creationId xmlns:p14="http://schemas.microsoft.com/office/powerpoint/2010/main" val="1038641039"/>
      </p:ext>
    </p:extLst>
  </p:cSld>
</p:sld>
</file>

<file path=ppt/slides/slide1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5B8E256B-5D30-4C4C-B274-4F3F8400067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Quy trình của hệ thống</a:t>
            </a:r>
          </a:p>
        </p:txBody>
      </p:sp>
      <p:sp>
        <p:nvSpPr>
          <p:cNvPr id="2" name="12 / 26">
            <a:extLst xmlns:a="http://schemas.openxmlformats.org/drawingml/2006/main">
              <a:ext uri="{FF2B5EF4-FFF2-40B4-BE49-F238E27FC236}">
                <a16:creationId xmlns:a16="http://schemas.microsoft.com/office/drawing/2014/main" id="{724C9367-E583-4DF3-BB13-5F10DC73A9B8}"/>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12 / 26</a:t>
            </a:r>
          </a:p>
        </p:txBody>
      </p:sp>
      <p:sp>
        <p:nvSpPr>
          <p:cNvPr id="3" name="01">
            <a:extLst xmlns:a="http://schemas.openxmlformats.org/drawingml/2006/main">
              <a:ext uri="{FF2B5EF4-FFF2-40B4-BE49-F238E27FC236}">
                <a16:creationId xmlns:a16="http://schemas.microsoft.com/office/drawing/2014/main" id="{B6245473-3A29-4CDA-A9DD-D47FEA10D391}"/>
              </a:ext>
            </a:extLst>
          </p:cNvPr>
          <p:cNvSpPr>
            <a:spLocks xmlns:a="http://schemas.openxmlformats.org/drawingml/2006/main" noGrp="1"/>
          </p:cNvSpPr>
          <p:nvPr/>
        </p:nvSpPr>
        <p:spPr>
          <a:xfrm xmlns:a="http://schemas.openxmlformats.org/drawingml/2006/main">
            <a:off x="609600" y="1685925"/>
            <a:ext cx="95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a:solidFill>
                  <a:srgbClr val="087E73"/>
                </a:solidFill>
                <a:latin typeface="Arial"/>
                <a:ea typeface="Arial"/>
                <a:cs typeface="Arial"/>
              </a:defRPr>
            </a:defPPr>
          </a:lstStyle>
          <a:p xmlns:a="http://schemas.openxmlformats.org/drawingml/2006/main">
            <a:pPr>
              <a:defRPr sz="3675">
                <a:solidFill>
                  <a:srgbClr val="087E73"/>
                </a:solidFill>
                <a:latin typeface="Arial"/>
                <a:ea typeface="Arial"/>
                <a:cs typeface="Arial"/>
              </a:defRPr>
            </a:pPr>
            <a:r>
              <a:rPr sz="3675">
                <a:solidFill>
                  <a:srgbClr val="087E73"/>
                </a:solidFill>
                <a:latin typeface="Arial"/>
                <a:ea typeface="Arial"/>
                <a:cs typeface="Arial"/>
              </a:rPr>
              <a:t>01</a:t>
            </a:r>
          </a:p>
        </p:txBody>
      </p:sp>
      <p:sp>
        <p:nvSpPr>
          <p:cNvPr id="4" name="Chuẩn bị dữ liệu">
            <a:extLst xmlns:a="http://schemas.openxmlformats.org/drawingml/2006/main">
              <a:ext uri="{FF2B5EF4-FFF2-40B4-BE49-F238E27FC236}">
                <a16:creationId xmlns:a16="http://schemas.microsoft.com/office/drawing/2014/main" id="{4BD2D6A5-6184-458B-9042-16F551C8A9D1}"/>
              </a:ext>
            </a:extLst>
          </p:cNvPr>
          <p:cNvSpPr>
            <a:spLocks xmlns:a="http://schemas.openxmlformats.org/drawingml/2006/main" noGrp="1"/>
          </p:cNvSpPr>
          <p:nvPr/>
        </p:nvSpPr>
        <p:spPr>
          <a:xfrm xmlns:a="http://schemas.openxmlformats.org/drawingml/2006/main">
            <a:off x="1952625" y="1724025"/>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63B3B"/>
                </a:solidFill>
                <a:latin typeface="Arial"/>
                <a:ea typeface="Arial"/>
                <a:cs typeface="Arial"/>
              </a:defRPr>
            </a:defPPr>
          </a:lstStyle>
          <a:p xmlns:a="http://schemas.openxmlformats.org/drawingml/2006/main">
            <a:pPr>
              <a:defRPr sz="2475" b="1">
                <a:solidFill>
                  <a:srgbClr val="163B3B"/>
                </a:solidFill>
                <a:latin typeface="Arial"/>
                <a:ea typeface="Arial"/>
                <a:cs typeface="Arial"/>
              </a:defRPr>
            </a:pPr>
            <a:r>
              <a:rPr sz="2475" b="1">
                <a:solidFill>
                  <a:srgbClr val="163B3B"/>
                </a:solidFill>
                <a:latin typeface="Arial"/>
                <a:ea typeface="Arial"/>
                <a:cs typeface="Arial"/>
              </a:rPr>
              <a:t>Chuẩn bị dữ liệu</a:t>
            </a:r>
          </a:p>
        </p:txBody>
      </p:sp>
      <p:sp>
        <p:nvSpPr>
          <p:cNvPr id="5" name="prepare_data.py">
            <a:extLst xmlns:a="http://schemas.openxmlformats.org/drawingml/2006/main">
              <a:ext uri="{FF2B5EF4-FFF2-40B4-BE49-F238E27FC236}">
                <a16:creationId xmlns:a16="http://schemas.microsoft.com/office/drawing/2014/main" id="{53F6D999-5D3B-4072-A447-324B431D44A1}"/>
              </a:ext>
            </a:extLst>
          </p:cNvPr>
          <p:cNvSpPr>
            <a:spLocks xmlns:a="http://schemas.openxmlformats.org/drawingml/2006/main" noGrp="1"/>
          </p:cNvSpPr>
          <p:nvPr/>
        </p:nvSpPr>
        <p:spPr>
          <a:xfrm xmlns:a="http://schemas.openxmlformats.org/drawingml/2006/main">
            <a:off x="8286750" y="17907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657B79"/>
                </a:solidFill>
                <a:latin typeface="Arial"/>
                <a:ea typeface="Arial"/>
                <a:cs typeface="Arial"/>
              </a:defRPr>
            </a:defPPr>
          </a:lstStyle>
          <a:p xmlns:a="http://schemas.openxmlformats.org/drawingml/2006/main">
            <a:pPr>
              <a:defRPr sz="1725">
                <a:solidFill>
                  <a:srgbClr val="657B79"/>
                </a:solidFill>
                <a:latin typeface="Arial"/>
                <a:ea typeface="Arial"/>
                <a:cs typeface="Arial"/>
              </a:defRPr>
            </a:pPr>
            <a:r>
              <a:rPr sz="1725">
                <a:solidFill>
                  <a:srgbClr val="657B79"/>
                </a:solidFill>
                <a:latin typeface="Arial"/>
                <a:ea typeface="Arial"/>
                <a:cs typeface="Arial"/>
              </a:rPr>
              <a:t>prepare_data.py</a:t>
            </a:r>
          </a:p>
        </p:txBody>
      </p:sp>
      <p:sp>
        <p:nvSpPr>
          <p:cNvPr id="6" name="02">
            <a:extLst xmlns:a="http://schemas.openxmlformats.org/drawingml/2006/main">
              <a:ext uri="{FF2B5EF4-FFF2-40B4-BE49-F238E27FC236}">
                <a16:creationId xmlns:a16="http://schemas.microsoft.com/office/drawing/2014/main" id="{12B7DC21-E136-4E06-A947-AB6F889FB139}"/>
              </a:ext>
            </a:extLst>
          </p:cNvPr>
          <p:cNvSpPr>
            <a:spLocks xmlns:a="http://schemas.openxmlformats.org/drawingml/2006/main" noGrp="1"/>
          </p:cNvSpPr>
          <p:nvPr/>
        </p:nvSpPr>
        <p:spPr>
          <a:xfrm xmlns:a="http://schemas.openxmlformats.org/drawingml/2006/main">
            <a:off x="609600" y="2628900"/>
            <a:ext cx="95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a:solidFill>
                  <a:srgbClr val="087E73"/>
                </a:solidFill>
                <a:latin typeface="Arial"/>
                <a:ea typeface="Arial"/>
                <a:cs typeface="Arial"/>
              </a:defRPr>
            </a:defPPr>
          </a:lstStyle>
          <a:p xmlns:a="http://schemas.openxmlformats.org/drawingml/2006/main">
            <a:pPr>
              <a:defRPr sz="3675">
                <a:solidFill>
                  <a:srgbClr val="087E73"/>
                </a:solidFill>
                <a:latin typeface="Arial"/>
                <a:ea typeface="Arial"/>
                <a:cs typeface="Arial"/>
              </a:defRPr>
            </a:pPr>
            <a:r>
              <a:rPr sz="3675">
                <a:solidFill>
                  <a:srgbClr val="087E73"/>
                </a:solidFill>
                <a:latin typeface="Arial"/>
                <a:ea typeface="Arial"/>
                <a:cs typeface="Arial"/>
              </a:rPr>
              <a:t>02</a:t>
            </a:r>
          </a:p>
        </p:txBody>
      </p:sp>
      <p:sp>
        <p:nvSpPr>
          <p:cNvPr id="7" name="Học và đánh giá">
            <a:extLst xmlns:a="http://schemas.openxmlformats.org/drawingml/2006/main">
              <a:ext uri="{FF2B5EF4-FFF2-40B4-BE49-F238E27FC236}">
                <a16:creationId xmlns:a16="http://schemas.microsoft.com/office/drawing/2014/main" id="{C482B4CF-ED53-489A-9DB1-1569BC74B206}"/>
              </a:ext>
            </a:extLst>
          </p:cNvPr>
          <p:cNvSpPr>
            <a:spLocks xmlns:a="http://schemas.openxmlformats.org/drawingml/2006/main" noGrp="1"/>
          </p:cNvSpPr>
          <p:nvPr/>
        </p:nvSpPr>
        <p:spPr>
          <a:xfrm xmlns:a="http://schemas.openxmlformats.org/drawingml/2006/main">
            <a:off x="1952625" y="2667000"/>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63B3B"/>
                </a:solidFill>
                <a:latin typeface="Arial"/>
                <a:ea typeface="Arial"/>
                <a:cs typeface="Arial"/>
              </a:defRPr>
            </a:defPPr>
          </a:lstStyle>
          <a:p xmlns:a="http://schemas.openxmlformats.org/drawingml/2006/main">
            <a:pPr>
              <a:defRPr sz="2475" b="1">
                <a:solidFill>
                  <a:srgbClr val="163B3B"/>
                </a:solidFill>
                <a:latin typeface="Arial"/>
                <a:ea typeface="Arial"/>
                <a:cs typeface="Arial"/>
              </a:defRPr>
            </a:pPr>
            <a:r>
              <a:rPr sz="2475" b="1">
                <a:solidFill>
                  <a:srgbClr val="163B3B"/>
                </a:solidFill>
                <a:latin typeface="Arial"/>
                <a:ea typeface="Arial"/>
                <a:cs typeface="Arial"/>
              </a:rPr>
              <a:t>Học và đánh giá</a:t>
            </a:r>
          </a:p>
        </p:txBody>
      </p:sp>
      <p:sp>
        <p:nvSpPr>
          <p:cNvPr id="8" name="train.py">
            <a:extLst xmlns:a="http://schemas.openxmlformats.org/drawingml/2006/main">
              <a:ext uri="{FF2B5EF4-FFF2-40B4-BE49-F238E27FC236}">
                <a16:creationId xmlns:a16="http://schemas.microsoft.com/office/drawing/2014/main" id="{7B1ED14E-4DC1-48E4-B7F4-3AA1447B139F}"/>
              </a:ext>
            </a:extLst>
          </p:cNvPr>
          <p:cNvSpPr>
            <a:spLocks xmlns:a="http://schemas.openxmlformats.org/drawingml/2006/main" noGrp="1"/>
          </p:cNvSpPr>
          <p:nvPr/>
        </p:nvSpPr>
        <p:spPr>
          <a:xfrm xmlns:a="http://schemas.openxmlformats.org/drawingml/2006/main">
            <a:off x="8286750" y="273367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657B79"/>
                </a:solidFill>
                <a:latin typeface="Arial"/>
                <a:ea typeface="Arial"/>
                <a:cs typeface="Arial"/>
              </a:defRPr>
            </a:defPPr>
          </a:lstStyle>
          <a:p xmlns:a="http://schemas.openxmlformats.org/drawingml/2006/main">
            <a:pPr>
              <a:defRPr sz="1725">
                <a:solidFill>
                  <a:srgbClr val="657B79"/>
                </a:solidFill>
                <a:latin typeface="Arial"/>
                <a:ea typeface="Arial"/>
                <a:cs typeface="Arial"/>
              </a:defRPr>
            </a:pPr>
            <a:r>
              <a:rPr sz="1725">
                <a:solidFill>
                  <a:srgbClr val="657B79"/>
                </a:solidFill>
                <a:latin typeface="Arial"/>
                <a:ea typeface="Arial"/>
                <a:cs typeface="Arial"/>
              </a:rPr>
              <a:t>train.py</a:t>
            </a:r>
          </a:p>
        </p:txBody>
      </p:sp>
      <p:sp>
        <p:nvSpPr>
          <p:cNvPr id="9" name="03">
            <a:extLst xmlns:a="http://schemas.openxmlformats.org/drawingml/2006/main">
              <a:ext uri="{FF2B5EF4-FFF2-40B4-BE49-F238E27FC236}">
                <a16:creationId xmlns:a16="http://schemas.microsoft.com/office/drawing/2014/main" id="{6A61A32E-A3AE-405B-81EE-FA6EE96A90D6}"/>
              </a:ext>
            </a:extLst>
          </p:cNvPr>
          <p:cNvSpPr>
            <a:spLocks xmlns:a="http://schemas.openxmlformats.org/drawingml/2006/main" noGrp="1"/>
          </p:cNvSpPr>
          <p:nvPr/>
        </p:nvSpPr>
        <p:spPr>
          <a:xfrm xmlns:a="http://schemas.openxmlformats.org/drawingml/2006/main">
            <a:off x="609600" y="3571875"/>
            <a:ext cx="95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a:solidFill>
                  <a:srgbClr val="087E73"/>
                </a:solidFill>
                <a:latin typeface="Arial"/>
                <a:ea typeface="Arial"/>
                <a:cs typeface="Arial"/>
              </a:defRPr>
            </a:defPPr>
          </a:lstStyle>
          <a:p xmlns:a="http://schemas.openxmlformats.org/drawingml/2006/main">
            <a:pPr>
              <a:defRPr sz="3675">
                <a:solidFill>
                  <a:srgbClr val="087E73"/>
                </a:solidFill>
                <a:latin typeface="Arial"/>
                <a:ea typeface="Arial"/>
                <a:cs typeface="Arial"/>
              </a:defRPr>
            </a:pPr>
            <a:r>
              <a:rPr sz="3675">
                <a:solidFill>
                  <a:srgbClr val="087E73"/>
                </a:solidFill>
                <a:latin typeface="Arial"/>
                <a:ea typeface="Arial"/>
                <a:cs typeface="Arial"/>
              </a:rPr>
              <a:t>03</a:t>
            </a:r>
          </a:p>
        </p:txBody>
      </p:sp>
      <p:sp>
        <p:nvSpPr>
          <p:cNvPr id="10" name="Xuất trọng số">
            <a:extLst xmlns:a="http://schemas.openxmlformats.org/drawingml/2006/main">
              <a:ext uri="{FF2B5EF4-FFF2-40B4-BE49-F238E27FC236}">
                <a16:creationId xmlns:a16="http://schemas.microsoft.com/office/drawing/2014/main" id="{A8B729C4-9E46-45FF-BCAA-B31357ADF6E0}"/>
              </a:ext>
            </a:extLst>
          </p:cNvPr>
          <p:cNvSpPr>
            <a:spLocks xmlns:a="http://schemas.openxmlformats.org/drawingml/2006/main" noGrp="1"/>
          </p:cNvSpPr>
          <p:nvPr/>
        </p:nvSpPr>
        <p:spPr>
          <a:xfrm xmlns:a="http://schemas.openxmlformats.org/drawingml/2006/main">
            <a:off x="1952625" y="3609975"/>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63B3B"/>
                </a:solidFill>
                <a:latin typeface="Arial"/>
                <a:ea typeface="Arial"/>
                <a:cs typeface="Arial"/>
              </a:defRPr>
            </a:defPPr>
          </a:lstStyle>
          <a:p xmlns:a="http://schemas.openxmlformats.org/drawingml/2006/main">
            <a:pPr>
              <a:defRPr sz="2475" b="1">
                <a:solidFill>
                  <a:srgbClr val="163B3B"/>
                </a:solidFill>
                <a:latin typeface="Arial"/>
                <a:ea typeface="Arial"/>
                <a:cs typeface="Arial"/>
              </a:defRPr>
            </a:pPr>
            <a:r>
              <a:rPr sz="2475" b="1">
                <a:solidFill>
                  <a:srgbClr val="163B3B"/>
                </a:solidFill>
                <a:latin typeface="Arial"/>
                <a:ea typeface="Arial"/>
                <a:cs typeface="Arial"/>
              </a:rPr>
              <a:t>Xuất trọng số</a:t>
            </a:r>
          </a:p>
        </p:txBody>
      </p:sp>
      <p:sp>
        <p:nvSpPr>
          <p:cNvPr id="11" name="export_demo.py">
            <a:extLst xmlns:a="http://schemas.openxmlformats.org/drawingml/2006/main">
              <a:ext uri="{FF2B5EF4-FFF2-40B4-BE49-F238E27FC236}">
                <a16:creationId xmlns:a16="http://schemas.microsoft.com/office/drawing/2014/main" id="{67DE117F-07B9-4247-8D68-4BF1A3A93A76}"/>
              </a:ext>
            </a:extLst>
          </p:cNvPr>
          <p:cNvSpPr>
            <a:spLocks xmlns:a="http://schemas.openxmlformats.org/drawingml/2006/main" noGrp="1"/>
          </p:cNvSpPr>
          <p:nvPr/>
        </p:nvSpPr>
        <p:spPr>
          <a:xfrm xmlns:a="http://schemas.openxmlformats.org/drawingml/2006/main">
            <a:off x="8286750" y="36766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657B79"/>
                </a:solidFill>
                <a:latin typeface="Arial"/>
                <a:ea typeface="Arial"/>
                <a:cs typeface="Arial"/>
              </a:defRPr>
            </a:defPPr>
          </a:lstStyle>
          <a:p xmlns:a="http://schemas.openxmlformats.org/drawingml/2006/main">
            <a:pPr>
              <a:defRPr sz="1725">
                <a:solidFill>
                  <a:srgbClr val="657B79"/>
                </a:solidFill>
                <a:latin typeface="Arial"/>
                <a:ea typeface="Arial"/>
                <a:cs typeface="Arial"/>
              </a:defRPr>
            </a:pPr>
            <a:r>
              <a:rPr sz="1725">
                <a:solidFill>
                  <a:srgbClr val="657B79"/>
                </a:solidFill>
                <a:latin typeface="Arial"/>
                <a:ea typeface="Arial"/>
                <a:cs typeface="Arial"/>
              </a:rPr>
              <a:t>export_demo.py</a:t>
            </a:r>
          </a:p>
        </p:txBody>
      </p:sp>
      <p:sp>
        <p:nvSpPr>
          <p:cNvPr id="12" name="04">
            <a:extLst xmlns:a="http://schemas.openxmlformats.org/drawingml/2006/main">
              <a:ext uri="{FF2B5EF4-FFF2-40B4-BE49-F238E27FC236}">
                <a16:creationId xmlns:a16="http://schemas.microsoft.com/office/drawing/2014/main" id="{4C996E6A-A97E-4B14-AEFA-E69417970139}"/>
              </a:ext>
            </a:extLst>
          </p:cNvPr>
          <p:cNvSpPr>
            <a:spLocks xmlns:a="http://schemas.openxmlformats.org/drawingml/2006/main" noGrp="1"/>
          </p:cNvSpPr>
          <p:nvPr/>
        </p:nvSpPr>
        <p:spPr>
          <a:xfrm xmlns:a="http://schemas.openxmlformats.org/drawingml/2006/main">
            <a:off x="609600" y="4514850"/>
            <a:ext cx="95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a:solidFill>
                  <a:srgbClr val="087E73"/>
                </a:solidFill>
                <a:latin typeface="Arial"/>
                <a:ea typeface="Arial"/>
                <a:cs typeface="Arial"/>
              </a:defRPr>
            </a:defPPr>
          </a:lstStyle>
          <a:p xmlns:a="http://schemas.openxmlformats.org/drawingml/2006/main">
            <a:pPr>
              <a:defRPr sz="3675">
                <a:solidFill>
                  <a:srgbClr val="087E73"/>
                </a:solidFill>
                <a:latin typeface="Arial"/>
                <a:ea typeface="Arial"/>
                <a:cs typeface="Arial"/>
              </a:defRPr>
            </a:pPr>
            <a:r>
              <a:rPr sz="3675">
                <a:solidFill>
                  <a:srgbClr val="087E73"/>
                </a:solidFill>
                <a:latin typeface="Arial"/>
                <a:ea typeface="Arial"/>
                <a:cs typeface="Arial"/>
              </a:rPr>
              <a:t>04</a:t>
            </a:r>
          </a:p>
        </p:txBody>
      </p:sp>
      <p:sp>
        <p:nvSpPr>
          <p:cNvPr id="13" name="Dự báo trên web">
            <a:extLst xmlns:a="http://schemas.openxmlformats.org/drawingml/2006/main">
              <a:ext uri="{FF2B5EF4-FFF2-40B4-BE49-F238E27FC236}">
                <a16:creationId xmlns:a16="http://schemas.microsoft.com/office/drawing/2014/main" id="{6653FB85-9760-4BB5-9E3F-C831924CB0DF}"/>
              </a:ext>
            </a:extLst>
          </p:cNvPr>
          <p:cNvSpPr>
            <a:spLocks xmlns:a="http://schemas.openxmlformats.org/drawingml/2006/main" noGrp="1"/>
          </p:cNvSpPr>
          <p:nvPr/>
        </p:nvSpPr>
        <p:spPr>
          <a:xfrm xmlns:a="http://schemas.openxmlformats.org/drawingml/2006/main">
            <a:off x="1952625" y="4552950"/>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63B3B"/>
                </a:solidFill>
                <a:latin typeface="Arial"/>
                <a:ea typeface="Arial"/>
                <a:cs typeface="Arial"/>
              </a:defRPr>
            </a:defPPr>
          </a:lstStyle>
          <a:p xmlns:a="http://schemas.openxmlformats.org/drawingml/2006/main">
            <a:pPr>
              <a:defRPr sz="2475" b="1">
                <a:solidFill>
                  <a:srgbClr val="163B3B"/>
                </a:solidFill>
                <a:latin typeface="Arial"/>
                <a:ea typeface="Arial"/>
                <a:cs typeface="Arial"/>
              </a:defRPr>
            </a:pPr>
            <a:r>
              <a:rPr sz="2475" b="1">
                <a:solidFill>
                  <a:srgbClr val="163B3B"/>
                </a:solidFill>
                <a:latin typeface="Arial"/>
                <a:ea typeface="Arial"/>
                <a:cs typeface="Arial"/>
              </a:rPr>
              <a:t>Dự báo trên web</a:t>
            </a:r>
          </a:p>
        </p:txBody>
      </p:sp>
      <p:sp>
        <p:nvSpPr>
          <p:cNvPr id="14" name="dist/inference.mjs">
            <a:extLst xmlns:a="http://schemas.openxmlformats.org/drawingml/2006/main">
              <a:ext uri="{FF2B5EF4-FFF2-40B4-BE49-F238E27FC236}">
                <a16:creationId xmlns:a16="http://schemas.microsoft.com/office/drawing/2014/main" id="{4764ECBD-8C44-4338-B659-01C6B38F5640}"/>
              </a:ext>
            </a:extLst>
          </p:cNvPr>
          <p:cNvSpPr>
            <a:spLocks xmlns:a="http://schemas.openxmlformats.org/drawingml/2006/main" noGrp="1"/>
          </p:cNvSpPr>
          <p:nvPr/>
        </p:nvSpPr>
        <p:spPr>
          <a:xfrm xmlns:a="http://schemas.openxmlformats.org/drawingml/2006/main">
            <a:off x="8286750" y="461962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657B79"/>
                </a:solidFill>
                <a:latin typeface="Arial"/>
                <a:ea typeface="Arial"/>
                <a:cs typeface="Arial"/>
              </a:defRPr>
            </a:defPPr>
          </a:lstStyle>
          <a:p xmlns:a="http://schemas.openxmlformats.org/drawingml/2006/main">
            <a:pPr>
              <a:defRPr sz="1725">
                <a:solidFill>
                  <a:srgbClr val="657B79"/>
                </a:solidFill>
                <a:latin typeface="Arial"/>
                <a:ea typeface="Arial"/>
                <a:cs typeface="Arial"/>
              </a:defRPr>
            </a:pPr>
            <a:r>
              <a:rPr sz="1725">
                <a:solidFill>
                  <a:srgbClr val="657B79"/>
                </a:solidFill>
                <a:latin typeface="Arial"/>
                <a:ea typeface="Arial"/>
                <a:cs typeface="Arial"/>
              </a:rPr>
              <a:t>dist/inference.mjs</a:t>
            </a:r>
          </a:p>
        </p:txBody>
      </p:sp>
      <p:sp>
        <p:nvSpPr>
          <p:cNvPr id="15" name="Dữ liệu, cấu hình, checkpoint và kết quả được">
            <a:extLst xmlns:a="http://schemas.openxmlformats.org/drawingml/2006/main">
              <a:ext uri="{FF2B5EF4-FFF2-40B4-BE49-F238E27FC236}">
                <a16:creationId xmlns:a16="http://schemas.microsoft.com/office/drawing/2014/main" id="{14F77ADE-84C8-4B23-8E17-5083E43CDF18}"/>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Dữ liệu, cấu hình, checkpoint và kết quả được lưu để chạy lại.</a:t>
            </a:r>
          </a:p>
        </p:txBody>
      </p:sp>
    </p:spTree>
    <p:extLst>
      <p:ext uri="{BB962C8B-B14F-4D97-AF65-F5344CB8AC3E}">
        <p14:creationId xmlns:p14="http://schemas.microsoft.com/office/powerpoint/2010/main" val="471797161"/>
      </p:ext>
    </p:extLst>
  </p:cSld>
</p:sld>
</file>

<file path=ppt/slides/slide1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73F3699-3A6A-425B-A1D1-737EDE895AC2}"/>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Đối chứng: giữ nguyên tốc độ</a:t>
            </a:r>
          </a:p>
        </p:txBody>
      </p:sp>
      <p:sp>
        <p:nvSpPr>
          <p:cNvPr id="2" name="13 / 26">
            <a:extLst xmlns:a="http://schemas.openxmlformats.org/drawingml/2006/main">
              <a:ext uri="{FF2B5EF4-FFF2-40B4-BE49-F238E27FC236}">
                <a16:creationId xmlns:a16="http://schemas.microsoft.com/office/drawing/2014/main" id="{4335FDA8-A318-4BEF-B0C8-6C00F9B0C8C1}"/>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13 / 26</a:t>
            </a:r>
          </a:p>
        </p:txBody>
      </p:sp>
      <p:graphicFrame>
        <p:nvGraphicFramePr>
          <p:cNvPr id="3" name="Chart">
            <a:extLst xmlns:a="http://schemas.openxmlformats.org/drawingml/2006/main">
              <a:ext uri="{FF2B5EF4-FFF2-40B4-BE49-F238E27FC236}">
                <a16:creationId xmlns:a16="http://schemas.microsoft.com/office/drawing/2014/main" id="{0BDEC46D-87C2-40E7-BF23-80C49893370C}"/>
              </a:ext>
            </a:extLst>
          </p:cNvPr>
          <p:cNvGraphicFramePr/>
          <p:nvPr/>
        </p:nvGraphicFramePr>
        <p:xfrm>
          <a:off xmlns:a="http://schemas.openxmlformats.org/drawingml/2006/main" x="609600" y="1733550"/>
          <a:ext xmlns:a="http://schemas.openxmlformats.org/drawingml/2006/main" cx="7905750" cy="3667125"/>
        </p:xfrm>
        <a:graphic xmlns:a="http://schemas.openxmlformats.org/drawingml/2006/main">
          <a:graphicData uri="http://schemas.openxmlformats.org/drawingml/2006/chart">
            <c:chart xmlns:r="http://schemas.openxmlformats.org/officeDocument/2006/relationships" xmlns:c="http://schemas.openxmlformats.org/drawingml/2006/chart" r:id="Rea0549a78bd84f14"/>
          </a:graphicData>
        </a:graphic>
      </p:graphicFrame>
      <p:sp>
        <p:nvSpPr>
          <p:cNvPr id="4" name="14,5">
            <a:extLst xmlns:a="http://schemas.openxmlformats.org/drawingml/2006/main">
              <a:ext uri="{FF2B5EF4-FFF2-40B4-BE49-F238E27FC236}">
                <a16:creationId xmlns:a16="http://schemas.microsoft.com/office/drawing/2014/main" id="{FF0D327F-F3A5-4795-BF0B-2E1A320F0897}"/>
              </a:ext>
            </a:extLst>
          </p:cNvPr>
          <p:cNvSpPr>
            <a:spLocks xmlns:a="http://schemas.openxmlformats.org/drawingml/2006/main" noGrp="1"/>
          </p:cNvSpPr>
          <p:nvPr/>
        </p:nvSpPr>
        <p:spPr>
          <a:xfrm xmlns:a="http://schemas.openxmlformats.org/drawingml/2006/main">
            <a:off x="8858250" y="215265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025" b="1">
                <a:solidFill>
                  <a:srgbClr val="BE7B2F"/>
                </a:solidFill>
                <a:latin typeface="Arial"/>
                <a:ea typeface="Arial"/>
                <a:cs typeface="Arial"/>
              </a:defRPr>
            </a:defPPr>
          </a:lstStyle>
          <a:p xmlns:a="http://schemas.openxmlformats.org/drawingml/2006/main">
            <a:pPr>
              <a:defRPr sz="5025" b="1">
                <a:solidFill>
                  <a:srgbClr val="BE7B2F"/>
                </a:solidFill>
                <a:latin typeface="Arial"/>
                <a:ea typeface="Arial"/>
                <a:cs typeface="Arial"/>
              </a:defRPr>
            </a:pPr>
            <a:r>
              <a:rPr sz="5025" b="1">
                <a:solidFill>
                  <a:srgbClr val="BE7B2F"/>
                </a:solidFill>
                <a:latin typeface="Arial"/>
                <a:ea typeface="Arial"/>
                <a:cs typeface="Arial"/>
              </a:rPr>
              <a:t>14,5</a:t>
            </a:r>
          </a:p>
        </p:txBody>
      </p:sp>
      <p:sp>
        <p:nvSpPr>
          <p:cNvPr id="5" name="km/h hiện tại&#10;&#10;14,5 km/h&#10;sau 15 phút">
            <a:extLst xmlns:a="http://schemas.openxmlformats.org/drawingml/2006/main">
              <a:ext uri="{FF2B5EF4-FFF2-40B4-BE49-F238E27FC236}">
                <a16:creationId xmlns:a16="http://schemas.microsoft.com/office/drawing/2014/main" id="{DA1A4B88-DF30-483A-AF35-66B20F21F6D8}"/>
              </a:ext>
            </a:extLst>
          </p:cNvPr>
          <p:cNvSpPr>
            <a:spLocks xmlns:a="http://schemas.openxmlformats.org/drawingml/2006/main" noGrp="1"/>
          </p:cNvSpPr>
          <p:nvPr/>
        </p:nvSpPr>
        <p:spPr>
          <a:xfrm xmlns:a="http://schemas.openxmlformats.org/drawingml/2006/main">
            <a:off x="8858250" y="3219450"/>
            <a:ext cx="27813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63B3B"/>
                </a:solidFill>
                <a:latin typeface="Arial"/>
                <a:ea typeface="Arial"/>
                <a:cs typeface="Arial"/>
              </a:defRPr>
            </a:defPPr>
          </a:lstStyle>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km/h hiện tại</a:t>
            </a:r>
          </a:p>
          <a:p xmlns:a="http://schemas.openxmlformats.org/drawingml/2006/main">
            <a:r>
              <a:t/>
            </a:r>
          </a:p>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14,5 km/h</a:t>
            </a:r>
          </a:p>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sau 15 phút</a:t>
            </a:r>
          </a:p>
        </p:txBody>
      </p:sp>
      <p:sp>
        <p:nvSpPr>
          <p:cNvPr id="6" name="Phương pháp giữ nguyên không cần huấn luyện. ">
            <a:extLst xmlns:a="http://schemas.openxmlformats.org/drawingml/2006/main">
              <a:ext uri="{FF2B5EF4-FFF2-40B4-BE49-F238E27FC236}">
                <a16:creationId xmlns:a16="http://schemas.microsoft.com/office/drawing/2014/main" id="{246FA65E-0C79-4DB3-819D-32BBC18E121F}"/>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Phương pháp giữ nguyên không cần huấn luyện. Đây là mốc so sánh tối thiểu.</a:t>
            </a:r>
          </a:p>
        </p:txBody>
      </p:sp>
    </p:spTree>
    <p:extLst>
      <p:ext uri="{BB962C8B-B14F-4D97-AF65-F5344CB8AC3E}">
        <p14:creationId xmlns:p14="http://schemas.microsoft.com/office/powerpoint/2010/main" val="1114897094"/>
      </p:ext>
    </p:extLst>
  </p:cSld>
</p:sld>
</file>

<file path=ppt/slides/slide1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0DE43EA-C3EF-4E1D-8A24-CFD5F51FFD30}"/>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GRU học diễn biến theo thời gian</a:t>
            </a:r>
          </a:p>
        </p:txBody>
      </p:sp>
      <p:sp>
        <p:nvSpPr>
          <p:cNvPr id="2" name="14 / 26">
            <a:extLst xmlns:a="http://schemas.openxmlformats.org/drawingml/2006/main">
              <a:ext uri="{FF2B5EF4-FFF2-40B4-BE49-F238E27FC236}">
                <a16:creationId xmlns:a16="http://schemas.microsoft.com/office/drawing/2014/main" id="{ADD89355-4C24-4884-BBEB-9C9D8DD43917}"/>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14 / 26</a:t>
            </a:r>
          </a:p>
        </p:txBody>
      </p:sp>
      <p:graphicFrame>
        <p:nvGraphicFramePr>
          <p:cNvPr id="3" name="Chart">
            <a:extLst xmlns:a="http://schemas.openxmlformats.org/drawingml/2006/main">
              <a:ext uri="{FF2B5EF4-FFF2-40B4-BE49-F238E27FC236}">
                <a16:creationId xmlns:a16="http://schemas.microsoft.com/office/drawing/2014/main" id="{68094F44-E360-4ACD-8219-A75D23B152F6}"/>
              </a:ext>
            </a:extLst>
          </p:cNvPr>
          <p:cNvGraphicFramePr/>
          <p:nvPr/>
        </p:nvGraphicFramePr>
        <p:xfrm>
          <a:off xmlns:a="http://schemas.openxmlformats.org/drawingml/2006/main" x="609600" y="1771650"/>
          <a:ext xmlns:a="http://schemas.openxmlformats.org/drawingml/2006/main" cx="7496175" cy="3514725"/>
        </p:xfrm>
        <a:graphic xmlns:a="http://schemas.openxmlformats.org/drawingml/2006/main">
          <a:graphicData uri="http://schemas.openxmlformats.org/drawingml/2006/chart">
            <c:chart xmlns:r="http://schemas.openxmlformats.org/officeDocument/2006/relationships" xmlns:c="http://schemas.openxmlformats.org/drawingml/2006/chart" r:id="Rd6655ab5ef3c4ee4"/>
          </a:graphicData>
        </a:graphic>
      </p:graphicFrame>
      <p:sp>
        <p:nvSpPr>
          <p:cNvPr id="4" name="Trạng thái ẩn">
            <a:extLst xmlns:a="http://schemas.openxmlformats.org/drawingml/2006/main">
              <a:ext uri="{FF2B5EF4-FFF2-40B4-BE49-F238E27FC236}">
                <a16:creationId xmlns:a16="http://schemas.microsoft.com/office/drawing/2014/main" id="{7FBA4941-7D4D-47FA-8C23-90AC12BAD922}"/>
              </a:ext>
            </a:extLst>
          </p:cNvPr>
          <p:cNvSpPr>
            <a:spLocks xmlns:a="http://schemas.openxmlformats.org/drawingml/2006/main" noGrp="1"/>
          </p:cNvSpPr>
          <p:nvPr/>
        </p:nvSpPr>
        <p:spPr>
          <a:xfrm xmlns:a="http://schemas.openxmlformats.org/drawingml/2006/main">
            <a:off x="8543925" y="1847850"/>
            <a:ext cx="3086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087E73"/>
                </a:solidFill>
                <a:latin typeface="Arial"/>
                <a:ea typeface="Arial"/>
                <a:cs typeface="Arial"/>
              </a:defRPr>
            </a:defPPr>
          </a:lstStyle>
          <a:p xmlns:a="http://schemas.openxmlformats.org/drawingml/2006/main">
            <a:pPr>
              <a:defRPr sz="2925" b="1">
                <a:solidFill>
                  <a:srgbClr val="087E73"/>
                </a:solidFill>
                <a:latin typeface="Arial"/>
                <a:ea typeface="Arial"/>
                <a:cs typeface="Arial"/>
              </a:defRPr>
            </a:pPr>
            <a:r>
              <a:rPr sz="2925" b="1">
                <a:solidFill>
                  <a:srgbClr val="087E73"/>
                </a:solidFill>
                <a:latin typeface="Arial"/>
                <a:ea typeface="Arial"/>
                <a:cs typeface="Arial"/>
              </a:rPr>
              <a:t>Trạng thái ẩn</a:t>
            </a:r>
          </a:p>
        </p:txBody>
      </p:sp>
      <p:sp>
        <p:nvSpPr>
          <p:cNvPr id="5" name="Đọc từng mốc&#10;Giữ thông tin hữu ích&#10;Cập nhật b">
            <a:extLst xmlns:a="http://schemas.openxmlformats.org/drawingml/2006/main">
              <a:ext uri="{FF2B5EF4-FFF2-40B4-BE49-F238E27FC236}">
                <a16:creationId xmlns:a16="http://schemas.microsoft.com/office/drawing/2014/main" id="{DA6F6D10-268E-4E71-A4D7-E73D40ACDDFF}"/>
              </a:ext>
            </a:extLst>
          </p:cNvPr>
          <p:cNvSpPr>
            <a:spLocks xmlns:a="http://schemas.openxmlformats.org/drawingml/2006/main" noGrp="1"/>
          </p:cNvSpPr>
          <p:nvPr/>
        </p:nvSpPr>
        <p:spPr>
          <a:xfrm xmlns:a="http://schemas.openxmlformats.org/drawingml/2006/main">
            <a:off x="8543925" y="3086100"/>
            <a:ext cx="2952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Đọc từng mốc</a:t>
            </a:r>
          </a:p>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Giữ thông tin hữu ích</a:t>
            </a:r>
          </a:p>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Cập nhật bộ nhớ</a:t>
            </a:r>
          </a:p>
        </p:txBody>
      </p:sp>
      <p:sp>
        <p:nvSpPr>
          <p:cNvPr id="6" name="GRU học diễn biến theo thời gian">
            <a:extLst xmlns:a="http://schemas.openxmlformats.org/drawingml/2006/main">
              <a:ext uri="{FF2B5EF4-FFF2-40B4-BE49-F238E27FC236}">
                <a16:creationId xmlns:a16="http://schemas.microsoft.com/office/drawing/2014/main" id="{299A4AB7-D167-4F6C-B85C-EA1DE1A58406}"/>
              </a:ext>
            </a:extLst>
          </p:cNvPr>
          <p:cNvSpPr>
            <a:spLocks xmlns:a="http://schemas.openxmlformats.org/drawingml/2006/main" noGrp="1"/>
          </p:cNvSpPr>
          <p:nvPr/>
        </p:nvSpPr>
        <p:spPr>
          <a:xfrm xmlns:a="http://schemas.openxmlformats.org/drawingml/2006/main">
            <a:off x="609600" y="55054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GRU học diễn biến theo thời gian</a:t>
            </a:r>
          </a:p>
        </p:txBody>
      </p:sp>
    </p:spTree>
    <p:extLst>
      <p:ext uri="{BB962C8B-B14F-4D97-AF65-F5344CB8AC3E}">
        <p14:creationId xmlns:p14="http://schemas.microsoft.com/office/powerpoint/2010/main" val="1125552186"/>
      </p:ext>
    </p:extLst>
  </p:cSld>
</p:sld>
</file>

<file path=ppt/slides/slide1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BA525599-26F8-487D-8A1E-AAED13A00172}"/>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GCN học từ các vị trí liên quan</a:t>
            </a:r>
          </a:p>
        </p:txBody>
      </p:sp>
      <p:sp>
        <p:nvSpPr>
          <p:cNvPr id="2" name="15 / 26">
            <a:extLst xmlns:a="http://schemas.openxmlformats.org/drawingml/2006/main">
              <a:ext uri="{FF2B5EF4-FFF2-40B4-BE49-F238E27FC236}">
                <a16:creationId xmlns:a16="http://schemas.microsoft.com/office/drawing/2014/main" id="{75D49A78-422C-4D21-BA64-EF171866365E}"/>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15 / 26</a:t>
            </a:r>
          </a:p>
        </p:txBody>
      </p:sp>
      <p:graphicFrame>
        <p:nvGraphicFramePr>
          <p:cNvPr id="3" name="Chart">
            <a:extLst xmlns:a="http://schemas.openxmlformats.org/drawingml/2006/main">
              <a:ext uri="{FF2B5EF4-FFF2-40B4-BE49-F238E27FC236}">
                <a16:creationId xmlns:a16="http://schemas.microsoft.com/office/drawing/2014/main" id="{746877CC-CE8C-4482-B619-036ED92408B9}"/>
              </a:ext>
            </a:extLst>
          </p:cNvPr>
          <p:cNvGraphicFramePr/>
          <p:nvPr/>
        </p:nvGraphicFramePr>
        <p:xfrm>
          <a:off xmlns:a="http://schemas.openxmlformats.org/drawingml/2006/main" x="609600" y="1714500"/>
          <a:ext xmlns:a="http://schemas.openxmlformats.org/drawingml/2006/main" cx="10972800" cy="3371850"/>
        </p:xfrm>
        <a:graphic xmlns:a="http://schemas.openxmlformats.org/drawingml/2006/main">
          <a:graphicData uri="http://schemas.openxmlformats.org/drawingml/2006/chart">
            <c:chart xmlns:r="http://schemas.openxmlformats.org/officeDocument/2006/relationships" xmlns:c="http://schemas.openxmlformats.org/drawingml/2006/chart" r:id="R120ff53db73f4abb"/>
          </a:graphicData>
        </a:graphic>
      </p:graphicFrame>
      <p:sp>
        <p:nvSpPr>
          <p:cNvPr id="4" name="Tổng hợp có trọng số, kết hợp với đặc trưng c">
            <a:extLst xmlns:a="http://schemas.openxmlformats.org/drawingml/2006/main">
              <a:ext uri="{FF2B5EF4-FFF2-40B4-BE49-F238E27FC236}">
                <a16:creationId xmlns:a16="http://schemas.microsoft.com/office/drawing/2014/main" id="{0F4469B8-FFBF-48FB-89E8-A90EFA5095C3}"/>
              </a:ext>
            </a:extLst>
          </p:cNvPr>
          <p:cNvSpPr>
            <a:spLocks xmlns:a="http://schemas.openxmlformats.org/drawingml/2006/main" noGrp="1"/>
          </p:cNvSpPr>
          <p:nvPr/>
        </p:nvSpPr>
        <p:spPr>
          <a:xfrm xmlns:a="http://schemas.openxmlformats.org/drawingml/2006/main">
            <a:off x="609600" y="541972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Tổng hợp có trọng số, kết hợp với đặc trưng của chính nút</a:t>
            </a:r>
          </a:p>
        </p:txBody>
      </p:sp>
      <p:sp>
        <p:nvSpPr>
          <p:cNvPr id="5" name="Một lớp graph, lân cận một bước. Cạnh khoảng ">
            <a:extLst xmlns:a="http://schemas.openxmlformats.org/drawingml/2006/main">
              <a:ext uri="{FF2B5EF4-FFF2-40B4-BE49-F238E27FC236}">
                <a16:creationId xmlns:a16="http://schemas.microsoft.com/office/drawing/2014/main" id="{4EE2A4E5-1841-4E0E-880D-F5B477F5EDC8}"/>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Một lớp graph, lân cận một bước. Cạnh khoảng cách không phải bằng chứng nhân quả.</a:t>
            </a:r>
          </a:p>
        </p:txBody>
      </p:sp>
    </p:spTree>
    <p:extLst>
      <p:ext uri="{BB962C8B-B14F-4D97-AF65-F5344CB8AC3E}">
        <p14:creationId xmlns:p14="http://schemas.microsoft.com/office/powerpoint/2010/main" val="1693861834"/>
      </p:ext>
    </p:extLst>
  </p:cSld>
</p:sld>
</file>

<file path=ppt/slides/slide1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E081AF3-2216-44E9-891A-C0654E519D6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GCN kết hợp GRU</a:t>
            </a:r>
          </a:p>
        </p:txBody>
      </p:sp>
      <p:sp>
        <p:nvSpPr>
          <p:cNvPr id="2" name="16 / 26">
            <a:extLst xmlns:a="http://schemas.openxmlformats.org/drawingml/2006/main">
              <a:ext uri="{FF2B5EF4-FFF2-40B4-BE49-F238E27FC236}">
                <a16:creationId xmlns:a16="http://schemas.microsoft.com/office/drawing/2014/main" id="{0FCCDD3C-21F0-4B63-BD83-BDE8E4A73A46}"/>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16 / 26</a:t>
            </a:r>
          </a:p>
        </p:txBody>
      </p:sp>
      <p:graphicFrame>
        <p:nvGraphicFramePr>
          <p:cNvPr id="3" name="">
            <a:extLst xmlns:a="http://schemas.openxmlformats.org/drawingml/2006/main">
              <a:ext uri="{FF2B5EF4-FFF2-40B4-BE49-F238E27FC236}">
                <a16:creationId xmlns:a16="http://schemas.microsoft.com/office/drawing/2014/main" id="{66E0AFB8-BD77-4C7D-BC10-547EFA34BF95}"/>
              </a:ext>
            </a:extLst>
          </p:cNvPr>
          <p:cNvGraphicFramePr/>
          <p:nvPr/>
        </p:nvGraphicFramePr>
        <p:xfrm>
          <a:off xmlns:a="http://schemas.openxmlformats.org/drawingml/2006/main" x="609600" y="1762125"/>
          <a:ext xmlns:a="http://schemas.openxmlformats.org/drawingml/2006/main" cx="10972800" cy="2771775"/>
        </p:xfrm>
        <a:graphic xmlns:a="http://schemas.openxmlformats.org/drawingml/2006/main">
          <a:graphicData uri="http://schemas.openxmlformats.org/drawingml/2006/table">
            <a:tbl>
              <a:tblPr firstRow="0" bandRow="0"/>
              <a:tblGrid>
                <a:gridCol w="3143250"/>
                <a:gridCol w="5295900"/>
                <a:gridCol w="2533650"/>
              </a:tblGrid>
              <a:tr h="692944">
                <a:tc>
                  <a:txBody>
                    <a:bodyPr/>
                    <a:lstStyle/>
                    <a:p>
                      <a:r>
                        <a:rPr sz="2025" b="1">
                          <a:solidFill>
                            <a:srgbClr val="FFFFFF"/>
                          </a:solidFill>
                          <a:latin typeface="Arial"/>
                          <a:ea typeface="Arial"/>
                          <a:cs typeface="Arial"/>
                        </a:rPr>
                        <a:t>Khối</a:t>
                      </a:r>
                    </a:p>
                  </a:txBody>
                  <a:tcPr marL="133350" marR="114300" marT="104775" marB="104775" anchor="ctr">
                    <a:lnL w="5715">
                      <a:solidFill>
                        <a:srgbClr val="D7E1D9"/>
                      </a:solidFill>
                    </a:lnL>
                    <a:lnR w="5715">
                      <a:solidFill>
                        <a:srgbClr val="D7E1D9"/>
                      </a:solidFill>
                    </a:lnR>
                    <a:lnT w="5715">
                      <a:solidFill>
                        <a:srgbClr val="D7E1D9"/>
                      </a:solidFill>
                    </a:lnT>
                    <a:lnB w="5715">
                      <a:solidFill>
                        <a:srgbClr val="D7E1D9"/>
                      </a:solidFill>
                    </a:lnB>
                    <a:solidFill>
                      <a:srgbClr val="163B3B"/>
                    </a:solidFill>
                  </a:tcPr>
                </a:tc>
                <a:tc>
                  <a:txBody>
                    <a:bodyPr/>
                    <a:lstStyle/>
                    <a:p>
                      <a:r>
                        <a:rPr sz="2025" b="1">
                          <a:solidFill>
                            <a:srgbClr val="FFFFFF"/>
                          </a:solidFill>
                          <a:latin typeface="Arial"/>
                          <a:ea typeface="Arial"/>
                          <a:cs typeface="Arial"/>
                        </a:rPr>
                        <a:t>Vai trò</a:t>
                      </a:r>
                    </a:p>
                  </a:txBody>
                  <a:tcPr marL="133350" marR="114300" marT="104775" marB="104775" anchor="ctr">
                    <a:lnR w="5715">
                      <a:solidFill>
                        <a:srgbClr val="D7E1D9"/>
                      </a:solidFill>
                    </a:lnR>
                    <a:lnT w="5715">
                      <a:solidFill>
                        <a:srgbClr val="D7E1D9"/>
                      </a:solidFill>
                    </a:lnT>
                    <a:lnB w="5715">
                      <a:solidFill>
                        <a:srgbClr val="D7E1D9"/>
                      </a:solidFill>
                    </a:lnB>
                    <a:solidFill>
                      <a:srgbClr val="163B3B"/>
                    </a:solidFill>
                  </a:tcPr>
                </a:tc>
                <a:tc>
                  <a:txBody>
                    <a:bodyPr/>
                    <a:lstStyle/>
                    <a:p>
                      <a:r>
                        <a:rPr sz="2025" b="1">
                          <a:solidFill>
                            <a:srgbClr val="FFFFFF"/>
                          </a:solidFill>
                          <a:latin typeface="Arial"/>
                          <a:ea typeface="Arial"/>
                          <a:cs typeface="Arial"/>
                        </a:rPr>
                        <a:t>Kích thước</a:t>
                      </a:r>
                    </a:p>
                  </a:txBody>
                  <a:tcPr marL="133350" marR="114300" marT="104775" marB="104775" anchor="ctr">
                    <a:lnR w="5715">
                      <a:solidFill>
                        <a:srgbClr val="D7E1D9"/>
                      </a:solidFill>
                    </a:lnR>
                    <a:lnT w="5715">
                      <a:solidFill>
                        <a:srgbClr val="D7E1D9"/>
                      </a:solidFill>
                    </a:lnT>
                    <a:lnB w="5715">
                      <a:solidFill>
                        <a:srgbClr val="D7E1D9"/>
                      </a:solidFill>
                    </a:lnB>
                    <a:solidFill>
                      <a:srgbClr val="163B3B"/>
                    </a:solidFill>
                  </a:tcPr>
                </a:tc>
              </a:tr>
              <a:tr h="692944">
                <a:tc>
                  <a:txBody>
                    <a:bodyPr/>
                    <a:lstStyle/>
                    <a:p>
                      <a:r>
                        <a:rPr sz="2025">
                          <a:solidFill>
                            <a:srgbClr val="163B3B"/>
                          </a:solidFill>
                          <a:latin typeface="Arial"/>
                          <a:ea typeface="Arial"/>
                          <a:cs typeface="Arial"/>
                        </a:rPr>
                        <a:t>Lớp graph + ReLU</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Kết hợp nút và hàng xóm</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8 đặc trưng</a:t>
                      </a:r>
                    </a:p>
                  </a:txBody>
                  <a:tcPr marL="133350" marR="114300" marT="104775" marB="104775" anchor="ctr">
                    <a:lnR w="5715">
                      <a:solidFill>
                        <a:srgbClr val="D7E1D9"/>
                      </a:solidFill>
                    </a:lnR>
                    <a:lnB w="5715">
                      <a:solidFill>
                        <a:srgbClr val="D7E1D9"/>
                      </a:solidFill>
                    </a:lnB>
                    <a:solidFill>
                      <a:srgbClr val="F7F6F0"/>
                    </a:solidFill>
                  </a:tcPr>
                </a:tc>
              </a:tr>
              <a:tr h="692944">
                <a:tc>
                  <a:txBody>
                    <a:bodyPr/>
                    <a:lstStyle/>
                    <a:p>
                      <a:r>
                        <a:rPr sz="2025">
                          <a:solidFill>
                            <a:srgbClr val="163B3B"/>
                          </a:solidFill>
                          <a:latin typeface="Arial"/>
                          <a:ea typeface="Arial"/>
                          <a:cs typeface="Arial"/>
                        </a:rPr>
                        <a:t>GRU</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Học chuỗi 12 mốc</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16 chiều ẩn</a:t>
                      </a:r>
                    </a:p>
                  </a:txBody>
                  <a:tcPr marL="133350" marR="114300" marT="104775" marB="104775" anchor="ctr">
                    <a:lnR w="5715">
                      <a:solidFill>
                        <a:srgbClr val="D7E1D9"/>
                      </a:solidFill>
                    </a:lnR>
                    <a:lnB w="5715">
                      <a:solidFill>
                        <a:srgbClr val="D7E1D9"/>
                      </a:solidFill>
                    </a:lnB>
                    <a:solidFill>
                      <a:srgbClr val="F7F6F0"/>
                    </a:solidFill>
                  </a:tcPr>
                </a:tc>
              </a:tr>
              <a:tr h="692944">
                <a:tc>
                  <a:txBody>
                    <a:bodyPr/>
                    <a:lstStyle/>
                    <a:p>
                      <a:r>
                        <a:rPr sz="2025">
                          <a:solidFill>
                            <a:srgbClr val="163B3B"/>
                          </a:solidFill>
                          <a:latin typeface="Arial"/>
                          <a:ea typeface="Arial"/>
                          <a:cs typeface="Arial"/>
                        </a:rPr>
                        <a:t>Lớp đầu ra</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Dự báo phần thay đổi</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1 giá trị / nút</a:t>
                      </a:r>
                    </a:p>
                  </a:txBody>
                  <a:tcPr marL="133350" marR="114300" marT="104775" marB="104775" anchor="ctr">
                    <a:lnR w="5715">
                      <a:solidFill>
                        <a:srgbClr val="D7E1D9"/>
                      </a:solidFill>
                    </a:lnR>
                    <a:lnB w="5715">
                      <a:solidFill>
                        <a:srgbClr val="D7E1D9"/>
                      </a:solidFill>
                    </a:lnB>
                    <a:solidFill>
                      <a:srgbClr val="F7F6F0"/>
                    </a:solidFill>
                  </a:tcPr>
                </a:tc>
              </a:tr>
            </a:tbl>
          </a:graphicData>
        </a:graphic>
      </p:graphicFrame>
      <p:sp>
        <p:nvSpPr>
          <p:cNvPr id="4" name="1.497 tham số">
            <a:extLst xmlns:a="http://schemas.openxmlformats.org/drawingml/2006/main">
              <a:ext uri="{FF2B5EF4-FFF2-40B4-BE49-F238E27FC236}">
                <a16:creationId xmlns:a16="http://schemas.microsoft.com/office/drawing/2014/main" id="{430ECD2B-704F-40E0-9240-726B59D6A3E4}"/>
              </a:ext>
            </a:extLst>
          </p:cNvPr>
          <p:cNvSpPr>
            <a:spLocks xmlns:a="http://schemas.openxmlformats.org/drawingml/2006/main" noGrp="1"/>
          </p:cNvSpPr>
          <p:nvPr/>
        </p:nvSpPr>
        <p:spPr>
          <a:xfrm xmlns:a="http://schemas.openxmlformats.org/drawingml/2006/main">
            <a:off x="609600" y="5010150"/>
            <a:ext cx="628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087E73"/>
                </a:solidFill>
                <a:latin typeface="Arial"/>
                <a:ea typeface="Arial"/>
                <a:cs typeface="Arial"/>
              </a:defRPr>
            </a:defPPr>
          </a:lstStyle>
          <a:p xmlns:a="http://schemas.openxmlformats.org/drawingml/2006/main">
            <a:pPr>
              <a:defRPr sz="3525" b="1">
                <a:solidFill>
                  <a:srgbClr val="087E73"/>
                </a:solidFill>
                <a:latin typeface="Arial"/>
                <a:ea typeface="Arial"/>
                <a:cs typeface="Arial"/>
              </a:defRPr>
            </a:pPr>
            <a:r>
              <a:rPr sz="3525" b="1">
                <a:solidFill>
                  <a:srgbClr val="087E73"/>
                </a:solidFill>
                <a:latin typeface="Arial"/>
                <a:ea typeface="Arial"/>
                <a:cs typeface="Arial"/>
              </a:rPr>
              <a:t>1.497 tham số</a:t>
            </a:r>
          </a:p>
        </p:txBody>
      </p:sp>
      <p:sp>
        <p:nvSpPr>
          <p:cNvPr id="5" name="GRU đối chứng: cùng khung, A = I">
            <a:extLst xmlns:a="http://schemas.openxmlformats.org/drawingml/2006/main">
              <a:ext uri="{FF2B5EF4-FFF2-40B4-BE49-F238E27FC236}">
                <a16:creationId xmlns:a16="http://schemas.microsoft.com/office/drawing/2014/main" id="{F59968D3-DFF7-481E-811A-A7556245E59B}"/>
              </a:ext>
            </a:extLst>
          </p:cNvPr>
          <p:cNvSpPr>
            <a:spLocks xmlns:a="http://schemas.openxmlformats.org/drawingml/2006/main" noGrp="1"/>
          </p:cNvSpPr>
          <p:nvPr/>
        </p:nvSpPr>
        <p:spPr>
          <a:xfrm xmlns:a="http://schemas.openxmlformats.org/drawingml/2006/main">
            <a:off x="6772275" y="5143500"/>
            <a:ext cx="4838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GRU đối chứng: cùng khung, A = I</a:t>
            </a:r>
          </a:p>
        </p:txBody>
      </p:sp>
      <p:sp>
        <p:nvSpPr>
          <p:cNvPr id="6" name="Kiến trúc gọn có nhánh giữ đặc trưng nút. Khô">
            <a:extLst xmlns:a="http://schemas.openxmlformats.org/drawingml/2006/main">
              <a:ext uri="{FF2B5EF4-FFF2-40B4-BE49-F238E27FC236}">
                <a16:creationId xmlns:a16="http://schemas.microsoft.com/office/drawing/2014/main" id="{A1EEA882-931D-4AD6-9A38-B924DB073DCA}"/>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Kiến trúc gọn có nhánh giữ đặc trưng nút. Không tái lập nguyên vẹn T-GCN hoặc DCRNN.</a:t>
            </a:r>
          </a:p>
        </p:txBody>
      </p:sp>
    </p:spTree>
    <p:extLst>
      <p:ext uri="{BB962C8B-B14F-4D97-AF65-F5344CB8AC3E}">
        <p14:creationId xmlns:p14="http://schemas.microsoft.com/office/powerpoint/2010/main" val="1094054320"/>
      </p:ext>
    </p:extLst>
  </p:cSld>
</p:sld>
</file>

<file path=ppt/slides/slide1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C7164B5-33C8-407D-AAF7-DE1A7320FFEF}"/>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Mô hình được huấn luyện ra sao?</a:t>
            </a:r>
          </a:p>
        </p:txBody>
      </p:sp>
      <p:sp>
        <p:nvSpPr>
          <p:cNvPr id="2" name="17 / 26">
            <a:extLst xmlns:a="http://schemas.openxmlformats.org/drawingml/2006/main">
              <a:ext uri="{FF2B5EF4-FFF2-40B4-BE49-F238E27FC236}">
                <a16:creationId xmlns:a16="http://schemas.microsoft.com/office/drawing/2014/main" id="{3870902F-DDE8-49D6-93B4-6EA110B4D138}"/>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17 / 26</a:t>
            </a:r>
          </a:p>
        </p:txBody>
      </p:sp>
      <p:graphicFrame>
        <p:nvGraphicFramePr>
          <p:cNvPr id="3" name="Chart">
            <a:extLst xmlns:a="http://schemas.openxmlformats.org/drawingml/2006/main">
              <a:ext uri="{FF2B5EF4-FFF2-40B4-BE49-F238E27FC236}">
                <a16:creationId xmlns:a16="http://schemas.microsoft.com/office/drawing/2014/main" id="{667FCAB9-7507-41AC-AF0A-C74826E94888}"/>
              </a:ext>
            </a:extLst>
          </p:cNvPr>
          <p:cNvGraphicFramePr/>
          <p:nvPr/>
        </p:nvGraphicFramePr>
        <p:xfrm>
          <a:off xmlns:a="http://schemas.openxmlformats.org/drawingml/2006/main" x="609600" y="1724025"/>
          <a:ext xmlns:a="http://schemas.openxmlformats.org/drawingml/2006/main" cx="8210550" cy="3686175"/>
        </p:xfrm>
        <a:graphic xmlns:a="http://schemas.openxmlformats.org/drawingml/2006/main">
          <a:graphicData uri="http://schemas.openxmlformats.org/drawingml/2006/chart">
            <c:chart xmlns:r="http://schemas.openxmlformats.org/officeDocument/2006/relationships" xmlns:c="http://schemas.openxmlformats.org/drawingml/2006/chart" r:id="Rdd9a60d2b6494cdc"/>
          </a:graphicData>
        </a:graphic>
      </p:graphicFrame>
      <p:sp>
        <p:nvSpPr>
          <p:cNvPr id="4" name="MAE&#10;validation">
            <a:extLst xmlns:a="http://schemas.openxmlformats.org/drawingml/2006/main">
              <a:ext uri="{FF2B5EF4-FFF2-40B4-BE49-F238E27FC236}">
                <a16:creationId xmlns:a16="http://schemas.microsoft.com/office/drawing/2014/main" id="{27D70DEB-E98B-4D78-B76A-A86C2D8E88FA}"/>
              </a:ext>
            </a:extLst>
          </p:cNvPr>
          <p:cNvSpPr>
            <a:spLocks xmlns:a="http://schemas.openxmlformats.org/drawingml/2006/main" noGrp="1"/>
          </p:cNvSpPr>
          <p:nvPr/>
        </p:nvSpPr>
        <p:spPr>
          <a:xfrm xmlns:a="http://schemas.openxmlformats.org/drawingml/2006/main">
            <a:off x="9182100" y="1828800"/>
            <a:ext cx="24860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087E73"/>
                </a:solidFill>
                <a:latin typeface="Arial"/>
                <a:ea typeface="Arial"/>
                <a:cs typeface="Arial"/>
              </a:defRPr>
            </a:defPPr>
          </a:lstStyle>
          <a:p xmlns:a="http://schemas.openxmlformats.org/drawingml/2006/main">
            <a:pPr>
              <a:defRPr sz="2775" b="1">
                <a:solidFill>
                  <a:srgbClr val="087E73"/>
                </a:solidFill>
                <a:latin typeface="Arial"/>
                <a:ea typeface="Arial"/>
                <a:cs typeface="Arial"/>
              </a:defRPr>
            </a:pPr>
            <a:r>
              <a:rPr sz="2775" b="1">
                <a:solidFill>
                  <a:srgbClr val="087E73"/>
                </a:solidFill>
                <a:latin typeface="Arial"/>
                <a:ea typeface="Arial"/>
                <a:cs typeface="Arial"/>
              </a:rPr>
              <a:t>MAE</a:t>
            </a:r>
          </a:p>
          <a:p xmlns:a="http://schemas.openxmlformats.org/drawingml/2006/main">
            <a:pPr>
              <a:defRPr sz="2775" b="1">
                <a:solidFill>
                  <a:srgbClr val="087E73"/>
                </a:solidFill>
                <a:latin typeface="Arial"/>
                <a:ea typeface="Arial"/>
                <a:cs typeface="Arial"/>
              </a:defRPr>
            </a:pPr>
            <a:r>
              <a:rPr sz="2775" b="1">
                <a:solidFill>
                  <a:srgbClr val="087E73"/>
                </a:solidFill>
                <a:latin typeface="Arial"/>
                <a:ea typeface="Arial"/>
                <a:cs typeface="Arial"/>
              </a:rPr>
              <a:t>validation</a:t>
            </a:r>
          </a:p>
        </p:txBody>
      </p:sp>
      <p:sp>
        <p:nvSpPr>
          <p:cNvPr id="5" name="Chọn epoch 34&#10;Seed 42&#10;&#10;Adam&#10;Batch 512">
            <a:extLst xmlns:a="http://schemas.openxmlformats.org/drawingml/2006/main">
              <a:ext uri="{FF2B5EF4-FFF2-40B4-BE49-F238E27FC236}">
                <a16:creationId xmlns:a16="http://schemas.microsoft.com/office/drawing/2014/main" id="{83F017AC-3FFC-4AF0-8C11-88182E2CCCD5}"/>
              </a:ext>
            </a:extLst>
          </p:cNvPr>
          <p:cNvSpPr>
            <a:spLocks xmlns:a="http://schemas.openxmlformats.org/drawingml/2006/main" noGrp="1"/>
          </p:cNvSpPr>
          <p:nvPr/>
        </p:nvSpPr>
        <p:spPr>
          <a:xfrm xmlns:a="http://schemas.openxmlformats.org/drawingml/2006/main">
            <a:off x="9163050" y="3133725"/>
            <a:ext cx="2428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Chọn epoch 34</a:t>
            </a:r>
          </a:p>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Seed 42</a:t>
            </a:r>
          </a:p>
          <a:p xmlns:a="http://schemas.openxmlformats.org/drawingml/2006/main">
            <a:r>
              <a:t/>
            </a:r>
          </a:p>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Adam</a:t>
            </a:r>
          </a:p>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Batch 512</a:t>
            </a:r>
          </a:p>
        </p:txBody>
      </p:sp>
      <p:sp>
        <p:nvSpPr>
          <p:cNvPr id="6" name="Mỗi epoch lấy 32.768 cặp cửa sổ–cảm biến. Tối">
            <a:extLst xmlns:a="http://schemas.openxmlformats.org/drawingml/2006/main">
              <a:ext uri="{FF2B5EF4-FFF2-40B4-BE49-F238E27FC236}">
                <a16:creationId xmlns:a16="http://schemas.microsoft.com/office/drawing/2014/main" id="{5E0C044B-AAE7-4972-8B03-DE1008245965}"/>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Mỗi epoch lấy 32.768 cặp cửa sổ–cảm biến. Tối đa 35 epoch, patience 7.</a:t>
            </a:r>
          </a:p>
        </p:txBody>
      </p:sp>
    </p:spTree>
    <p:extLst>
      <p:ext uri="{BB962C8B-B14F-4D97-AF65-F5344CB8AC3E}">
        <p14:creationId xmlns:p14="http://schemas.microsoft.com/office/powerpoint/2010/main" val="242628801"/>
      </p:ext>
    </p:extLst>
  </p:cSld>
</p:sld>
</file>

<file path=ppt/slides/slide1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EB00B3E-2BE6-465F-AE7D-0761DA27E286}"/>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Thiết kế so sánh</a:t>
            </a:r>
          </a:p>
        </p:txBody>
      </p:sp>
      <p:sp>
        <p:nvSpPr>
          <p:cNvPr id="2" name="18 / 26">
            <a:extLst xmlns:a="http://schemas.openxmlformats.org/drawingml/2006/main">
              <a:ext uri="{FF2B5EF4-FFF2-40B4-BE49-F238E27FC236}">
                <a16:creationId xmlns:a16="http://schemas.microsoft.com/office/drawing/2014/main" id="{82877EED-7F28-4B24-919A-3B3D562F1666}"/>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18 / 26</a:t>
            </a:r>
          </a:p>
        </p:txBody>
      </p:sp>
      <p:graphicFrame>
        <p:nvGraphicFramePr>
          <p:cNvPr id="3" name="">
            <a:extLst xmlns:a="http://schemas.openxmlformats.org/drawingml/2006/main">
              <a:ext uri="{FF2B5EF4-FFF2-40B4-BE49-F238E27FC236}">
                <a16:creationId xmlns:a16="http://schemas.microsoft.com/office/drawing/2014/main" id="{9CCCB9DC-18E4-40C3-B642-F3386EE4AC32}"/>
              </a:ext>
            </a:extLst>
          </p:cNvPr>
          <p:cNvGraphicFramePr/>
          <p:nvPr/>
        </p:nvGraphicFramePr>
        <p:xfrm>
          <a:off xmlns:a="http://schemas.openxmlformats.org/drawingml/2006/main" x="609600" y="1685925"/>
          <a:ext xmlns:a="http://schemas.openxmlformats.org/drawingml/2006/main" cx="10972800" cy="3305175"/>
        </p:xfrm>
        <a:graphic xmlns:a="http://schemas.openxmlformats.org/drawingml/2006/main">
          <a:graphicData uri="http://schemas.openxmlformats.org/drawingml/2006/table">
            <a:tbl>
              <a:tblPr firstRow="0" bandRow="0"/>
              <a:tblGrid>
                <a:gridCol w="4572000"/>
                <a:gridCol w="3200400"/>
                <a:gridCol w="3200400"/>
              </a:tblGrid>
              <a:tr h="661035">
                <a:tc>
                  <a:txBody>
                    <a:bodyPr/>
                    <a:lstStyle/>
                    <a:p>
                      <a:r>
                        <a:rPr sz="2025" b="1">
                          <a:solidFill>
                            <a:srgbClr val="FFFFFF"/>
                          </a:solidFill>
                          <a:latin typeface="Arial"/>
                          <a:ea typeface="Arial"/>
                          <a:cs typeface="Arial"/>
                        </a:rPr>
                        <a:t>Điều kiện</a:t>
                      </a:r>
                    </a:p>
                  </a:txBody>
                  <a:tcPr marL="133350" marR="114300" marT="104775" marB="104775" anchor="ctr">
                    <a:lnL w="5715">
                      <a:solidFill>
                        <a:srgbClr val="D7E1D9"/>
                      </a:solidFill>
                    </a:lnL>
                    <a:lnR w="5715">
                      <a:solidFill>
                        <a:srgbClr val="D7E1D9"/>
                      </a:solidFill>
                    </a:lnR>
                    <a:lnT w="5715">
                      <a:solidFill>
                        <a:srgbClr val="D7E1D9"/>
                      </a:solidFill>
                    </a:lnT>
                    <a:lnB w="5715">
                      <a:solidFill>
                        <a:srgbClr val="D7E1D9"/>
                      </a:solidFill>
                    </a:lnB>
                    <a:solidFill>
                      <a:srgbClr val="163B3B"/>
                    </a:solidFill>
                  </a:tcPr>
                </a:tc>
                <a:tc>
                  <a:txBody>
                    <a:bodyPr/>
                    <a:lstStyle/>
                    <a:p>
                      <a:r>
                        <a:rPr sz="2025" b="1">
                          <a:solidFill>
                            <a:srgbClr val="FFFFFF"/>
                          </a:solidFill>
                          <a:latin typeface="Arial"/>
                          <a:ea typeface="Arial"/>
                          <a:cs typeface="Arial"/>
                        </a:rPr>
                        <a:t>GRU</a:t>
                      </a:r>
                    </a:p>
                  </a:txBody>
                  <a:tcPr marL="133350" marR="114300" marT="104775" marB="104775" anchor="ctr">
                    <a:lnR w="5715">
                      <a:solidFill>
                        <a:srgbClr val="D7E1D9"/>
                      </a:solidFill>
                    </a:lnR>
                    <a:lnT w="5715">
                      <a:solidFill>
                        <a:srgbClr val="D7E1D9"/>
                      </a:solidFill>
                    </a:lnT>
                    <a:lnB w="5715">
                      <a:solidFill>
                        <a:srgbClr val="D7E1D9"/>
                      </a:solidFill>
                    </a:lnB>
                    <a:solidFill>
                      <a:srgbClr val="163B3B"/>
                    </a:solidFill>
                  </a:tcPr>
                </a:tc>
                <a:tc>
                  <a:txBody>
                    <a:bodyPr/>
                    <a:lstStyle/>
                    <a:p>
                      <a:r>
                        <a:rPr sz="2025" b="1">
                          <a:solidFill>
                            <a:srgbClr val="FFFFFF"/>
                          </a:solidFill>
                          <a:latin typeface="Arial"/>
                          <a:ea typeface="Arial"/>
                          <a:cs typeface="Arial"/>
                        </a:rPr>
                        <a:t>GCN + GRU</a:t>
                      </a:r>
                    </a:p>
                  </a:txBody>
                  <a:tcPr marL="133350" marR="114300" marT="104775" marB="104775" anchor="ctr">
                    <a:lnR w="5715">
                      <a:solidFill>
                        <a:srgbClr val="D7E1D9"/>
                      </a:solidFill>
                    </a:lnR>
                    <a:lnT w="5715">
                      <a:solidFill>
                        <a:srgbClr val="D7E1D9"/>
                      </a:solidFill>
                    </a:lnT>
                    <a:lnB w="5715">
                      <a:solidFill>
                        <a:srgbClr val="D7E1D9"/>
                      </a:solidFill>
                    </a:lnB>
                    <a:solidFill>
                      <a:srgbClr val="163B3B"/>
                    </a:solidFill>
                  </a:tcPr>
                </a:tc>
              </a:tr>
              <a:tr h="661035">
                <a:tc>
                  <a:txBody>
                    <a:bodyPr/>
                    <a:lstStyle/>
                    <a:p>
                      <a:r>
                        <a:rPr sz="2025">
                          <a:solidFill>
                            <a:srgbClr val="163B3B"/>
                          </a:solidFill>
                          <a:latin typeface="Arial"/>
                          <a:ea typeface="Arial"/>
                          <a:cs typeface="Arial"/>
                        </a:rPr>
                        <a:t>Quan hệ</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Chỉ nút đang xét</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Graph khoảng cách</a:t>
                      </a:r>
                    </a:p>
                  </a:txBody>
                  <a:tcPr marL="133350" marR="114300" marT="104775" marB="104775" anchor="ctr">
                    <a:lnR w="5715">
                      <a:solidFill>
                        <a:srgbClr val="D7E1D9"/>
                      </a:solidFill>
                    </a:lnR>
                    <a:lnB w="5715">
                      <a:solidFill>
                        <a:srgbClr val="D7E1D9"/>
                      </a:solidFill>
                    </a:lnB>
                    <a:solidFill>
                      <a:srgbClr val="F7F6F0"/>
                    </a:solidFill>
                  </a:tcPr>
                </a:tc>
              </a:tr>
              <a:tr h="661035">
                <a:tc>
                  <a:txBody>
                    <a:bodyPr/>
                    <a:lstStyle/>
                    <a:p>
                      <a:r>
                        <a:rPr sz="2025">
                          <a:solidFill>
                            <a:srgbClr val="163B3B"/>
                          </a:solidFill>
                          <a:latin typeface="Arial"/>
                          <a:ea typeface="Arial"/>
                          <a:cs typeface="Arial"/>
                        </a:rPr>
                        <a:t>Số tham số</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1.497</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1.497</a:t>
                      </a:r>
                    </a:p>
                  </a:txBody>
                  <a:tcPr marL="133350" marR="114300" marT="104775" marB="104775" anchor="ctr">
                    <a:lnR w="5715">
                      <a:solidFill>
                        <a:srgbClr val="D7E1D9"/>
                      </a:solidFill>
                    </a:lnR>
                    <a:lnB w="5715">
                      <a:solidFill>
                        <a:srgbClr val="D7E1D9"/>
                      </a:solidFill>
                    </a:lnB>
                    <a:solidFill>
                      <a:srgbClr val="F7F6F0"/>
                    </a:solidFill>
                  </a:tcPr>
                </a:tc>
              </a:tr>
              <a:tr h="661035">
                <a:tc>
                  <a:txBody>
                    <a:bodyPr/>
                    <a:lstStyle/>
                    <a:p>
                      <a:r>
                        <a:rPr sz="2025">
                          <a:solidFill>
                            <a:srgbClr val="163B3B"/>
                          </a:solidFill>
                          <a:latin typeface="Arial"/>
                          <a:ea typeface="Arial"/>
                          <a:cs typeface="Arial"/>
                        </a:rPr>
                        <a:t>Seed</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42, 43, 44</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42, 43, 44</a:t>
                      </a:r>
                    </a:p>
                  </a:txBody>
                  <a:tcPr marL="133350" marR="114300" marT="104775" marB="104775" anchor="ctr">
                    <a:lnR w="5715">
                      <a:solidFill>
                        <a:srgbClr val="D7E1D9"/>
                      </a:solidFill>
                    </a:lnR>
                    <a:lnB w="5715">
                      <a:solidFill>
                        <a:srgbClr val="D7E1D9"/>
                      </a:solidFill>
                    </a:lnB>
                    <a:solidFill>
                      <a:srgbClr val="F7F6F0"/>
                    </a:solidFill>
                  </a:tcPr>
                </a:tc>
              </a:tr>
              <a:tr h="661035">
                <a:tc>
                  <a:txBody>
                    <a:bodyPr/>
                    <a:lstStyle/>
                    <a:p>
                      <a:r>
                        <a:rPr sz="2025">
                          <a:solidFill>
                            <a:srgbClr val="163B3B"/>
                          </a:solidFill>
                          <a:latin typeface="Arial"/>
                          <a:ea typeface="Arial"/>
                          <a:cs typeface="Arial"/>
                        </a:rPr>
                        <a:t>Ngân sách</a:t>
                      </a:r>
                    </a:p>
                  </a:txBody>
                  <a:tcPr marL="133350" marR="114300" marT="104775" marB="104775" anchor="ctr">
                    <a:lnL w="5715">
                      <a:solidFill>
                        <a:srgbClr val="D7E1D9"/>
                      </a:solidFill>
                    </a:lnL>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35 epoch tối đa</a:t>
                      </a:r>
                    </a:p>
                  </a:txBody>
                  <a:tcPr marL="133350" marR="114300" marT="104775" marB="104775" anchor="ctr">
                    <a:lnR w="5715">
                      <a:solidFill>
                        <a:srgbClr val="D7E1D9"/>
                      </a:solidFill>
                    </a:lnR>
                    <a:lnB w="5715">
                      <a:solidFill>
                        <a:srgbClr val="D7E1D9"/>
                      </a:solidFill>
                    </a:lnB>
                    <a:solidFill>
                      <a:srgbClr val="F7F6F0"/>
                    </a:solidFill>
                  </a:tcPr>
                </a:tc>
                <a:tc>
                  <a:txBody>
                    <a:bodyPr/>
                    <a:lstStyle/>
                    <a:p>
                      <a:r>
                        <a:rPr sz="2025">
                          <a:solidFill>
                            <a:srgbClr val="163B3B"/>
                          </a:solidFill>
                          <a:latin typeface="Arial"/>
                          <a:ea typeface="Arial"/>
                          <a:cs typeface="Arial"/>
                        </a:rPr>
                        <a:t>35 epoch tối đa</a:t>
                      </a:r>
                    </a:p>
                  </a:txBody>
                  <a:tcPr marL="133350" marR="114300" marT="104775" marB="104775" anchor="ctr">
                    <a:lnR w="5715">
                      <a:solidFill>
                        <a:srgbClr val="D7E1D9"/>
                      </a:solidFill>
                    </a:lnR>
                    <a:lnB w="5715">
                      <a:solidFill>
                        <a:srgbClr val="D7E1D9"/>
                      </a:solidFill>
                    </a:lnB>
                    <a:solidFill>
                      <a:srgbClr val="F7F6F0"/>
                    </a:solidFill>
                  </a:tcPr>
                </a:tc>
              </a:tr>
            </a:tbl>
          </a:graphicData>
        </a:graphic>
      </p:graphicFrame>
      <p:sp>
        <p:nvSpPr>
          <p:cNvPr id="4" name="Cùng dữ liệu, đặc trưng lịch, loss và cách ch">
            <a:extLst xmlns:a="http://schemas.openxmlformats.org/drawingml/2006/main">
              <a:ext uri="{FF2B5EF4-FFF2-40B4-BE49-F238E27FC236}">
                <a16:creationId xmlns:a16="http://schemas.microsoft.com/office/drawing/2014/main" id="{30829C28-0A7B-41EE-880A-13048A2EB8DE}"/>
              </a:ext>
            </a:extLst>
          </p:cNvPr>
          <p:cNvSpPr>
            <a:spLocks xmlns:a="http://schemas.openxmlformats.org/drawingml/2006/main" noGrp="1"/>
          </p:cNvSpPr>
          <p:nvPr/>
        </p:nvSpPr>
        <p:spPr>
          <a:xfrm xmlns:a="http://schemas.openxmlformats.org/drawingml/2006/main">
            <a:off x="609600" y="53911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Cùng dữ liệu, đặc trưng lịch, loss và cách chọn checkpoint</a:t>
            </a:r>
          </a:p>
        </p:txBody>
      </p:sp>
      <p:sp>
        <p:nvSpPr>
          <p:cNvPr id="5" name="Validation chấm cách 3 mốc. Test chấm mọi mốc">
            <a:extLst xmlns:a="http://schemas.openxmlformats.org/drawingml/2006/main">
              <a:ext uri="{FF2B5EF4-FFF2-40B4-BE49-F238E27FC236}">
                <a16:creationId xmlns:a16="http://schemas.microsoft.com/office/drawing/2014/main" id="{AB5C40FE-EFC9-405C-897D-D9324DAF12D7}"/>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Validation chấm cách 3 mốc. Test chấm mọi mốc. Ba seed dùng chung một temporal split.</a:t>
            </a:r>
          </a:p>
        </p:txBody>
      </p:sp>
    </p:spTree>
    <p:extLst>
      <p:ext uri="{BB962C8B-B14F-4D97-AF65-F5344CB8AC3E}">
        <p14:creationId xmlns:p14="http://schemas.microsoft.com/office/powerpoint/2010/main" val="830081788"/>
      </p:ext>
    </p:extLst>
  </p:cSld>
</p:sld>
</file>

<file path=ppt/slides/slide1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F8BA864-382F-4579-9E1E-A9C66F34E54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Đọc sai số MAE và RMSE</a:t>
            </a:r>
          </a:p>
        </p:txBody>
      </p:sp>
      <p:sp>
        <p:nvSpPr>
          <p:cNvPr id="2" name="19 / 26">
            <a:extLst xmlns:a="http://schemas.openxmlformats.org/drawingml/2006/main">
              <a:ext uri="{FF2B5EF4-FFF2-40B4-BE49-F238E27FC236}">
                <a16:creationId xmlns:a16="http://schemas.microsoft.com/office/drawing/2014/main" id="{85631BFC-D4EF-4447-8478-C5B931C59CAA}"/>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19 / 26</a:t>
            </a:r>
          </a:p>
        </p:txBody>
      </p:sp>
      <p:sp>
        <p:nvSpPr>
          <p:cNvPr id="3" name="Lệch 2, 4, 6 km/h">
            <a:extLst xmlns:a="http://schemas.openxmlformats.org/drawingml/2006/main">
              <a:ext uri="{FF2B5EF4-FFF2-40B4-BE49-F238E27FC236}">
                <a16:creationId xmlns:a16="http://schemas.microsoft.com/office/drawing/2014/main" id="{9365045F-C083-4F23-9500-9A9807C06C76}"/>
              </a:ext>
            </a:extLst>
          </p:cNvPr>
          <p:cNvSpPr>
            <a:spLocks xmlns:a="http://schemas.openxmlformats.org/drawingml/2006/main" noGrp="1"/>
          </p:cNvSpPr>
          <p:nvPr/>
        </p:nvSpPr>
        <p:spPr>
          <a:xfrm xmlns:a="http://schemas.openxmlformats.org/drawingml/2006/main">
            <a:off x="609600" y="18573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63B3B"/>
                </a:solidFill>
                <a:latin typeface="Arial"/>
                <a:ea typeface="Arial"/>
                <a:cs typeface="Arial"/>
              </a:defRPr>
            </a:defPPr>
          </a:lstStyle>
          <a:p xmlns:a="http://schemas.openxmlformats.org/drawingml/2006/main">
            <a:pPr>
              <a:defRPr sz="3900" b="1">
                <a:solidFill>
                  <a:srgbClr val="163B3B"/>
                </a:solidFill>
                <a:latin typeface="Arial"/>
                <a:ea typeface="Arial"/>
                <a:cs typeface="Arial"/>
              </a:defRPr>
            </a:pPr>
            <a:r>
              <a:rPr sz="3900" b="1">
                <a:solidFill>
                  <a:srgbClr val="163B3B"/>
                </a:solidFill>
                <a:latin typeface="Arial"/>
                <a:ea typeface="Arial"/>
                <a:cs typeface="Arial"/>
              </a:rPr>
              <a:t>Lệch 2, 4, 6 km/h</a:t>
            </a:r>
          </a:p>
        </p:txBody>
      </p:sp>
      <p:sp>
        <p:nvSpPr>
          <p:cNvPr id="4" name="MAE = 4 km/h">
            <a:extLst xmlns:a="http://schemas.openxmlformats.org/drawingml/2006/main">
              <a:ext uri="{FF2B5EF4-FFF2-40B4-BE49-F238E27FC236}">
                <a16:creationId xmlns:a16="http://schemas.microsoft.com/office/drawing/2014/main" id="{8DAFF78E-4482-460C-9015-7C5FFDC43647}"/>
              </a:ext>
            </a:extLst>
          </p:cNvPr>
          <p:cNvSpPr>
            <a:spLocks xmlns:a="http://schemas.openxmlformats.org/drawingml/2006/main" noGrp="1"/>
          </p:cNvSpPr>
          <p:nvPr/>
        </p:nvSpPr>
        <p:spPr>
          <a:xfrm xmlns:a="http://schemas.openxmlformats.org/drawingml/2006/main">
            <a:off x="609600" y="3143250"/>
            <a:ext cx="681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87E73"/>
                </a:solidFill>
                <a:latin typeface="Arial"/>
                <a:ea typeface="Arial"/>
                <a:cs typeface="Arial"/>
              </a:defRPr>
            </a:defPPr>
          </a:lstStyle>
          <a:p xmlns:a="http://schemas.openxmlformats.org/drawingml/2006/main">
            <a:pPr>
              <a:defRPr sz="3900" b="1">
                <a:solidFill>
                  <a:srgbClr val="087E73"/>
                </a:solidFill>
                <a:latin typeface="Arial"/>
                <a:ea typeface="Arial"/>
                <a:cs typeface="Arial"/>
              </a:defRPr>
            </a:pPr>
            <a:r>
              <a:rPr sz="3900" b="1">
                <a:solidFill>
                  <a:srgbClr val="087E73"/>
                </a:solidFill>
                <a:latin typeface="Arial"/>
                <a:ea typeface="Arial"/>
                <a:cs typeface="Arial"/>
              </a:rPr>
              <a:t>MAE = 4 km/h</a:t>
            </a:r>
          </a:p>
        </p:txBody>
      </p:sp>
      <p:sp>
        <p:nvSpPr>
          <p:cNvPr id="5" name="RMSE nhạy hơn&#10;với sai số lớn.">
            <a:extLst xmlns:a="http://schemas.openxmlformats.org/drawingml/2006/main">
              <a:ext uri="{FF2B5EF4-FFF2-40B4-BE49-F238E27FC236}">
                <a16:creationId xmlns:a16="http://schemas.microsoft.com/office/drawing/2014/main" id="{2F99BFE3-8DA7-4B4A-B009-201DA0ACBB85}"/>
              </a:ext>
            </a:extLst>
          </p:cNvPr>
          <p:cNvSpPr>
            <a:spLocks xmlns:a="http://schemas.openxmlformats.org/drawingml/2006/main" noGrp="1"/>
          </p:cNvSpPr>
          <p:nvPr/>
        </p:nvSpPr>
        <p:spPr>
          <a:xfrm xmlns:a="http://schemas.openxmlformats.org/drawingml/2006/main">
            <a:off x="7715250" y="3086100"/>
            <a:ext cx="3886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163B3B"/>
                </a:solidFill>
                <a:latin typeface="Arial"/>
                <a:ea typeface="Arial"/>
                <a:cs typeface="Arial"/>
              </a:defRPr>
            </a:defPPr>
          </a:lstStyle>
          <a:p xmlns:a="http://schemas.openxmlformats.org/drawingml/2006/main">
            <a:pPr>
              <a:defRPr sz="2550">
                <a:solidFill>
                  <a:srgbClr val="163B3B"/>
                </a:solidFill>
                <a:latin typeface="Arial"/>
                <a:ea typeface="Arial"/>
                <a:cs typeface="Arial"/>
              </a:defRPr>
            </a:pPr>
            <a:r>
              <a:rPr sz="2550">
                <a:solidFill>
                  <a:srgbClr val="163B3B"/>
                </a:solidFill>
                <a:latin typeface="Arial"/>
                <a:ea typeface="Arial"/>
                <a:cs typeface="Arial"/>
              </a:rPr>
              <a:t>RMSE nhạy hơn</a:t>
            </a:r>
          </a:p>
          <a:p xmlns:a="http://schemas.openxmlformats.org/drawingml/2006/main">
            <a:pPr>
              <a:defRPr sz="2550">
                <a:solidFill>
                  <a:srgbClr val="163B3B"/>
                </a:solidFill>
                <a:latin typeface="Arial"/>
                <a:ea typeface="Arial"/>
                <a:cs typeface="Arial"/>
              </a:defRPr>
            </a:pPr>
            <a:r>
              <a:rPr sz="2550">
                <a:solidFill>
                  <a:srgbClr val="163B3B"/>
                </a:solidFill>
                <a:latin typeface="Arial"/>
                <a:ea typeface="Arial"/>
                <a:cs typeface="Arial"/>
              </a:rPr>
              <a:t>với sai số lớn.</a:t>
            </a:r>
          </a:p>
        </p:txBody>
      </p:sp>
      <p:sp>
        <p:nvSpPr>
          <p:cNvPr id="6" name="Sai số trung bình không mô tả mọi tình huống">
            <a:extLst xmlns:a="http://schemas.openxmlformats.org/drawingml/2006/main">
              <a:ext uri="{FF2B5EF4-FFF2-40B4-BE49-F238E27FC236}">
                <a16:creationId xmlns:a16="http://schemas.microsoft.com/office/drawing/2014/main" id="{DCAC32CF-3A60-450F-AC8F-0402CAA14F30}"/>
              </a:ext>
            </a:extLst>
          </p:cNvPr>
          <p:cNvSpPr>
            <a:spLocks xmlns:a="http://schemas.openxmlformats.org/drawingml/2006/main" noGrp="1"/>
          </p:cNvSpPr>
          <p:nvPr/>
        </p:nvSpPr>
        <p:spPr>
          <a:xfrm xmlns:a="http://schemas.openxmlformats.org/drawingml/2006/main">
            <a:off x="609600" y="538162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Sai số trung bình không mô tả mọi tình huống</a:t>
            </a:r>
          </a:p>
        </p:txBody>
      </p:sp>
      <p:sp>
        <p:nvSpPr>
          <p:cNvPr id="7" name="Ví dụ minh họa. Không diễn giải MAE 5 km/h th">
            <a:extLst xmlns:a="http://schemas.openxmlformats.org/drawingml/2006/main">
              <a:ext uri="{FF2B5EF4-FFF2-40B4-BE49-F238E27FC236}">
                <a16:creationId xmlns:a16="http://schemas.microsoft.com/office/drawing/2014/main" id="{842E502C-F6BB-4061-9023-74B9D872ED0D}"/>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Ví dụ minh họa. Không diễn giải MAE 5 km/h thành “độ chính xác 95%”.</a:t>
            </a:r>
          </a:p>
        </p:txBody>
      </p:sp>
    </p:spTree>
    <p:extLst>
      <p:ext uri="{BB962C8B-B14F-4D97-AF65-F5344CB8AC3E}">
        <p14:creationId xmlns:p14="http://schemas.microsoft.com/office/powerpoint/2010/main" val="170567018"/>
      </p:ext>
    </p:extLst>
  </p:cSld>
</p:sld>
</file>

<file path=ppt/slides/slide2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D74C2D4-D5ED-41BA-B2C7-E8E9D2D782FE}"/>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Kết quả trên toàn bộ tập kiểm tra</a:t>
            </a:r>
          </a:p>
        </p:txBody>
      </p:sp>
      <p:sp>
        <p:nvSpPr>
          <p:cNvPr id="2" name="20 / 26">
            <a:extLst xmlns:a="http://schemas.openxmlformats.org/drawingml/2006/main">
              <a:ext uri="{FF2B5EF4-FFF2-40B4-BE49-F238E27FC236}">
                <a16:creationId xmlns:a16="http://schemas.microsoft.com/office/drawing/2014/main" id="{A72FE4AC-7091-47D2-99A4-A9029370D946}"/>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20 / 26</a:t>
            </a:r>
          </a:p>
        </p:txBody>
      </p:sp>
      <p:graphicFrame>
        <p:nvGraphicFramePr>
          <p:cNvPr id="3" name="Chart">
            <a:extLst xmlns:a="http://schemas.openxmlformats.org/drawingml/2006/main">
              <a:ext uri="{FF2B5EF4-FFF2-40B4-BE49-F238E27FC236}">
                <a16:creationId xmlns:a16="http://schemas.microsoft.com/office/drawing/2014/main" id="{C401B512-466B-4DCF-814F-9BFE92385800}"/>
              </a:ext>
            </a:extLst>
          </p:cNvPr>
          <p:cNvGraphicFramePr/>
          <p:nvPr/>
        </p:nvGraphicFramePr>
        <p:xfrm>
          <a:off xmlns:a="http://schemas.openxmlformats.org/drawingml/2006/main" x="609600" y="1743075"/>
          <a:ext xmlns:a="http://schemas.openxmlformats.org/drawingml/2006/main" cx="7810500" cy="3495675"/>
        </p:xfrm>
        <a:graphic xmlns:a="http://schemas.openxmlformats.org/drawingml/2006/main">
          <a:graphicData uri="http://schemas.openxmlformats.org/drawingml/2006/chart">
            <c:chart xmlns:r="http://schemas.openxmlformats.org/officeDocument/2006/relationships" xmlns:c="http://schemas.openxmlformats.org/drawingml/2006/chart" r:id="R2022f1d752f5418a"/>
          </a:graphicData>
        </a:graphic>
      </p:graphicFrame>
      <p:sp>
        <p:nvSpPr>
          <p:cNvPr id="4" name="−0,54%">
            <a:extLst xmlns:a="http://schemas.openxmlformats.org/drawingml/2006/main">
              <a:ext uri="{FF2B5EF4-FFF2-40B4-BE49-F238E27FC236}">
                <a16:creationId xmlns:a16="http://schemas.microsoft.com/office/drawing/2014/main" id="{1866759E-3583-4C4A-88AF-CBBE6BA1CFBD}"/>
              </a:ext>
            </a:extLst>
          </p:cNvPr>
          <p:cNvSpPr>
            <a:spLocks xmlns:a="http://schemas.openxmlformats.org/drawingml/2006/main" noGrp="1"/>
          </p:cNvSpPr>
          <p:nvPr/>
        </p:nvSpPr>
        <p:spPr>
          <a:xfrm xmlns:a="http://schemas.openxmlformats.org/drawingml/2006/main">
            <a:off x="8943975" y="2028825"/>
            <a:ext cx="266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087E73"/>
                </a:solidFill>
                <a:latin typeface="Arial"/>
                <a:ea typeface="Arial"/>
                <a:cs typeface="Arial"/>
              </a:defRPr>
            </a:defPPr>
          </a:lstStyle>
          <a:p xmlns:a="http://schemas.openxmlformats.org/drawingml/2006/main">
            <a:pPr>
              <a:defRPr sz="4650" b="1">
                <a:solidFill>
                  <a:srgbClr val="087E73"/>
                </a:solidFill>
                <a:latin typeface="Arial"/>
                <a:ea typeface="Arial"/>
                <a:cs typeface="Arial"/>
              </a:defRPr>
            </a:pPr>
            <a:r>
              <a:rPr sz="4650" b="1">
                <a:solidFill>
                  <a:srgbClr val="087E73"/>
                </a:solidFill>
                <a:latin typeface="Arial"/>
                <a:ea typeface="Arial"/>
                <a:cs typeface="Arial"/>
              </a:rPr>
              <a:t>−0,54%</a:t>
            </a:r>
          </a:p>
        </p:txBody>
      </p:sp>
      <p:sp>
        <p:nvSpPr>
          <p:cNvPr id="5" name="MAE so với GRU&#10;&#10;Mức giảm nhỏ">
            <a:extLst xmlns:a="http://schemas.openxmlformats.org/drawingml/2006/main">
              <a:ext uri="{FF2B5EF4-FFF2-40B4-BE49-F238E27FC236}">
                <a16:creationId xmlns:a16="http://schemas.microsoft.com/office/drawing/2014/main" id="{63B7B233-8E8B-4B3D-AE56-FA14A835D2AF}"/>
              </a:ext>
            </a:extLst>
          </p:cNvPr>
          <p:cNvSpPr>
            <a:spLocks xmlns:a="http://schemas.openxmlformats.org/drawingml/2006/main" noGrp="1"/>
          </p:cNvSpPr>
          <p:nvPr/>
        </p:nvSpPr>
        <p:spPr>
          <a:xfrm xmlns:a="http://schemas.openxmlformats.org/drawingml/2006/main">
            <a:off x="8915400" y="3105150"/>
            <a:ext cx="26765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63B3B"/>
                </a:solidFill>
                <a:latin typeface="Arial"/>
                <a:ea typeface="Arial"/>
                <a:cs typeface="Arial"/>
              </a:defRPr>
            </a:defPPr>
          </a:lstStyle>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MAE so với GRU</a:t>
            </a:r>
          </a:p>
          <a:p xmlns:a="http://schemas.openxmlformats.org/drawingml/2006/main">
            <a:r>
              <a:t/>
            </a:r>
          </a:p>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Mức giảm nhỏ</a:t>
            </a:r>
          </a:p>
        </p:txBody>
      </p:sp>
      <p:sp>
        <p:nvSpPr>
          <p:cNvPr id="6" name="MAE: 5,63  ·  4,96 ± 0,015  ·  4,93 ± 0,012 k">
            <a:extLst xmlns:a="http://schemas.openxmlformats.org/drawingml/2006/main">
              <a:ext uri="{FF2B5EF4-FFF2-40B4-BE49-F238E27FC236}">
                <a16:creationId xmlns:a16="http://schemas.microsoft.com/office/drawing/2014/main" id="{2744142F-78D3-4472-AA78-9A29E38A4127}"/>
              </a:ext>
            </a:extLst>
          </p:cNvPr>
          <p:cNvSpPr>
            <a:spLocks xmlns:a="http://schemas.openxmlformats.org/drawingml/2006/main" noGrp="1"/>
          </p:cNvSpPr>
          <p:nvPr/>
        </p:nvSpPr>
        <p:spPr>
          <a:xfrm xmlns:a="http://schemas.openxmlformats.org/drawingml/2006/main">
            <a:off x="609600" y="54864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MAE: 5,63  ·  4,96 ± 0,015  ·  4,93 ± 0,012 km/h</a:t>
            </a:r>
          </a:p>
        </p:txBody>
      </p:sp>
      <p:sp>
        <p:nvSpPr>
          <p:cNvPr id="7" name="6.855 cửa sổ test, 1.247.252 mục tiêu hợp lệ.">
            <a:extLst xmlns:a="http://schemas.openxmlformats.org/drawingml/2006/main">
              <a:ext uri="{FF2B5EF4-FFF2-40B4-BE49-F238E27FC236}">
                <a16:creationId xmlns:a16="http://schemas.microsoft.com/office/drawing/2014/main" id="{5DEB4E62-0195-4ECB-92E0-EAEDA7983C1D}"/>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6.855 cửa sổ test, 1.247.252 mục tiêu hợp lệ. ± là SD qua seed, không phải khoảng tin cậy.</a:t>
            </a:r>
          </a:p>
        </p:txBody>
      </p:sp>
    </p:spTree>
    <p:extLst>
      <p:ext uri="{BB962C8B-B14F-4D97-AF65-F5344CB8AC3E}">
        <p14:creationId xmlns:p14="http://schemas.microsoft.com/office/powerpoint/2010/main" val="396059993"/>
      </p:ext>
    </p:extLst>
  </p:cSld>
</p:sld>
</file>

<file path=ppt/slides/slide2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B93E9E4-A68C-4984-8F3C-135E5F89B33F}"/>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Một tình huống dự báo phục hồi</a:t>
            </a:r>
          </a:p>
        </p:txBody>
      </p:sp>
      <p:sp>
        <p:nvSpPr>
          <p:cNvPr id="2" name="21 / 26">
            <a:extLst xmlns:a="http://schemas.openxmlformats.org/drawingml/2006/main">
              <a:ext uri="{FF2B5EF4-FFF2-40B4-BE49-F238E27FC236}">
                <a16:creationId xmlns:a16="http://schemas.microsoft.com/office/drawing/2014/main" id="{68E53F16-2F1D-4F2D-BF63-4F707E1DBEDB}"/>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21 / 26</a:t>
            </a:r>
          </a:p>
        </p:txBody>
      </p:sp>
      <p:graphicFrame>
        <p:nvGraphicFramePr>
          <p:cNvPr id="3" name="Chart">
            <a:extLst xmlns:a="http://schemas.openxmlformats.org/drawingml/2006/main">
              <a:ext uri="{FF2B5EF4-FFF2-40B4-BE49-F238E27FC236}">
                <a16:creationId xmlns:a16="http://schemas.microsoft.com/office/drawing/2014/main" id="{5B503551-CD62-469C-AB54-28D7F1FDC3D2}"/>
              </a:ext>
            </a:extLst>
          </p:cNvPr>
          <p:cNvGraphicFramePr/>
          <p:nvPr/>
        </p:nvGraphicFramePr>
        <p:xfrm>
          <a:off xmlns:a="http://schemas.openxmlformats.org/drawingml/2006/main" x="609600" y="1790700"/>
          <a:ext xmlns:a="http://schemas.openxmlformats.org/drawingml/2006/main" cx="10972800" cy="3381375"/>
        </p:xfrm>
        <a:graphic xmlns:a="http://schemas.openxmlformats.org/drawingml/2006/main">
          <a:graphicData uri="http://schemas.openxmlformats.org/drawingml/2006/chart">
            <c:chart xmlns:r="http://schemas.openxmlformats.org/officeDocument/2006/relationships" xmlns:c="http://schemas.openxmlformats.org/drawingml/2006/chart" r:id="R17a8c8b8af3540b7"/>
          </a:graphicData>
        </a:graphic>
      </p:graphicFrame>
      <p:sp>
        <p:nvSpPr>
          <p:cNvPr id="4" name="GCN + GRU: 24,6 km/h. Thực tế: 24,7 km/h.">
            <a:extLst xmlns:a="http://schemas.openxmlformats.org/drawingml/2006/main">
              <a:ext uri="{FF2B5EF4-FFF2-40B4-BE49-F238E27FC236}">
                <a16:creationId xmlns:a16="http://schemas.microsoft.com/office/drawing/2014/main" id="{26170D61-6F29-4A1B-BD8A-3E5AF1C49CA7}"/>
              </a:ext>
            </a:extLst>
          </p:cNvPr>
          <p:cNvSpPr>
            <a:spLocks xmlns:a="http://schemas.openxmlformats.org/drawingml/2006/main" noGrp="1"/>
          </p:cNvSpPr>
          <p:nvPr/>
        </p:nvSpPr>
        <p:spPr>
          <a:xfrm xmlns:a="http://schemas.openxmlformats.org/drawingml/2006/main">
            <a:off x="609600" y="5410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GCN + GRU: 24,6 km/h. Thực tế: 24,7 km/h.</a:t>
            </a:r>
          </a:p>
        </p:txBody>
      </p:sp>
      <p:sp>
        <p:nvSpPr>
          <p:cNvPr id="5" name="Cảm biến 717458, 06/06/2012 18:35. Ví dụ chọn">
            <a:extLst xmlns:a="http://schemas.openxmlformats.org/drawingml/2006/main">
              <a:ext uri="{FF2B5EF4-FFF2-40B4-BE49-F238E27FC236}">
                <a16:creationId xmlns:a16="http://schemas.microsoft.com/office/drawing/2014/main" id="{09E60CDA-1045-4DE0-A395-E47AF4A41363}"/>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Cảm biến 717458, 06/06/2012 18:35. Ví dụ chọn sau đánh giá để minh họa.</a:t>
            </a:r>
          </a:p>
        </p:txBody>
      </p:sp>
    </p:spTree>
    <p:extLst>
      <p:ext uri="{BB962C8B-B14F-4D97-AF65-F5344CB8AC3E}">
        <p14:creationId xmlns:p14="http://schemas.microsoft.com/office/powerpoint/2010/main" val="966960711"/>
      </p:ext>
    </p:extLst>
  </p:cSld>
</p:sld>
</file>

<file path=ppt/slides/slide2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E8EA39D-715E-410C-A115-4E6D5FBE9523}"/>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Triển khai mô hình trên web</a:t>
            </a:r>
          </a:p>
        </p:txBody>
      </p:sp>
      <p:sp>
        <p:nvSpPr>
          <p:cNvPr id="2" name="22 / 26">
            <a:extLst xmlns:a="http://schemas.openxmlformats.org/drawingml/2006/main">
              <a:ext uri="{FF2B5EF4-FFF2-40B4-BE49-F238E27FC236}">
                <a16:creationId xmlns:a16="http://schemas.microsoft.com/office/drawing/2014/main" id="{4B5C57A7-5F53-4FED-8702-E24A78E63030}"/>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22 / 26</a:t>
            </a:r>
          </a:p>
        </p:txBody>
      </p:sp>
      <p:sp>
        <p:nvSpPr>
          <p:cNvPr id="3" name="Huấn luyện trước">
            <a:extLst xmlns:a="http://schemas.openxmlformats.org/drawingml/2006/main">
              <a:ext uri="{FF2B5EF4-FFF2-40B4-BE49-F238E27FC236}">
                <a16:creationId xmlns:a16="http://schemas.microsoft.com/office/drawing/2014/main" id="{A99973D9-FEDC-40EF-B4EA-E73990ECB769}"/>
              </a:ext>
            </a:extLst>
          </p:cNvPr>
          <p:cNvSpPr>
            <a:spLocks xmlns:a="http://schemas.openxmlformats.org/drawingml/2006/main" noGrp="1"/>
          </p:cNvSpPr>
          <p:nvPr/>
        </p:nvSpPr>
        <p:spPr>
          <a:xfrm xmlns:a="http://schemas.openxmlformats.org/drawingml/2006/main">
            <a:off x="609600" y="1724025"/>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087E73"/>
                </a:solidFill>
                <a:latin typeface="Arial"/>
                <a:ea typeface="Arial"/>
                <a:cs typeface="Arial"/>
              </a:defRPr>
            </a:defPPr>
          </a:lstStyle>
          <a:p xmlns:a="http://schemas.openxmlformats.org/drawingml/2006/main">
            <a:pPr>
              <a:defRPr sz="3075" b="1">
                <a:solidFill>
                  <a:srgbClr val="087E73"/>
                </a:solidFill>
                <a:latin typeface="Arial"/>
                <a:ea typeface="Arial"/>
                <a:cs typeface="Arial"/>
              </a:defRPr>
            </a:pPr>
            <a:r>
              <a:rPr sz="3075" b="1">
                <a:solidFill>
                  <a:srgbClr val="087E73"/>
                </a:solidFill>
                <a:latin typeface="Arial"/>
                <a:ea typeface="Arial"/>
                <a:cs typeface="Arial"/>
              </a:rPr>
              <a:t>Huấn luyện trước</a:t>
            </a:r>
          </a:p>
        </p:txBody>
      </p:sp>
      <p:sp>
        <p:nvSpPr>
          <p:cNvPr id="4" name="Python lưu checkpoint và kết quả thực nghiệm.">
            <a:extLst xmlns:a="http://schemas.openxmlformats.org/drawingml/2006/main">
              <a:ext uri="{FF2B5EF4-FFF2-40B4-BE49-F238E27FC236}">
                <a16:creationId xmlns:a16="http://schemas.microsoft.com/office/drawing/2014/main" id="{C0188BAC-1296-46E4-ADA1-84D120013991}"/>
              </a:ext>
            </a:extLst>
          </p:cNvPr>
          <p:cNvSpPr>
            <a:spLocks xmlns:a="http://schemas.openxmlformats.org/drawingml/2006/main" noGrp="1"/>
          </p:cNvSpPr>
          <p:nvPr/>
        </p:nvSpPr>
        <p:spPr>
          <a:xfrm xmlns:a="http://schemas.openxmlformats.org/drawingml/2006/main">
            <a:off x="609600" y="24765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63B3B"/>
                </a:solidFill>
                <a:latin typeface="Arial"/>
                <a:ea typeface="Arial"/>
                <a:cs typeface="Arial"/>
              </a:defRPr>
            </a:defPPr>
          </a:lstStyle>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Python lưu checkpoint và kết quả thực nghiệm.</a:t>
            </a:r>
          </a:p>
        </p:txBody>
      </p:sp>
      <p:sp>
        <p:nvSpPr>
          <p:cNvPr id="5" name="Suy luận trong trình duyệt">
            <a:extLst xmlns:a="http://schemas.openxmlformats.org/drawingml/2006/main">
              <a:ext uri="{FF2B5EF4-FFF2-40B4-BE49-F238E27FC236}">
                <a16:creationId xmlns:a16="http://schemas.microsoft.com/office/drawing/2014/main" id="{5C4FC87A-BCEE-4F26-96C9-664F8932B0B2}"/>
              </a:ext>
            </a:extLst>
          </p:cNvPr>
          <p:cNvSpPr>
            <a:spLocks xmlns:a="http://schemas.openxmlformats.org/drawingml/2006/main" noGrp="1"/>
          </p:cNvSpPr>
          <p:nvPr/>
        </p:nvSpPr>
        <p:spPr>
          <a:xfrm xmlns:a="http://schemas.openxmlformats.org/drawingml/2006/main">
            <a:off x="609600" y="3609975"/>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087E73"/>
                </a:solidFill>
                <a:latin typeface="Arial"/>
                <a:ea typeface="Arial"/>
                <a:cs typeface="Arial"/>
              </a:defRPr>
            </a:defPPr>
          </a:lstStyle>
          <a:p xmlns:a="http://schemas.openxmlformats.org/drawingml/2006/main">
            <a:pPr>
              <a:defRPr sz="3075" b="1">
                <a:solidFill>
                  <a:srgbClr val="087E73"/>
                </a:solidFill>
                <a:latin typeface="Arial"/>
                <a:ea typeface="Arial"/>
                <a:cs typeface="Arial"/>
              </a:defRPr>
            </a:pPr>
            <a:r>
              <a:rPr sz="3075" b="1">
                <a:solidFill>
                  <a:srgbClr val="087E73"/>
                </a:solidFill>
                <a:latin typeface="Arial"/>
                <a:ea typeface="Arial"/>
                <a:cs typeface="Arial"/>
              </a:rPr>
              <a:t>Suy luận trong trình duyệt</a:t>
            </a:r>
          </a:p>
        </p:txBody>
      </p:sp>
      <p:sp>
        <p:nvSpPr>
          <p:cNvPr id="6" name="JavaScript nạp trọng số, tính GCN và GRU cho ">
            <a:extLst xmlns:a="http://schemas.openxmlformats.org/drawingml/2006/main">
              <a:ext uri="{FF2B5EF4-FFF2-40B4-BE49-F238E27FC236}">
                <a16:creationId xmlns:a16="http://schemas.microsoft.com/office/drawing/2014/main" id="{1050498A-D68D-4C5C-9A05-3350D6F7E2E8}"/>
              </a:ext>
            </a:extLst>
          </p:cNvPr>
          <p:cNvSpPr>
            <a:spLocks xmlns:a="http://schemas.openxmlformats.org/drawingml/2006/main" noGrp="1"/>
          </p:cNvSpPr>
          <p:nvPr/>
        </p:nvSpPr>
        <p:spPr>
          <a:xfrm xmlns:a="http://schemas.openxmlformats.org/drawingml/2006/main">
            <a:off x="609600" y="4371975"/>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63B3B"/>
                </a:solidFill>
                <a:latin typeface="Arial"/>
                <a:ea typeface="Arial"/>
                <a:cs typeface="Arial"/>
              </a:defRPr>
            </a:defPPr>
          </a:lstStyle>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JavaScript nạp trọng số, tính GCN và GRU cho dữ liệu đã chọn.</a:t>
            </a:r>
          </a:p>
        </p:txBody>
      </p:sp>
      <p:sp>
        <p:nvSpPr>
          <p:cNvPr id="7" name="Đã đối chiếu 2.484 đầu ra JavaScript / PyTorc">
            <a:extLst xmlns:a="http://schemas.openxmlformats.org/drawingml/2006/main">
              <a:ext uri="{FF2B5EF4-FFF2-40B4-BE49-F238E27FC236}">
                <a16:creationId xmlns:a16="http://schemas.microsoft.com/office/drawing/2014/main" id="{0C5D322A-E9D2-4FDD-8042-2108108F4E94}"/>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Đã đối chiếu 2.484 đầu ra JavaScript / PyTorch. Có bản local dùng khi mất Internet.</a:t>
            </a:r>
          </a:p>
        </p:txBody>
      </p:sp>
    </p:spTree>
    <p:extLst>
      <p:ext uri="{BB962C8B-B14F-4D97-AF65-F5344CB8AC3E}">
        <p14:creationId xmlns:p14="http://schemas.microsoft.com/office/powerpoint/2010/main" val="1285242820"/>
      </p:ext>
    </p:extLst>
  </p:cSld>
</p:sld>
</file>

<file path=ppt/slides/slide2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BACA3987-8248-4944-A6C1-9E6736493C8A}"/>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Demo: dự báo rồi mở đáp án</a:t>
            </a:r>
          </a:p>
        </p:txBody>
      </p:sp>
      <p:sp>
        <p:nvSpPr>
          <p:cNvPr id="2" name="23 / 26">
            <a:extLst xmlns:a="http://schemas.openxmlformats.org/drawingml/2006/main">
              <a:ext uri="{FF2B5EF4-FFF2-40B4-BE49-F238E27FC236}">
                <a16:creationId xmlns:a16="http://schemas.microsoft.com/office/drawing/2014/main" id="{4DDC7C22-8182-4B5C-9194-2144762644B5}"/>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23 / 26</a:t>
            </a:r>
          </a:p>
        </p:txBody>
      </p:sp>
      <p:pic>
        <p:nvPicPr>
          <p:cNvPr id="3" name="">
            <a:extLst xmlns:a="http://schemas.openxmlformats.org/drawingml/2006/main">
              <a:ext uri="{FF2B5EF4-FFF2-40B4-BE49-F238E27FC236}">
                <a16:creationId xmlns:a16="http://schemas.microsoft.com/office/drawing/2014/main" id="{95390C6D-5ADA-4653-BE44-4FD3014425A9}"/>
              </a:ext>
            </a:extLst>
          </p:cNvPr>
          <p:cNvPicPr>
            <a:picLocks xmlns:a="http://schemas.openxmlformats.org/drawingml/2006/main" noChangeAspect="1"/>
          </p:cNvPicPr>
          <p:nvPr/>
        </p:nvPicPr>
        <p:blipFill>
          <a:blip xmlns:r="http://schemas.openxmlformats.org/officeDocument/2006/relationships" xmlns:a="http://schemas.openxmlformats.org/drawingml/2006/main" r:embed="R22c1c41ab0b44611"/>
          <a:stretch xmlns:a="http://schemas.openxmlformats.org/drawingml/2006/main"/>
        </p:blipFill>
        <p:spPr>
          <a:xfrm xmlns:a="http://schemas.openxmlformats.org/drawingml/2006/main">
            <a:off x="2202298" y="1524000"/>
            <a:ext cx="7787404" cy="4095750"/>
          </a:xfrm>
          <a:prstGeom xmlns:a="http://schemas.openxmlformats.org/drawingml/2006/main" prst="rect">
            <a:avLst/>
          </a:prstGeom>
        </p:spPr>
      </p:pic>
      <p:sp>
        <p:nvSpPr>
          <p:cNvPr id="4" name="Chọn cảm biến  ·  Dự báo  ·  Mở đáp án  ·  Th">
            <a:extLst xmlns:a="http://schemas.openxmlformats.org/drawingml/2006/main">
              <a:ext uri="{FF2B5EF4-FFF2-40B4-BE49-F238E27FC236}">
                <a16:creationId xmlns:a16="http://schemas.microsoft.com/office/drawing/2014/main" id="{A358DCD9-7EB7-493D-9757-2A834C905C36}"/>
              </a:ext>
            </a:extLst>
          </p:cNvPr>
          <p:cNvSpPr>
            <a:spLocks xmlns:a="http://schemas.openxmlformats.org/drawingml/2006/main" noGrp="1"/>
          </p:cNvSpPr>
          <p:nvPr/>
        </p:nvSpPr>
        <p:spPr>
          <a:xfrm xmlns:a="http://schemas.openxmlformats.org/drawingml/2006/main">
            <a:off x="609600" y="5800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E73"/>
                </a:solidFill>
                <a:latin typeface="Arial"/>
                <a:ea typeface="Arial"/>
                <a:cs typeface="Arial"/>
              </a:defRPr>
            </a:defPPr>
          </a:lstStyle>
          <a:p xmlns:a="http://schemas.openxmlformats.org/drawingml/2006/main">
            <a:pPr>
              <a:defRPr sz="2025" b="1">
                <a:solidFill>
                  <a:srgbClr val="087E73"/>
                </a:solidFill>
                <a:latin typeface="Arial"/>
                <a:ea typeface="Arial"/>
                <a:cs typeface="Arial"/>
              </a:defRPr>
            </a:pPr>
            <a:r>
              <a:rPr sz="2025" b="1">
                <a:solidFill>
                  <a:srgbClr val="087E73"/>
                </a:solidFill>
                <a:latin typeface="Arial"/>
                <a:ea typeface="Arial"/>
                <a:cs typeface="Arial"/>
              </a:rPr>
              <a:t>Chọn cảm biến  ·  Dự báo  ·  Mở đáp án  ·  Thử bỏ hàng xóm</a:t>
            </a:r>
          </a:p>
        </p:txBody>
      </p:sp>
      <p:sp>
        <p:nvSpPr>
          <p:cNvPr id="5" name="traffic-graph-lab.pinkwand512.chatgpt.site  /">
            <a:extLst xmlns:a="http://schemas.openxmlformats.org/drawingml/2006/main">
              <a:ext uri="{FF2B5EF4-FFF2-40B4-BE49-F238E27FC236}">
                <a16:creationId xmlns:a16="http://schemas.microsoft.com/office/drawing/2014/main" id="{12B6AD4F-9252-4E1B-9159-37F4915024DC}"/>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traffic-graph-lab.pinkwand512.chatgpt.site  /  local: 127.0.0.1:8766</a:t>
            </a:r>
          </a:p>
        </p:txBody>
      </p:sp>
    </p:spTree>
    <p:extLst>
      <p:ext uri="{BB962C8B-B14F-4D97-AF65-F5344CB8AC3E}">
        <p14:creationId xmlns:p14="http://schemas.microsoft.com/office/powerpoint/2010/main" val="1793795902"/>
      </p:ext>
    </p:extLst>
  </p:cSld>
</p:sld>
</file>

<file path=ppt/slides/slide2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6FE11FB-F294-4913-8E70-5B329732583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Khi tốc độ giảm đột ngột</a:t>
            </a:r>
          </a:p>
        </p:txBody>
      </p:sp>
      <p:sp>
        <p:nvSpPr>
          <p:cNvPr id="2" name="24 / 26">
            <a:extLst xmlns:a="http://schemas.openxmlformats.org/drawingml/2006/main">
              <a:ext uri="{FF2B5EF4-FFF2-40B4-BE49-F238E27FC236}">
                <a16:creationId xmlns:a16="http://schemas.microsoft.com/office/drawing/2014/main" id="{3A6ED81A-B80C-46C1-BC62-DFF1AD675BC2}"/>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24 / 26</a:t>
            </a:r>
          </a:p>
        </p:txBody>
      </p:sp>
      <p:graphicFrame>
        <p:nvGraphicFramePr>
          <p:cNvPr id="3" name="Chart">
            <a:extLst xmlns:a="http://schemas.openxmlformats.org/drawingml/2006/main">
              <a:ext uri="{FF2B5EF4-FFF2-40B4-BE49-F238E27FC236}">
                <a16:creationId xmlns:a16="http://schemas.microsoft.com/office/drawing/2014/main" id="{2FE029D2-689F-4C94-8C7A-6E97B324A63C}"/>
              </a:ext>
            </a:extLst>
          </p:cNvPr>
          <p:cNvGraphicFramePr/>
          <p:nvPr/>
        </p:nvGraphicFramePr>
        <p:xfrm>
          <a:off xmlns:a="http://schemas.openxmlformats.org/drawingml/2006/main" x="609600" y="1743075"/>
          <a:ext xmlns:a="http://schemas.openxmlformats.org/drawingml/2006/main" cx="7924800" cy="3686175"/>
        </p:xfrm>
        <a:graphic xmlns:a="http://schemas.openxmlformats.org/drawingml/2006/main">
          <a:graphicData uri="http://schemas.openxmlformats.org/drawingml/2006/chart">
            <c:chart xmlns:r="http://schemas.openxmlformats.org/officeDocument/2006/relationships" xmlns:c="http://schemas.openxmlformats.org/drawingml/2006/chart" r:id="Ra3f82ffd30b6493f"/>
          </a:graphicData>
        </a:graphic>
      </p:graphicFrame>
      <p:sp>
        <p:nvSpPr>
          <p:cNvPr id="4" name="56,1">
            <a:extLst xmlns:a="http://schemas.openxmlformats.org/drawingml/2006/main">
              <a:ext uri="{FF2B5EF4-FFF2-40B4-BE49-F238E27FC236}">
                <a16:creationId xmlns:a16="http://schemas.microsoft.com/office/drawing/2014/main" id="{C2CA459B-A8BE-4E47-81EF-86D083E96372}"/>
              </a:ext>
            </a:extLst>
          </p:cNvPr>
          <p:cNvSpPr>
            <a:spLocks xmlns:a="http://schemas.openxmlformats.org/drawingml/2006/main" noGrp="1"/>
          </p:cNvSpPr>
          <p:nvPr/>
        </p:nvSpPr>
        <p:spPr>
          <a:xfrm xmlns:a="http://schemas.openxmlformats.org/drawingml/2006/main">
            <a:off x="8963025" y="2219325"/>
            <a:ext cx="2724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CE704C"/>
                </a:solidFill>
                <a:latin typeface="Arial"/>
                <a:ea typeface="Arial"/>
                <a:cs typeface="Arial"/>
              </a:defRPr>
            </a:defPPr>
          </a:lstStyle>
          <a:p xmlns:a="http://schemas.openxmlformats.org/drawingml/2006/main">
            <a:pPr>
              <a:defRPr sz="5400" b="1">
                <a:solidFill>
                  <a:srgbClr val="CE704C"/>
                </a:solidFill>
                <a:latin typeface="Arial"/>
                <a:ea typeface="Arial"/>
                <a:cs typeface="Arial"/>
              </a:defRPr>
            </a:pPr>
            <a:r>
              <a:rPr sz="5400" b="1">
                <a:solidFill>
                  <a:srgbClr val="CE704C"/>
                </a:solidFill>
                <a:latin typeface="Arial"/>
                <a:ea typeface="Arial"/>
                <a:cs typeface="Arial"/>
              </a:rPr>
              <a:t>56,1</a:t>
            </a:r>
          </a:p>
        </p:txBody>
      </p:sp>
      <p:sp>
        <p:nvSpPr>
          <p:cNvPr id="5" name="km/h sai số&#10;ở tình huống này">
            <a:extLst xmlns:a="http://schemas.openxmlformats.org/drawingml/2006/main">
              <a:ext uri="{FF2B5EF4-FFF2-40B4-BE49-F238E27FC236}">
                <a16:creationId xmlns:a16="http://schemas.microsoft.com/office/drawing/2014/main" id="{C4EB0393-8F7F-4F7B-9A0D-998B918B9ECC}"/>
              </a:ext>
            </a:extLst>
          </p:cNvPr>
          <p:cNvSpPr>
            <a:spLocks xmlns:a="http://schemas.openxmlformats.org/drawingml/2006/main" noGrp="1"/>
          </p:cNvSpPr>
          <p:nvPr/>
        </p:nvSpPr>
        <p:spPr>
          <a:xfrm xmlns:a="http://schemas.openxmlformats.org/drawingml/2006/main">
            <a:off x="8943975" y="3409950"/>
            <a:ext cx="2571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63B3B"/>
                </a:solidFill>
                <a:latin typeface="Arial"/>
                <a:ea typeface="Arial"/>
                <a:cs typeface="Arial"/>
              </a:defRPr>
            </a:defPPr>
          </a:lstStyle>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km/h sai số</a:t>
            </a:r>
          </a:p>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ở tình huống này</a:t>
            </a:r>
          </a:p>
        </p:txBody>
      </p:sp>
      <p:sp>
        <p:nvSpPr>
          <p:cNvPr id="6" name="Tốc độ thực tế giảm mạnh, mô hình chưa dự đoá">
            <a:extLst xmlns:a="http://schemas.openxmlformats.org/drawingml/2006/main">
              <a:ext uri="{FF2B5EF4-FFF2-40B4-BE49-F238E27FC236}">
                <a16:creationId xmlns:a16="http://schemas.microsoft.com/office/drawing/2014/main" id="{1CDAE566-C408-4FC1-9CC2-4FBC61CE0084}"/>
              </a:ext>
            </a:extLst>
          </p:cNvPr>
          <p:cNvSpPr>
            <a:spLocks xmlns:a="http://schemas.openxmlformats.org/drawingml/2006/main" noGrp="1"/>
          </p:cNvSpPr>
          <p:nvPr/>
        </p:nvSpPr>
        <p:spPr>
          <a:xfrm xmlns:a="http://schemas.openxmlformats.org/drawingml/2006/main">
            <a:off x="609600" y="54864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Tốc độ thực tế giảm mạnh, mô hình chưa dự đoán được</a:t>
            </a:r>
          </a:p>
        </p:txBody>
      </p:sp>
      <p:sp>
        <p:nvSpPr>
          <p:cNvPr id="7" name="Cảm biến 717573, 15/06/2012 14:50. Không có n">
            <a:extLst xmlns:a="http://schemas.openxmlformats.org/drawingml/2006/main">
              <a:ext uri="{FF2B5EF4-FFF2-40B4-BE49-F238E27FC236}">
                <a16:creationId xmlns:a16="http://schemas.microsoft.com/office/drawing/2014/main" id="{DA8BFB2D-0184-4B18-A417-58C6EC7C78C3}"/>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Cảm biến 717573, 15/06/2012 14:50. Không có nhãn sự cố để kết luận nguyên nhân.</a:t>
            </a:r>
          </a:p>
        </p:txBody>
      </p:sp>
    </p:spTree>
    <p:extLst>
      <p:ext uri="{BB962C8B-B14F-4D97-AF65-F5344CB8AC3E}">
        <p14:creationId xmlns:p14="http://schemas.microsoft.com/office/powerpoint/2010/main" val="1341740754"/>
      </p:ext>
    </p:extLst>
  </p:cSld>
</p:sld>
</file>

<file path=ppt/slides/slide2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C38253A-EF6C-4BEA-984D-143F92A1F98A}"/>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Giới hạn và hướng phát triển</a:t>
            </a:r>
          </a:p>
        </p:txBody>
      </p:sp>
      <p:sp>
        <p:nvSpPr>
          <p:cNvPr id="2" name="25 / 26">
            <a:extLst xmlns:a="http://schemas.openxmlformats.org/drawingml/2006/main">
              <a:ext uri="{FF2B5EF4-FFF2-40B4-BE49-F238E27FC236}">
                <a16:creationId xmlns:a16="http://schemas.microsoft.com/office/drawing/2014/main" id="{C08BD11A-C69D-4B8E-A452-89E801D01DF8}"/>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25 / 26</a:t>
            </a:r>
          </a:p>
        </p:txBody>
      </p:sp>
      <p:sp>
        <p:nvSpPr>
          <p:cNvPr id="3" name="Những giới hạn đã thấy">
            <a:extLst xmlns:a="http://schemas.openxmlformats.org/drawingml/2006/main">
              <a:ext uri="{FF2B5EF4-FFF2-40B4-BE49-F238E27FC236}">
                <a16:creationId xmlns:a16="http://schemas.microsoft.com/office/drawing/2014/main" id="{06BB9541-0B60-4A35-AC9A-154AD72967AE}"/>
              </a:ext>
            </a:extLst>
          </p:cNvPr>
          <p:cNvSpPr>
            <a:spLocks xmlns:a="http://schemas.openxmlformats.org/drawingml/2006/main" noGrp="1"/>
          </p:cNvSpPr>
          <p:nvPr/>
        </p:nvSpPr>
        <p:spPr>
          <a:xfrm xmlns:a="http://schemas.openxmlformats.org/drawingml/2006/main">
            <a:off x="609600" y="1704975"/>
            <a:ext cx="6000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63B3B"/>
                </a:solidFill>
                <a:latin typeface="Arial"/>
                <a:ea typeface="Arial"/>
                <a:cs typeface="Arial"/>
              </a:defRPr>
            </a:defPPr>
          </a:lstStyle>
          <a:p xmlns:a="http://schemas.openxmlformats.org/drawingml/2006/main">
            <a:pPr>
              <a:defRPr sz="2850" b="1">
                <a:solidFill>
                  <a:srgbClr val="163B3B"/>
                </a:solidFill>
                <a:latin typeface="Arial"/>
                <a:ea typeface="Arial"/>
                <a:cs typeface="Arial"/>
              </a:defRPr>
            </a:pPr>
            <a:r>
              <a:rPr sz="2850" b="1">
                <a:solidFill>
                  <a:srgbClr val="163B3B"/>
                </a:solidFill>
                <a:latin typeface="Arial"/>
                <a:ea typeface="Arial"/>
                <a:cs typeface="Arial"/>
              </a:rPr>
              <a:t>Những giới hạn đã thấy</a:t>
            </a:r>
          </a:p>
        </p:txBody>
      </p:sp>
      <p:sp>
        <p:nvSpPr>
          <p:cNvPr id="4" name="Một dataset và một lần chia thời gian&#10;Graph đ">
            <a:extLst xmlns:a="http://schemas.openxmlformats.org/drawingml/2006/main">
              <a:ext uri="{FF2B5EF4-FFF2-40B4-BE49-F238E27FC236}">
                <a16:creationId xmlns:a16="http://schemas.microsoft.com/office/drawing/2014/main" id="{DF6773F7-AC26-4948-987B-F32A8E4F3070}"/>
              </a:ext>
            </a:extLst>
          </p:cNvPr>
          <p:cNvSpPr>
            <a:spLocks xmlns:a="http://schemas.openxmlformats.org/drawingml/2006/main" noGrp="1"/>
          </p:cNvSpPr>
          <p:nvPr/>
        </p:nvSpPr>
        <p:spPr>
          <a:xfrm xmlns:a="http://schemas.openxmlformats.org/drawingml/2006/main">
            <a:off x="609600" y="2676525"/>
            <a:ext cx="709612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63B3B"/>
                </a:solidFill>
                <a:latin typeface="Arial"/>
                <a:ea typeface="Arial"/>
                <a:cs typeface="Arial"/>
              </a:defRPr>
            </a:defPPr>
          </a:lstStyle>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Một dataset và một lần chia thời gian</a:t>
            </a:r>
          </a:p>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Graph đã mất thông tin hướng</a:t>
            </a:r>
          </a:p>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Thiếu thời tiết và sự cố</a:t>
            </a:r>
          </a:p>
          <a:p xmlns:a="http://schemas.openxmlformats.org/drawingml/2006/main">
            <a:pPr>
              <a:defRPr sz="2250">
                <a:solidFill>
                  <a:srgbClr val="163B3B"/>
                </a:solidFill>
                <a:latin typeface="Arial"/>
                <a:ea typeface="Arial"/>
                <a:cs typeface="Arial"/>
              </a:defRPr>
            </a:pPr>
            <a:r>
              <a:rPr sz="2250">
                <a:solidFill>
                  <a:srgbClr val="163B3B"/>
                </a:solidFill>
                <a:latin typeface="Arial"/>
                <a:ea typeface="Arial"/>
                <a:cs typeface="Arial"/>
              </a:rPr>
              <a:t>Sai số lớn ở một số tình huống chậm</a:t>
            </a:r>
          </a:p>
        </p:txBody>
      </p:sp>
      <p:sp>
        <p:nvSpPr>
          <p:cNvPr id="5" name="&lt;30 km/h">
            <a:extLst xmlns:a="http://schemas.openxmlformats.org/drawingml/2006/main">
              <a:ext uri="{FF2B5EF4-FFF2-40B4-BE49-F238E27FC236}">
                <a16:creationId xmlns:a16="http://schemas.microsoft.com/office/drawing/2014/main" id="{D104BA9B-A2CF-4E71-9975-C37733DEF8CF}"/>
              </a:ext>
            </a:extLst>
          </p:cNvPr>
          <p:cNvSpPr>
            <a:spLocks xmlns:a="http://schemas.openxmlformats.org/drawingml/2006/main" noGrp="1"/>
          </p:cNvSpPr>
          <p:nvPr/>
        </p:nvSpPr>
        <p:spPr>
          <a:xfrm xmlns:a="http://schemas.openxmlformats.org/drawingml/2006/main">
            <a:off x="8220075" y="1971675"/>
            <a:ext cx="3381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CE704C"/>
                </a:solidFill>
                <a:latin typeface="Arial"/>
                <a:ea typeface="Arial"/>
                <a:cs typeface="Arial"/>
              </a:defRPr>
            </a:defPPr>
          </a:lstStyle>
          <a:p xmlns:a="http://schemas.openxmlformats.org/drawingml/2006/main">
            <a:pPr>
              <a:defRPr sz="3525" b="1">
                <a:solidFill>
                  <a:srgbClr val="CE704C"/>
                </a:solidFill>
                <a:latin typeface="Arial"/>
                <a:ea typeface="Arial"/>
                <a:cs typeface="Arial"/>
              </a:defRPr>
            </a:pPr>
            <a:r>
              <a:rPr sz="3525" b="1">
                <a:solidFill>
                  <a:srgbClr val="CE704C"/>
                </a:solidFill>
                <a:latin typeface="Arial"/>
                <a:ea typeface="Arial"/>
                <a:cs typeface="Arial"/>
              </a:rPr>
              <a:t>&lt;30 km/h</a:t>
            </a:r>
          </a:p>
        </p:txBody>
      </p:sp>
      <p:sp>
        <p:nvSpPr>
          <p:cNvPr id="6" name="MAE GCN + GRU&#10;12,58 km/h&#10;&#10;Giữ nguyên&#10;11,08 km">
            <a:extLst xmlns:a="http://schemas.openxmlformats.org/drawingml/2006/main">
              <a:ext uri="{FF2B5EF4-FFF2-40B4-BE49-F238E27FC236}">
                <a16:creationId xmlns:a16="http://schemas.microsoft.com/office/drawing/2014/main" id="{25FC0A9A-1028-4496-A05B-40188BA77C38}"/>
              </a:ext>
            </a:extLst>
          </p:cNvPr>
          <p:cNvSpPr>
            <a:spLocks xmlns:a="http://schemas.openxmlformats.org/drawingml/2006/main" noGrp="1"/>
          </p:cNvSpPr>
          <p:nvPr/>
        </p:nvSpPr>
        <p:spPr>
          <a:xfrm xmlns:a="http://schemas.openxmlformats.org/drawingml/2006/main">
            <a:off x="8210550" y="3038475"/>
            <a:ext cx="3352800" cy="2390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MAE GCN + GRU</a:t>
            </a:r>
          </a:p>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12,58 km/h</a:t>
            </a:r>
          </a:p>
          <a:p xmlns:a="http://schemas.openxmlformats.org/drawingml/2006/main">
            <a:r>
              <a:t/>
            </a:r>
          </a:p>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Giữ nguyên</a:t>
            </a:r>
          </a:p>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11,08 km/h</a:t>
            </a:r>
          </a:p>
        </p:txBody>
      </p:sp>
      <p:sp>
        <p:nvSpPr>
          <p:cNvPr id="7" name="Hướng tiếp theo: graph có hướng, thêm dữ liệu">
            <a:extLst xmlns:a="http://schemas.openxmlformats.org/drawingml/2006/main">
              <a:ext uri="{FF2B5EF4-FFF2-40B4-BE49-F238E27FC236}">
                <a16:creationId xmlns:a16="http://schemas.microsoft.com/office/drawing/2014/main" id="{0B12667A-0ADD-460F-8608-1ACBB980C7F1}"/>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Hướng tiếp theo: graph có hướng, thêm dữ liệu ngoại cảnh, kiểm tra nhiều giai đoạn và khu vực.</a:t>
            </a:r>
          </a:p>
        </p:txBody>
      </p:sp>
    </p:spTree>
    <p:extLst>
      <p:ext uri="{BB962C8B-B14F-4D97-AF65-F5344CB8AC3E}">
        <p14:creationId xmlns:p14="http://schemas.microsoft.com/office/powerpoint/2010/main" val="657124612"/>
      </p:ext>
    </p:extLst>
  </p:cSld>
</p:sld>
</file>

<file path=ppt/slides/slide2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42E285D-311E-4721-AE75-9B4F433CACA6}"/>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B3B"/>
                </a:solidFill>
                <a:latin typeface="Arial"/>
                <a:ea typeface="Arial"/>
                <a:cs typeface="Arial"/>
              </a:defRPr>
            </a:defPPr>
          </a:lstStyle>
          <a:p xmlns:a="http://schemas.openxmlformats.org/drawingml/2006/main">
            <a:pPr>
              <a:defRPr sz="3300" b="1">
                <a:solidFill>
                  <a:srgbClr val="163B3B"/>
                </a:solidFill>
                <a:latin typeface="Arial"/>
                <a:ea typeface="Arial"/>
                <a:cs typeface="Arial"/>
              </a:defRPr>
            </a:pPr>
            <a:r>
              <a:rPr sz="3300" b="1">
                <a:solidFill>
                  <a:srgbClr val="163B3B"/>
                </a:solidFill>
                <a:latin typeface="Arial"/>
                <a:ea typeface="Arial"/>
                <a:cs typeface="Arial"/>
              </a:rPr>
              <a:t>Kết luận và trao đổi</a:t>
            </a:r>
          </a:p>
        </p:txBody>
      </p:sp>
      <p:sp>
        <p:nvSpPr>
          <p:cNvPr id="2" name="26 / 26">
            <a:extLst xmlns:a="http://schemas.openxmlformats.org/drawingml/2006/main">
              <a:ext uri="{FF2B5EF4-FFF2-40B4-BE49-F238E27FC236}">
                <a16:creationId xmlns:a16="http://schemas.microsoft.com/office/drawing/2014/main" id="{3B3CADC7-25E8-46C6-8227-6935C0E6AB2B}"/>
              </a:ext>
            </a:extLst>
          </p:cNvPr>
          <p:cNvSpPr>
            <a:spLocks xmlns:a="http://schemas.openxmlformats.org/drawingml/2006/main" noGrp="1"/>
          </p:cNvSpPr>
          <p:nvPr/>
        </p:nvSpPr>
        <p:spPr>
          <a:xfrm xmlns:a="http://schemas.openxmlformats.org/drawingml/2006/main">
            <a:off x="10715625" y="650557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a:solidFill>
                  <a:srgbClr val="657B79"/>
                </a:solidFill>
                <a:latin typeface="Arial"/>
                <a:ea typeface="Arial"/>
                <a:cs typeface="Arial"/>
              </a:defRPr>
            </a:defPPr>
          </a:lstStyle>
          <a:p xmlns:a="http://schemas.openxmlformats.org/drawingml/2006/main">
            <a:pPr algn="r">
              <a:defRPr sz="1200">
                <a:solidFill>
                  <a:srgbClr val="657B79"/>
                </a:solidFill>
                <a:latin typeface="Arial"/>
                <a:ea typeface="Arial"/>
                <a:cs typeface="Arial"/>
              </a:defRPr>
            </a:pPr>
            <a:r>
              <a:rPr sz="1200">
                <a:solidFill>
                  <a:srgbClr val="657B79"/>
                </a:solidFill>
                <a:latin typeface="Arial"/>
                <a:ea typeface="Arial"/>
                <a:cs typeface="Arial"/>
              </a:rPr>
              <a:t>26 / 26</a:t>
            </a:r>
          </a:p>
        </p:txBody>
      </p:sp>
      <p:sp>
        <p:nvSpPr>
          <p:cNvPr id="3" name="Graph giúp giảm nhẹ&#10;sai số tổng thể">
            <a:extLst xmlns:a="http://schemas.openxmlformats.org/drawingml/2006/main">
              <a:ext uri="{FF2B5EF4-FFF2-40B4-BE49-F238E27FC236}">
                <a16:creationId xmlns:a16="http://schemas.microsoft.com/office/drawing/2014/main" id="{7AA9A7B4-5077-4F91-924E-43D993B6B183}"/>
              </a:ext>
            </a:extLst>
          </p:cNvPr>
          <p:cNvSpPr>
            <a:spLocks xmlns:a="http://schemas.openxmlformats.org/drawingml/2006/main" noGrp="1"/>
          </p:cNvSpPr>
          <p:nvPr/>
        </p:nvSpPr>
        <p:spPr>
          <a:xfrm xmlns:a="http://schemas.openxmlformats.org/drawingml/2006/main">
            <a:off x="609600" y="1695450"/>
            <a:ext cx="108585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087E73"/>
                </a:solidFill>
                <a:latin typeface="Arial"/>
                <a:ea typeface="Arial"/>
                <a:cs typeface="Arial"/>
              </a:defRPr>
            </a:defPPr>
          </a:lstStyle>
          <a:p xmlns:a="http://schemas.openxmlformats.org/drawingml/2006/main">
            <a:pPr>
              <a:defRPr sz="4425" b="1">
                <a:solidFill>
                  <a:srgbClr val="087E73"/>
                </a:solidFill>
                <a:latin typeface="Arial"/>
                <a:ea typeface="Arial"/>
                <a:cs typeface="Arial"/>
              </a:defRPr>
            </a:pPr>
            <a:r>
              <a:rPr sz="4425" b="1">
                <a:solidFill>
                  <a:srgbClr val="087E73"/>
                </a:solidFill>
                <a:latin typeface="Arial"/>
                <a:ea typeface="Arial"/>
                <a:cs typeface="Arial"/>
              </a:rPr>
              <a:t>Graph giúp giảm nhẹ</a:t>
            </a:r>
          </a:p>
          <a:p xmlns:a="http://schemas.openxmlformats.org/drawingml/2006/main">
            <a:pPr>
              <a:defRPr sz="4425" b="1">
                <a:solidFill>
                  <a:srgbClr val="087E73"/>
                </a:solidFill>
                <a:latin typeface="Arial"/>
                <a:ea typeface="Arial"/>
                <a:cs typeface="Arial"/>
              </a:defRPr>
            </a:pPr>
            <a:r>
              <a:rPr sz="4425" b="1">
                <a:solidFill>
                  <a:srgbClr val="087E73"/>
                </a:solidFill>
                <a:latin typeface="Arial"/>
                <a:ea typeface="Arial"/>
                <a:cs typeface="Arial"/>
              </a:rPr>
              <a:t>sai số tổng thể</a:t>
            </a:r>
          </a:p>
        </p:txBody>
      </p:sp>
      <p:sp>
        <p:nvSpPr>
          <p:cNvPr id="4" name="Lợi ích cần kiểm chứng theo từng bài toán&#10;và ">
            <a:extLst xmlns:a="http://schemas.openxmlformats.org/drawingml/2006/main">
              <a:ext uri="{FF2B5EF4-FFF2-40B4-BE49-F238E27FC236}">
                <a16:creationId xmlns:a16="http://schemas.microsoft.com/office/drawing/2014/main" id="{750681F8-478D-4FEF-99FF-61281C91C39D}"/>
              </a:ext>
            </a:extLst>
          </p:cNvPr>
          <p:cNvSpPr>
            <a:spLocks xmlns:a="http://schemas.openxmlformats.org/drawingml/2006/main" noGrp="1"/>
          </p:cNvSpPr>
          <p:nvPr/>
        </p:nvSpPr>
        <p:spPr>
          <a:xfrm xmlns:a="http://schemas.openxmlformats.org/drawingml/2006/main">
            <a:off x="638175" y="3829050"/>
            <a:ext cx="10572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a:solidFill>
                  <a:srgbClr val="163B3B"/>
                </a:solidFill>
                <a:latin typeface="Arial"/>
                <a:ea typeface="Arial"/>
                <a:cs typeface="Arial"/>
              </a:defRPr>
            </a:defPPr>
          </a:lstStyle>
          <a:p xmlns:a="http://schemas.openxmlformats.org/drawingml/2006/main">
            <a:pPr>
              <a:defRPr sz="2475">
                <a:solidFill>
                  <a:srgbClr val="163B3B"/>
                </a:solidFill>
                <a:latin typeface="Arial"/>
                <a:ea typeface="Arial"/>
                <a:cs typeface="Arial"/>
              </a:defRPr>
            </a:pPr>
            <a:r>
              <a:rPr sz="2475">
                <a:solidFill>
                  <a:srgbClr val="163B3B"/>
                </a:solidFill>
                <a:latin typeface="Arial"/>
                <a:ea typeface="Arial"/>
                <a:cs typeface="Arial"/>
              </a:rPr>
              <a:t>Lợi ích cần kiểm chứng theo từng bài toán</a:t>
            </a:r>
          </a:p>
          <a:p xmlns:a="http://schemas.openxmlformats.org/drawingml/2006/main">
            <a:pPr>
              <a:defRPr sz="2475">
                <a:solidFill>
                  <a:srgbClr val="163B3B"/>
                </a:solidFill>
                <a:latin typeface="Arial"/>
                <a:ea typeface="Arial"/>
                <a:cs typeface="Arial"/>
              </a:defRPr>
            </a:pPr>
            <a:r>
              <a:rPr sz="2475">
                <a:solidFill>
                  <a:srgbClr val="163B3B"/>
                </a:solidFill>
                <a:latin typeface="Arial"/>
                <a:ea typeface="Arial"/>
                <a:cs typeface="Arial"/>
              </a:rPr>
              <a:t>và cả những tình huống mô hình dự báo sai.</a:t>
            </a:r>
          </a:p>
        </p:txBody>
      </p:sp>
      <p:sp>
        <p:nvSpPr>
          <p:cNvPr id="5" name="Hỏi đáp">
            <a:extLst xmlns:a="http://schemas.openxmlformats.org/drawingml/2006/main">
              <a:ext uri="{FF2B5EF4-FFF2-40B4-BE49-F238E27FC236}">
                <a16:creationId xmlns:a16="http://schemas.microsoft.com/office/drawing/2014/main" id="{4B595D6D-98A3-4CF8-9A4B-2D5C417F0AA8}"/>
              </a:ext>
            </a:extLst>
          </p:cNvPr>
          <p:cNvSpPr>
            <a:spLocks xmlns:a="http://schemas.openxmlformats.org/drawingml/2006/main" noGrp="1"/>
          </p:cNvSpPr>
          <p:nvPr/>
        </p:nvSpPr>
        <p:spPr>
          <a:xfrm xmlns:a="http://schemas.openxmlformats.org/drawingml/2006/main">
            <a:off x="628650" y="54864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Hỏi đáp</a:t>
            </a:r>
          </a:p>
        </p:txBody>
      </p:sp>
      <p:sp>
        <p:nvSpPr>
          <p:cNvPr id="6" name="Nguồn: DCRNN, T-GCN, GCN, GRU và thực nghiệm ">
            <a:extLst xmlns:a="http://schemas.openxmlformats.org/drawingml/2006/main">
              <a:ext uri="{FF2B5EF4-FFF2-40B4-BE49-F238E27FC236}">
                <a16:creationId xmlns:a16="http://schemas.microsoft.com/office/drawing/2014/main" id="{5EB29DEC-A066-46CC-A34A-9B3F11E44430}"/>
              </a:ext>
            </a:extLst>
          </p:cNvPr>
          <p:cNvSpPr>
            <a:spLocks xmlns:a="http://schemas.openxmlformats.org/drawingml/2006/main" noGrp="1"/>
          </p:cNvSpPr>
          <p:nvPr/>
        </p:nvSpPr>
        <p:spPr>
          <a:xfrm xmlns:a="http://schemas.openxmlformats.org/drawingml/2006/main">
            <a:off x="609600" y="61912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57B79"/>
                </a:solidFill>
                <a:latin typeface="Arial"/>
                <a:ea typeface="Arial"/>
                <a:cs typeface="Arial"/>
              </a:defRPr>
            </a:defPPr>
          </a:lstStyle>
          <a:p xmlns:a="http://schemas.openxmlformats.org/drawingml/2006/main">
            <a:pPr>
              <a:defRPr sz="1350">
                <a:solidFill>
                  <a:srgbClr val="657B79"/>
                </a:solidFill>
                <a:latin typeface="Arial"/>
                <a:ea typeface="Arial"/>
                <a:cs typeface="Arial"/>
              </a:defRPr>
            </a:pPr>
            <a:r>
              <a:rPr sz="1350">
                <a:solidFill>
                  <a:srgbClr val="657B79"/>
                </a:solidFill>
                <a:latin typeface="Arial"/>
                <a:ea typeface="Arial"/>
                <a:cs typeface="Arial"/>
              </a:rPr>
              <a:t>Nguồn: DCRNN, T-GCN, GCN, GRU và thực nghiệm của nhóm. URL trong Notes.</a:t>
            </a:r>
          </a:p>
        </p:txBody>
      </p:sp>
    </p:spTree>
    <p:extLst>
      <p:ext uri="{BB962C8B-B14F-4D97-AF65-F5344CB8AC3E}">
        <p14:creationId xmlns:p14="http://schemas.microsoft.com/office/powerpoint/2010/main" val="8447049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2026-10-13T08:06:09.7840000Z</dcterms:created>
  <dcterms:modified xsi:type="dcterms:W3CDTF">2026-10-13T08:06:09.7840000Z</dcterms:modified>
</coreProperties>
</file>