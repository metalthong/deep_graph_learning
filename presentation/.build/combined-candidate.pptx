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2.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da01d453eb4ca1" /><Relationship Type="http://schemas.openxmlformats.org/officeDocument/2006/relationships/extended-properties" Target="/docProps/app.xml" Id="Rfe5aae7088af48d9" /><Relationship Type="http://schemas.openxmlformats.org/officeDocument/2006/relationships/officeDocument" Target="/ppt/presentation.xml" Id="R15680dde8c61407f" /></Relationships>
</file>

<file path=ppt/presentation.xml><?xml version="1.0" encoding="utf-8"?>
<p:presentation xmlns:p="http://schemas.openxmlformats.org/presentationml/2006/main">
  <p:sldMasterIdLst>
    <p:sldMasterId xmlns:r="http://schemas.openxmlformats.org/officeDocument/2006/relationships" id="2147483648" r:id="Rbe12c2f6cd4948e9"/>
  </p:sldMasterIdLst>
  <p:notesMasterIdLst>
    <p:notesMasterId xmlns:r="http://schemas.openxmlformats.org/officeDocument/2006/relationships" r:id="Raa0208952a75448d"/>
  </p:notesMasterIdLst>
  <p:sldIdLst>
    <p:sldId xmlns:r="http://schemas.openxmlformats.org/officeDocument/2006/relationships" id="256" r:id="Rba6f10a153044c7b"/>
    <p:sldId xmlns:r="http://schemas.openxmlformats.org/officeDocument/2006/relationships" id="257" r:id="Ra440e95c04f74f46"/>
    <p:sldId xmlns:r="http://schemas.openxmlformats.org/officeDocument/2006/relationships" id="258" r:id="Rfb849bc336a04465"/>
    <p:sldId xmlns:r="http://schemas.openxmlformats.org/officeDocument/2006/relationships" id="259" r:id="Rce0d2288a84144d4"/>
    <p:sldId xmlns:r="http://schemas.openxmlformats.org/officeDocument/2006/relationships" id="260" r:id="Re1c1dee9a79b4fc1"/>
    <p:sldId xmlns:r="http://schemas.openxmlformats.org/officeDocument/2006/relationships" id="261" r:id="R9cfa108fe7d74f6a"/>
    <p:sldId xmlns:r="http://schemas.openxmlformats.org/officeDocument/2006/relationships" id="262" r:id="R366b0cdc33af4811"/>
    <p:sldId xmlns:r="http://schemas.openxmlformats.org/officeDocument/2006/relationships" id="263" r:id="R4df03aade89c4a6f"/>
    <p:sldId xmlns:r="http://schemas.openxmlformats.org/officeDocument/2006/relationships" id="264" r:id="Reca0f328d02d4dbd"/>
    <p:sldId xmlns:r="http://schemas.openxmlformats.org/officeDocument/2006/relationships" id="265" r:id="Rd2f8b81e4ca5457a"/>
    <p:sldId xmlns:r="http://schemas.openxmlformats.org/officeDocument/2006/relationships" id="266" r:id="Rc3180a8ccb394ad1"/>
    <p:sldId xmlns:r="http://schemas.openxmlformats.org/officeDocument/2006/relationships" id="267" r:id="R5e7d7e89f7544ef0"/>
    <p:sldId xmlns:r="http://schemas.openxmlformats.org/officeDocument/2006/relationships" id="268" r:id="R2c0323a6085c4c63"/>
    <p:sldId xmlns:r="http://schemas.openxmlformats.org/officeDocument/2006/relationships" id="269" r:id="R7a53bd4051b34574"/>
    <p:sldId xmlns:r="http://schemas.openxmlformats.org/officeDocument/2006/relationships" id="270" r:id="Rbdd509f27cf24414"/>
    <p:sldId xmlns:r="http://schemas.openxmlformats.org/officeDocument/2006/relationships" id="271" r:id="Rd53b43ff14774eeb"/>
    <p:sldId xmlns:r="http://schemas.openxmlformats.org/officeDocument/2006/relationships" id="272" r:id="R09121a5bfa4f4dd3"/>
    <p:sldId xmlns:r="http://schemas.openxmlformats.org/officeDocument/2006/relationships" id="273" r:id="R8a4ea08617c14ecf"/>
    <p:sldId xmlns:r="http://schemas.openxmlformats.org/officeDocument/2006/relationships" id="274" r:id="Rc6b52c02746a4a74"/>
    <p:sldId xmlns:r="http://schemas.openxmlformats.org/officeDocument/2006/relationships" id="275" r:id="Ree99c8ad21914410"/>
    <p:sldId xmlns:r="http://schemas.openxmlformats.org/officeDocument/2006/relationships" id="276" r:id="R9dc66f97655d40ca"/>
    <p:sldId xmlns:r="http://schemas.openxmlformats.org/officeDocument/2006/relationships" id="277" r:id="Rc88348fe59ef420b"/>
    <p:sldId xmlns:r="http://schemas.openxmlformats.org/officeDocument/2006/relationships" id="278" r:id="R61a0ffd83ba2462d"/>
    <p:sldId xmlns:r="http://schemas.openxmlformats.org/officeDocument/2006/relationships" id="279" r:id="R4fc5451687b74014"/>
    <p:sldId xmlns:r="http://schemas.openxmlformats.org/officeDocument/2006/relationships" id="280" r:id="R901704210e2141cb"/>
    <p:sldId xmlns:r="http://schemas.openxmlformats.org/officeDocument/2006/relationships" id="281" r:id="R8973bc57ab1d4241"/>
    <p:sldId xmlns:r="http://schemas.openxmlformats.org/officeDocument/2006/relationships" id="282" r:id="Rc2946a6fc88b4e1d"/>
    <p:sldId xmlns:r="http://schemas.openxmlformats.org/officeDocument/2006/relationships" id="283" r:id="R5de065941b7e460f"/>
    <p:sldId xmlns:r="http://schemas.openxmlformats.org/officeDocument/2006/relationships" id="284" r:id="R8d298c8038414a3b"/>
    <p:sldId xmlns:r="http://schemas.openxmlformats.org/officeDocument/2006/relationships" id="285" r:id="R7583c078a2984864"/>
    <p:sldId xmlns:r="http://schemas.openxmlformats.org/officeDocument/2006/relationships" id="286" r:id="Rccfdd4e64b4f4e52"/>
    <p:sldId xmlns:r="http://schemas.openxmlformats.org/officeDocument/2006/relationships" id="287" r:id="Re42e8f8d9cfd45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3e257d8cf24975" /><Relationship Type="http://schemas.openxmlformats.org/officeDocument/2006/relationships/slideMaster" Target="/ppt/slideMasters/slideMaster1.xml" Id="Rbe12c2f6cd4948e9" /><Relationship Type="http://schemas.openxmlformats.org/officeDocument/2006/relationships/notesMaster" Target="/ppt/notesMasters/notesMaster1.xml" Id="Raa0208952a75448d" /><Relationship Type="http://schemas.openxmlformats.org/officeDocument/2006/relationships/presProps" Target="/ppt/presProps.xml" Id="R82d5d1066bf34395" /><Relationship Type="http://schemas.openxmlformats.org/officeDocument/2006/relationships/tableStyles" Target="/ppt/tableStyles.xml" Id="R447a33d744514162" /><Relationship Type="http://schemas.openxmlformats.org/officeDocument/2006/relationships/slide" Target="/ppt/slides/slide1.xml" Id="Rba6f10a153044c7b" /><Relationship Type="http://schemas.openxmlformats.org/officeDocument/2006/relationships/slide" Target="/ppt/slides/slide2.xml" Id="Ra440e95c04f74f46" /><Relationship Type="http://schemas.openxmlformats.org/officeDocument/2006/relationships/slide" Target="/ppt/slides/slide3.xml" Id="Rfb849bc336a04465" /><Relationship Type="http://schemas.openxmlformats.org/officeDocument/2006/relationships/slide" Target="/ppt/slides/slide4.xml" Id="Rce0d2288a84144d4" /><Relationship Type="http://schemas.openxmlformats.org/officeDocument/2006/relationships/slide" Target="/ppt/slides/slide5.xml" Id="Re1c1dee9a79b4fc1" /><Relationship Type="http://schemas.openxmlformats.org/officeDocument/2006/relationships/slide" Target="/ppt/slides/slide6.xml" Id="R9cfa108fe7d74f6a" /><Relationship Type="http://schemas.openxmlformats.org/officeDocument/2006/relationships/slide" Target="/ppt/slides/slide7.xml" Id="R366b0cdc33af4811" /><Relationship Type="http://schemas.openxmlformats.org/officeDocument/2006/relationships/slide" Target="/ppt/slides/slide8.xml" Id="R4df03aade89c4a6f" /><Relationship Type="http://schemas.openxmlformats.org/officeDocument/2006/relationships/slide" Target="/ppt/slides/slide9.xml" Id="Reca0f328d02d4dbd" /><Relationship Type="http://schemas.openxmlformats.org/officeDocument/2006/relationships/slide" Target="/ppt/slides/slide10.xml" Id="Rd2f8b81e4ca5457a" /><Relationship Type="http://schemas.openxmlformats.org/officeDocument/2006/relationships/slide" Target="/ppt/slides/slide11.xml" Id="Rc3180a8ccb394ad1" /><Relationship Type="http://schemas.openxmlformats.org/officeDocument/2006/relationships/slide" Target="/ppt/slides/slide12.xml" Id="R5e7d7e89f7544ef0" /><Relationship Type="http://schemas.openxmlformats.org/officeDocument/2006/relationships/slide" Target="/ppt/slides/slide13.xml" Id="R2c0323a6085c4c63" /><Relationship Type="http://schemas.openxmlformats.org/officeDocument/2006/relationships/slide" Target="/ppt/slides/slide14.xml" Id="R7a53bd4051b34574" /><Relationship Type="http://schemas.openxmlformats.org/officeDocument/2006/relationships/slide" Target="/ppt/slides/slide15.xml" Id="Rbdd509f27cf24414" /><Relationship Type="http://schemas.openxmlformats.org/officeDocument/2006/relationships/slide" Target="/ppt/slides/slide16.xml" Id="Rd53b43ff14774eeb" /><Relationship Type="http://schemas.openxmlformats.org/officeDocument/2006/relationships/slide" Target="/ppt/slides/slide17.xml" Id="R09121a5bfa4f4dd3" /><Relationship Type="http://schemas.openxmlformats.org/officeDocument/2006/relationships/slide" Target="/ppt/slides/slide18.xml" Id="R8a4ea08617c14ecf" /><Relationship Type="http://schemas.openxmlformats.org/officeDocument/2006/relationships/slide" Target="/ppt/slides/slide19.xml" Id="Rc6b52c02746a4a74" /><Relationship Type="http://schemas.openxmlformats.org/officeDocument/2006/relationships/slide" Target="/ppt/slides/slide20.xml" Id="Ree99c8ad21914410" /><Relationship Type="http://schemas.openxmlformats.org/officeDocument/2006/relationships/slide" Target="/ppt/slides/slide21.xml" Id="R9dc66f97655d40ca" /><Relationship Type="http://schemas.openxmlformats.org/officeDocument/2006/relationships/slide" Target="/ppt/slides/slide22.xml" Id="Rc88348fe59ef420b" /><Relationship Type="http://schemas.openxmlformats.org/officeDocument/2006/relationships/slide" Target="/ppt/slides/slide23.xml" Id="R61a0ffd83ba2462d" /><Relationship Type="http://schemas.openxmlformats.org/officeDocument/2006/relationships/slide" Target="/ppt/slides/slide24.xml" Id="R4fc5451687b74014" /><Relationship Type="http://schemas.openxmlformats.org/officeDocument/2006/relationships/slide" Target="/ppt/slides/slide25.xml" Id="R901704210e2141cb" /><Relationship Type="http://schemas.openxmlformats.org/officeDocument/2006/relationships/slide" Target="/ppt/slides/slide26.xml" Id="R8973bc57ab1d4241" /><Relationship Type="http://schemas.openxmlformats.org/officeDocument/2006/relationships/slide" Target="/ppt/slides/slide27.xml" Id="Rc2946a6fc88b4e1d" /><Relationship Type="http://schemas.openxmlformats.org/officeDocument/2006/relationships/slide" Target="/ppt/slides/slide28.xml" Id="R5de065941b7e460f" /><Relationship Type="http://schemas.openxmlformats.org/officeDocument/2006/relationships/slide" Target="/ppt/slides/slide29.xml" Id="R8d298c8038414a3b" /><Relationship Type="http://schemas.openxmlformats.org/officeDocument/2006/relationships/slide" Target="/ppt/slides/slide30.xml" Id="R7583c078a2984864" /><Relationship Type="http://schemas.openxmlformats.org/officeDocument/2006/relationships/slide" Target="/ppt/slides/slide31.xml" Id="Rccfdd4e64b4f4e52" /><Relationship Type="http://schemas.openxmlformats.org/officeDocument/2006/relationships/slide" Target="/ppt/slides/slide32.xml" Id="Re42e8f8d9cfd45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0717e595cd047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460cc202914f67" /><Relationship Type="http://schemas.openxmlformats.org/officeDocument/2006/relationships/notesMaster" Target="/ppt/notesMasters/notesMaster1.xml" Id="R3a97b0553e4349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d53a50797647b6" /><Relationship Type="http://schemas.openxmlformats.org/officeDocument/2006/relationships/notesMaster" Target="/ppt/notesMasters/notesMaster1.xml" Id="R6b13233b25d14e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c0cf87bad04113" /><Relationship Type="http://schemas.openxmlformats.org/officeDocument/2006/relationships/notesMaster" Target="/ppt/notesMasters/notesMaster1.xml" Id="R2764507c888d48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fd370edf47407e" /><Relationship Type="http://schemas.openxmlformats.org/officeDocument/2006/relationships/notesMaster" Target="/ppt/notesMasters/notesMaster1.xml" Id="R5ba0d5f504424d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cde601f24849ce" /><Relationship Type="http://schemas.openxmlformats.org/officeDocument/2006/relationships/notesMaster" Target="/ppt/notesMasters/notesMaster1.xml" Id="Rc6bbbc60a6fc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e12b02cfb284453" /><Relationship Type="http://schemas.openxmlformats.org/officeDocument/2006/relationships/notesMaster" Target="/ppt/notesMasters/notesMaster1.xml" Id="Ra5ebc80c90c44f6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89db4f320648a6" /><Relationship Type="http://schemas.openxmlformats.org/officeDocument/2006/relationships/notesMaster" Target="/ppt/notesMasters/notesMaster1.xml" Id="R60afe25ec5fa4265" /></Relationships>
</file>

<file path=ppt/notesSlides/_rels/notesSlide8.xml.rels>&#65279;<?xml version="1.0" encoding="utf-8"?><Relationships xmlns="http://schemas.openxmlformats.org/package/2006/relationships"><Relationship Type="http://schemas.openxmlformats.org/officeDocument/2006/relationships/slide" Target="/ppt/slides/slide8.xml" Id="R71116612ccb84c12" /><Relationship Type="http://schemas.openxmlformats.org/officeDocument/2006/relationships/notesMaster" Target="/ppt/notesMasters/notesMaster1.xml" Id="R7eda7b69eac345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ed1a21a5f8243f9" /><Relationship Type="http://schemas.openxmlformats.org/officeDocument/2006/relationships/notesMaster" Target="/ppt/notesMasters/notesMaster1.xml" Id="Re276971788374d1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fcc4ed1a094720" /><Relationship Type="http://schemas.openxmlformats.org/officeDocument/2006/relationships/notesMaster" Target="/ppt/notesMasters/notesMaster1.xml" Id="R079a813856cb42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d242d084ee4159" /><Relationship Type="http://schemas.openxmlformats.org/officeDocument/2006/relationships/notesMaster" Target="/ppt/notesMasters/notesMaster1.xml" Id="Rb0b93246d22f4e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2ac650b66304657" /><Relationship Type="http://schemas.openxmlformats.org/officeDocument/2006/relationships/notesMaster" Target="/ppt/notesMasters/notesMaster1.xml" Id="R07e8f0e4a41848c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414fc8aa7104492" /><Relationship Type="http://schemas.openxmlformats.org/officeDocument/2006/relationships/notesMaster" Target="/ppt/notesMasters/notesMaster1.xml" Id="Reb75db14c11f4c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a0c92cc05ab4b27" /><Relationship Type="http://schemas.openxmlformats.org/officeDocument/2006/relationships/notesMaster" Target="/ppt/notesMasters/notesMaster1.xml" Id="R66a530ad90484f1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4b8dc3eabe347c8" /><Relationship Type="http://schemas.openxmlformats.org/officeDocument/2006/relationships/notesMaster" Target="/ppt/notesMasters/notesMaster1.xml" Id="Raca09ac4183f48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f743b867d2741f9" /><Relationship Type="http://schemas.openxmlformats.org/officeDocument/2006/relationships/notesMaster" Target="/ppt/notesMasters/notesMaster1.xml" Id="R8dfc37f4a2aa40d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4b17f77aaa04d71" /><Relationship Type="http://schemas.openxmlformats.org/officeDocument/2006/relationships/notesMaster" Target="/ppt/notesMasters/notesMaster1.xml" Id="Reeaf63858894483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639d5538774de6" /><Relationship Type="http://schemas.openxmlformats.org/officeDocument/2006/relationships/notesMaster" Target="/ppt/notesMasters/notesMaster1.xml" Id="R7753253de41f4bc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1df628866214cfc" /><Relationship Type="http://schemas.openxmlformats.org/officeDocument/2006/relationships/notesMaster" Target="/ppt/notesMasters/notesMaster1.xml" Id="Rc4dfa4311627425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8afb96eb9e4805" /><Relationship Type="http://schemas.openxmlformats.org/officeDocument/2006/relationships/notesMaster" Target="/ppt/notesMasters/notesMaster1.xml" Id="R2efe48974853457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8925c61e62c43b7" /><Relationship Type="http://schemas.openxmlformats.org/officeDocument/2006/relationships/notesMaster" Target="/ppt/notesMasters/notesMaster1.xml" Id="Rb1cfaaeb20c0446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dbc1e5d77f84d9b" /><Relationship Type="http://schemas.openxmlformats.org/officeDocument/2006/relationships/notesMaster" Target="/ppt/notesMasters/notesMaster1.xml" Id="R2ac77e455e2c4e4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ce793f5581f4af5" /><Relationship Type="http://schemas.openxmlformats.org/officeDocument/2006/relationships/notesMaster" Target="/ppt/notesMasters/notesMaster1.xml" Id="Re38e827b15a347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becae8102ed4d22" /><Relationship Type="http://schemas.openxmlformats.org/officeDocument/2006/relationships/notesMaster" Target="/ppt/notesMasters/notesMaster1.xml" Id="R15933f0da2bb426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78a60384314bf9" /><Relationship Type="http://schemas.openxmlformats.org/officeDocument/2006/relationships/notesMaster" Target="/ppt/notesMasters/notesMaster1.xml" Id="R5dbd543d8dd941a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064f4c74514667" /><Relationship Type="http://schemas.openxmlformats.org/officeDocument/2006/relationships/notesMaster" Target="/ppt/notesMasters/notesMaster1.xml" Id="Rda1683e993b94d0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ec6fe40d1de4f8c" /><Relationship Type="http://schemas.openxmlformats.org/officeDocument/2006/relationships/notesMaster" Target="/ppt/notesMasters/notesMaster1.xml" Id="R85d7c8195ad742f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fdcb2ca87f446b9" /><Relationship Type="http://schemas.openxmlformats.org/officeDocument/2006/relationships/notesMaster" Target="/ppt/notesMasters/notesMaster1.xml" Id="R9200311261d64dd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c56fd1cbe1741cc" /><Relationship Type="http://schemas.openxmlformats.org/officeDocument/2006/relationships/notesMaster" Target="/ppt/notesMasters/notesMaster1.xml" Id="Rab6da4c139304e8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a4f5af7a67b4d40" /><Relationship Type="http://schemas.openxmlformats.org/officeDocument/2006/relationships/notesMaster" Target="/ppt/notesMasters/notesMaster1.xml" Id="R6c0358c7f73f4f2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57756b1f3fa4319" /><Relationship Type="http://schemas.openxmlformats.org/officeDocument/2006/relationships/notesMaster" Target="/ppt/notesMasters/notesMaster1.xml" Id="R9fbe822da3434a0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b2f60cb49414aaa" /><Relationship Type="http://schemas.openxmlformats.org/officeDocument/2006/relationships/notesMaster" Target="/ppt/notesMasters/notesMaster1.xml" Id="R4070d1d33ae640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1/32 · 35 GIÂY · 00:00–00:35</a:t>
            </a:r>
          </a:p>
          <a:p xmlns:a="http://schemas.openxmlformats.org/drawingml/2006/main">
            <a:r>
              <a:t/>
            </a:r>
          </a:p>
          <a:p xmlns:a="http://schemas.openxmlformats.org/drawingml/2006/main">
            <a:r>
              <a:t>LỜI THUYẾT TRÌNH</a:t>
            </a:r>
          </a:p>
          <a:p xmlns:a="http://schemas.openxmlformats.org/drawingml/2006/main">
            <a:r>
              <a:t>Kính chào thầy và các bạn. Nhóm em trình bày Deep Graph Learning qua hai bài toán thực tế: dự báo tốc độ trên mạng cảm biến giao thông và sàng lọc giao dịch Bitcoin đáng ngờ. Trước hai demo, nhóm sẽ giải thích graph, cách mạng neural truyền thông tin giữa các nút, và cách đánh giá kết quả. Phần lý thuyết có liên hệ với năm chương học của môn.</a:t>
            </a:r>
          </a:p>
          <a:p xmlns:a="http://schemas.openxmlformats.org/drawingml/2006/main">
            <a:r>
              <a:t/>
            </a:r>
          </a:p>
          <a:p xmlns:a="http://schemas.openxmlformats.org/drawingml/2006/main">
            <a:r>
              <a:t>THAO TÁC</a:t>
            </a:r>
          </a:p>
          <a:p xmlns:a="http://schemas.openxmlformats.org/drawingml/2006/main">
            <a:r>
              <a:t>Mở đầu bằng câu hỏi: khi dữ liệu có liên hệ, một dòng dữ liệu riêng lẻ còn đủ để dự đoán không?</a:t>
            </a:r>
          </a:p>
          <a:p xmlns:a="http://schemas.openxmlformats.org/drawingml/2006/main">
            <a:r>
              <a:t/>
            </a:r>
          </a:p>
          <a:p xmlns:a="http://schemas.openxmlformats.org/drawingml/2006/main">
            <a:r>
              <a:t>CHUYỂN TIẾP</a:t>
            </a:r>
          </a:p>
          <a:p xmlns:a="http://schemas.openxmlformats.org/drawingml/2006/main">
            <a:r>
              <a:t>Mời Người 1 bắt đầu từ mạch kiến thức của môn học.</a:t>
            </a:r>
          </a:p>
          <a:p xmlns:a="http://schemas.openxmlformats.org/drawingml/2006/main">
            <a:r>
              <a:t/>
            </a:r>
          </a:p>
          <a:p xmlns:a="http://schemas.openxmlformats.org/drawingml/2006/main">
            <a:r>
              <a:t>NGUỒN</a:t>
            </a:r>
          </a:p>
          <a:p xmlns:a="http://schemas.openxmlformats.org/drawingml/2006/main">
            <a:r>
              <a:t>Tài liệu môn học: Chương 1–5 trong D:/School/PT HTTM/Chương1 đến Chương5.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2/32 · 75 GIÂY · 00:35–01:50</a:t>
            </a:r>
          </a:p>
          <a:p xmlns:a="http://schemas.openxmlformats.org/drawingml/2006/main">
            <a:r>
              <a:t/>
            </a:r>
          </a:p>
          <a:p xmlns:a="http://schemas.openxmlformats.org/drawingml/2006/main">
            <a:r>
              <a:t>LỜI THUYẾT TRÌNH</a:t>
            </a:r>
          </a:p>
          <a:p xmlns:a="http://schemas.openxmlformats.org/drawingml/2006/main">
            <a:r>
              <a:t>Deep Graph nối các chương đã học. Chương một nhìn hệ thống từ đầu vào đến quyết định. Chương hai nhấn mạnh dữ liệu và biểu diễn. Chương ba cho mạng neural học biểu diễn. Chương bốn dùng tính cục bộ và bộ lọc dùng chung trong CNN. Với graph, ta vẫn học biểu diễn, nhưng thay lưới pixel bằng nút và cạnh. Chương năm là điểm cần phân biệt: Knowledge Graph lưu tri thức thành các quan hệ có nghĩa; RAG truy xuất tài liệu để cung cấp ngữ cảnh cho mô hình sinh. GNN thì học từ cấu trúc graph để dự đoán. Ba hướng có thể kết hợp nhưng không phải cùng một kỹ thuật.</a:t>
            </a:r>
          </a:p>
          <a:p xmlns:a="http://schemas.openxmlformats.org/drawingml/2006/main">
            <a:r>
              <a:t/>
            </a:r>
          </a:p>
          <a:p xmlns:a="http://schemas.openxmlformats.org/drawingml/2006/main">
            <a:r>
              <a:t>THAO TÁC</a:t>
            </a:r>
          </a:p>
          <a:p xmlns:a="http://schemas.openxmlformats.org/drawingml/2006/main">
            <a:r>
              <a:t>Chỉ lần lượt vào năm dòng; dừng ở dòng CNN rồi nối sang graph.</a:t>
            </a:r>
          </a:p>
          <a:p xmlns:a="http://schemas.openxmlformats.org/drawingml/2006/main">
            <a:r>
              <a:t/>
            </a:r>
          </a:p>
          <a:p xmlns:a="http://schemas.openxmlformats.org/drawingml/2006/main">
            <a:r>
              <a:t>CHUYỂN TIẾP</a:t>
            </a:r>
          </a:p>
          <a:p xmlns:a="http://schemas.openxmlformats.org/drawingml/2006/main">
            <a:r>
              <a:t>Vì sao biểu diễn graph lại có thể cần thiết?</a:t>
            </a:r>
          </a:p>
          <a:p xmlns:a="http://schemas.openxmlformats.org/drawingml/2006/main">
            <a:r>
              <a:t/>
            </a:r>
          </a:p>
          <a:p xmlns:a="http://schemas.openxmlformats.org/drawingml/2006/main">
            <a:r>
              <a:t>NGUỒN</a:t>
            </a:r>
          </a:p>
          <a:p xmlns:a="http://schemas.openxmlformats.org/drawingml/2006/main">
            <a:r>
              <a:t>Chương 1 Slide 1; Chương 2 Assignment 2; Chương 3 Slide 3; Chương 4 Slide 4; Chương 5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3/32 · 70 GIÂY · 01:50–03:00</a:t>
            </a:r>
          </a:p>
          <a:p xmlns:a="http://schemas.openxmlformats.org/drawingml/2006/main">
            <a:r>
              <a:t/>
            </a:r>
          </a:p>
          <a:p xmlns:a="http://schemas.openxmlformats.org/drawingml/2006/main">
            <a:r>
              <a:t>LỜI THUYẾT TRÌNH</a:t>
            </a:r>
          </a:p>
          <a:p xmlns:a="http://schemas.openxmlformats.org/drawingml/2006/main">
            <a:r>
              <a:t>Nếu mỗi giao dịch chỉ là một hàng, mô hình vẫn có thể học từ chính đặc trưng của hàng đó. Nhưng nếu hai giao dịch liên quan qua dòng tiền, ta có thể muốn xem cả liên hệ ấy. Trong giao thông, tốc độ ở cảm biến lân cận có thể mang thêm bối cảnh cho vị trí đang xét. Bảng vẫn cần thiết để lưu đặc trưng; graph bổ sung cấu trúc quan hệ. Deep Graph không tự làm dữ liệu tốt hơn. Nó cho mô hình một cách sử dụng mối liên hệ nếu mối liên hệ đó thực sự hữu ích.</a:t>
            </a:r>
          </a:p>
          <a:p xmlns:a="http://schemas.openxmlformats.org/drawingml/2006/main">
            <a:r>
              <a:t/>
            </a:r>
          </a:p>
          <a:p xmlns:a="http://schemas.openxmlformats.org/drawingml/2006/main">
            <a:r>
              <a:t>THAO TÁC</a:t>
            </a:r>
          </a:p>
          <a:p xmlns:a="http://schemas.openxmlformats.org/drawingml/2006/main">
            <a:r>
              <a:t>Dùng ví dụ hai nút có cùng feature nhưng khác hàng xóm để hỏi dự đoán có thể khác không.</a:t>
            </a:r>
          </a:p>
          <a:p xmlns:a="http://schemas.openxmlformats.org/drawingml/2006/main">
            <a:r>
              <a:t/>
            </a:r>
          </a:p>
          <a:p xmlns:a="http://schemas.openxmlformats.org/drawingml/2006/main">
            <a:r>
              <a:t>CHUYỂN TIẾP</a:t>
            </a:r>
          </a:p>
          <a:p xmlns:a="http://schemas.openxmlformats.org/drawingml/2006/main">
            <a:r>
              <a:t>Ta cần thống nhất các thành phần cơ bản của graph.</a:t>
            </a:r>
          </a:p>
          <a:p xmlns:a="http://schemas.openxmlformats.org/drawingml/2006/main">
            <a:r>
              <a:t/>
            </a:r>
          </a:p>
          <a:p xmlns:a="http://schemas.openxmlformats.org/drawingml/2006/main">
            <a:r>
              <a:t>NGUỒN</a:t>
            </a:r>
          </a:p>
          <a:p xmlns:a="http://schemas.openxmlformats.org/drawingml/2006/main">
            <a:r>
              <a:t>Chương 2 Assignment 2; Chương 3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4/32 · 75 GIÂY · 03:00–04:15</a:t>
            </a:r>
          </a:p>
          <a:p xmlns:a="http://schemas.openxmlformats.org/drawingml/2006/main">
            <a:r>
              <a:t/>
            </a:r>
          </a:p>
          <a:p xmlns:a="http://schemas.openxmlformats.org/drawingml/2006/main">
            <a:r>
              <a:t>LỜI THUYẾT TRÌNH</a:t>
            </a:r>
          </a:p>
          <a:p xmlns:a="http://schemas.openxmlformats.org/drawingml/2006/main">
            <a:r>
              <a:t>Một graph gồm các nút và cạnh. Mỗi nút có thể có vector đặc trưng, ví dụ tốc độ của cảm biến hoặc thuộc tính giao dịch. Cạnh có thể có hướng, như dòng tiền từ giao dịch nguồn sang giao dịch đích, hoặc không hướng, như quan hệ lân cận trong một mạng cảm biến đã đối xứng hóa. Nhãn là đáp án cần dự đoán. Trước khi chọn GCN hay GAT, ta phải trả lời câu hỏi miền dữ liệu: một nút đại diện cho cái gì và cạnh thực sự có nghĩa gì?</a:t>
            </a:r>
          </a:p>
          <a:p xmlns:a="http://schemas.openxmlformats.org/drawingml/2006/main">
            <a:r>
              <a:t/>
            </a:r>
          </a:p>
          <a:p xmlns:a="http://schemas.openxmlformats.org/drawingml/2006/main">
            <a:r>
              <a:t>THAO TÁC</a:t>
            </a:r>
          </a:p>
          <a:p xmlns:a="http://schemas.openxmlformats.org/drawingml/2006/main">
            <a:r>
              <a:t>Đọc các nhãn Nút, Cạnh, Đặc trưng, Nhãn trên sơ đồ; gắn ví dụ giao thông và Bitcoin.</a:t>
            </a:r>
          </a:p>
          <a:p xmlns:a="http://schemas.openxmlformats.org/drawingml/2006/main">
            <a:r>
              <a:t/>
            </a:r>
          </a:p>
          <a:p xmlns:a="http://schemas.openxmlformats.org/drawingml/2006/main">
            <a:r>
              <a:t>CHUYỂN TIẾP</a:t>
            </a:r>
          </a:p>
          <a:p xmlns:a="http://schemas.openxmlformats.org/drawingml/2006/main">
            <a:r>
              <a:t>Khi đã có graph, ta có thể đặt nhiều kiểu câu hỏi học khác nhau.</a:t>
            </a:r>
          </a:p>
          <a:p xmlns:a="http://schemas.openxmlformats.org/drawingml/2006/main">
            <a:r>
              <a:t/>
            </a:r>
          </a:p>
          <a:p xmlns:a="http://schemas.openxmlformats.org/drawingml/2006/main">
            <a:r>
              <a:t>NGUỒN</a:t>
            </a:r>
          </a:p>
          <a:p xmlns:a="http://schemas.openxmlformats.org/drawingml/2006/main">
            <a:r>
              <a:t>Chương 4 Slide 4;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5/32 · 70 GIÂY · 04:15–05:25</a:t>
            </a:r>
          </a:p>
          <a:p xmlns:a="http://schemas.openxmlformats.org/drawingml/2006/main">
            <a:r>
              <a:t/>
            </a:r>
          </a:p>
          <a:p xmlns:a="http://schemas.openxmlformats.org/drawingml/2006/main">
            <a:r>
              <a:t>LỜI THUYẾT TRÌNH</a:t>
            </a:r>
          </a:p>
          <a:p xmlns:a="http://schemas.openxmlformats.org/drawingml/2006/main">
            <a:r>
              <a:t>Ở bài toán nút, mô hình đưa ra một dự đoán cho từng giao dịch hoặc từng cảm biến. Ở bài toán cạnh, mục tiêu là dự đoán liên kết hay loại quan hệ. Ở bài toán graph, cả đồ thị như một phân tử có thể là một mẫu. Với giao thông, một cảm biến có lịch sử theo thời gian, đồng thời liên hệ với các cảm biến khác; ta vừa có chiều thời gian vừa có chiều không gian. Chọn sai đơn vị đầu ra sẽ dẫn đến dữ liệu, loss và metric không phù hợp.</a:t>
            </a:r>
          </a:p>
          <a:p xmlns:a="http://schemas.openxmlformats.org/drawingml/2006/main">
            <a:r>
              <a:t/>
            </a:r>
          </a:p>
          <a:p xmlns:a="http://schemas.openxmlformats.org/drawingml/2006/main">
            <a:r>
              <a:t>THAO TÁC</a:t>
            </a:r>
          </a:p>
          <a:p xmlns:a="http://schemas.openxmlformats.org/drawingml/2006/main">
            <a:r>
              <a:t>Nối lần lượt từng kiểu tác vụ với một ví dụ trong hai demo.</a:t>
            </a:r>
          </a:p>
          <a:p xmlns:a="http://schemas.openxmlformats.org/drawingml/2006/main">
            <a:r>
              <a:t/>
            </a:r>
          </a:p>
          <a:p xmlns:a="http://schemas.openxmlformats.org/drawingml/2006/main">
            <a:r>
              <a:t>CHUYỂN TIẾP</a:t>
            </a:r>
          </a:p>
          <a:p xmlns:a="http://schemas.openxmlformats.org/drawingml/2006/main">
            <a:r>
              <a:t>Vậy nút học thông tin từ hàng xóm bằng cách nào?</a:t>
            </a:r>
          </a:p>
          <a:p xmlns:a="http://schemas.openxmlformats.org/drawingml/2006/main">
            <a:r>
              <a:t/>
            </a:r>
          </a:p>
          <a:p xmlns:a="http://schemas.openxmlformats.org/drawingml/2006/main">
            <a:r>
              <a:t>NGUỒN</a:t>
            </a:r>
          </a:p>
          <a:p xmlns:a="http://schemas.openxmlformats.org/drawingml/2006/main">
            <a:r>
              <a:t>Chương 3 Slide 3;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6/32 · 85 GIÂY · 05:25–06:50</a:t>
            </a:r>
          </a:p>
          <a:p xmlns:a="http://schemas.openxmlformats.org/drawingml/2006/main">
            <a:r>
              <a:t/>
            </a:r>
          </a:p>
          <a:p xmlns:a="http://schemas.openxmlformats.org/drawingml/2006/main">
            <a:r>
              <a:t>LỜI THUYẾT TRÌNH</a:t>
            </a:r>
          </a:p>
          <a:p xmlns:a="http://schemas.openxmlformats.org/drawingml/2006/main">
            <a:r>
              <a:t>Hãy hình dung mỗi nút gửi một thông điệp cho các nút có cạnh nối với nó. Nút nhận tổng hợp các thông điệp và cập nhật biểu diễn của mình bằng một phép biến đổi đã học. Đây là message passing. Một lớp thường kết hợp thông tin ở khoảng một bước cạnh; xếp hai lớp cho phép ảnh hưởng đi xa hơn. Cách tổng hợp phải không phụ thuộc vào thứ tự tùy ý mà ta liệt kê hàng xóm. Nó cũng phải xử lý nút có ít hoặc nhiều hàng xóm. Đây là trực giác chung đằng sau nhiều GNN.</a:t>
            </a:r>
          </a:p>
          <a:p xmlns:a="http://schemas.openxmlformats.org/drawingml/2006/main">
            <a:r>
              <a:t/>
            </a:r>
          </a:p>
          <a:p xmlns:a="http://schemas.openxmlformats.org/drawingml/2006/main">
            <a:r>
              <a:t>THAO TÁC</a:t>
            </a:r>
          </a:p>
          <a:p xmlns:a="http://schemas.openxmlformats.org/drawingml/2006/main">
            <a:r>
              <a:t>Dùng sơ đồ: nút trung tâm nhận ba thông điệp, tổng hợp rồi đổi màu biểu diễn.</a:t>
            </a:r>
          </a:p>
          <a:p xmlns:a="http://schemas.openxmlformats.org/drawingml/2006/main">
            <a:r>
              <a:t/>
            </a:r>
          </a:p>
          <a:p xmlns:a="http://schemas.openxmlformats.org/drawingml/2006/main">
            <a:r>
              <a:t>CHUYỂN TIẾP</a:t>
            </a:r>
          </a:p>
          <a:p xmlns:a="http://schemas.openxmlformats.org/drawingml/2006/main">
            <a:r>
              <a:t>Cách nhìn này gần với CNN, nhưng lưới ảnh và graph khác nhau.</a:t>
            </a:r>
          </a:p>
          <a:p xmlns:a="http://schemas.openxmlformats.org/drawingml/2006/main">
            <a:r>
              <a:t/>
            </a:r>
          </a:p>
          <a:p xmlns:a="http://schemas.openxmlformats.org/drawingml/2006/main">
            <a:r>
              <a:t>NGUỒN</a:t>
            </a:r>
          </a:p>
          <a:p xmlns:a="http://schemas.openxmlformats.org/drawingml/2006/main">
            <a:r>
              <a:t>Gilmer et al., Neural Message Passing for Quantum Chemistry, https://arxiv.org/abs/1704.01212.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7/32 · 75 GIÂY · 06:50–08:05</a:t>
            </a:r>
          </a:p>
          <a:p xmlns:a="http://schemas.openxmlformats.org/drawingml/2006/main">
            <a:r>
              <a:t/>
            </a:r>
          </a:p>
          <a:p xmlns:a="http://schemas.openxmlformats.org/drawingml/2006/main">
            <a:r>
              <a:t>LỜI THUYẾT TRÌNH</a:t>
            </a:r>
          </a:p>
          <a:p xmlns:a="http://schemas.openxmlformats.org/drawingml/2006/main">
            <a:r>
              <a:t>Trong CNN, một bộ lọc quét các vùng nhỏ trên ảnh và chia sẻ cùng trọng số tại các vị trí. Tính cục bộ giúp mô hình khai thác pixel gần nhau. Graph giữ trực giác đó: một lớp xem các hàng xóm và dùng cùng quy tắc cập nhật cho nhiều nút. Nhưng số hàng xóm không cố định, và graph không có lưới hàng-cột đều. Vì vậy, phép tổng hợp cần bất biến với cách sắp thứ tự hàng xóm. Deep Graph là họ phương pháp; GCN chỉ là một lựa chọn trong họ đó.</a:t>
            </a:r>
          </a:p>
          <a:p xmlns:a="http://schemas.openxmlformats.org/drawingml/2006/main">
            <a:r>
              <a:t/>
            </a:r>
          </a:p>
          <a:p xmlns:a="http://schemas.openxmlformats.org/drawingml/2006/main">
            <a:r>
              <a:t>THAO TÁC</a:t>
            </a:r>
          </a:p>
          <a:p xmlns:a="http://schemas.openxmlformats.org/drawingml/2006/main">
            <a:r>
              <a:t>So sánh một ô pixel có 8 vị trí xung quanh với một nút có 2, 3 hoặc 10 hàng xóm.</a:t>
            </a:r>
          </a:p>
          <a:p xmlns:a="http://schemas.openxmlformats.org/drawingml/2006/main">
            <a:r>
              <a:t/>
            </a:r>
          </a:p>
          <a:p xmlns:a="http://schemas.openxmlformats.org/drawingml/2006/main">
            <a:r>
              <a:t>CHUYỂN TIẾP</a:t>
            </a:r>
          </a:p>
          <a:p xmlns:a="http://schemas.openxmlformats.org/drawingml/2006/main">
            <a:r>
              <a:t>Phần này kết thúc bằng câu hỏi: khi nào graph có thể giúp?</a:t>
            </a:r>
          </a:p>
          <a:p xmlns:a="http://schemas.openxmlformats.org/drawingml/2006/main">
            <a:r>
              <a:t/>
            </a:r>
          </a:p>
          <a:p xmlns:a="http://schemas.openxmlformats.org/drawingml/2006/main">
            <a:r>
              <a:t>NGUỒN</a:t>
            </a:r>
          </a:p>
          <a:p xmlns:a="http://schemas.openxmlformats.org/drawingml/2006/main">
            <a:r>
              <a:t>Chương 4 Slide 4; 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1 · SLIDE 8/32 · 85 GIÂY · 08:05–09:30</a:t>
            </a:r>
          </a:p>
          <a:p xmlns:a="http://schemas.openxmlformats.org/drawingml/2006/main">
            <a:r>
              <a:t/>
            </a:r>
          </a:p>
          <a:p xmlns:a="http://schemas.openxmlformats.org/drawingml/2006/main">
            <a:r>
              <a:t>LỜI THUYẾT TRÌNH</a:t>
            </a:r>
          </a:p>
          <a:p xmlns:a="http://schemas.openxmlformats.org/drawingml/2006/main">
            <a:r>
              <a:t>Graph có cơ hội hữu ích khi cạnh phản ánh một quan hệ liên quan đến mục tiêu. Tuy vậy, nhiều cạnh hơn không đảm bảo dự báo tốt hơn. Nếu cạnh sai, lỗi lan truyền. Nếu các hàng xóm có hành vi khác nhau, phép lấy trung bình có thể làm tín hiệu kém đi. Ta cần baseline chỉ dùng đặc trưng hoặc lịch sử riêng, giữ cách chia tập công bằng, rồi đo kết quả. Hai demo sau minh họa hai kiểu graph, hai loại đầu ra và cả các trường hợp mô hình còn yếu.</a:t>
            </a:r>
          </a:p>
          <a:p xmlns:a="http://schemas.openxmlformats.org/drawingml/2006/main">
            <a:r>
              <a:t/>
            </a:r>
          </a:p>
          <a:p xmlns:a="http://schemas.openxmlformats.org/drawingml/2006/main">
            <a:r>
              <a:t>THAO TÁC</a:t>
            </a:r>
          </a:p>
          <a:p xmlns:a="http://schemas.openxmlformats.org/drawingml/2006/main">
            <a:r>
              <a:t>Hỏi lớp nêu một ví dụ quan hệ hữu ích và một ví dụ cạnh gây nhiễu.</a:t>
            </a:r>
          </a:p>
          <a:p xmlns:a="http://schemas.openxmlformats.org/drawingml/2006/main">
            <a:r>
              <a:t/>
            </a:r>
          </a:p>
          <a:p xmlns:a="http://schemas.openxmlformats.org/drawingml/2006/main">
            <a:r>
              <a:t>CHUYỂN TIẾP</a:t>
            </a:r>
          </a:p>
          <a:p xmlns:a="http://schemas.openxmlformats.org/drawingml/2006/main">
            <a:r>
              <a:t>Mời Người 2 giải thích GCN, các biến thể và cách kiểm chứng.</a:t>
            </a:r>
          </a:p>
          <a:p xmlns:a="http://schemas.openxmlformats.org/drawingml/2006/main">
            <a:r>
              <a:t/>
            </a:r>
          </a:p>
          <a:p xmlns:a="http://schemas.openxmlformats.org/drawingml/2006/main">
            <a:r>
              <a:t>NGUỒN</a:t>
            </a:r>
          </a:p>
          <a:p xmlns:a="http://schemas.openxmlformats.org/drawingml/2006/main">
            <a:r>
              <a:t>Chương 1 Slide 1; Chương 2 Assignment 2;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9/32 · 75 GIÂY · 09:30–10:45</a:t>
            </a:r>
          </a:p>
          <a:p xmlns:a="http://schemas.openxmlformats.org/drawingml/2006/main">
            <a:r>
              <a:t/>
            </a:r>
          </a:p>
          <a:p xmlns:a="http://schemas.openxmlformats.org/drawingml/2006/main">
            <a:r>
              <a:t>LỜI THUYẾT TRÌNH</a:t>
            </a:r>
          </a:p>
          <a:p xmlns:a="http://schemas.openxmlformats.org/drawingml/2006/main">
            <a:r>
              <a:t>GCN là cách message passing gọn. Trước hết thêm self-loop để nút vẫn giữ tín hiệu của chính nó. Sau đó tổng hợp biểu diễn của các nút kề với trọng số phụ thuộc cấu trúc và bậc nút. Một lớp tuyến tính và hàm kích hoạt biến tổ hợp đó thành biểu diễn mới. Có thể nhớ bằng lời: tự thân cộng ngữ cảnh hàng xóm, rồi học phép biến đổi. Công thức trên slide chỉ là ký hiệu cho quy trình, không phải một phép đo độ quan trọng của từng hàng xóm.</a:t>
            </a:r>
          </a:p>
          <a:p xmlns:a="http://schemas.openxmlformats.org/drawingml/2006/main">
            <a:r>
              <a:t/>
            </a:r>
          </a:p>
          <a:p xmlns:a="http://schemas.openxmlformats.org/drawingml/2006/main">
            <a:r>
              <a:t>THAO TÁC</a:t>
            </a:r>
          </a:p>
          <a:p xmlns:a="http://schemas.openxmlformats.org/drawingml/2006/main">
            <a:r>
              <a:t>Đọc từ trái qua phải; không đọc công thức từng ký hiệu.</a:t>
            </a:r>
          </a:p>
          <a:p xmlns:a="http://schemas.openxmlformats.org/drawingml/2006/main">
            <a:r>
              <a:t/>
            </a:r>
          </a:p>
          <a:p xmlns:a="http://schemas.openxmlformats.org/drawingml/2006/main">
            <a:r>
              <a:t>CHUYỂN TIẾP</a:t>
            </a:r>
          </a:p>
          <a:p xmlns:a="http://schemas.openxmlformats.org/drawingml/2006/main">
            <a:r>
              <a:t>Self-loop và chuẩn hóa xử lý hai vấn đề thực tế.</a:t>
            </a:r>
          </a:p>
          <a:p xmlns:a="http://schemas.openxmlformats.org/drawingml/2006/main">
            <a:r>
              <a:t/>
            </a:r>
          </a:p>
          <a:p xmlns:a="http://schemas.openxmlformats.org/drawingml/2006/main">
            <a:r>
              <a:t>NGUỒN</a:t>
            </a:r>
          </a:p>
          <a:p xmlns:a="http://schemas.openxmlformats.org/drawingml/2006/main">
            <a:r>
              <a:t>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10/32 · 65 GIÂY · 10:45–11:50</a:t>
            </a:r>
          </a:p>
          <a:p xmlns:a="http://schemas.openxmlformats.org/drawingml/2006/main">
            <a:r>
              <a:t/>
            </a:r>
          </a:p>
          <a:p xmlns:a="http://schemas.openxmlformats.org/drawingml/2006/main">
            <a:r>
              <a:t>LỜI THUYẾT TRÌNH</a:t>
            </a:r>
          </a:p>
          <a:p xmlns:a="http://schemas.openxmlformats.org/drawingml/2006/main">
            <a:r>
              <a:t>Self-loop thêm một cạnh từ nút về chính nó, nhờ đó cập nhật không xóa sạch thông tin ban đầu. Chuẩn hóa giảm việc nút có quá nhiều kết nối lấn át biểu diễn tổng hợp. Có nhiều cách chuẩn hóa, và kết quả phụ thuộc quy ước graph. Vì vậy, báo cáo cần nói rõ graph có hướng hay không, có đối xứng hóa không, thêm self-loop thế nào. Trong giao thông, nhóm dùng graph khoảng cách; trong Elliptic, nhóm đối xứng cạnh khi chạy GCN.</a:t>
            </a:r>
          </a:p>
          <a:p xmlns:a="http://schemas.openxmlformats.org/drawingml/2006/main">
            <a:r>
              <a:t/>
            </a:r>
          </a:p>
          <a:p xmlns:a="http://schemas.openxmlformats.org/drawingml/2006/main">
            <a:r>
              <a:t>THAO TÁC</a:t>
            </a:r>
          </a:p>
          <a:p xmlns:a="http://schemas.openxmlformats.org/drawingml/2006/main">
            <a:r>
              <a:t>Cho xem hai ví dụ trước và sau khi thêm cạnh vòng.</a:t>
            </a:r>
          </a:p>
          <a:p xmlns:a="http://schemas.openxmlformats.org/drawingml/2006/main">
            <a:r>
              <a:t/>
            </a:r>
          </a:p>
          <a:p xmlns:a="http://schemas.openxmlformats.org/drawingml/2006/main">
            <a:r>
              <a:t>CHUYỂN TIẾP</a:t>
            </a:r>
          </a:p>
          <a:p xmlns:a="http://schemas.openxmlformats.org/drawingml/2006/main">
            <a:r>
              <a:t>Các mô hình khác nhau ở cách tạo thông điệp và tổng hợp.</a:t>
            </a:r>
          </a:p>
          <a:p xmlns:a="http://schemas.openxmlformats.org/drawingml/2006/main">
            <a:r>
              <a:t/>
            </a:r>
          </a:p>
          <a:p xmlns:a="http://schemas.openxmlformats.org/drawingml/2006/main">
            <a:r>
              <a:t>NGUỒN</a:t>
            </a:r>
          </a:p>
          <a:p xmlns:a="http://schemas.openxmlformats.org/drawingml/2006/main">
            <a:r>
              <a:t>Kipf &amp; Welling (2017), https://arxiv.org/abs/1609.02907; traffic/results/data_manifest.json;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11/32 · 80 GIÂY · 11:50–13:10</a:t>
            </a:r>
          </a:p>
          <a:p xmlns:a="http://schemas.openxmlformats.org/drawingml/2006/main">
            <a:r>
              <a:t/>
            </a:r>
          </a:p>
          <a:p xmlns:a="http://schemas.openxmlformats.org/drawingml/2006/main">
            <a:r>
              <a:t>LỜI THUYẾT TRÌNH</a:t>
            </a:r>
          </a:p>
          <a:p xmlns:a="http://schemas.openxmlformats.org/drawingml/2006/main">
            <a:r>
              <a:t>GCN dùng hệ số tổng hợp xác định từ cấu trúc. GraphSAGE lấy mẫu hàng xóm và học một hàm gộp feature; vì học quy tắc thay vì vector riêng theo ID, nó có thể áp dụng cho nút mới khi feature và hàng xóm có sẵn. GAT tính điểm attention giữa nút trung tâm và từng hàng xóm rồi chuẩn hóa trong vùng lân cận. Trực giác là một hàng xóm có thể đóng góp nhiều hơn. Attention không phải lời giải thích nhân quả, còn GraphSAGE không bảo đảm tổng quát nếu phân phối nút mới khác. Chọn mô hình theo dữ liệu và kiểm chứng.</a:t>
            </a:r>
          </a:p>
          <a:p xmlns:a="http://schemas.openxmlformats.org/drawingml/2006/main">
            <a:r>
              <a:t/>
            </a:r>
          </a:p>
          <a:p xmlns:a="http://schemas.openxmlformats.org/drawingml/2006/main">
            <a:r>
              <a:t>THAO TÁC</a:t>
            </a:r>
          </a:p>
          <a:p xmlns:a="http://schemas.openxmlformats.org/drawingml/2006/main">
            <a:r>
              <a:t>So ba hàng từ trái qua phải; nêu một điểm mạnh và một giới hạn.</a:t>
            </a:r>
          </a:p>
          <a:p xmlns:a="http://schemas.openxmlformats.org/drawingml/2006/main">
            <a:r>
              <a:t/>
            </a:r>
          </a:p>
          <a:p xmlns:a="http://schemas.openxmlformats.org/drawingml/2006/main">
            <a:r>
              <a:t>CHUYỂN TIẾP</a:t>
            </a:r>
          </a:p>
          <a:p xmlns:a="http://schemas.openxmlformats.org/drawingml/2006/main">
            <a:r>
              <a:t>Hai demo còn kết hợp graph với thông tin thời gian.</a:t>
            </a:r>
          </a:p>
          <a:p xmlns:a="http://schemas.openxmlformats.org/drawingml/2006/main">
            <a:r>
              <a:t/>
            </a:r>
          </a:p>
          <a:p xmlns:a="http://schemas.openxmlformats.org/drawingml/2006/main">
            <a:r>
              <a:t>NGUỒN</a:t>
            </a:r>
          </a:p>
          <a:p xmlns:a="http://schemas.openxmlformats.org/drawingml/2006/main">
            <a:r>
              <a:t>Hamilton et al. (2017), https://arxiv.org/abs/1706.02216; Veličković et al. (2018), https://arxiv.org/abs/1710.10903; Kipf &amp; Welling (2017), https://arxiv.org/abs/1609.02907.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12/32 · 70 GIÂY · 13:10–14:20</a:t>
            </a:r>
          </a:p>
          <a:p xmlns:a="http://schemas.openxmlformats.org/drawingml/2006/main">
            <a:r>
              <a:t/>
            </a:r>
          </a:p>
          <a:p xmlns:a="http://schemas.openxmlformats.org/drawingml/2006/main">
            <a:r>
              <a:t>LỜI THUYẾT TRÌNH</a:t>
            </a:r>
          </a:p>
          <a:p xmlns:a="http://schemas.openxmlformats.org/drawingml/2006/main">
            <a:r>
              <a:t>Demo giao thông cần cả không gian và thời gian. GCN gom tín hiệu từ cảm biến lân cận; GRU đọc 12 mốc liên tiếp tại mỗi cảm biến. Đầu ra là tốc độ sau 15 phút. Elliptic mô tả các giao dịch cùng liên kết dòng tiền qua 49 lát cắt thời gian. Bài toán ở đây là phân loại nút giao dịch có nhãn, không dự báo chuỗi tốc độ. Thời gian trong tập Elliptic là một thuộc tính quan trọng để chia dữ liệu và tránh lẫn tương lai vào huấn luyện.</a:t>
            </a:r>
          </a:p>
          <a:p xmlns:a="http://schemas.openxmlformats.org/drawingml/2006/main">
            <a:r>
              <a:t/>
            </a:r>
          </a:p>
          <a:p xmlns:a="http://schemas.openxmlformats.org/drawingml/2006/main">
            <a:r>
              <a:t>THAO TÁC</a:t>
            </a:r>
          </a:p>
          <a:p xmlns:a="http://schemas.openxmlformats.org/drawingml/2006/main">
            <a:r>
              <a:t>Vẽ đường ngang cho lịch sử và graph cho hàng xóm; nối vào hai đầu ra khác nhau.</a:t>
            </a:r>
          </a:p>
          <a:p xmlns:a="http://schemas.openxmlformats.org/drawingml/2006/main">
            <a:r>
              <a:t/>
            </a:r>
          </a:p>
          <a:p xmlns:a="http://schemas.openxmlformats.org/drawingml/2006/main">
            <a:r>
              <a:t>CHUYỂN TIẾP</a:t>
            </a:r>
          </a:p>
          <a:p xmlns:a="http://schemas.openxmlformats.org/drawingml/2006/main">
            <a:r>
              <a:t>Mô hình học bằng quy trình supervised như các mạng đã biết.</a:t>
            </a:r>
          </a:p>
          <a:p xmlns:a="http://schemas.openxmlformats.org/drawingml/2006/main">
            <a:r>
              <a:t/>
            </a:r>
          </a:p>
          <a:p xmlns:a="http://schemas.openxmlformats.org/drawingml/2006/main">
            <a:r>
              <a:t>NGUỒN</a:t>
            </a:r>
          </a:p>
          <a:p xmlns:a="http://schemas.openxmlformats.org/drawingml/2006/main">
            <a:r>
              <a:t>Chương 3 Slide 3; DCRNN, https://arxiv.org/abs/1707.01926;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13/32 · 65 GIÂY · 14:20–15:25</a:t>
            </a:r>
          </a:p>
          <a:p xmlns:a="http://schemas.openxmlformats.org/drawingml/2006/main">
            <a:r>
              <a:t/>
            </a:r>
          </a:p>
          <a:p xmlns:a="http://schemas.openxmlformats.org/drawingml/2006/main">
            <a:r>
              <a:t>LỜI THUYẾT TRÌNH</a:t>
            </a:r>
          </a:p>
          <a:p xmlns:a="http://schemas.openxmlformats.org/drawingml/2006/main">
            <a:r>
              <a:t>Luồng học quen thuộc vẫn giữ nguyên. Ta đưa feature và graph vào forward pass. Loss so dự đoán với nhãn hợp lệ. Optimizer cập nhật trọng số để giảm loss trên train. Validation giúp chọn checkpoint hoặc cấu hình trước khi chấm test. Với dữ liệu thiếu nhãn, mask phải loại nút đó khỏi loss và metric có nhãn. Với lớp hiếm, chỉ accuracy có thể gây hiểu lầm. Cần chọn chỉ số gắn với chi phí bỏ sót và cảnh báo nhầm.</a:t>
            </a:r>
          </a:p>
          <a:p xmlns:a="http://schemas.openxmlformats.org/drawingml/2006/main">
            <a:r>
              <a:t/>
            </a:r>
          </a:p>
          <a:p xmlns:a="http://schemas.openxmlformats.org/drawingml/2006/main">
            <a:r>
              <a:t>THAO TÁC</a:t>
            </a:r>
          </a:p>
          <a:p xmlns:a="http://schemas.openxmlformats.org/drawingml/2006/main">
            <a:r>
              <a:t>Lần theo pipeline trên slide; nhấn validation không cập nhật trọng số bằng nhãn test.</a:t>
            </a:r>
          </a:p>
          <a:p xmlns:a="http://schemas.openxmlformats.org/drawingml/2006/main">
            <a:r>
              <a:t/>
            </a:r>
          </a:p>
          <a:p xmlns:a="http://schemas.openxmlformats.org/drawingml/2006/main">
            <a:r>
              <a:t>CHUYỂN TIẾP</a:t>
            </a:r>
          </a:p>
          <a:p xmlns:a="http://schemas.openxmlformats.org/drawingml/2006/main">
            <a:r>
              <a:t>Tách thời gian và metric đúng giúp kết luận đáng tin hơn.</a:t>
            </a:r>
          </a:p>
          <a:p xmlns:a="http://schemas.openxmlformats.org/drawingml/2006/main">
            <a:r>
              <a:t/>
            </a:r>
          </a:p>
          <a:p xmlns:a="http://schemas.openxmlformats.org/drawingml/2006/main">
            <a:r>
              <a:t>NGUỒN</a:t>
            </a:r>
          </a:p>
          <a:p xmlns:a="http://schemas.openxmlformats.org/drawingml/2006/main">
            <a:r>
              <a:t>Chương 1 Assignment 1; Chương 3 Slide 3; traffic/train.py; elliptic/train.py.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14/32 · 65 GIÂY · 15:25–16:30</a:t>
            </a:r>
          </a:p>
          <a:p xmlns:a="http://schemas.openxmlformats.org/drawingml/2006/main">
            <a:r>
              <a:t/>
            </a:r>
          </a:p>
          <a:p xmlns:a="http://schemas.openxmlformats.org/drawingml/2006/main">
            <a:r>
              <a:t>LỜI THUYẾT TRÌNH</a:t>
            </a:r>
          </a:p>
          <a:p xmlns:a="http://schemas.openxmlformats.org/drawingml/2006/main">
            <a:r>
              <a:t>Nếu dự đoán tương lai, chia ngẫu nhiên các dòng có thể đưa những thời điểm gần nhau vào cả train lẫn test, khiến đánh giá lạc quan. Chia theo thời gian mô phỏng tình huống sau này. Mọi bước học từ dữ liệu như scaler cũng chỉ fit trên train. Validation chọn checkpoint và ngưỡng. Test dùng để đánh giá sau lựa chọn. Một giới hạn phải nói đúng ở đây: cả hai project đã xem test trong phiên bản trước, nên các kết quả hiện hành là đánh giá hồi cứu trên tập cũ, không phải holdout mới hoàn toàn.</a:t>
            </a:r>
          </a:p>
          <a:p xmlns:a="http://schemas.openxmlformats.org/drawingml/2006/main">
            <a:r>
              <a:t/>
            </a:r>
          </a:p>
          <a:p xmlns:a="http://schemas.openxmlformats.org/drawingml/2006/main">
            <a:r>
              <a:t>THAO TÁC</a:t>
            </a:r>
          </a:p>
          <a:p xmlns:a="http://schemas.openxmlformats.org/drawingml/2006/main">
            <a:r>
              <a:t>Chỉ dải train–validation–test từ trái sang phải; khoanh riêng mốc test.</a:t>
            </a:r>
          </a:p>
          <a:p xmlns:a="http://schemas.openxmlformats.org/drawingml/2006/main">
            <a:r>
              <a:t/>
            </a:r>
          </a:p>
          <a:p xmlns:a="http://schemas.openxmlformats.org/drawingml/2006/main">
            <a:r>
              <a:t>CHUYỂN TIẾP</a:t>
            </a:r>
          </a:p>
          <a:p xmlns:a="http://schemas.openxmlformats.org/drawingml/2006/main">
            <a:r>
              <a:t>Cùng một nguyên lý chia tập, nhưng metric phụ thuộc mục tiêu.</a:t>
            </a:r>
          </a:p>
          <a:p xmlns:a="http://schemas.openxmlformats.org/drawingml/2006/main">
            <a:r>
              <a:t/>
            </a:r>
          </a:p>
          <a:p xmlns:a="http://schemas.openxmlformats.org/drawingml/2006/main">
            <a:r>
              <a:t>NGUỒN</a:t>
            </a:r>
          </a:p>
          <a:p xmlns:a="http://schemas.openxmlformats.org/drawingml/2006/main">
            <a:r>
              <a:t>Chương 2 Assignment 2; traffic/README.md;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15/32 · 80 GIÂY · 16:30–17:50</a:t>
            </a:r>
          </a:p>
          <a:p xmlns:a="http://schemas.openxmlformats.org/drawingml/2006/main">
            <a:r>
              <a:t/>
            </a:r>
          </a:p>
          <a:p xmlns:a="http://schemas.openxmlformats.org/drawingml/2006/main">
            <a:r>
              <a:t>LỜI THUYẾT TRÌNH</a:t>
            </a:r>
          </a:p>
          <a:p xmlns:a="http://schemas.openxmlformats.org/drawingml/2006/main">
            <a:r>
              <a:t>Trong traffic, MAE cho biết độ lệch tuyệt đối trung bình theo km/h; RMSE nhạy hơn với lỗi lớn. Trong bài toán giao dịch, Precision hỏi trong các cảnh báo có bao nhiêu mẫu illicit; Recall hỏi bao nhiêu illicit được tìm thấy; F1 cân bằng hai đại lượng tại một ngưỡng. Average Precision đo xếp hạng qua các ngưỡng. Vì lớp illicit hiếm, accuracy không đủ. Không được gọi điểm GCN là xác suất nếu chưa hiệu chỉnh. Cuối cùng, phải so với baseline và báo cáo cả tình huống khó.</a:t>
            </a:r>
          </a:p>
          <a:p xmlns:a="http://schemas.openxmlformats.org/drawingml/2006/main">
            <a:r>
              <a:t/>
            </a:r>
          </a:p>
          <a:p xmlns:a="http://schemas.openxmlformats.org/drawingml/2006/main">
            <a:r>
              <a:t>THAO TÁC</a:t>
            </a:r>
          </a:p>
          <a:p xmlns:a="http://schemas.openxmlformats.org/drawingml/2006/main">
            <a:r>
              <a:t>Đọc đơn vị và câu hỏi mỗi metric trả lời; nhấn threshold đổi trade-off.</a:t>
            </a:r>
          </a:p>
          <a:p xmlns:a="http://schemas.openxmlformats.org/drawingml/2006/main">
            <a:r>
              <a:t/>
            </a:r>
          </a:p>
          <a:p xmlns:a="http://schemas.openxmlformats.org/drawingml/2006/main">
            <a:r>
              <a:t>CHUYỂN TIẾP</a:t>
            </a:r>
          </a:p>
          <a:p xmlns:a="http://schemas.openxmlformats.org/drawingml/2006/main">
            <a:r>
              <a:t>Trước hai demo, phân biệt GNN với KG và RAG.</a:t>
            </a:r>
          </a:p>
          <a:p xmlns:a="http://schemas.openxmlformats.org/drawingml/2006/main">
            <a:r>
              <a:t/>
            </a:r>
          </a:p>
          <a:p xmlns:a="http://schemas.openxmlformats.org/drawingml/2006/main">
            <a:r>
              <a:t>NGUỒN</a:t>
            </a:r>
          </a:p>
          <a:p xmlns:a="http://schemas.openxmlformats.org/drawingml/2006/main">
            <a:r>
              <a:t>Chương 1 Assignment 1; traffic/results/metrics.json; elliptic/results/metrics.json.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2 · SLIDE 16/32 · 70 GIÂY · 17:50–19:00</a:t>
            </a:r>
          </a:p>
          <a:p xmlns:a="http://schemas.openxmlformats.org/drawingml/2006/main">
            <a:r>
              <a:t/>
            </a:r>
          </a:p>
          <a:p xmlns:a="http://schemas.openxmlformats.org/drawingml/2006/main">
            <a:r>
              <a:t>LỜI THUYẾT TRÌNH</a:t>
            </a:r>
          </a:p>
          <a:p xmlns:a="http://schemas.openxmlformats.org/drawingml/2006/main">
            <a:r>
              <a:t>GNN dùng graph làm cấu trúc tính toán: feature của hàng xóm tác động đến biểu diễn và đầu ra. Knowledge Graph thường biểu diễn tri thức thành bộ ba chủ thể–quan hệ–đối tượng, để truy vấn rõ ràng. RAG truy xuất đoạn tài liệu liên quan rồi đưa vào ngữ cảnh cho mô hình ngôn ngữ; có thể bổ sung graph retrieval. Vì vậy, GNN không tự trở thành cơ sở tri thức và cũng không tạo câu trả lời tự nhiên. Các hướng có thể kết hợp, nhưng demo hôm nay kiểm tra dự đoán trên graph.</a:t>
            </a:r>
          </a:p>
          <a:p xmlns:a="http://schemas.openxmlformats.org/drawingml/2006/main">
            <a:r>
              <a:t/>
            </a:r>
          </a:p>
          <a:p xmlns:a="http://schemas.openxmlformats.org/drawingml/2006/main">
            <a:r>
              <a:t>THAO TÁC</a:t>
            </a:r>
          </a:p>
          <a:p xmlns:a="http://schemas.openxmlformats.org/drawingml/2006/main">
            <a:r>
              <a:t>Đọc ba hàng của bảng, liên hệ Chương 5.</a:t>
            </a:r>
          </a:p>
          <a:p xmlns:a="http://schemas.openxmlformats.org/drawingml/2006/main">
            <a:r>
              <a:t/>
            </a:r>
          </a:p>
          <a:p xmlns:a="http://schemas.openxmlformats.org/drawingml/2006/main">
            <a:r>
              <a:t>CHUYỂN TIẾP</a:t>
            </a:r>
          </a:p>
          <a:p xmlns:a="http://schemas.openxmlformats.org/drawingml/2006/main">
            <a:r>
              <a:t>Mời Người 3 chuyển từ lý thuyết sang mạng cảm biến giao thông.</a:t>
            </a:r>
          </a:p>
          <a:p xmlns:a="http://schemas.openxmlformats.org/drawingml/2006/main">
            <a:r>
              <a:t/>
            </a:r>
          </a:p>
          <a:p xmlns:a="http://schemas.openxmlformats.org/drawingml/2006/main">
            <a:r>
              <a:t>NGUỒN</a:t>
            </a:r>
          </a:p>
          <a:p xmlns:a="http://schemas.openxmlformats.org/drawingml/2006/main">
            <a:r>
              <a:t>Chương 5 Slide 5; Chương 4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17/32 · 40 GIÂY · 19:00–19:40</a:t>
            </a:r>
          </a:p>
          <a:p xmlns:a="http://schemas.openxmlformats.org/drawingml/2006/main">
            <a:r>
              <a:t/>
            </a:r>
          </a:p>
          <a:p xmlns:a="http://schemas.openxmlformats.org/drawingml/2006/main">
            <a:r>
              <a:t>LỜI THUYẾT TRÌNH</a:t>
            </a:r>
          </a:p>
          <a:p xmlns:a="http://schemas.openxmlformats.org/drawingml/2006/main">
            <a:r>
              <a:t>Em phụ trách demo giao thông. Câu hỏi là: với tốc độ đã quan sát ở các cảm biến, ta dự báo tốc độ của mỗi nút sau 15 phút ra sao? Ta sẽ xem một ca tốc độ phục hồi, một ca dữ liệu quá cũ và một ca giảm tốc mà mô hình xử lý kém. Đây là phát lại dữ liệu lịch sử Los Angeles, không phải camera hay giao thông trực tiếp.</a:t>
            </a:r>
          </a:p>
          <a:p xmlns:a="http://schemas.openxmlformats.org/drawingml/2006/main">
            <a:r>
              <a:t/>
            </a:r>
          </a:p>
          <a:p xmlns:a="http://schemas.openxmlformats.org/drawingml/2006/main">
            <a:r>
              <a:t>THAO TÁC</a:t>
            </a:r>
          </a:p>
          <a:p xmlns:a="http://schemas.openxmlformats.org/drawingml/2006/main">
            <a:r>
              <a:t>Mở demo traffic v2; nếu cần đăng nhập thì dùng tài khoản hiện tại. Bản offline: traffic/RUN_DEMO.cmd.</a:t>
            </a:r>
          </a:p>
          <a:p xmlns:a="http://schemas.openxmlformats.org/drawingml/2006/main">
            <a:r>
              <a:t/>
            </a:r>
          </a:p>
          <a:p xmlns:a="http://schemas.openxmlformats.org/drawingml/2006/main">
            <a:r>
              <a:t>CHUYỂN TIẾP</a:t>
            </a:r>
          </a:p>
          <a:p xmlns:a="http://schemas.openxmlformats.org/drawingml/2006/main">
            <a:r>
              <a:t>Trước tiên, xem dữ liệu và cách graph được dựng.</a:t>
            </a:r>
          </a:p>
          <a:p xmlns:a="http://schemas.openxmlformats.org/drawingml/2006/main">
            <a:r>
              <a:t/>
            </a:r>
          </a:p>
          <a:p xmlns:a="http://schemas.openxmlformats.org/drawingml/2006/main">
            <a:r>
              <a:t>NGUỒN</a:t>
            </a:r>
          </a:p>
          <a:p xmlns:a="http://schemas.openxmlformats.org/drawingml/2006/main">
            <a:r>
              <a:t>https://traffic-graph-lab-v2.fitdace1.chatgpt.site; traffic/README.md.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18/32 · 55 GIÂY · 19:40–20:35</a:t>
            </a:r>
          </a:p>
          <a:p xmlns:a="http://schemas.openxmlformats.org/drawingml/2006/main">
            <a:r>
              <a:t/>
            </a:r>
          </a:p>
          <a:p xmlns:a="http://schemas.openxmlformats.org/drawingml/2006/main">
            <a:r>
              <a:t>LỜI THUYẾT TRÌNH</a:t>
            </a:r>
          </a:p>
          <a:p xmlns:a="http://schemas.openxmlformats.org/drawingml/2006/main">
            <a:r>
              <a:t>METR-LA có 207 cảm biến và 34.272 mốc cách nhau 5 phút, trong giai đoạn tháng 3 đến tháng 6 năm 2012. Mỗi nút là cảm biến. Cạnh được tạo từ graph khoảng cách. Mỗi dự báo dùng 12 mốc lịch sử; hai đầu cửa sổ cách nhau 55 phút. Đầu ra ở mốc sau 15 phút. Ta cần nhớ đây là dữ liệu cũ và khu vực Los Angeles. Kết quả không tự chuyển thành hiệu quả tại Việt Nam.</a:t>
            </a:r>
          </a:p>
          <a:p xmlns:a="http://schemas.openxmlformats.org/drawingml/2006/main">
            <a:r>
              <a:t/>
            </a:r>
          </a:p>
          <a:p xmlns:a="http://schemas.openxmlformats.org/drawingml/2006/main">
            <a:r>
              <a:t>THAO TÁC</a:t>
            </a:r>
          </a:p>
          <a:p xmlns:a="http://schemas.openxmlformats.org/drawingml/2006/main">
            <a:r>
              <a:t>Chỉ bản đồ graph cảm biến; nói rõ chấm là nút, đường là cạnh graph, không phải tuyến đường.</a:t>
            </a:r>
          </a:p>
          <a:p xmlns:a="http://schemas.openxmlformats.org/drawingml/2006/main">
            <a:r>
              <a:t/>
            </a:r>
          </a:p>
          <a:p xmlns:a="http://schemas.openxmlformats.org/drawingml/2006/main">
            <a:r>
              <a:t>CHUYỂN TIẾP</a:t>
            </a:r>
          </a:p>
          <a:p xmlns:a="http://schemas.openxmlformats.org/drawingml/2006/main">
            <a:r>
              <a:t>Mô hình dùng GRU cho thời gian và GCN cho hàng xóm.</a:t>
            </a:r>
          </a:p>
          <a:p xmlns:a="http://schemas.openxmlformats.org/drawingml/2006/main">
            <a:r>
              <a:t/>
            </a:r>
          </a:p>
          <a:p xmlns:a="http://schemas.openxmlformats.org/drawingml/2006/main">
            <a:r>
              <a:t>NGUỒN</a:t>
            </a:r>
          </a:p>
          <a:p xmlns:a="http://schemas.openxmlformats.org/drawingml/2006/main">
            <a:r>
              <a:t>traffic/results/data_manifest.json; DCRNN, https://github.com/liyaguang/DCRNN.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19/32 · 55 GIÂY · 20:35–21:30</a:t>
            </a:r>
          </a:p>
          <a:p xmlns:a="http://schemas.openxmlformats.org/drawingml/2006/main">
            <a:r>
              <a:t/>
            </a:r>
          </a:p>
          <a:p xmlns:a="http://schemas.openxmlformats.org/drawingml/2006/main">
            <a:r>
              <a:t>LỜI THUYẾT TRÌNH</a:t>
            </a:r>
          </a:p>
          <a:p xmlns:a="http://schemas.openxmlformats.org/drawingml/2006/main">
            <a:r>
              <a:t>Mốc đơn giản là giữ nguyên tốc độ hiện tại. GRU chỉ đọc chuỗi tại cảm biến đang xét. GCN kết hợp GRU thêm quan hệ giữa các cảm biến. Mỗi mạng chạy ba seed, tối đa 160 epoch; checkpoint chọn bằng validation. Graph giảm MAE khoảng 0,64 phần trăm so với GRU trong cấu hình này, một chênh lệch nhỏ. SD biểu diễn độ lệch chuẩn giữa ba seed, không phải khoảng tin cậy. Đây là vòng v2 sau khi nhóm đã xem test v1, nên không gọi nó là benchmark mới độc lập.</a:t>
            </a:r>
          </a:p>
          <a:p xmlns:a="http://schemas.openxmlformats.org/drawingml/2006/main">
            <a:r>
              <a:t/>
            </a:r>
          </a:p>
          <a:p xmlns:a="http://schemas.openxmlformats.org/drawingml/2006/main">
            <a:r>
              <a:t>THAO TÁC</a:t>
            </a:r>
          </a:p>
          <a:p xmlns:a="http://schemas.openxmlformats.org/drawingml/2006/main">
            <a:r>
              <a:t>Đọc bảng từ baseline đến GRU rồi GCN; chỉ chênh lệch nhỏ, không nói quá.</a:t>
            </a:r>
          </a:p>
          <a:p xmlns:a="http://schemas.openxmlformats.org/drawingml/2006/main">
            <a:r>
              <a:t/>
            </a:r>
          </a:p>
          <a:p xmlns:a="http://schemas.openxmlformats.org/drawingml/2006/main">
            <a:r>
              <a:t>CHUYỂN TIẾP</a:t>
            </a:r>
          </a:p>
          <a:p xmlns:a="http://schemas.openxmlformats.org/drawingml/2006/main">
            <a:r>
              <a:t>Ta thử một tình huống đầu vào còn mới và có quan sát.</a:t>
            </a:r>
          </a:p>
          <a:p xmlns:a="http://schemas.openxmlformats.org/drawingml/2006/main">
            <a:r>
              <a:t/>
            </a:r>
          </a:p>
          <a:p xmlns:a="http://schemas.openxmlformats.org/drawingml/2006/main">
            <a:r>
              <a:t>NGUỒN</a:t>
            </a:r>
          </a:p>
          <a:p xmlns:a="http://schemas.openxmlformats.org/drawingml/2006/main">
            <a:r>
              <a:t>traffic/results/metrics.json; traffic/results/audit_v2/diagnostics.json.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20/32 · 45 GIÂY · 21:30–22:15</a:t>
            </a:r>
          </a:p>
          <a:p xmlns:a="http://schemas.openxmlformats.org/drawingml/2006/main">
            <a:r>
              <a:t/>
            </a:r>
          </a:p>
          <a:p xmlns:a="http://schemas.openxmlformats.org/drawingml/2006/main">
            <a:r>
              <a:t>LỜI THUYẾT TRÌNH</a:t>
            </a:r>
          </a:p>
          <a:p xmlns:a="http://schemas.openxmlformats.org/drawingml/2006/main">
            <a:r>
              <a:t>Ở ca này, tốc độ hiện tại là 14,5 km/h sau một đoạn đi chậm. Trước khi mở đáp án, hãy hỏi lớp liệu nút sẽ phục hồi hay tiếp tục giảm. Demo cho thấy GRU dự báo 20,9, GCN cộng GRU dự báo 21,3; thực tế là 24,7. Đây là một ví dụ được chốt từ phân tích trước khi huấn luyện v2. Bản mới tốt hơn trên toàn tập nhưng con số của riêng ví dụ vẫn có thể thay đổi.</a:t>
            </a:r>
          </a:p>
          <a:p xmlns:a="http://schemas.openxmlformats.org/drawingml/2006/main">
            <a:r>
              <a:t/>
            </a:r>
          </a:p>
          <a:p xmlns:a="http://schemas.openxmlformats.org/drawingml/2006/main">
            <a:r>
              <a:t>THAO TÁC</a:t>
            </a:r>
          </a:p>
          <a:p xmlns:a="http://schemas.openxmlformats.org/drawingml/2006/main">
            <a:r>
              <a:t>Chọn ‘Phục hồi tốc độ’; đọc lịch sử và hai dự báo; sau đó mở đáp án thực tế.</a:t>
            </a:r>
          </a:p>
          <a:p xmlns:a="http://schemas.openxmlformats.org/drawingml/2006/main">
            <a:r>
              <a:t/>
            </a:r>
          </a:p>
          <a:p xmlns:a="http://schemas.openxmlformats.org/drawingml/2006/main">
            <a:r>
              <a:t>CHUYỂN TIẾP</a:t>
            </a:r>
          </a:p>
          <a:p xmlns:a="http://schemas.openxmlformats.org/drawingml/2006/main">
            <a:r>
              <a:t>Tiếp theo, chọn một nút có cảnh báo chất lượng đầu vào.</a:t>
            </a:r>
          </a:p>
          <a:p xmlns:a="http://schemas.openxmlformats.org/drawingml/2006/main">
            <a:r>
              <a:t/>
            </a:r>
          </a:p>
          <a:p xmlns:a="http://schemas.openxmlformats.org/drawingml/2006/main">
            <a:r>
              <a:t>NGUỒN</a:t>
            </a:r>
          </a:p>
          <a:p xmlns:a="http://schemas.openxmlformats.org/drawingml/2006/main">
            <a:r>
              <a:t>traffic/results/demo_cases.json; traffic/results/demo-workspace.png.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21/32 · 50 GIÂY · 22:15–23:05</a:t>
            </a:r>
          </a:p>
          <a:p xmlns:a="http://schemas.openxmlformats.org/drawingml/2006/main">
            <a:r>
              <a:t/>
            </a:r>
          </a:p>
          <a:p xmlns:a="http://schemas.openxmlformats.org/drawingml/2006/main">
            <a:r>
              <a:t>LỜI THUYẾT TRÌNH</a:t>
            </a:r>
          </a:p>
          <a:p xmlns:a="http://schemas.openxmlformats.org/drawingml/2006/main">
            <a:r>
              <a:t>Ở ca này, đồng hồ dự báo là 13:45 nhưng lần đo thật cuối của cảm biến là 04:00. Cửa sổ có 12 trên 12 mốc thiếu tại nút; các hàng xóm cũng thiếu ở mốc hiện tại. Bộ chuẩn bị dữ liệu đã điền giá trị từ quá khứ để mô hình vẫn tính được. Giao diện phát cảnh báo rằng đầu vào đã cũ. Cảnh báo này nói về chất lượng và tuổi dữ liệu, không phải xác suất mô hình đúng. Giá trị tương lai thực tế là 5,6 km/h còn GCN cộng GRU vẫn dự báo khoảng 108,7.</a:t>
            </a:r>
          </a:p>
          <a:p xmlns:a="http://schemas.openxmlformats.org/drawingml/2006/main">
            <a:r>
              <a:t/>
            </a:r>
          </a:p>
          <a:p xmlns:a="http://schemas.openxmlformats.org/drawingml/2006/main">
            <a:r>
              <a:t>THAO TÁC</a:t>
            </a:r>
          </a:p>
          <a:p xmlns:a="http://schemas.openxmlformats.org/drawingml/2006/main">
            <a:r>
              <a:t>Chọn ‘Dữ liệu quá cũ’; chỉ lần đo cuối, 12/12 thiếu, tuổi dữ liệu và sau cùng mở nhãn +15.</a:t>
            </a:r>
          </a:p>
          <a:p xmlns:a="http://schemas.openxmlformats.org/drawingml/2006/main">
            <a:r>
              <a:t/>
            </a:r>
          </a:p>
          <a:p xmlns:a="http://schemas.openxmlformats.org/drawingml/2006/main">
            <a:r>
              <a:t>CHUYỂN TIẾP</a:t>
            </a:r>
          </a:p>
          <a:p xmlns:a="http://schemas.openxmlformats.org/drawingml/2006/main">
            <a:r>
              <a:t>Một ví dụ nữa cho thấy hàng xóm có tín hiệu nhưng mô hình vẫn có thể sai.</a:t>
            </a:r>
          </a:p>
          <a:p xmlns:a="http://schemas.openxmlformats.org/drawingml/2006/main">
            <a:r>
              <a:t/>
            </a:r>
          </a:p>
          <a:p xmlns:a="http://schemas.openxmlformats.org/drawingml/2006/main">
            <a:r>
              <a:t>NGUỒN</a:t>
            </a:r>
          </a:p>
          <a:p xmlns:a="http://schemas.openxmlformats.org/drawingml/2006/main">
            <a:r>
              <a:t>traffic/results/demo_cases.json; traffic/results/demo-warning-v2.png; traffic/dist/freshness.mjs.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22/32 · 40 GIÂY · 23:05–23:45</a:t>
            </a:r>
          </a:p>
          <a:p xmlns:a="http://schemas.openxmlformats.org/drawingml/2006/main">
            <a:r>
              <a:t/>
            </a:r>
          </a:p>
          <a:p xmlns:a="http://schemas.openxmlformats.org/drawingml/2006/main">
            <a:r>
              <a:t>LỜI THUYẾT TRÌNH</a:t>
            </a:r>
          </a:p>
          <a:p xmlns:a="http://schemas.openxmlformats.org/drawingml/2006/main">
            <a:r>
              <a:t>Tại nút này tốc độ quan sát là 94,1 km/h. GCN cộng GRU dự báo gần 97,8, nhưng thực tế sau 15 phút khoảng 42,8. Tín hiệu ở hàng xóm đã bắt đầu giảm. Mô hình vẫn chưa khai thác tốt tín hiệu sẵn có. Dataset không có nhãn sự cố, vì vậy không nên tự kết luận nguyên nhân là tai nạn. Một demo tốt cho xem cả khi mô hình thất bại và hỏi cần thêm feature hay thiết kế nào.</a:t>
            </a:r>
          </a:p>
          <a:p xmlns:a="http://schemas.openxmlformats.org/drawingml/2006/main">
            <a:r>
              <a:t/>
            </a:r>
          </a:p>
          <a:p xmlns:a="http://schemas.openxmlformats.org/drawingml/2006/main">
            <a:r>
              <a:t>THAO TÁC</a:t>
            </a:r>
          </a:p>
          <a:p xmlns:a="http://schemas.openxmlformats.org/drawingml/2006/main">
            <a:r>
              <a:t>Chọn ‘Tình huống khó’; cho thấy đường thực tế giảm; không gán nguyên nhân tai nạn.</a:t>
            </a:r>
          </a:p>
          <a:p xmlns:a="http://schemas.openxmlformats.org/drawingml/2006/main">
            <a:r>
              <a:t/>
            </a:r>
          </a:p>
          <a:p xmlns:a="http://schemas.openxmlformats.org/drawingml/2006/main">
            <a:r>
              <a:t>CHUYỂN TIẾP</a:t>
            </a:r>
          </a:p>
          <a:p xmlns:a="http://schemas.openxmlformats.org/drawingml/2006/main">
            <a:r>
              <a:t>Mời lớp cùng theo dõi một lượt demo bốn phút.</a:t>
            </a:r>
          </a:p>
          <a:p xmlns:a="http://schemas.openxmlformats.org/drawingml/2006/main">
            <a:r>
              <a:t/>
            </a:r>
          </a:p>
          <a:p xmlns:a="http://schemas.openxmlformats.org/drawingml/2006/main">
            <a:r>
              <a:t>NGUỒN</a:t>
            </a:r>
          </a:p>
          <a:p xmlns:a="http://schemas.openxmlformats.org/drawingml/2006/main">
            <a:r>
              <a:t>traffic/results/demo_cases.json; traffic/results/audit_v2/case-2.png.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23/32 · 240 GIÂY · 23:45–27:45</a:t>
            </a:r>
          </a:p>
          <a:p xmlns:a="http://schemas.openxmlformats.org/drawingml/2006/main">
            <a:r>
              <a:t/>
            </a:r>
          </a:p>
          <a:p xmlns:a="http://schemas.openxmlformats.org/drawingml/2006/main">
            <a:r>
              <a:t>LỜI THUYẾT TRÌNH</a:t>
            </a:r>
          </a:p>
          <a:p xmlns:a="http://schemas.openxmlformats.org/drawingml/2006/main">
            <a:r>
              <a:t>Kịch bản live trong bốn phút: 1) Trong 55 giây, chọn Phục hồi tốc độ, giải thích nút, thời điểm và +15 phút; mời lớp dự đoán rồi mới hiện đáp án. 2) Trong 55 giây, chọn Tình huống khó, chỉ ra tốc độ tại nút và graph hàng xóm; công bố sai số 55 km/h; nhắc dataset không gắn nguyên nhân. 3) Trong 80 giây, chọn Dữ liệu quá cũ; tìm thời điểm đo thật cuối cùng 04:00, số mốc thiếu và cảnh báo 9 giờ 45; mở đáp án để thấy tốc độ thực tế chỉ 5,6 km/h. 4) Trong 50 giây, quay về bảng so sánh, nhắc GCN+GRU giảm MAE nhẹ so với GRU và chốt giới hạn. Nếu mạng chậm, chạy offline bằng RUN_DEMO.cmd; nếu site yêu cầu đăng nhập, chuyển qua local.</a:t>
            </a:r>
          </a:p>
          <a:p xmlns:a="http://schemas.openxmlformats.org/drawingml/2006/main">
            <a:r>
              <a:t/>
            </a:r>
          </a:p>
          <a:p xmlns:a="http://schemas.openxmlformats.org/drawingml/2006/main">
            <a:r>
              <a:t>THAO TÁC</a:t>
            </a:r>
          </a:p>
          <a:p xmlns:a="http://schemas.openxmlformats.org/drawingml/2006/main">
            <a:r>
              <a:t>Thực hiện đúng 3 nút demo; che đáp án cho đến khi người nghe dự đoán; chuyển local nếu đăng nhập hoặc Internet cản trở.</a:t>
            </a:r>
          </a:p>
          <a:p xmlns:a="http://schemas.openxmlformats.org/drawingml/2006/main">
            <a:r>
              <a:t/>
            </a:r>
          </a:p>
          <a:p xmlns:a="http://schemas.openxmlformats.org/drawingml/2006/main">
            <a:r>
              <a:t>CHUYỂN TIẾP</a:t>
            </a:r>
          </a:p>
          <a:p xmlns:a="http://schemas.openxmlformats.org/drawingml/2006/main">
            <a:r>
              <a:t>Kết luận phần traffic bằng phạm vi áp dụng và giới hạn.</a:t>
            </a:r>
          </a:p>
          <a:p xmlns:a="http://schemas.openxmlformats.org/drawingml/2006/main">
            <a:r>
              <a:t/>
            </a:r>
          </a:p>
          <a:p xmlns:a="http://schemas.openxmlformats.org/drawingml/2006/main">
            <a:r>
              <a:t>NGUỒN</a:t>
            </a:r>
          </a:p>
          <a:p xmlns:a="http://schemas.openxmlformats.org/drawingml/2006/main">
            <a:r>
              <a:t>Demo private: https://traffic-graph-lab-v2.fitdace1.chatgpt.site; local: D:/School/PT HTTM/DeepGraph/traffic/RUN_DEMO.cmd.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3 · SLIDE 24/32 · 45 GIÂY · 27:45–28:30</a:t>
            </a:r>
          </a:p>
          <a:p xmlns:a="http://schemas.openxmlformats.org/drawingml/2006/main">
            <a:r>
              <a:t/>
            </a:r>
          </a:p>
          <a:p xmlns:a="http://schemas.openxmlformats.org/drawingml/2006/main">
            <a:r>
              <a:t>LỜI THUYẾT TRÌNH</a:t>
            </a:r>
          </a:p>
          <a:p xmlns:a="http://schemas.openxmlformats.org/drawingml/2006/main">
            <a:r>
              <a:t>Kết quả trung bình không che được lỗi lớn ở tốc độ thấp hoặc khi đầu vào cũ. Cảnh báo tuổi dữ liệu giúp người dùng không nhầm giá trị đã bù với số đo hiện tại; nó không phải độ tin cậy dự báo. Demo phát lại dữ liệu lịch sử Los Angeles, chưa kết nối nguồn hiện tại và chưa kiểm chứng ở Việt Nam. Mời Người 4 chuyển sang graph giao dịch Bitcoin, nơi nhãn mất cân bằng và cảnh báo nhầm có ý nghĩa khác.</a:t>
            </a:r>
          </a:p>
          <a:p xmlns:a="http://schemas.openxmlformats.org/drawingml/2006/main">
            <a:r>
              <a:t/>
            </a:r>
          </a:p>
          <a:p xmlns:a="http://schemas.openxmlformats.org/drawingml/2006/main">
            <a:r>
              <a:t>THAO TÁC</a:t>
            </a:r>
          </a:p>
          <a:p xmlns:a="http://schemas.openxmlformats.org/drawingml/2006/main">
            <a:r>
              <a:t>Đọc bốn giới hạn; không quy đổi MAE thành phần trăm chính xác.</a:t>
            </a:r>
          </a:p>
          <a:p xmlns:a="http://schemas.openxmlformats.org/drawingml/2006/main">
            <a:r>
              <a:t/>
            </a:r>
          </a:p>
          <a:p xmlns:a="http://schemas.openxmlformats.org/drawingml/2006/main">
            <a:r>
              <a:t>CHUYỂN TIẾP</a:t>
            </a:r>
          </a:p>
          <a:p xmlns:a="http://schemas.openxmlformats.org/drawingml/2006/main">
            <a:r>
              <a:t>Người 4 trình bày demo giao dịch đáng ngờ.</a:t>
            </a:r>
          </a:p>
          <a:p xmlns:a="http://schemas.openxmlformats.org/drawingml/2006/main">
            <a:r>
              <a:t/>
            </a:r>
          </a:p>
          <a:p xmlns:a="http://schemas.openxmlformats.org/drawingml/2006/main">
            <a:r>
              <a:t>NGUỒN</a:t>
            </a:r>
          </a:p>
          <a:p xmlns:a="http://schemas.openxmlformats.org/drawingml/2006/main">
            <a:r>
              <a:t>traffic/README.md; traffic/results/audit_v2/diagnostics.json.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25/32 · 40 GIÂY · 28:30–29:10</a:t>
            </a:r>
          </a:p>
          <a:p xmlns:a="http://schemas.openxmlformats.org/drawingml/2006/main">
            <a:r>
              <a:t/>
            </a:r>
          </a:p>
          <a:p xmlns:a="http://schemas.openxmlformats.org/drawingml/2006/main">
            <a:r>
              <a:t>LỜI THUYẾT TRÌNH</a:t>
            </a:r>
          </a:p>
          <a:p xmlns:a="http://schemas.openxmlformats.org/drawingml/2006/main">
            <a:r>
              <a:t>Em phụ trách demo Elliptic. Đây là bài toán phân loại giao dịch dựa trên đặc trưng và graph dòng tiền. Từ ‘illicit’ chỉ nói nhãn trong bộ dữ liệu lịch sử, không phải cáo buộc giao dịch hay chủ thể ngoài đời. Ta sẽ xem một ca được phát hiện, một cảnh báo nhầm, một ca bỏ sót và giao dịch chưa có nhãn.</a:t>
            </a:r>
          </a:p>
          <a:p xmlns:a="http://schemas.openxmlformats.org/drawingml/2006/main">
            <a:r>
              <a:t/>
            </a:r>
          </a:p>
          <a:p xmlns:a="http://schemas.openxmlformats.org/drawingml/2006/main">
            <a:r>
              <a:t>THAO TÁC</a:t>
            </a:r>
          </a:p>
          <a:p xmlns:a="http://schemas.openxmlformats.org/drawingml/2006/main">
            <a:r>
              <a:t>Mở elliptic-transaction-lab.pinkwand512.chatgpt.site nếu tài khoản có quyền; local chạy elliptic/start_demo.ps1.</a:t>
            </a:r>
          </a:p>
          <a:p xmlns:a="http://schemas.openxmlformats.org/drawingml/2006/main">
            <a:r>
              <a:t/>
            </a:r>
          </a:p>
          <a:p xmlns:a="http://schemas.openxmlformats.org/drawingml/2006/main">
            <a:r>
              <a:t>CHUYỂN TIẾP</a:t>
            </a:r>
          </a:p>
          <a:p xmlns:a="http://schemas.openxmlformats.org/drawingml/2006/main">
            <a:r>
              <a:t>Xem trước cấu trúc và mức độ mất cân bằng của dữ liệu.</a:t>
            </a:r>
          </a:p>
          <a:p xmlns:a="http://schemas.openxmlformats.org/drawingml/2006/main">
            <a:r>
              <a:t/>
            </a:r>
          </a:p>
          <a:p xmlns:a="http://schemas.openxmlformats.org/drawingml/2006/main">
            <a:r>
              <a:t>NGUỒN</a:t>
            </a:r>
          </a:p>
          <a:p xmlns:a="http://schemas.openxmlformats.org/drawingml/2006/main">
            <a:r>
              <a:t>elliptic/README.md; Elliptic dataset, https://www.kaggle.com/datasets/ellipticco/elliptic-data-set.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26/32 · 50 GIÂY · 29:10–30:00</a:t>
            </a:r>
          </a:p>
          <a:p xmlns:a="http://schemas.openxmlformats.org/drawingml/2006/main">
            <a:r>
              <a:t/>
            </a:r>
          </a:p>
          <a:p xmlns:a="http://schemas.openxmlformats.org/drawingml/2006/main">
            <a:r>
              <a:t>LỜI THUYẾT TRÌNH</a:t>
            </a:r>
          </a:p>
          <a:p xmlns:a="http://schemas.openxmlformats.org/drawingml/2006/main">
            <a:r>
              <a:t>Elliptic có 203.769 giao dịch và 234.355 liên kết dòng tiền qua 49 lát cắt. Mỗi nút là giao dịch; cạnh biểu thị dòng Bitcoin giữa các giao dịch theo bộ dữ liệu. Có 4.545 nhãn illicit, 42.019 licit và 157.205 giao dịch chưa có nhãn. Unknown không có nghĩa là hợp pháp hoặc đáng ngờ; nghĩa là ta không có đáp án tham chiếu. Phân biệt ba nhóm này rất quan trọng khi đọc demo và chỉ số.</a:t>
            </a:r>
          </a:p>
          <a:p xmlns:a="http://schemas.openxmlformats.org/drawingml/2006/main">
            <a:r>
              <a:t/>
            </a:r>
          </a:p>
          <a:p xmlns:a="http://schemas.openxmlformats.org/drawingml/2006/main">
            <a:r>
              <a:t>THAO TÁC</a:t>
            </a:r>
          </a:p>
          <a:p xmlns:a="http://schemas.openxmlformats.org/drawingml/2006/main">
            <a:r>
              <a:t>Chỉ vào nút, cạnh và nhóm Unknown; nhấn nhãn không phải bản án.</a:t>
            </a:r>
          </a:p>
          <a:p xmlns:a="http://schemas.openxmlformats.org/drawingml/2006/main">
            <a:r>
              <a:t/>
            </a:r>
          </a:p>
          <a:p xmlns:a="http://schemas.openxmlformats.org/drawingml/2006/main">
            <a:r>
              <a:t>CHUYỂN TIẾP</a:t>
            </a:r>
          </a:p>
          <a:p xmlns:a="http://schemas.openxmlformats.org/drawingml/2006/main">
            <a:r>
              <a:t>Nhóm so sánh nhiều mô hình, và GCN không đứng đầu.</a:t>
            </a:r>
          </a:p>
          <a:p xmlns:a="http://schemas.openxmlformats.org/drawingml/2006/main">
            <a:r>
              <a:t/>
            </a:r>
          </a:p>
          <a:p xmlns:a="http://schemas.openxmlformats.org/drawingml/2006/main">
            <a:r>
              <a:t>NGUỒN</a:t>
            </a:r>
          </a:p>
          <a:p xmlns:a="http://schemas.openxmlformats.org/drawingml/2006/main">
            <a:r>
              <a:t>elliptic/results/data_summary.json; elliptic/results/metrics.json; Weber et al. (2019), https://arxiv.org/abs/1908.02591.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27/32 · 60 GIÂY · 30:00–31:00</a:t>
            </a:r>
          </a:p>
          <a:p xmlns:a="http://schemas.openxmlformats.org/drawingml/2006/main">
            <a:r>
              <a:t/>
            </a:r>
          </a:p>
          <a:p xmlns:a="http://schemas.openxmlformats.org/drawingml/2006/main">
            <a:r>
              <a:t>LỜI THUYẾT TRÌNH</a:t>
            </a:r>
          </a:p>
          <a:p xmlns:a="http://schemas.openxmlformats.org/drawingml/2006/main">
            <a:r>
              <a:t>Bảng kết quả trung bình ba seed. Random Forest all đạt F1 79,3%, cao nhất; GCN đạt 61,3%. Nhóm không che kết quả này. RF all dùng 93 feature local cộng 72 feature tổng hợp hàng xóm, nên đã nhận thông tin quan hệ có sẵn. MLP và GCN cùng dùng 93 feature local; GCN thêm truyền tin trên graph. AP của các mô hình neural khá gần RF, nhưng F1 ở ngưỡng được chọn khác nhau. Điều đó cho thấy threshold, mất cân bằng và cách biểu diễn đều quan trọng; không có lý do để tuyên bố GCN luôn tốt hơn.</a:t>
            </a:r>
          </a:p>
          <a:p xmlns:a="http://schemas.openxmlformats.org/drawingml/2006/main">
            <a:r>
              <a:t/>
            </a:r>
          </a:p>
          <a:p xmlns:a="http://schemas.openxmlformats.org/drawingml/2006/main">
            <a:r>
              <a:t>THAO TÁC</a:t>
            </a:r>
          </a:p>
          <a:p xmlns:a="http://schemas.openxmlformats.org/drawingml/2006/main">
            <a:r>
              <a:t>Đọc F1, chỉ RF all dẫn đầu; nói rõ RF all có 72 feature hàng xóm.</a:t>
            </a:r>
          </a:p>
          <a:p xmlns:a="http://schemas.openxmlformats.org/drawingml/2006/main">
            <a:r>
              <a:t/>
            </a:r>
          </a:p>
          <a:p xmlns:a="http://schemas.openxmlformats.org/drawingml/2006/main">
            <a:r>
              <a:t>CHUYỂN TIẾP</a:t>
            </a:r>
          </a:p>
          <a:p xmlns:a="http://schemas.openxmlformats.org/drawingml/2006/main">
            <a:r>
              <a:t>Bây giờ ta mở giao diện và xem đúng một nút trong mạng.</a:t>
            </a:r>
          </a:p>
          <a:p xmlns:a="http://schemas.openxmlformats.org/drawingml/2006/main">
            <a:r>
              <a:t/>
            </a:r>
          </a:p>
          <a:p xmlns:a="http://schemas.openxmlformats.org/drawingml/2006/main">
            <a:r>
              <a:t>NGUỒN</a:t>
            </a:r>
          </a:p>
          <a:p xmlns:a="http://schemas.openxmlformats.org/drawingml/2006/main">
            <a:r>
              <a:t>elliptic/results/metrics.json; elliptic/README.md; elliptic/output/V2/Elliptic_Loi_Thuyet_Trinh_Va_Demo.pdf.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28/32 · 40 GIÂY · 31:00–31:40</a:t>
            </a:r>
          </a:p>
          <a:p xmlns:a="http://schemas.openxmlformats.org/drawingml/2006/main">
            <a:r>
              <a:t/>
            </a:r>
          </a:p>
          <a:p xmlns:a="http://schemas.openxmlformats.org/drawingml/2006/main">
            <a:r>
              <a:t>LỜI THUYẾT TRÌNH</a:t>
            </a:r>
          </a:p>
          <a:p xmlns:a="http://schemas.openxmlformats.org/drawingml/2006/main">
            <a:r>
              <a:t>Giao diện cho chọn lát cắt, giao dịch, mô hình và ngưỡng. Màu nút cho biết dự đoán; danh sách hàng xóm giúp xem ngữ cảnh. GCN và MLP suy luận trên toàn lát cắt, dù giao diện chỉ vẽ một vùng nhỏ. Ngưỡng đã chọn từ validation, còn kéo thanh ngưỡng chỉ để minh họa trade-off. Ta không gọi điểm 0,99 là xác suất chắc chắn, vì mô hình chưa hiệu chỉnh xác suất.</a:t>
            </a:r>
          </a:p>
          <a:p xmlns:a="http://schemas.openxmlformats.org/drawingml/2006/main">
            <a:r>
              <a:t/>
            </a:r>
          </a:p>
          <a:p xmlns:a="http://schemas.openxmlformats.org/drawingml/2006/main">
            <a:r>
              <a:t>THAO TÁC</a:t>
            </a:r>
          </a:p>
          <a:p xmlns:a="http://schemas.openxmlformats.org/drawingml/2006/main">
            <a:r>
              <a:t>Mở giao diện Elliptic và chỉ bộ lọc thời gian, model, graph, điểm cảnh báo.</a:t>
            </a:r>
          </a:p>
          <a:p xmlns:a="http://schemas.openxmlformats.org/drawingml/2006/main">
            <a:r>
              <a:t/>
            </a:r>
          </a:p>
          <a:p xmlns:a="http://schemas.openxmlformats.org/drawingml/2006/main">
            <a:r>
              <a:t>CHUYỂN TIẾP</a:t>
            </a:r>
          </a:p>
          <a:p xmlns:a="http://schemas.openxmlformats.org/drawingml/2006/main">
            <a:r>
              <a:t>Cùng đọc bốn trường hợp theo thứ tự, rồi xem các giới hạn của kết quả.</a:t>
            </a:r>
          </a:p>
          <a:p xmlns:a="http://schemas.openxmlformats.org/drawingml/2006/main">
            <a:r>
              <a:t/>
            </a:r>
          </a:p>
          <a:p xmlns:a="http://schemas.openxmlformats.org/drawingml/2006/main">
            <a:r>
              <a:t>NGUỒN</a:t>
            </a:r>
          </a:p>
          <a:p xmlns:a="http://schemas.openxmlformats.org/drawingml/2006/main">
            <a:r>
              <a:t>elliptic/qa/workspace.png;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29/32 · 100 GIÂY · 31:40–33:20</a:t>
            </a:r>
          </a:p>
          <a:p xmlns:a="http://schemas.openxmlformats.org/drawingml/2006/main">
            <a:r>
              <a:t/>
            </a:r>
          </a:p>
          <a:p xmlns:a="http://schemas.openxmlformats.org/drawingml/2006/main">
            <a:r>
              <a:t>LỜI THUYẾT TRÌNH</a:t>
            </a:r>
          </a:p>
          <a:p xmlns:a="http://schemas.openxmlformats.org/drawingml/2006/main">
            <a:r>
              <a:t>Chọn lát cắt 35 và giao dịch 69756172. Đầu tiên chưa đối chiếu nhãn. Hỏi lớp: điểm GCN gần 1 có nghĩa gì? Trả lời: mô hình xếp giao dịch này trên ngưỡng đã chọn, vì vậy phát cảnh báo. Điểm là đầu ra mô hình, chưa phải xác suất hiệu chỉnh. Sau khi mời lớp đoán, mở nhãn tham chiếu: illicit. Đây là một phát hiện đúng trong trường hợp được chọn sau đánh giá. Không suy rộng từ một nút sang toàn bộ dữ liệu. Quan sát mạng không chứng minh nguyên nhân hoặc hành vi của cá nhân.</a:t>
            </a:r>
          </a:p>
          <a:p xmlns:a="http://schemas.openxmlformats.org/drawingml/2006/main">
            <a:r>
              <a:t/>
            </a:r>
          </a:p>
          <a:p xmlns:a="http://schemas.openxmlformats.org/drawingml/2006/main">
            <a:r>
              <a:t>THAO TÁC</a:t>
            </a:r>
          </a:p>
          <a:p xmlns:a="http://schemas.openxmlformats.org/drawingml/2006/main">
            <a:r>
              <a:t>Chọn case Phát hiện đúng; đọc GCN 0,9972; mời dự đoán; bấm đối chiếu để hiện nhãn.</a:t>
            </a:r>
          </a:p>
          <a:p xmlns:a="http://schemas.openxmlformats.org/drawingml/2006/main">
            <a:r>
              <a:t/>
            </a:r>
          </a:p>
          <a:p xmlns:a="http://schemas.openxmlformats.org/drawingml/2006/main">
            <a:r>
              <a:t>CHUYỂN TIẾP</a:t>
            </a:r>
          </a:p>
          <a:p xmlns:a="http://schemas.openxmlformats.org/drawingml/2006/main">
            <a:r>
              <a:t>Một điểm trên ngưỡng cũng có thể là cảnh báo nhầm.</a:t>
            </a:r>
          </a:p>
          <a:p xmlns:a="http://schemas.openxmlformats.org/drawingml/2006/main">
            <a:r>
              <a:t/>
            </a:r>
          </a:p>
          <a:p xmlns:a="http://schemas.openxmlformats.org/drawingml/2006/main">
            <a:r>
              <a:t>NGUỒN</a:t>
            </a:r>
          </a:p>
          <a:p xmlns:a="http://schemas.openxmlformats.org/drawingml/2006/main">
            <a:r>
              <a:t>elliptic/results/demo_cases.json; elliptic/README.md.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30/32 · 80 GIÂY · 33:20–34:40</a:t>
            </a:r>
          </a:p>
          <a:p xmlns:a="http://schemas.openxmlformats.org/drawingml/2006/main">
            <a:r>
              <a:t/>
            </a:r>
          </a:p>
          <a:p xmlns:a="http://schemas.openxmlformats.org/drawingml/2006/main">
            <a:r>
              <a:t>LỜI THUYẾT TRÌNH</a:t>
            </a:r>
          </a:p>
          <a:p xmlns:a="http://schemas.openxmlformats.org/drawingml/2006/main">
            <a:r>
              <a:t>Chuyển sang giao dịch 201433814 ở lát cắt 36. GCN cho điểm 0,835, cao hơn ngưỡng và phát cảnh báo. Nhãn tham chiếu là licit, nên đây là false positive trong bộ dữ liệu. Nếu chỉ nhìn màu đỏ, người xem dễ hiểu quá mức. Một hệ thống sàng lọc cần quản lý khối lượng cảnh báo nhầm và có quy trình rà soát của con người. Ta không nên gọi đây là giao dịch bất hợp pháp.</a:t>
            </a:r>
          </a:p>
          <a:p xmlns:a="http://schemas.openxmlformats.org/drawingml/2006/main">
            <a:r>
              <a:t/>
            </a:r>
          </a:p>
          <a:p xmlns:a="http://schemas.openxmlformats.org/drawingml/2006/main">
            <a:r>
              <a:t>THAO TÁC</a:t>
            </a:r>
          </a:p>
          <a:p xmlns:a="http://schemas.openxmlformats.org/drawingml/2006/main">
            <a:r>
              <a:t>Chọn Cảnh báo nhầm; đọc điểm và ngưỡng trước; sau đó hiện nhãn licit.</a:t>
            </a:r>
          </a:p>
          <a:p xmlns:a="http://schemas.openxmlformats.org/drawingml/2006/main">
            <a:r>
              <a:t/>
            </a:r>
          </a:p>
          <a:p xmlns:a="http://schemas.openxmlformats.org/drawingml/2006/main">
            <a:r>
              <a:t>CHUYỂN TIẾP</a:t>
            </a:r>
          </a:p>
          <a:p xmlns:a="http://schemas.openxmlformats.org/drawingml/2006/main">
            <a:r>
              <a:t>Hạ ngưỡng có thể giảm bỏ sót nhưng làm tăng cảnh báo.</a:t>
            </a:r>
          </a:p>
          <a:p xmlns:a="http://schemas.openxmlformats.org/drawingml/2006/main">
            <a:r>
              <a:t/>
            </a:r>
          </a:p>
          <a:p xmlns:a="http://schemas.openxmlformats.org/drawingml/2006/main">
            <a:r>
              <a:t>NGUỒN</a:t>
            </a:r>
          </a:p>
          <a:p xmlns:a="http://schemas.openxmlformats.org/drawingml/2006/main">
            <a:r>
              <a:t>elliptic/results/demo_cases.json.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31/32 · 155 GIÂY · 34:40–37:15</a:t>
            </a:r>
          </a:p>
          <a:p xmlns:a="http://schemas.openxmlformats.org/drawingml/2006/main">
            <a:r>
              <a:t/>
            </a:r>
          </a:p>
          <a:p xmlns:a="http://schemas.openxmlformats.org/drawingml/2006/main">
            <a:r>
              <a:t>LỜI THUYẾT TRÌNH</a:t>
            </a:r>
          </a:p>
          <a:p xmlns:a="http://schemas.openxmlformats.org/drawingml/2006/main">
            <a:r>
              <a:t>Chọn Bỏ sót, giao dịch 67673076 ở lát cắt 35. Điểm 0,359 thấp hơn ngưỡng validation, nên mô hình không cảnh báo; nhãn tham chiếu là illicit. Đây là false negative. Sau đó chọn Chưa có nhãn, giao dịch 56460695. Điểm 0,962 nhưng nhãn unknown. Vì không có nhãn, ta không thể gọi kết quả đúng hay sai. Cuối cùng mở confusion matrix hoặc metric summary: hạ ngưỡng thường tăng recall nhưng cũng tăng cảnh báo nhầm. Kết thúc live bằng câu hỏi: trong một công cụ sàng lọc, ta chấp nhận cân bằng precision/recall thế nào và ai rà soát cảnh báo? Nếu site yêu cầu tài khoản cũ hoặc không vào được, chạy local bằng start_demo.ps1.</a:t>
            </a:r>
          </a:p>
          <a:p xmlns:a="http://schemas.openxmlformats.org/drawingml/2006/main">
            <a:r>
              <a:t/>
            </a:r>
          </a:p>
          <a:p xmlns:a="http://schemas.openxmlformats.org/drawingml/2006/main">
            <a:r>
              <a:t>THAO TÁC</a:t>
            </a:r>
          </a:p>
          <a:p xmlns:a="http://schemas.openxmlformats.org/drawingml/2006/main">
            <a:r>
              <a:t>Chọn case Bỏ sót, mở nhãn; chuyển Unknown và nói rõ không có đáp án; xem bảng chỉ số; dùng bản local khi site bị khóa.</a:t>
            </a:r>
          </a:p>
          <a:p xmlns:a="http://schemas.openxmlformats.org/drawingml/2006/main">
            <a:r>
              <a:t/>
            </a:r>
          </a:p>
          <a:p xmlns:a="http://schemas.openxmlformats.org/drawingml/2006/main">
            <a:r>
              <a:t>CHUYỂN TIẾP</a:t>
            </a:r>
          </a:p>
          <a:p xmlns:a="http://schemas.openxmlformats.org/drawingml/2006/main">
            <a:r>
              <a:t>Kết luận hai demo bằng bài học chung về biểu diễn và kiểm chứng.</a:t>
            </a:r>
          </a:p>
          <a:p xmlns:a="http://schemas.openxmlformats.org/drawingml/2006/main">
            <a:r>
              <a:t/>
            </a:r>
          </a:p>
          <a:p xmlns:a="http://schemas.openxmlformats.org/drawingml/2006/main">
            <a:r>
              <a:t>NGUỒN</a:t>
            </a:r>
          </a:p>
          <a:p xmlns:a="http://schemas.openxmlformats.org/drawingml/2006/main">
            <a:r>
              <a:t>elliptic/results/demo_cases.json; elliptic/results/metrics.json; local: D:/School/PT HTTM/DeepGraph/elliptic/start_demo.ps1.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NGƯỜI 4 · SLIDE 32/32 · 45 GIÂY · 37:15–38:00</a:t>
            </a:r>
          </a:p>
          <a:p xmlns:a="http://schemas.openxmlformats.org/drawingml/2006/main">
            <a:r>
              <a:t/>
            </a:r>
          </a:p>
          <a:p xmlns:a="http://schemas.openxmlformats.org/drawingml/2006/main">
            <a:r>
              <a:t>LỜI THUYẾT TRÌNH</a:t>
            </a:r>
          </a:p>
          <a:p xmlns:a="http://schemas.openxmlformats.org/drawingml/2006/main">
            <a:r>
              <a:t>Hai demo dùng cùng trực giác: đối tượng có quan hệ nên ta thử để mô hình khai thác graph. Nhưng target và thước đo khác nhau: tốc độ là hồi quy, giao dịch là phân loại mất cân bằng. Trong cấu hình này graph giúp nhẹ ở traffic; tại Elliptic, RF đạt F1 cao hơn GCN. Kết luận tốt không phải graph luôn thắng, mà là biểu diễn phải phù hợp, đánh giá phải công bằng, và ví dụ lỗi phải được trình bày cùng kết quả tốt. Nhóm xin cảm ơn thầy và các bạn. Mời thầy đặt câu hỏi.</a:t>
            </a:r>
          </a:p>
          <a:p xmlns:a="http://schemas.openxmlformats.org/drawingml/2006/main">
            <a:r>
              <a:t/>
            </a:r>
          </a:p>
          <a:p xmlns:a="http://schemas.openxmlformats.org/drawingml/2006/main">
            <a:r>
              <a:t>THAO TÁC</a:t>
            </a:r>
          </a:p>
          <a:p xmlns:a="http://schemas.openxmlformats.org/drawingml/2006/main">
            <a:r>
              <a:t>Đọc bốn nguyên tắc; chuyển sang hỏi đáp hai phút.</a:t>
            </a:r>
          </a:p>
          <a:p xmlns:a="http://schemas.openxmlformats.org/drawingml/2006/main">
            <a:r>
              <a:t/>
            </a:r>
          </a:p>
          <a:p xmlns:a="http://schemas.openxmlformats.org/drawingml/2006/main">
            <a:r>
              <a:t>CHUYỂN TIẾP</a:t>
            </a:r>
          </a:p>
          <a:p xmlns:a="http://schemas.openxmlformats.org/drawingml/2006/main">
            <a:r>
              <a:t>Q&amp;A · mỗi thành viên nhận câu hỏi theo phần mình phụ trách.</a:t>
            </a:r>
          </a:p>
          <a:p xmlns:a="http://schemas.openxmlformats.org/drawingml/2006/main">
            <a:r>
              <a:t/>
            </a:r>
          </a:p>
          <a:p xmlns:a="http://schemas.openxmlformats.org/drawingml/2006/main">
            <a:r>
              <a:t>NGUỒN</a:t>
            </a:r>
          </a:p>
          <a:p xmlns:a="http://schemas.openxmlformats.org/drawingml/2006/main">
            <a:r>
              <a:t>Kết quả do nhóm thực nghiệm: traffic/results/metrics.json; elliptic/results/metrics.json.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8b70226ee4a49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74cfece82844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b5f22201e5b45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9d549a5b9c4d9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a401ca7517447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cf1d462ffd94d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57A218-D428-4959-9F0F-1F979EA6069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8BC98A6-A0AF-4E61-8116-E98BF7FADBC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DFED83-4B55-4C07-A514-165BBBA8704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752B18-941A-43A7-824B-853ADFFA12D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07B49A7-CA9A-446F-8CD7-E7E338BA96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F88246C-AE27-463F-95DB-82EBC99BCA0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E0ECC7-960C-4EF9-A3B6-712C6B419D3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DC84571-247C-477E-BB92-E86FD70FF33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5721A4-6A09-4C53-84DF-793A487D47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8BBFAD-9FF6-4696-B32A-4D00AA22AC4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7edc9620284d70" /><Relationship Type="http://schemas.openxmlformats.org/officeDocument/2006/relationships/slideLayout" Target="/ppt/slideLayouts/slideLayout1.xml" Id="R5483487f4f864a8d" /><Relationship Type="http://schemas.openxmlformats.org/officeDocument/2006/relationships/slideLayout" Target="/ppt/slideLayouts/slideLayout2.xml" Id="Ra8362009e4b6486a" /><Relationship Type="http://schemas.openxmlformats.org/officeDocument/2006/relationships/slideLayout" Target="/ppt/slideLayouts/slideLayout3.xml" Id="R9139b456436f49a8" /><Relationship Type="http://schemas.openxmlformats.org/officeDocument/2006/relationships/slideLayout" Target="/ppt/slideLayouts/slideLayout4.xml" Id="Rdd4ef4b39a5b4dd3" /><Relationship Type="http://schemas.openxmlformats.org/officeDocument/2006/relationships/slideLayout" Target="/ppt/slideLayouts/slideLayout5.xml" Id="Ra928ecd9c9c94d04" /><Relationship Type="http://schemas.openxmlformats.org/officeDocument/2006/relationships/slideLayout" Target="/ppt/slideLayouts/slideLayout6.xml" Id="R54721d14ee454e4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483487f4f864a8d"/>
    <p:sldLayoutId xmlns:r="http://schemas.openxmlformats.org/officeDocument/2006/relationships" id="2147483650" r:id="Ra8362009e4b6486a"/>
    <p:sldLayoutId xmlns:r="http://schemas.openxmlformats.org/officeDocument/2006/relationships" id="2147483651" r:id="R9139b456436f49a8"/>
    <p:sldLayoutId xmlns:r="http://schemas.openxmlformats.org/officeDocument/2006/relationships" id="2147483652" r:id="Rdd4ef4b39a5b4dd3"/>
    <p:sldLayoutId xmlns:r="http://schemas.openxmlformats.org/officeDocument/2006/relationships" id="2147483653" r:id="Ra928ecd9c9c94d04"/>
    <p:sldLayoutId xmlns:r="http://schemas.openxmlformats.org/officeDocument/2006/relationships" id="2147483654" r:id="R54721d14ee454e4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279ffa9b0c48dc" /><Relationship Type="http://schemas.openxmlformats.org/officeDocument/2006/relationships/notesSlide" Target="/ppt/notesSlides/notesSlide1.xml" Id="Rc11ee6da8bd54b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f68cf366704195" /><Relationship Type="http://schemas.openxmlformats.org/officeDocument/2006/relationships/notesSlide" Target="/ppt/notesSlides/notesSlide2.xml" Id="Rc34d2c962d694b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3570b04afa415a" /><Relationship Type="http://schemas.openxmlformats.org/officeDocument/2006/relationships/notesSlide" Target="/ppt/notesSlides/notesSlide3.xml" Id="R9a225cefbf8647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de0e1a528ad407d" /><Relationship Type="http://schemas.openxmlformats.org/officeDocument/2006/relationships/notesSlide" Target="/ppt/notesSlides/notesSlide4.xml" Id="R5e607d21b5a741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deb561390d94c2f" /><Relationship Type="http://schemas.openxmlformats.org/officeDocument/2006/relationships/notesSlide" Target="/ppt/notesSlides/notesSlide5.xml" Id="R44e069b0cd5d47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98b17477a744b3" /><Relationship Type="http://schemas.openxmlformats.org/officeDocument/2006/relationships/notesSlide" Target="/ppt/notesSlides/notesSlide6.xml" Id="R5d8cd84d4fd94cd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83b18f5a0f14b75" /><Relationship Type="http://schemas.openxmlformats.org/officeDocument/2006/relationships/notesSlide" Target="/ppt/notesSlides/notesSlide7.xml" Id="R1ac29c628b2d41a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2fd4432e594d49" /><Relationship Type="http://schemas.openxmlformats.org/officeDocument/2006/relationships/notesSlide" Target="/ppt/notesSlides/notesSlide8.xml" Id="R35a21871e1fc489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41c71121ca848bb" /><Relationship Type="http://schemas.openxmlformats.org/officeDocument/2006/relationships/notesSlide" Target="/ppt/notesSlides/notesSlide9.xml" Id="R7f5260512d264f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271adc6fa4c4e59" /><Relationship Type="http://schemas.openxmlformats.org/officeDocument/2006/relationships/notesSlide" Target="/ppt/notesSlides/notesSlide10.xml" Id="R66e4ebffa3a346b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1ac6279db2451c" /><Relationship Type="http://schemas.openxmlformats.org/officeDocument/2006/relationships/notesSlide" Target="/ppt/notesSlides/notesSlide11.xml" Id="R719676a983c747a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90d85c9f09b42fd" /><Relationship Type="http://schemas.openxmlformats.org/officeDocument/2006/relationships/notesSlide" Target="/ppt/notesSlides/notesSlide12.xml" Id="R4eae29c1fd9341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d5e360f33d4d05" /><Relationship Type="http://schemas.openxmlformats.org/officeDocument/2006/relationships/notesSlide" Target="/ppt/notesSlides/notesSlide13.xml" Id="Ra2d6fac3923e47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d9611ef01ab24e11" /><Relationship Type="http://schemas.openxmlformats.org/officeDocument/2006/relationships/notesSlide" Target="/ppt/notesSlides/notesSlide14.xml" Id="Rea5fd6f28ed3476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f62867080454e77" /><Relationship Type="http://schemas.openxmlformats.org/officeDocument/2006/relationships/notesSlide" Target="/ppt/notesSlides/notesSlide15.xml" Id="Ref04c46cfc72483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c0e43d2eff34777" /><Relationship Type="http://schemas.openxmlformats.org/officeDocument/2006/relationships/notesSlide" Target="/ppt/notesSlides/notesSlide16.xml" Id="Ra62606e209784a6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a04f3e646942a6" /><Relationship Type="http://schemas.openxmlformats.org/officeDocument/2006/relationships/notesSlide" Target="/ppt/notesSlides/notesSlide17.xml" Id="Ra275a0929a234e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248b303ce424f72" /><Relationship Type="http://schemas.openxmlformats.org/officeDocument/2006/relationships/notesSlide" Target="/ppt/notesSlides/notesSlide18.xml" Id="R4359946d49b341a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4935e3b88b84e4d" /><Relationship Type="http://schemas.openxmlformats.org/officeDocument/2006/relationships/chart" Target="/ppt/slides/charts/chart1.xml" Id="Rc434663ca8b64c80" /><Relationship Type="http://schemas.openxmlformats.org/officeDocument/2006/relationships/notesSlide" Target="/ppt/notesSlides/notesSlide19.xml" Id="R3cd7cf7647e4415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999bd822c5047e4" /><Relationship Type="http://schemas.openxmlformats.org/officeDocument/2006/relationships/image" Target="/ppt/media/image.png" Id="R8d9094767a9844ca" /><Relationship Type="http://schemas.openxmlformats.org/officeDocument/2006/relationships/notesSlide" Target="/ppt/notesSlides/notesSlide20.xml" Id="R514140bc3b66408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572aede56164697" /><Relationship Type="http://schemas.openxmlformats.org/officeDocument/2006/relationships/image" Target="/ppt/media/image2.png" Id="R199cd4d91eee488b" /><Relationship Type="http://schemas.openxmlformats.org/officeDocument/2006/relationships/notesSlide" Target="/ppt/notesSlides/notesSlide21.xml" Id="R3dea11357cef4f8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08ee8e4869b4a40" /><Relationship Type="http://schemas.openxmlformats.org/officeDocument/2006/relationships/image" Target="/ppt/media/image3.png" Id="R98d3055d88a64cc6" /><Relationship Type="http://schemas.openxmlformats.org/officeDocument/2006/relationships/notesSlide" Target="/ppt/notesSlides/notesSlide22.xml" Id="R6d166e8b25bd49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012bb96eac848ae" /><Relationship Type="http://schemas.openxmlformats.org/officeDocument/2006/relationships/notesSlide" Target="/ppt/notesSlides/notesSlide23.xml" Id="R319793fa99154c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1791feae47f04402" /><Relationship Type="http://schemas.openxmlformats.org/officeDocument/2006/relationships/notesSlide" Target="/ppt/notesSlides/notesSlide24.xml" Id="Rd5bddaba1982457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add62b4e11f46c4" /><Relationship Type="http://schemas.openxmlformats.org/officeDocument/2006/relationships/notesSlide" Target="/ppt/notesSlides/notesSlide25.xml" Id="R1d059a2a5089420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f718b4eec6a4b77" /><Relationship Type="http://schemas.openxmlformats.org/officeDocument/2006/relationships/notesSlide" Target="/ppt/notesSlides/notesSlide26.xml" Id="R51288dd5f2674b5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6b3f4920b1d4d12" /><Relationship Type="http://schemas.openxmlformats.org/officeDocument/2006/relationships/chart" Target="/ppt/slides/charts/chart2.xml" Id="Rc016813a7be44e83" /><Relationship Type="http://schemas.openxmlformats.org/officeDocument/2006/relationships/notesSlide" Target="/ppt/notesSlides/notesSlide27.xml" Id="R92123449861943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d3cfd8db29c4adb" /><Relationship Type="http://schemas.openxmlformats.org/officeDocument/2006/relationships/image" Target="/ppt/media/image4.png" Id="Rbf5235bc58054be3" /><Relationship Type="http://schemas.openxmlformats.org/officeDocument/2006/relationships/notesSlide" Target="/ppt/notesSlides/notesSlide28.xml" Id="Rb6b8e8cb74fb49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ef9a798362540f2" /><Relationship Type="http://schemas.openxmlformats.org/officeDocument/2006/relationships/notesSlide" Target="/ppt/notesSlides/notesSlide29.xml" Id="Rcce8150bc78a4b1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6a0bdf9e25474fb9" /><Relationship Type="http://schemas.openxmlformats.org/officeDocument/2006/relationships/notesSlide" Target="/ppt/notesSlides/notesSlide30.xml" Id="Red979edfd64d4b6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7ead0ed30e3427f" /><Relationship Type="http://schemas.openxmlformats.org/officeDocument/2006/relationships/notesSlide" Target="/ppt/notesSlides/notesSlide31.xml" Id="Raed25e0f8c39418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16bc798b033e4d3c" /><Relationship Type="http://schemas.openxmlformats.org/officeDocument/2006/relationships/notesSlide" Target="/ppt/notesSlides/notesSlide32.xml" Id="R36183ff16e1c4c3c" /></Relationships>
</file>

<file path=ppt/slides/charts/chart1.xml><?xml version="1.0" encoding="utf-8"?>
<c:chartSpace xmlns:c="http://schemas.openxmlformats.org/drawingml/2006/chart">
  <c:lang val="en-US"/>
  <c:chart>
    <c:plotArea>
      <c:barChart>
        <c:barDir val="col"/>
        <c:varyColors val="0"/>
        <c:ser>
          <c:idx val="0"/>
          <c:order val="0"/>
          <c:tx>
            <c:v>MAE km/h</c:v>
          </c:tx>
          <c:invertIfNegative val="0"/>
          <c:dPt>
            <c:idx val="0"/>
            <c:invertIfNegative val="0"/>
            <c:spPr>
              <a:solidFill xmlns:a="http://schemas.openxmlformats.org/drawingml/2006/main">
                <a:srgbClr val="98A8A6"/>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cat>
            <c:strLit>
              <c:ptCount val="3"/>
              <c:pt idx="0">
                <c:v>Giữ nguyên</c:v>
              </c:pt>
              <c:pt idx="1">
                <c:v>GRU</c:v>
              </c:pt>
              <c:pt idx="2">
                <c:v>GCN+GRU</c:v>
              </c:pt>
            </c:strLit>
          </c:cat>
          <c:val>
            <c:numLit>
              <c:formatCode>0</c:formatCode>
              <c:ptCount val="3"/>
              <c:pt idx="0">
                <c:v>5.6289</c:v>
              </c:pt>
              <c:pt idx="1">
                <c:v>4.8754</c:v>
              </c:pt>
              <c:pt idx="2">
                <c:v>4.8439</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350">
                <a:solidFill>
                  <a:srgbClr val="163B3B"/>
                </a:solidFill>
                <a:latin typeface="Arial"/>
                <a:ea typeface="Arial"/>
                <a:cs typeface="Arial"/>
              </a:defRPr>
            </a:pPr>
          </a:p>
        </c:txPr>
        <c:crossAx val="48672768"/>
      </c:catAx>
      <c:valAx>
        <c:axId val="48672768"/>
        <c:scaling>
          <c:orientation val="minMax"/>
          <c:max val="6.5"/>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57B79"/>
                </a:solidFill>
                <a:latin typeface="Arial"/>
                <a:ea typeface="Arial"/>
                <a:cs typeface="Arial"/>
              </a:defRPr>
            </a:pPr>
          </a:p>
        </c:txPr>
        <c:crossAx val="48650112"/>
        <c:crossBetween val="between"/>
        <c:majorUnit val="1.625"/>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varyColors val="0"/>
        <c:ser>
          <c:idx val="0"/>
          <c:order val="0"/>
          <c:tx>
            <c:v>F1 illicit (%)</c:v>
          </c:tx>
          <c:invertIfNegative val="0"/>
          <c:dPt>
            <c:idx val="0"/>
            <c:invertIfNegative val="0"/>
            <c:spPr>
              <a:solidFill xmlns:a="http://schemas.openxmlformats.org/drawingml/2006/main">
                <a:srgbClr val="98A8A6"/>
              </a:solidFill>
            </c:spPr>
          </c:dPt>
          <c:dPt>
            <c:idx val="1"/>
            <c:invertIfNegative val="0"/>
            <c:spPr>
              <a:solidFill xmlns:a="http://schemas.openxmlformats.org/drawingml/2006/main">
                <a:srgbClr val="BE7B2F"/>
              </a:solidFill>
            </c:spPr>
          </c:dPt>
          <c:dPt>
            <c:idx val="2"/>
            <c:invertIfNegative val="0"/>
            <c:spPr>
              <a:solidFill xmlns:a="http://schemas.openxmlformats.org/drawingml/2006/main">
                <a:srgbClr val="087E73"/>
              </a:solidFill>
            </c:spPr>
          </c:dPt>
          <c:dPt>
            <c:idx val="3"/>
            <c:invertIfNegative val="0"/>
            <c:spPr>
              <a:solidFill xmlns:a="http://schemas.openxmlformats.org/drawingml/2006/main">
                <a:srgbClr val="CE704C"/>
              </a:solidFill>
            </c:spPr>
          </c:dPt>
          <c:cat>
            <c:strLit>
              <c:ptCount val="4"/>
              <c:pt idx="0">
                <c:v>RF local</c:v>
              </c:pt>
              <c:pt idx="1">
                <c:v>RF all</c:v>
              </c:pt>
              <c:pt idx="2">
                <c:v>MLP</c:v>
              </c:pt>
              <c:pt idx="3">
                <c:v>GCN</c:v>
              </c:pt>
            </c:strLit>
          </c:cat>
          <c:val>
            <c:numLit>
              <c:formatCode>0</c:formatCode>
              <c:ptCount val="4"/>
              <c:pt idx="0">
                <c:v>77</c:v>
              </c:pt>
              <c:pt idx="1">
                <c:v>79.3</c:v>
              </c:pt>
              <c:pt idx="2">
                <c:v>64.5</c:v>
              </c:pt>
              <c:pt idx="3">
                <c:v>61.3</c:v>
              </c:pt>
            </c:numLit>
          </c:val>
        </c:ser>
        <c:dLbls>
          <c:numFmt formatCode="0.0" sourceLinked="0"/>
          <c:txPr>
            <a:bodyPr xmlns:a="http://schemas.openxmlformats.org/drawingml/2006/main" anchorCtr="1"/>
            <a:lstStyle xmlns:a="http://schemas.openxmlformats.org/drawingml/2006/main"/>
            <a:p xmlns:a="http://schemas.openxmlformats.org/drawingml/2006/main">
              <a:pPr>
                <a:defRPr sz="1425" b="1">
                  <a:solidFill>
                    <a:srgbClr val="163B3B"/>
                  </a:solidFill>
                  <a:latin typeface="Arial"/>
                  <a:ea typeface="Arial"/>
                  <a:cs typeface="Arial"/>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1D9"/>
            </a:solidFill>
          </a:ln>
        </c:spPr>
        <c:txPr>
          <a:bodyPr xmlns:a="http://schemas.openxmlformats.org/drawingml/2006/main" anchorCtr="1"/>
          <a:lstStyle xmlns:a="http://schemas.openxmlformats.org/drawingml/2006/main"/>
          <a:p xmlns:a="http://schemas.openxmlformats.org/drawingml/2006/main">
            <a:pPr>
              <a:defRPr sz="1350">
                <a:solidFill>
                  <a:srgbClr val="163B3B"/>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7620">
              <a:solidFill>
                <a:srgbClr val="D7E1D9"/>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275">
                <a:solidFill>
                  <a:srgbClr val="657B79"/>
                </a:solidFill>
                <a:latin typeface="Arial"/>
                <a:ea typeface="Arial"/>
                <a:cs typeface="Arial"/>
              </a:defRPr>
            </a:pPr>
          </a:p>
        </c:txPr>
        <c:crossAx val="48650112"/>
        <c:crossBetween val="between"/>
        <c:majorUnit val="22.5"/>
      </c:valAx>
      <c:spPr>
        <a:solidFill xmlns:a="http://schemas.openxmlformats.org/drawingml/2006/main">
          <a:srgbClr val="F7F6F0"/>
        </a:solidFill>
        <a:ln xmlns:a="http://schemas.openxmlformats.org/drawingml/2006/main" w="0">
          <a:noFill/>
        </a:ln>
      </c:spPr>
    </c:plotArea>
    <c:plotVisOnly val="1"/>
  </c:chart>
  <c:spPr>
    <a:solidFill xmlns:a="http://schemas.openxmlformats.org/drawingml/2006/main">
      <a:srgbClr val="F7F6F0"/>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322D44-6417-4E6C-894B-8BCE49B8FA51}"/>
              </a:ext>
            </a:extLst>
          </p:cNvPr>
          <p:cNvSpPr>
            <a:spLocks xmlns:a="http://schemas.openxmlformats.org/drawingml/2006/main" noGrp="1"/>
          </p:cNvSpPr>
          <p:nvPr/>
        </p:nvSpPr>
        <p:spPr>
          <a:xfrm xmlns:a="http://schemas.openxmlformats.org/drawingml/2006/main">
            <a:off x="609600" y="1066800"/>
            <a:ext cx="85725" cy="4381500"/>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2" name="DEEP GRAPH&#10;LEARNING">
            <a:extLst xmlns:a="http://schemas.openxmlformats.org/drawingml/2006/main">
              <a:ext uri="{FF2B5EF4-FFF2-40B4-BE49-F238E27FC236}">
                <a16:creationId xmlns:a16="http://schemas.microsoft.com/office/drawing/2014/main" id="{721AB632-644C-440D-A3D7-DEB4921C21BF}"/>
              </a:ext>
            </a:extLst>
          </p:cNvPr>
          <p:cNvSpPr>
            <a:spLocks xmlns:a="http://schemas.openxmlformats.org/drawingml/2006/main" noGrp="1"/>
          </p:cNvSpPr>
          <p:nvPr/>
        </p:nvSpPr>
        <p:spPr>
          <a:xfrm xmlns:a="http://schemas.openxmlformats.org/drawingml/2006/main">
            <a:off x="971550" y="1238250"/>
            <a:ext cx="9667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400" b="1">
                <a:solidFill>
                  <a:srgbClr val="FFFFFF"/>
                </a:solidFill>
                <a:latin typeface="Arial"/>
                <a:ea typeface="Arial"/>
                <a:cs typeface="Arial"/>
              </a:defRPr>
            </a:defPPr>
          </a:lstStyle>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DEEP GRAPH</a:t>
            </a:r>
          </a:p>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LEARNING</a:t>
            </a:r>
          </a:p>
        </p:txBody>
      </p:sp>
      <p:sp>
        <p:nvSpPr>
          <p:cNvPr id="3" name="Mạng lưới giúp AI học quan hệ">
            <a:extLst xmlns:a="http://schemas.openxmlformats.org/drawingml/2006/main">
              <a:ext uri="{FF2B5EF4-FFF2-40B4-BE49-F238E27FC236}">
                <a16:creationId xmlns:a16="http://schemas.microsoft.com/office/drawing/2014/main" id="{B9131371-A3C2-4627-A9D7-C10F43025B1B}"/>
              </a:ext>
            </a:extLst>
          </p:cNvPr>
          <p:cNvSpPr>
            <a:spLocks xmlns:a="http://schemas.openxmlformats.org/drawingml/2006/main" noGrp="1"/>
          </p:cNvSpPr>
          <p:nvPr/>
        </p:nvSpPr>
        <p:spPr>
          <a:xfrm xmlns:a="http://schemas.openxmlformats.org/drawingml/2006/main">
            <a:off x="1000125" y="3276600"/>
            <a:ext cx="10191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a:solidFill>
                  <a:srgbClr val="D4E8DF"/>
                </a:solidFill>
                <a:latin typeface="Arial"/>
                <a:ea typeface="Arial"/>
                <a:cs typeface="Arial"/>
              </a:defRPr>
            </a:defPPr>
          </a:lstStyle>
          <a:p xmlns:a="http://schemas.openxmlformats.org/drawingml/2006/main">
            <a:pPr>
              <a:defRPr sz="3000">
                <a:solidFill>
                  <a:srgbClr val="D4E8DF"/>
                </a:solidFill>
                <a:latin typeface="Arial"/>
                <a:ea typeface="Arial"/>
                <a:cs typeface="Arial"/>
              </a:defRPr>
            </a:pPr>
            <a:r>
              <a:rPr sz="3000">
                <a:solidFill>
                  <a:srgbClr val="D4E8DF"/>
                </a:solidFill>
                <a:latin typeface="Arial"/>
                <a:ea typeface="Arial"/>
                <a:cs typeface="Arial"/>
              </a:rPr>
              <a:t>Mạng lưới giúp AI học quan hệ</a:t>
            </a:r>
          </a:p>
        </p:txBody>
      </p:sp>
      <p:sp>
        <p:nvSpPr>
          <p:cNvPr id="4" name="Phát triển hệ thống thông minh · Trần Đình Q">
            <a:extLst xmlns:a="http://schemas.openxmlformats.org/drawingml/2006/main">
              <a:ext uri="{FF2B5EF4-FFF2-40B4-BE49-F238E27FC236}">
                <a16:creationId xmlns:a16="http://schemas.microsoft.com/office/drawing/2014/main" id="{1EBDBC36-3E24-4C23-9635-6D3F294FF262}"/>
              </a:ext>
            </a:extLst>
          </p:cNvPr>
          <p:cNvSpPr>
            <a:spLocks xmlns:a="http://schemas.openxmlformats.org/drawingml/2006/main" noGrp="1"/>
          </p:cNvSpPr>
          <p:nvPr/>
        </p:nvSpPr>
        <p:spPr>
          <a:xfrm xmlns:a="http://schemas.openxmlformats.org/drawingml/2006/main">
            <a:off x="1000125" y="4829175"/>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D4E8DF"/>
                </a:solidFill>
                <a:latin typeface="Arial"/>
                <a:ea typeface="Arial"/>
                <a:cs typeface="Arial"/>
              </a:defRPr>
            </a:defPPr>
          </a:lstStyle>
          <a:p xmlns:a="http://schemas.openxmlformats.org/drawingml/2006/main">
            <a:pPr>
              <a:defRPr sz="1875">
                <a:solidFill>
                  <a:srgbClr val="D4E8DF"/>
                </a:solidFill>
                <a:latin typeface="Arial"/>
                <a:ea typeface="Arial"/>
                <a:cs typeface="Arial"/>
              </a:defRPr>
            </a:pPr>
            <a:r>
              <a:rPr sz="1875">
                <a:solidFill>
                  <a:srgbClr val="D4E8DF"/>
                </a:solidFill>
                <a:latin typeface="Arial"/>
                <a:ea typeface="Arial"/>
                <a:cs typeface="Arial"/>
              </a:rPr>
              <a:t>Phát triển hệ thống thông minh · Trần Đình Quế</a:t>
            </a:r>
          </a:p>
        </p:txBody>
      </p:sp>
      <p:sp>
        <p:nvSpPr>
          <p:cNvPr id="5" name="HAI DEMO  ·  GIAO THÔNG + BITCOIN">
            <a:extLst xmlns:a="http://schemas.openxmlformats.org/drawingml/2006/main">
              <a:ext uri="{FF2B5EF4-FFF2-40B4-BE49-F238E27FC236}">
                <a16:creationId xmlns:a16="http://schemas.microsoft.com/office/drawing/2014/main" id="{BFA4AE0E-3E0C-46ED-8E80-3812200618CF}"/>
              </a:ext>
            </a:extLst>
          </p:cNvPr>
          <p:cNvSpPr>
            <a:spLocks xmlns:a="http://schemas.openxmlformats.org/drawingml/2006/main" noGrp="1"/>
          </p:cNvSpPr>
          <p:nvPr/>
        </p:nvSpPr>
        <p:spPr>
          <a:xfrm xmlns:a="http://schemas.openxmlformats.org/drawingml/2006/main">
            <a:off x="1000125" y="545782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1">
                <a:solidFill>
                  <a:srgbClr val="FFFFFF"/>
                </a:solidFill>
                <a:latin typeface="Arial"/>
                <a:ea typeface="Arial"/>
                <a:cs typeface="Arial"/>
              </a:defRPr>
            </a:defPPr>
          </a:lstStyle>
          <a:p xmlns:a="http://schemas.openxmlformats.org/drawingml/2006/main">
            <a:pPr>
              <a:defRPr sz="1500" b="1">
                <a:solidFill>
                  <a:srgbClr val="FFFFFF"/>
                </a:solidFill>
                <a:latin typeface="Arial"/>
                <a:ea typeface="Arial"/>
                <a:cs typeface="Arial"/>
              </a:defRPr>
            </a:pPr>
            <a:r>
              <a:rPr sz="1500" b="1">
                <a:solidFill>
                  <a:srgbClr val="FFFFFF"/>
                </a:solidFill>
                <a:latin typeface="Arial"/>
                <a:ea typeface="Arial"/>
                <a:cs typeface="Arial"/>
              </a:rPr>
              <a:t>HAI DEMO  ·  GIAO THÔNG + BITCOIN</a:t>
            </a:r>
          </a:p>
        </p:txBody>
      </p:sp>
      <p:sp>
        <p:nvSpPr>
          <p:cNvPr id="6" name="38 phút trình bày  +  2 phút hỏi đáp">
            <a:extLst xmlns:a="http://schemas.openxmlformats.org/drawingml/2006/main">
              <a:ext uri="{FF2B5EF4-FFF2-40B4-BE49-F238E27FC236}">
                <a16:creationId xmlns:a16="http://schemas.microsoft.com/office/drawing/2014/main" id="{29630E24-EAB5-4E63-9E6A-9E3B3AE59817}"/>
              </a:ext>
            </a:extLst>
          </p:cNvPr>
          <p:cNvSpPr>
            <a:spLocks xmlns:a="http://schemas.openxmlformats.org/drawingml/2006/main" noGrp="1"/>
          </p:cNvSpPr>
          <p:nvPr/>
        </p:nvSpPr>
        <p:spPr>
          <a:xfrm xmlns:a="http://schemas.openxmlformats.org/drawingml/2006/main">
            <a:off x="1000125" y="59245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a:solidFill>
                  <a:srgbClr val="BBD6CB"/>
                </a:solidFill>
                <a:latin typeface="Arial"/>
                <a:ea typeface="Arial"/>
                <a:cs typeface="Arial"/>
              </a:defRPr>
            </a:defPPr>
          </a:lstStyle>
          <a:p xmlns:a="http://schemas.openxmlformats.org/drawingml/2006/main">
            <a:pPr>
              <a:defRPr sz="1425">
                <a:solidFill>
                  <a:srgbClr val="BBD6CB"/>
                </a:solidFill>
                <a:latin typeface="Arial"/>
                <a:ea typeface="Arial"/>
                <a:cs typeface="Arial"/>
              </a:defRPr>
            </a:pPr>
            <a:r>
              <a:rPr sz="1425">
                <a:solidFill>
                  <a:srgbClr val="BBD6CB"/>
                </a:solidFill>
                <a:latin typeface="Arial"/>
                <a:ea typeface="Arial"/>
                <a:cs typeface="Arial"/>
              </a:rPr>
              <a:t>38 phút trình bày  +  2 phút hỏi đáp</a:t>
            </a:r>
          </a:p>
        </p:txBody>
      </p:sp>
      <p:sp>
        <p:nvSpPr>
          <p:cNvPr id="7" name="">
            <a:extLst xmlns:a="http://schemas.openxmlformats.org/drawingml/2006/main">
              <a:ext uri="{FF2B5EF4-FFF2-40B4-BE49-F238E27FC236}">
                <a16:creationId xmlns:a16="http://schemas.microsoft.com/office/drawing/2014/main" id="{84197451-2E7F-42D4-A8DB-512D5F39068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Người 1 · Nền tảng graph  ·  35 giây">
            <a:extLst xmlns:a="http://schemas.openxmlformats.org/drawingml/2006/main">
              <a:ext uri="{FF2B5EF4-FFF2-40B4-BE49-F238E27FC236}">
                <a16:creationId xmlns:a16="http://schemas.microsoft.com/office/drawing/2014/main" id="{6A51DDA8-7C2B-457C-8686-B22D5061BAF1}"/>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35 giây</a:t>
            </a:r>
          </a:p>
        </p:txBody>
      </p:sp>
      <p:sp>
        <p:nvSpPr>
          <p:cNvPr id="9" name="01 / 32">
            <a:extLst xmlns:a="http://schemas.openxmlformats.org/drawingml/2006/main">
              <a:ext uri="{FF2B5EF4-FFF2-40B4-BE49-F238E27FC236}">
                <a16:creationId xmlns:a16="http://schemas.microsoft.com/office/drawing/2014/main" id="{D3C606BE-F291-423A-8C6E-408B8575C20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01 / 32</a:t>
            </a:r>
          </a:p>
        </p:txBody>
      </p:sp>
    </p:spTree>
    <p:extLst>
      <p:ext uri="{BB962C8B-B14F-4D97-AF65-F5344CB8AC3E}">
        <p14:creationId xmlns:p14="http://schemas.microsoft.com/office/powerpoint/2010/main" val="117119050"/>
      </p:ext>
    </p:extLst>
  </p:cSld>
</p:sld>
</file>

<file path=ppt/slides/slide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8" name="DEEP GRAPH  /  NGƯỜI 1">
            <a:extLst xmlns:a="http://schemas.openxmlformats.org/drawingml/2006/main">
              <a:ext uri="{FF2B5EF4-FFF2-40B4-BE49-F238E27FC236}">
                <a16:creationId xmlns:a16="http://schemas.microsoft.com/office/drawing/2014/main" id="{A7A1B848-30EC-406F-8186-6D6C09356062}"/>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FB091A3-9001-4A65-95DF-7B558DB3BF4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Deep Graph nối tiếp năm chương đã học</a:t>
            </a:r>
          </a:p>
        </p:txBody>
      </p:sp>
      <p:sp>
        <p:nvSpPr>
          <p:cNvPr id="3" name="">
            <a:extLst xmlns:a="http://schemas.openxmlformats.org/drawingml/2006/main">
              <a:ext uri="{FF2B5EF4-FFF2-40B4-BE49-F238E27FC236}">
                <a16:creationId xmlns:a16="http://schemas.microsoft.com/office/drawing/2014/main" id="{32897266-9EEB-496A-9607-A1F209C7B53E}"/>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E10CCE18-CF07-44E8-AF8E-9C477439B7D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2 / 32">
            <a:extLst xmlns:a="http://schemas.openxmlformats.org/drawingml/2006/main">
              <a:ext uri="{FF2B5EF4-FFF2-40B4-BE49-F238E27FC236}">
                <a16:creationId xmlns:a16="http://schemas.microsoft.com/office/drawing/2014/main" id="{23DB6F21-603C-4295-8DA5-5F60102C577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02 / 32</a:t>
            </a:r>
          </a:p>
        </p:txBody>
      </p:sp>
      <p:sp>
        <p:nvSpPr>
          <p:cNvPr id="6" name="">
            <a:extLst xmlns:a="http://schemas.openxmlformats.org/drawingml/2006/main">
              <a:ext uri="{FF2B5EF4-FFF2-40B4-BE49-F238E27FC236}">
                <a16:creationId xmlns:a16="http://schemas.microsoft.com/office/drawing/2014/main" id="{F6EF922A-A80B-4BCB-B86A-077FD49A47D0}"/>
              </a:ext>
            </a:extLst>
          </p:cNvPr>
          <p:cNvSpPr>
            <a:spLocks xmlns:a="http://schemas.openxmlformats.org/drawingml/2006/main" noGrp="1"/>
          </p:cNvSpPr>
          <p:nvPr/>
        </p:nvSpPr>
        <p:spPr>
          <a:xfrm xmlns:a="http://schemas.openxmlformats.org/drawingml/2006/main">
            <a:off x="723900" y="18192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Chương 1 · Hệ thống: đầu vào → biểu diễn → h">
            <a:extLst xmlns:a="http://schemas.openxmlformats.org/drawingml/2006/main">
              <a:ext uri="{FF2B5EF4-FFF2-40B4-BE49-F238E27FC236}">
                <a16:creationId xmlns:a16="http://schemas.microsoft.com/office/drawing/2014/main" id="{46F54614-81C8-4637-8031-CEFE5E4470F8}"/>
              </a:ext>
            </a:extLst>
          </p:cNvPr>
          <p:cNvSpPr>
            <a:spLocks xmlns:a="http://schemas.openxmlformats.org/drawingml/2006/main" noGrp="1"/>
          </p:cNvSpPr>
          <p:nvPr/>
        </p:nvSpPr>
        <p:spPr>
          <a:xfrm xmlns:a="http://schemas.openxmlformats.org/drawingml/2006/main">
            <a:off x="981075" y="172402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1 · Hệ thống: đầu vào → biểu diễn → học → quyết định</a:t>
            </a:r>
          </a:p>
        </p:txBody>
      </p:sp>
      <p:sp>
        <p:nvSpPr>
          <p:cNvPr id="8" name="">
            <a:extLst xmlns:a="http://schemas.openxmlformats.org/drawingml/2006/main">
              <a:ext uri="{FF2B5EF4-FFF2-40B4-BE49-F238E27FC236}">
                <a16:creationId xmlns:a16="http://schemas.microsoft.com/office/drawing/2014/main" id="{794B0CF9-606D-48F9-B5C3-864B44AB9D86}"/>
              </a:ext>
            </a:extLst>
          </p:cNvPr>
          <p:cNvSpPr>
            <a:spLocks xmlns:a="http://schemas.openxmlformats.org/drawingml/2006/main" noGrp="1"/>
          </p:cNvSpPr>
          <p:nvPr/>
        </p:nvSpPr>
        <p:spPr>
          <a:xfrm xmlns:a="http://schemas.openxmlformats.org/drawingml/2006/main">
            <a:off x="723900" y="2514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Chương 2 · Dữ liệu: làm sạch, mã hóa và chia">
            <a:extLst xmlns:a="http://schemas.openxmlformats.org/drawingml/2006/main">
              <a:ext uri="{FF2B5EF4-FFF2-40B4-BE49-F238E27FC236}">
                <a16:creationId xmlns:a16="http://schemas.microsoft.com/office/drawing/2014/main" id="{11CD973D-121D-44B7-B22A-EE98548EC96A}"/>
              </a:ext>
            </a:extLst>
          </p:cNvPr>
          <p:cNvSpPr>
            <a:spLocks xmlns:a="http://schemas.openxmlformats.org/drawingml/2006/main" noGrp="1"/>
          </p:cNvSpPr>
          <p:nvPr/>
        </p:nvSpPr>
        <p:spPr>
          <a:xfrm xmlns:a="http://schemas.openxmlformats.org/drawingml/2006/main">
            <a:off x="981075" y="2419350"/>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2 · Dữ liệu: làm sạch, mã hóa và chia tập</a:t>
            </a:r>
          </a:p>
        </p:txBody>
      </p:sp>
      <p:sp>
        <p:nvSpPr>
          <p:cNvPr id="10" name="">
            <a:extLst xmlns:a="http://schemas.openxmlformats.org/drawingml/2006/main">
              <a:ext uri="{FF2B5EF4-FFF2-40B4-BE49-F238E27FC236}">
                <a16:creationId xmlns:a16="http://schemas.microsoft.com/office/drawing/2014/main" id="{C93967AA-3E83-481B-AAEE-78BDB839BED5}"/>
              </a:ext>
            </a:extLst>
          </p:cNvPr>
          <p:cNvSpPr>
            <a:spLocks xmlns:a="http://schemas.openxmlformats.org/drawingml/2006/main" noGrp="1"/>
          </p:cNvSpPr>
          <p:nvPr/>
        </p:nvSpPr>
        <p:spPr>
          <a:xfrm xmlns:a="http://schemas.openxmlformats.org/drawingml/2006/main">
            <a:off x="723900" y="32099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Chương 3 · Deep learning: mạng học biểu diễn">
            <a:extLst xmlns:a="http://schemas.openxmlformats.org/drawingml/2006/main">
              <a:ext uri="{FF2B5EF4-FFF2-40B4-BE49-F238E27FC236}">
                <a16:creationId xmlns:a16="http://schemas.microsoft.com/office/drawing/2014/main" id="{82C44DC4-14E7-40E4-85D2-6E9E198E6E21}"/>
              </a:ext>
            </a:extLst>
          </p:cNvPr>
          <p:cNvSpPr>
            <a:spLocks xmlns:a="http://schemas.openxmlformats.org/drawingml/2006/main" noGrp="1"/>
          </p:cNvSpPr>
          <p:nvPr/>
        </p:nvSpPr>
        <p:spPr>
          <a:xfrm xmlns:a="http://schemas.openxmlformats.org/drawingml/2006/main">
            <a:off x="981075" y="311467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3 · Deep learning: mạng học biểu diễn từ ví dụ</a:t>
            </a:r>
          </a:p>
        </p:txBody>
      </p:sp>
      <p:sp>
        <p:nvSpPr>
          <p:cNvPr id="12" name="">
            <a:extLst xmlns:a="http://schemas.openxmlformats.org/drawingml/2006/main">
              <a:ext uri="{FF2B5EF4-FFF2-40B4-BE49-F238E27FC236}">
                <a16:creationId xmlns:a16="http://schemas.microsoft.com/office/drawing/2014/main" id="{3E7773F8-EE5E-431B-97EA-4F1F524F586E}"/>
              </a:ext>
            </a:extLst>
          </p:cNvPr>
          <p:cNvSpPr>
            <a:spLocks xmlns:a="http://schemas.openxmlformats.org/drawingml/2006/main" noGrp="1"/>
          </p:cNvSpPr>
          <p:nvPr/>
        </p:nvSpPr>
        <p:spPr>
          <a:xfrm xmlns:a="http://schemas.openxmlformats.org/drawingml/2006/main">
            <a:off x="723900" y="39052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Chương 4 · CNN: vùng lân cận và phép biến đổ">
            <a:extLst xmlns:a="http://schemas.openxmlformats.org/drawingml/2006/main">
              <a:ext uri="{FF2B5EF4-FFF2-40B4-BE49-F238E27FC236}">
                <a16:creationId xmlns:a16="http://schemas.microsoft.com/office/drawing/2014/main" id="{0A9D9EE9-A5A9-4FF3-8693-E52FA7836B4C}"/>
              </a:ext>
            </a:extLst>
          </p:cNvPr>
          <p:cNvSpPr>
            <a:spLocks xmlns:a="http://schemas.openxmlformats.org/drawingml/2006/main" noGrp="1"/>
          </p:cNvSpPr>
          <p:nvPr/>
        </p:nvSpPr>
        <p:spPr>
          <a:xfrm xmlns:a="http://schemas.openxmlformats.org/drawingml/2006/main">
            <a:off x="981075" y="3810000"/>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4 · CNN: vùng lân cận và phép biến đổi dùng chung</a:t>
            </a:r>
          </a:p>
        </p:txBody>
      </p:sp>
      <p:sp>
        <p:nvSpPr>
          <p:cNvPr id="14" name="">
            <a:extLst xmlns:a="http://schemas.openxmlformats.org/drawingml/2006/main">
              <a:ext uri="{FF2B5EF4-FFF2-40B4-BE49-F238E27FC236}">
                <a16:creationId xmlns:a16="http://schemas.microsoft.com/office/drawing/2014/main" id="{B94A7F9A-C8BC-42AA-A34A-E82B284FF6EB}"/>
              </a:ext>
            </a:extLst>
          </p:cNvPr>
          <p:cNvSpPr>
            <a:spLocks xmlns:a="http://schemas.openxmlformats.org/drawingml/2006/main" noGrp="1"/>
          </p:cNvSpPr>
          <p:nvPr/>
        </p:nvSpPr>
        <p:spPr>
          <a:xfrm xmlns:a="http://schemas.openxmlformats.org/drawingml/2006/main">
            <a:off x="723900" y="46005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5" name="Chương 5 · Knowledge Graph + RAG: biểu diễn ">
            <a:extLst xmlns:a="http://schemas.openxmlformats.org/drawingml/2006/main">
              <a:ext uri="{FF2B5EF4-FFF2-40B4-BE49-F238E27FC236}">
                <a16:creationId xmlns:a16="http://schemas.microsoft.com/office/drawing/2014/main" id="{84BC0FAD-F252-4D13-A06F-F8C5F8EEFE03}"/>
              </a:ext>
            </a:extLst>
          </p:cNvPr>
          <p:cNvSpPr>
            <a:spLocks xmlns:a="http://schemas.openxmlformats.org/drawingml/2006/main" noGrp="1"/>
          </p:cNvSpPr>
          <p:nvPr/>
        </p:nvSpPr>
        <p:spPr>
          <a:xfrm xmlns:a="http://schemas.openxmlformats.org/drawingml/2006/main">
            <a:off x="981075" y="4505325"/>
            <a:ext cx="10306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Chương 5 · Knowledge Graph + RAG: biểu diễn tri thức và truy xuất</a:t>
            </a:r>
          </a:p>
        </p:txBody>
      </p:sp>
      <p:sp>
        <p:nvSpPr>
          <p:cNvPr id="16" name="">
            <a:extLst xmlns:a="http://schemas.openxmlformats.org/drawingml/2006/main">
              <a:ext uri="{FF2B5EF4-FFF2-40B4-BE49-F238E27FC236}">
                <a16:creationId xmlns:a16="http://schemas.microsoft.com/office/drawing/2014/main" id="{C1360DBB-16CE-4F87-88FE-FE1501F1DD58}"/>
              </a:ext>
            </a:extLst>
          </p:cNvPr>
          <p:cNvSpPr>
            <a:spLocks xmlns:a="http://schemas.openxmlformats.org/drawingml/2006/main" noGrp="1"/>
          </p:cNvSpPr>
          <p:nvPr/>
        </p:nvSpPr>
        <p:spPr>
          <a:xfrm xmlns:a="http://schemas.openxmlformats.org/drawingml/2006/main">
            <a:off x="609600" y="538162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7" name="Biểu diễn quyết định mô hình có thể nhìn thấ">
            <a:extLst xmlns:a="http://schemas.openxmlformats.org/drawingml/2006/main">
              <a:ext uri="{FF2B5EF4-FFF2-40B4-BE49-F238E27FC236}">
                <a16:creationId xmlns:a16="http://schemas.microsoft.com/office/drawing/2014/main" id="{2DA3F350-5A60-4855-B135-48BA55FF72B2}"/>
              </a:ext>
            </a:extLst>
          </p:cNvPr>
          <p:cNvSpPr>
            <a:spLocks xmlns:a="http://schemas.openxmlformats.org/drawingml/2006/main" noGrp="1"/>
          </p:cNvSpPr>
          <p:nvPr/>
        </p:nvSpPr>
        <p:spPr>
          <a:xfrm xmlns:a="http://schemas.openxmlformats.org/drawingml/2006/main">
            <a:off x="609600" y="55149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Biểu diễn quyết định mô hình có thể nhìn thấy gì</a:t>
            </a:r>
          </a:p>
        </p:txBody>
      </p:sp>
    </p:spTree>
    <p:extLst>
      <p:ext uri="{BB962C8B-B14F-4D97-AF65-F5344CB8AC3E}">
        <p14:creationId xmlns:p14="http://schemas.microsoft.com/office/powerpoint/2010/main" val="865160319"/>
      </p:ext>
    </p:extLst>
  </p:cSld>
</p:sld>
</file>

<file path=ppt/slides/slide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5" name="DEEP GRAPH  /  NGƯỜI 1">
            <a:extLst xmlns:a="http://schemas.openxmlformats.org/drawingml/2006/main">
              <a:ext uri="{FF2B5EF4-FFF2-40B4-BE49-F238E27FC236}">
                <a16:creationId xmlns:a16="http://schemas.microsoft.com/office/drawing/2014/main" id="{FB789144-D09A-4D4F-BB6D-443FEB4433A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BDBEADD-6019-411C-B402-9320C1BC0B5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Biểu diễn quyết định quan hệ có được học hay không</a:t>
            </a:r>
          </a:p>
        </p:txBody>
      </p:sp>
      <p:sp>
        <p:nvSpPr>
          <p:cNvPr id="3" name="">
            <a:extLst xmlns:a="http://schemas.openxmlformats.org/drawingml/2006/main">
              <a:ext uri="{FF2B5EF4-FFF2-40B4-BE49-F238E27FC236}">
                <a16:creationId xmlns:a16="http://schemas.microsoft.com/office/drawing/2014/main" id="{28E13472-69E3-41AD-A57E-EA04190395D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0 giây">
            <a:extLst xmlns:a="http://schemas.openxmlformats.org/drawingml/2006/main">
              <a:ext uri="{FF2B5EF4-FFF2-40B4-BE49-F238E27FC236}">
                <a16:creationId xmlns:a16="http://schemas.microsoft.com/office/drawing/2014/main" id="{6546B359-8E32-4291-929A-E4B497F8AFD0}"/>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70 giây</a:t>
            </a:r>
          </a:p>
        </p:txBody>
      </p:sp>
      <p:sp>
        <p:nvSpPr>
          <p:cNvPr id="5" name="03 / 32">
            <a:extLst xmlns:a="http://schemas.openxmlformats.org/drawingml/2006/main">
              <a:ext uri="{FF2B5EF4-FFF2-40B4-BE49-F238E27FC236}">
                <a16:creationId xmlns:a16="http://schemas.microsoft.com/office/drawing/2014/main" id="{B7FA78EA-37A4-4E89-A888-0C042E2EC49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03 / 32</a:t>
            </a:r>
          </a:p>
        </p:txBody>
      </p:sp>
      <p:sp>
        <p:nvSpPr>
          <p:cNvPr id="6" name="">
            <a:extLst xmlns:a="http://schemas.openxmlformats.org/drawingml/2006/main">
              <a:ext uri="{FF2B5EF4-FFF2-40B4-BE49-F238E27FC236}">
                <a16:creationId xmlns:a16="http://schemas.microsoft.com/office/drawing/2014/main" id="{29430399-127C-4353-998C-2F36A2D0B2DD}"/>
              </a:ext>
            </a:extLst>
          </p:cNvPr>
          <p:cNvSpPr>
            <a:spLocks xmlns:a="http://schemas.openxmlformats.org/drawingml/2006/main" noGrp="1"/>
          </p:cNvSpPr>
          <p:nvPr/>
        </p:nvSpPr>
        <p:spPr>
          <a:xfrm xmlns:a="http://schemas.openxmlformats.org/drawingml/2006/main">
            <a:off x="809625" y="20574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Bảng: mỗi hàng là một đối tượng">
            <a:extLst xmlns:a="http://schemas.openxmlformats.org/drawingml/2006/main">
              <a:ext uri="{FF2B5EF4-FFF2-40B4-BE49-F238E27FC236}">
                <a16:creationId xmlns:a16="http://schemas.microsoft.com/office/drawing/2014/main" id="{5B55CB41-4246-40C6-94E3-23EF8F3558B0}"/>
              </a:ext>
            </a:extLst>
          </p:cNvPr>
          <p:cNvSpPr>
            <a:spLocks xmlns:a="http://schemas.openxmlformats.org/drawingml/2006/main" noGrp="1"/>
          </p:cNvSpPr>
          <p:nvPr/>
        </p:nvSpPr>
        <p:spPr>
          <a:xfrm xmlns:a="http://schemas.openxmlformats.org/drawingml/2006/main">
            <a:off x="1066800" y="196215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Bảng: mỗi hàng là một đối tượng</a:t>
            </a:r>
          </a:p>
        </p:txBody>
      </p:sp>
      <p:sp>
        <p:nvSpPr>
          <p:cNvPr id="8" name="">
            <a:extLst xmlns:a="http://schemas.openxmlformats.org/drawingml/2006/main">
              <a:ext uri="{FF2B5EF4-FFF2-40B4-BE49-F238E27FC236}">
                <a16:creationId xmlns:a16="http://schemas.microsoft.com/office/drawing/2014/main" id="{C0D790AA-BE1A-4BB7-A848-AADEE719D536}"/>
              </a:ext>
            </a:extLst>
          </p:cNvPr>
          <p:cNvSpPr>
            <a:spLocks xmlns:a="http://schemas.openxmlformats.org/drawingml/2006/main" noGrp="1"/>
          </p:cNvSpPr>
          <p:nvPr/>
        </p:nvSpPr>
        <p:spPr>
          <a:xfrm xmlns:a="http://schemas.openxmlformats.org/drawingml/2006/main">
            <a:off x="809625" y="2838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Tensor: các giá trị số cho mô hình neural">
            <a:extLst xmlns:a="http://schemas.openxmlformats.org/drawingml/2006/main">
              <a:ext uri="{FF2B5EF4-FFF2-40B4-BE49-F238E27FC236}">
                <a16:creationId xmlns:a16="http://schemas.microsoft.com/office/drawing/2014/main" id="{F440AB66-5AA4-4223-AC91-79F5F3542972}"/>
              </a:ext>
            </a:extLst>
          </p:cNvPr>
          <p:cNvSpPr>
            <a:spLocks xmlns:a="http://schemas.openxmlformats.org/drawingml/2006/main" noGrp="1"/>
          </p:cNvSpPr>
          <p:nvPr/>
        </p:nvSpPr>
        <p:spPr>
          <a:xfrm xmlns:a="http://schemas.openxmlformats.org/drawingml/2006/main">
            <a:off x="1066800" y="274320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Tensor: các giá trị số cho mô hình neural</a:t>
            </a:r>
          </a:p>
        </p:txBody>
      </p:sp>
      <p:sp>
        <p:nvSpPr>
          <p:cNvPr id="10" name="">
            <a:extLst xmlns:a="http://schemas.openxmlformats.org/drawingml/2006/main">
              <a:ext uri="{FF2B5EF4-FFF2-40B4-BE49-F238E27FC236}">
                <a16:creationId xmlns:a16="http://schemas.microsoft.com/office/drawing/2014/main" id="{68A957D0-80E7-4995-9F86-37AF573C096A}"/>
              </a:ext>
            </a:extLst>
          </p:cNvPr>
          <p:cNvSpPr>
            <a:spLocks xmlns:a="http://schemas.openxmlformats.org/drawingml/2006/main" noGrp="1"/>
          </p:cNvSpPr>
          <p:nvPr/>
        </p:nvSpPr>
        <p:spPr>
          <a:xfrm xmlns:a="http://schemas.openxmlformats.org/drawingml/2006/main">
            <a:off x="809625" y="3619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Graph: nút + cạnh + đặc trưng">
            <a:extLst xmlns:a="http://schemas.openxmlformats.org/drawingml/2006/main">
              <a:ext uri="{FF2B5EF4-FFF2-40B4-BE49-F238E27FC236}">
                <a16:creationId xmlns:a16="http://schemas.microsoft.com/office/drawing/2014/main" id="{A813B603-6D69-40D5-9468-37CF6FA63502}"/>
              </a:ext>
            </a:extLst>
          </p:cNvPr>
          <p:cNvSpPr>
            <a:spLocks xmlns:a="http://schemas.openxmlformats.org/drawingml/2006/main" noGrp="1"/>
          </p:cNvSpPr>
          <p:nvPr/>
        </p:nvSpPr>
        <p:spPr>
          <a:xfrm xmlns:a="http://schemas.openxmlformats.org/drawingml/2006/main">
            <a:off x="1066800" y="352425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Graph: nút + cạnh + đặc trưng</a:t>
            </a:r>
          </a:p>
        </p:txBody>
      </p:sp>
      <p:sp>
        <p:nvSpPr>
          <p:cNvPr id="12" name="">
            <a:extLst xmlns:a="http://schemas.openxmlformats.org/drawingml/2006/main">
              <a:ext uri="{FF2B5EF4-FFF2-40B4-BE49-F238E27FC236}">
                <a16:creationId xmlns:a16="http://schemas.microsoft.com/office/drawing/2014/main" id="{07E4A004-04EB-40C3-8A22-9A9988DD0D3C}"/>
              </a:ext>
            </a:extLst>
          </p:cNvPr>
          <p:cNvSpPr>
            <a:spLocks xmlns:a="http://schemas.openxmlformats.org/drawingml/2006/main" noGrp="1"/>
          </p:cNvSpPr>
          <p:nvPr/>
        </p:nvSpPr>
        <p:spPr>
          <a:xfrm xmlns:a="http://schemas.openxmlformats.org/drawingml/2006/main">
            <a:off x="809625" y="44005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Embedding: biểu diễn học được từ ngữ cảnh">
            <a:extLst xmlns:a="http://schemas.openxmlformats.org/drawingml/2006/main">
              <a:ext uri="{FF2B5EF4-FFF2-40B4-BE49-F238E27FC236}">
                <a16:creationId xmlns:a16="http://schemas.microsoft.com/office/drawing/2014/main" id="{9DC3C0E1-9D2B-4D09-BA06-0947EFBB24D8}"/>
              </a:ext>
            </a:extLst>
          </p:cNvPr>
          <p:cNvSpPr>
            <a:spLocks xmlns:a="http://schemas.openxmlformats.org/drawingml/2006/main" noGrp="1"/>
          </p:cNvSpPr>
          <p:nvPr/>
        </p:nvSpPr>
        <p:spPr>
          <a:xfrm xmlns:a="http://schemas.openxmlformats.org/drawingml/2006/main">
            <a:off x="1066800" y="4305300"/>
            <a:ext cx="101155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a:solidFill>
                  <a:srgbClr val="163B3B"/>
                </a:solidFill>
                <a:latin typeface="Arial"/>
                <a:ea typeface="Arial"/>
                <a:cs typeface="Arial"/>
              </a:defRPr>
            </a:defPPr>
          </a:lstStyle>
          <a:p xmlns:a="http://schemas.openxmlformats.org/drawingml/2006/main">
            <a:pPr>
              <a:defRPr sz="2175">
                <a:solidFill>
                  <a:srgbClr val="163B3B"/>
                </a:solidFill>
                <a:latin typeface="Arial"/>
                <a:ea typeface="Arial"/>
                <a:cs typeface="Arial"/>
              </a:defRPr>
            </a:pPr>
            <a:r>
              <a:rPr sz="2175">
                <a:solidFill>
                  <a:srgbClr val="163B3B"/>
                </a:solidFill>
                <a:latin typeface="Arial"/>
                <a:ea typeface="Arial"/>
                <a:cs typeface="Arial"/>
              </a:rPr>
              <a:t>Embedding: biểu diễn học được từ ngữ cảnh</a:t>
            </a:r>
          </a:p>
        </p:txBody>
      </p:sp>
      <p:sp>
        <p:nvSpPr>
          <p:cNvPr id="14" name="Dữ liệu quan hệ">
            <a:extLst xmlns:a="http://schemas.openxmlformats.org/drawingml/2006/main">
              <a:ext uri="{FF2B5EF4-FFF2-40B4-BE49-F238E27FC236}">
                <a16:creationId xmlns:a16="http://schemas.microsoft.com/office/drawing/2014/main" id="{3CE36AA3-EF4D-45BB-8E99-8879DB8F9035}"/>
              </a:ext>
            </a:extLst>
          </p:cNvPr>
          <p:cNvSpPr>
            <a:spLocks xmlns:a="http://schemas.openxmlformats.org/drawingml/2006/main" noGrp="1"/>
          </p:cNvSpPr>
          <p:nvPr/>
        </p:nvSpPr>
        <p:spPr>
          <a:xfrm xmlns:a="http://schemas.openxmlformats.org/drawingml/2006/main">
            <a:off x="7381875" y="5133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650" b="1">
                <a:solidFill>
                  <a:srgbClr val="087E73"/>
                </a:solidFill>
                <a:latin typeface="Arial"/>
                <a:ea typeface="Arial"/>
                <a:cs typeface="Arial"/>
              </a:defRPr>
            </a:defPPr>
          </a:lstStyle>
          <a:p xmlns:a="http://schemas.openxmlformats.org/drawingml/2006/main">
            <a:pPr algn="r">
              <a:defRPr sz="1650" b="1">
                <a:solidFill>
                  <a:srgbClr val="087E73"/>
                </a:solidFill>
                <a:latin typeface="Arial"/>
                <a:ea typeface="Arial"/>
                <a:cs typeface="Arial"/>
              </a:defRPr>
            </a:pPr>
            <a:r>
              <a:rPr sz="1650" b="1">
                <a:solidFill>
                  <a:srgbClr val="087E73"/>
                </a:solidFill>
                <a:latin typeface="Arial"/>
                <a:ea typeface="Arial"/>
                <a:cs typeface="Arial"/>
              </a:rPr>
              <a:t>Dữ liệu quan hệ</a:t>
            </a:r>
          </a:p>
        </p:txBody>
      </p:sp>
    </p:spTree>
    <p:extLst>
      <p:ext uri="{BB962C8B-B14F-4D97-AF65-F5344CB8AC3E}">
        <p14:creationId xmlns:p14="http://schemas.microsoft.com/office/powerpoint/2010/main" val="908120326"/>
      </p:ext>
    </p:extLst>
  </p:cSld>
</p:sld>
</file>

<file path=ppt/slides/slide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E72AD23-CA8F-40A4-8FFB-26D196B2C7D6}"/>
              </a:ext>
            </a:extLst>
          </p:cNvPr>
          <p:cNvCxnSpPr>
            <a:stCxn xmlns:a="http://schemas.openxmlformats.org/drawingml/2006/main" id="9" idx="5"/>
            <a:endCxn xmlns:a="http://schemas.openxmlformats.org/drawingml/2006/main" id="11" idx="1"/>
          </p:cNvCxnSpPr>
          <p:nvPr/>
        </p:nvCxnSpPr>
        <p:spPr>
          <a:xfrm xmlns:a="http://schemas.openxmlformats.org/drawingml/2006/main">
            <a:off x="4137515" y="34231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2775622E-3674-41F3-8701-CBFB50F042CA}"/>
              </a:ext>
            </a:extLst>
          </p:cNvPr>
          <p:cNvCxnSpPr>
            <a:stCxn xmlns:a="http://schemas.openxmlformats.org/drawingml/2006/main" id="9" idx="7"/>
            <a:endCxn xmlns:a="http://schemas.openxmlformats.org/drawingml/2006/main" id="10" idx="3"/>
          </p:cNvCxnSpPr>
          <p:nvPr/>
        </p:nvCxnSpPr>
        <p:spPr>
          <a:xfrm xmlns:a="http://schemas.openxmlformats.org/drawingml/2006/main" flipV="1">
            <a:off x="4137515" y="24706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5EC9EE09-F10C-486D-A687-3348FB4DF231}"/>
              </a:ext>
            </a:extLst>
          </p:cNvPr>
          <p:cNvCxnSpPr>
            <a:stCxn xmlns:a="http://schemas.openxmlformats.org/drawingml/2006/main" id="8" idx="7"/>
            <a:endCxn xmlns:a="http://schemas.openxmlformats.org/drawingml/2006/main" id="9" idx="3"/>
          </p:cNvCxnSpPr>
          <p:nvPr/>
        </p:nvCxnSpPr>
        <p:spPr>
          <a:xfrm xmlns:a="http://schemas.openxmlformats.org/drawingml/2006/main" flipV="1">
            <a:off x="2756390" y="3423140"/>
            <a:ext cx="103089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557F8710-D792-423D-B1EA-06F7135C044C}"/>
              </a:ext>
            </a:extLst>
          </p:cNvPr>
          <p:cNvCxnSpPr>
            <a:stCxn xmlns:a="http://schemas.openxmlformats.org/drawingml/2006/main" id="7" idx="5"/>
            <a:endCxn xmlns:a="http://schemas.openxmlformats.org/drawingml/2006/main" id="9" idx="1"/>
          </p:cNvCxnSpPr>
          <p:nvPr/>
        </p:nvCxnSpPr>
        <p:spPr>
          <a:xfrm xmlns:a="http://schemas.openxmlformats.org/drawingml/2006/main">
            <a:off x="2756390" y="2470640"/>
            <a:ext cx="103089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5011EC3A-7E28-4A0E-8448-AF40B1EBC83A}"/>
              </a:ext>
            </a:extLst>
          </p:cNvPr>
          <p:cNvCxnSpPr>
            <a:stCxn xmlns:a="http://schemas.openxmlformats.org/drawingml/2006/main" id="6" idx="5"/>
            <a:endCxn xmlns:a="http://schemas.openxmlformats.org/drawingml/2006/main" id="8" idx="1"/>
          </p:cNvCxnSpPr>
          <p:nvPr/>
        </p:nvCxnSpPr>
        <p:spPr>
          <a:xfrm xmlns:a="http://schemas.openxmlformats.org/drawingml/2006/main">
            <a:off x="1470515" y="34231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6AD35E08-C7D1-4C97-AD44-C89D9178737E}"/>
              </a:ext>
            </a:extLst>
          </p:cNvPr>
          <p:cNvCxnSpPr>
            <a:stCxn xmlns:a="http://schemas.openxmlformats.org/drawingml/2006/main" id="6" idx="7"/>
            <a:endCxn xmlns:a="http://schemas.openxmlformats.org/drawingml/2006/main" id="7" idx="3"/>
          </p:cNvCxnSpPr>
          <p:nvPr/>
        </p:nvCxnSpPr>
        <p:spPr>
          <a:xfrm xmlns:a="http://schemas.openxmlformats.org/drawingml/2006/main" flipV="1">
            <a:off x="1470515" y="2470640"/>
            <a:ext cx="935645" cy="602270"/>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1" name="DEEP GRAPH  /  NGƯỜI 1">
            <a:extLst xmlns:a="http://schemas.openxmlformats.org/drawingml/2006/main">
              <a:ext uri="{FF2B5EF4-FFF2-40B4-BE49-F238E27FC236}">
                <a16:creationId xmlns:a16="http://schemas.microsoft.com/office/drawing/2014/main" id="{BFE5CCFC-F783-4DD7-A6FE-E48D6B64394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EC70356-3832-492F-96DA-54332460F9F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gồm nút, cạnh và đặc trưng</a:t>
            </a:r>
          </a:p>
        </p:txBody>
      </p:sp>
      <p:sp>
        <p:nvSpPr>
          <p:cNvPr id="3" name="">
            <a:extLst xmlns:a="http://schemas.openxmlformats.org/drawingml/2006/main">
              <a:ext uri="{FF2B5EF4-FFF2-40B4-BE49-F238E27FC236}">
                <a16:creationId xmlns:a16="http://schemas.microsoft.com/office/drawing/2014/main" id="{7F11751B-92B6-491E-8521-95A69B1F89F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138213F7-4F8E-436E-B14D-460BB7286568}"/>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4 / 32">
            <a:extLst xmlns:a="http://schemas.openxmlformats.org/drawingml/2006/main">
              <a:ext uri="{FF2B5EF4-FFF2-40B4-BE49-F238E27FC236}">
                <a16:creationId xmlns:a16="http://schemas.microsoft.com/office/drawing/2014/main" id="{26296FBF-1D43-4729-9511-BE67C5661C9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04 / 32</a:t>
            </a:r>
          </a:p>
        </p:txBody>
      </p:sp>
      <p:sp>
        <p:nvSpPr>
          <p:cNvPr id="6" name="">
            <a:extLst xmlns:a="http://schemas.openxmlformats.org/drawingml/2006/main">
              <a:ext uri="{FF2B5EF4-FFF2-40B4-BE49-F238E27FC236}">
                <a16:creationId xmlns:a16="http://schemas.microsoft.com/office/drawing/2014/main" id="{D63D81F1-3529-45EB-AD01-4548EE8B7C40}"/>
              </a:ext>
            </a:extLst>
          </p:cNvPr>
          <p:cNvSpPr>
            <a:spLocks xmlns:a="http://schemas.openxmlformats.org/drawingml/2006/main" noGrp="1"/>
          </p:cNvSpPr>
          <p:nvPr/>
        </p:nvSpPr>
        <p:spPr>
          <a:xfrm xmlns:a="http://schemas.openxmlformats.org/drawingml/2006/main">
            <a:off x="1047750" y="30003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6B2CCDB-D21F-4823-84D2-D96E485D9CC6}"/>
              </a:ext>
            </a:extLst>
          </p:cNvPr>
          <p:cNvSpPr>
            <a:spLocks xmlns:a="http://schemas.openxmlformats.org/drawingml/2006/main" noGrp="1"/>
          </p:cNvSpPr>
          <p:nvPr/>
        </p:nvSpPr>
        <p:spPr>
          <a:xfrm xmlns:a="http://schemas.openxmlformats.org/drawingml/2006/main">
            <a:off x="2333625" y="2047875"/>
            <a:ext cx="495300" cy="49530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967494-8F9B-4127-92F5-5E73739D84C0}"/>
              </a:ext>
            </a:extLst>
          </p:cNvPr>
          <p:cNvSpPr>
            <a:spLocks xmlns:a="http://schemas.openxmlformats.org/drawingml/2006/main" noGrp="1"/>
          </p:cNvSpPr>
          <p:nvPr/>
        </p:nvSpPr>
        <p:spPr>
          <a:xfrm xmlns:a="http://schemas.openxmlformats.org/drawingml/2006/main">
            <a:off x="2333625" y="39528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B5F092-E377-47F7-93AD-BD6D5A0E5CEF}"/>
              </a:ext>
            </a:extLst>
          </p:cNvPr>
          <p:cNvSpPr>
            <a:spLocks xmlns:a="http://schemas.openxmlformats.org/drawingml/2006/main" noGrp="1"/>
          </p:cNvSpPr>
          <p:nvPr/>
        </p:nvSpPr>
        <p:spPr>
          <a:xfrm xmlns:a="http://schemas.openxmlformats.org/drawingml/2006/main">
            <a:off x="3714750" y="3000375"/>
            <a:ext cx="495300" cy="495300"/>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C356137-105D-4DBB-B91B-F98350865236}"/>
              </a:ext>
            </a:extLst>
          </p:cNvPr>
          <p:cNvSpPr>
            <a:spLocks xmlns:a="http://schemas.openxmlformats.org/drawingml/2006/main" noGrp="1"/>
          </p:cNvSpPr>
          <p:nvPr/>
        </p:nvSpPr>
        <p:spPr>
          <a:xfrm xmlns:a="http://schemas.openxmlformats.org/drawingml/2006/main">
            <a:off x="5000625" y="2047875"/>
            <a:ext cx="495300" cy="495300"/>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68413D9-6171-4961-941A-F3E8BF935545}"/>
              </a:ext>
            </a:extLst>
          </p:cNvPr>
          <p:cNvSpPr>
            <a:spLocks xmlns:a="http://schemas.openxmlformats.org/drawingml/2006/main" noGrp="1"/>
          </p:cNvSpPr>
          <p:nvPr/>
        </p:nvSpPr>
        <p:spPr>
          <a:xfrm xmlns:a="http://schemas.openxmlformats.org/drawingml/2006/main">
            <a:off x="5000625" y="3952875"/>
            <a:ext cx="495300" cy="49530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FB81CE61-CDA2-430B-A44A-387D225433A7}"/>
              </a:ext>
            </a:extLst>
          </p:cNvPr>
          <p:cNvSpPr>
            <a:spLocks xmlns:a="http://schemas.openxmlformats.org/drawingml/2006/main" noGrp="1"/>
          </p:cNvSpPr>
          <p:nvPr/>
        </p:nvSpPr>
        <p:spPr>
          <a:xfrm xmlns:a="http://schemas.openxmlformats.org/drawingml/2006/main">
            <a:off x="1047750" y="3114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639D5E01-1AEE-4021-961E-93A7BA680B9E}"/>
              </a:ext>
            </a:extLst>
          </p:cNvPr>
          <p:cNvSpPr>
            <a:spLocks xmlns:a="http://schemas.openxmlformats.org/drawingml/2006/main" noGrp="1"/>
          </p:cNvSpPr>
          <p:nvPr/>
        </p:nvSpPr>
        <p:spPr>
          <a:xfrm xmlns:a="http://schemas.openxmlformats.org/drawingml/2006/main">
            <a:off x="2333625" y="2162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28008ABE-4116-48ED-BD9F-56A61C253214}"/>
              </a:ext>
            </a:extLst>
          </p:cNvPr>
          <p:cNvSpPr>
            <a:spLocks xmlns:a="http://schemas.openxmlformats.org/drawingml/2006/main" noGrp="1"/>
          </p:cNvSpPr>
          <p:nvPr/>
        </p:nvSpPr>
        <p:spPr>
          <a:xfrm xmlns:a="http://schemas.openxmlformats.org/drawingml/2006/main">
            <a:off x="2333625" y="4067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B6F00FF7-9883-4294-A864-D048DA90879E}"/>
              </a:ext>
            </a:extLst>
          </p:cNvPr>
          <p:cNvSpPr>
            <a:spLocks xmlns:a="http://schemas.openxmlformats.org/drawingml/2006/main" noGrp="1"/>
          </p:cNvSpPr>
          <p:nvPr/>
        </p:nvSpPr>
        <p:spPr>
          <a:xfrm xmlns:a="http://schemas.openxmlformats.org/drawingml/2006/main">
            <a:off x="3714750" y="31146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C80FDD46-4B52-46FA-BAD4-79FB2A20E9F6}"/>
              </a:ext>
            </a:extLst>
          </p:cNvPr>
          <p:cNvSpPr>
            <a:spLocks xmlns:a="http://schemas.openxmlformats.org/drawingml/2006/main" noGrp="1"/>
          </p:cNvSpPr>
          <p:nvPr/>
        </p:nvSpPr>
        <p:spPr>
          <a:xfrm xmlns:a="http://schemas.openxmlformats.org/drawingml/2006/main">
            <a:off x="5000625" y="2162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AA42C177-4731-4F41-876C-BFD711C5169F}"/>
              </a:ext>
            </a:extLst>
          </p:cNvPr>
          <p:cNvSpPr>
            <a:spLocks xmlns:a="http://schemas.openxmlformats.org/drawingml/2006/main" noGrp="1"/>
          </p:cNvSpPr>
          <p:nvPr/>
        </p:nvSpPr>
        <p:spPr>
          <a:xfrm xmlns:a="http://schemas.openxmlformats.org/drawingml/2006/main">
            <a:off x="5000625" y="4067175"/>
            <a:ext cx="4953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1">
                <a:solidFill>
                  <a:srgbClr val="FFFFFF"/>
                </a:solidFill>
                <a:latin typeface="Arial"/>
                <a:ea typeface="Arial"/>
                <a:cs typeface="Arial"/>
              </a:defRPr>
            </a:defPPr>
          </a:lstStyle>
          <a:p xmlns:a="http://schemas.openxmlformats.org/drawingml/2006/main">
            <a:pPr algn="ctr">
              <a:defRPr sz="1425" b="1">
                <a:solidFill>
                  <a:srgbClr val="FFFFFF"/>
                </a:solidFill>
                <a:latin typeface="Arial"/>
                <a:ea typeface="Arial"/>
                <a:cs typeface="Arial"/>
              </a:defRPr>
            </a:pPr>
            <a:r>
              <a:rPr sz="1425" b="1">
                <a:solidFill>
                  <a:srgbClr val="FFFFFF"/>
                </a:solidFill>
                <a:latin typeface="Arial"/>
                <a:ea typeface="Arial"/>
                <a:cs typeface="Arial"/>
              </a:rPr>
              <a:t>F</a:t>
            </a:r>
          </a:p>
        </p:txBody>
      </p:sp>
      <p:sp>
        <p:nvSpPr>
          <p:cNvPr id="24" name="NÚT">
            <a:extLst xmlns:a="http://schemas.openxmlformats.org/drawingml/2006/main">
              <a:ext uri="{FF2B5EF4-FFF2-40B4-BE49-F238E27FC236}">
                <a16:creationId xmlns:a16="http://schemas.microsoft.com/office/drawing/2014/main" id="{36CB081C-0600-4AFE-836A-7C32DD189F5E}"/>
              </a:ext>
            </a:extLst>
          </p:cNvPr>
          <p:cNvSpPr>
            <a:spLocks xmlns:a="http://schemas.openxmlformats.org/drawingml/2006/main" noGrp="1"/>
          </p:cNvSpPr>
          <p:nvPr/>
        </p:nvSpPr>
        <p:spPr>
          <a:xfrm xmlns:a="http://schemas.openxmlformats.org/drawingml/2006/main">
            <a:off x="6524625" y="1885950"/>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NÚT</a:t>
            </a:r>
          </a:p>
        </p:txBody>
      </p:sp>
      <p:sp>
        <p:nvSpPr>
          <p:cNvPr id="25" name="Đối tượng được mô tả">
            <a:extLst xmlns:a="http://schemas.openxmlformats.org/drawingml/2006/main">
              <a:ext uri="{FF2B5EF4-FFF2-40B4-BE49-F238E27FC236}">
                <a16:creationId xmlns:a16="http://schemas.microsoft.com/office/drawing/2014/main" id="{745B644C-4EA5-45DB-B424-6285768F3637}"/>
              </a:ext>
            </a:extLst>
          </p:cNvPr>
          <p:cNvSpPr>
            <a:spLocks xmlns:a="http://schemas.openxmlformats.org/drawingml/2006/main" noGrp="1"/>
          </p:cNvSpPr>
          <p:nvPr/>
        </p:nvSpPr>
        <p:spPr>
          <a:xfrm xmlns:a="http://schemas.openxmlformats.org/drawingml/2006/main">
            <a:off x="6524625" y="2295525"/>
            <a:ext cx="452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Đối tượng được mô tả</a:t>
            </a:r>
          </a:p>
        </p:txBody>
      </p:sp>
      <p:sp>
        <p:nvSpPr>
          <p:cNvPr id="26" name="CẠNH">
            <a:extLst xmlns:a="http://schemas.openxmlformats.org/drawingml/2006/main">
              <a:ext uri="{FF2B5EF4-FFF2-40B4-BE49-F238E27FC236}">
                <a16:creationId xmlns:a16="http://schemas.microsoft.com/office/drawing/2014/main" id="{105C0BCB-3475-49BA-886F-D359DE139610}"/>
              </a:ext>
            </a:extLst>
          </p:cNvPr>
          <p:cNvSpPr>
            <a:spLocks xmlns:a="http://schemas.openxmlformats.org/drawingml/2006/main" noGrp="1"/>
          </p:cNvSpPr>
          <p:nvPr/>
        </p:nvSpPr>
        <p:spPr>
          <a:xfrm xmlns:a="http://schemas.openxmlformats.org/drawingml/2006/main">
            <a:off x="6524625" y="3095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CẠNH</a:t>
            </a:r>
          </a:p>
        </p:txBody>
      </p:sp>
      <p:sp>
        <p:nvSpPr>
          <p:cNvPr id="27" name="Quan hệ giữa hai đối tượng">
            <a:extLst xmlns:a="http://schemas.openxmlformats.org/drawingml/2006/main">
              <a:ext uri="{FF2B5EF4-FFF2-40B4-BE49-F238E27FC236}">
                <a16:creationId xmlns:a16="http://schemas.microsoft.com/office/drawing/2014/main" id="{16BD8CB0-542E-4F0A-B0AC-38EB8F13D18C}"/>
              </a:ext>
            </a:extLst>
          </p:cNvPr>
          <p:cNvSpPr>
            <a:spLocks xmlns:a="http://schemas.openxmlformats.org/drawingml/2006/main" noGrp="1"/>
          </p:cNvSpPr>
          <p:nvPr/>
        </p:nvSpPr>
        <p:spPr>
          <a:xfrm xmlns:a="http://schemas.openxmlformats.org/drawingml/2006/main">
            <a:off x="6524625" y="350520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Quan hệ giữa hai đối tượng</a:t>
            </a:r>
          </a:p>
        </p:txBody>
      </p:sp>
      <p:sp>
        <p:nvSpPr>
          <p:cNvPr id="28" name="FEATURE / LABEL">
            <a:extLst xmlns:a="http://schemas.openxmlformats.org/drawingml/2006/main">
              <a:ext uri="{FF2B5EF4-FFF2-40B4-BE49-F238E27FC236}">
                <a16:creationId xmlns:a16="http://schemas.microsoft.com/office/drawing/2014/main" id="{D70FC9E6-E63E-419A-8E42-D3C286F66B5B}"/>
              </a:ext>
            </a:extLst>
          </p:cNvPr>
          <p:cNvSpPr>
            <a:spLocks xmlns:a="http://schemas.openxmlformats.org/drawingml/2006/main" noGrp="1"/>
          </p:cNvSpPr>
          <p:nvPr/>
        </p:nvSpPr>
        <p:spPr>
          <a:xfrm xmlns:a="http://schemas.openxmlformats.org/drawingml/2006/main">
            <a:off x="6524625" y="4333875"/>
            <a:ext cx="442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FEATURE / LABEL</a:t>
            </a:r>
          </a:p>
        </p:txBody>
      </p:sp>
      <p:sp>
        <p:nvSpPr>
          <p:cNvPr id="29" name="Đầu vào / đáp án cần học">
            <a:extLst xmlns:a="http://schemas.openxmlformats.org/drawingml/2006/main">
              <a:ext uri="{FF2B5EF4-FFF2-40B4-BE49-F238E27FC236}">
                <a16:creationId xmlns:a16="http://schemas.microsoft.com/office/drawing/2014/main" id="{2B2D1136-0856-49E3-8435-1194EB630BEC}"/>
              </a:ext>
            </a:extLst>
          </p:cNvPr>
          <p:cNvSpPr>
            <a:spLocks xmlns:a="http://schemas.openxmlformats.org/drawingml/2006/main" noGrp="1"/>
          </p:cNvSpPr>
          <p:nvPr/>
        </p:nvSpPr>
        <p:spPr>
          <a:xfrm xmlns:a="http://schemas.openxmlformats.org/drawingml/2006/main">
            <a:off x="6524625" y="47434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Đầu vào / đáp án cần học</a:t>
            </a:r>
          </a:p>
        </p:txBody>
      </p:sp>
      <p:sp>
        <p:nvSpPr>
          <p:cNvPr id="30" name="Định nghĩa nút và cạnh phụ thuộc bài toán.">
            <a:extLst xmlns:a="http://schemas.openxmlformats.org/drawingml/2006/main">
              <a:ext uri="{FF2B5EF4-FFF2-40B4-BE49-F238E27FC236}">
                <a16:creationId xmlns:a16="http://schemas.microsoft.com/office/drawing/2014/main" id="{94EDC911-10A4-4AFA-8D35-13D563C774BC}"/>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Định nghĩa nút và cạnh phụ thuộc bài toán.</a:t>
            </a:r>
          </a:p>
        </p:txBody>
      </p:sp>
    </p:spTree>
    <p:extLst>
      <p:ext uri="{BB962C8B-B14F-4D97-AF65-F5344CB8AC3E}">
        <p14:creationId xmlns:p14="http://schemas.microsoft.com/office/powerpoint/2010/main" val="1471880355"/>
      </p:ext>
    </p:extLst>
  </p:cSld>
</p:sld>
</file>

<file path=ppt/slides/slide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0" name="DEEP GRAPH  /  NGƯỜI 1">
            <a:extLst xmlns:a="http://schemas.openxmlformats.org/drawingml/2006/main">
              <a:ext uri="{FF2B5EF4-FFF2-40B4-BE49-F238E27FC236}">
                <a16:creationId xmlns:a16="http://schemas.microsoft.com/office/drawing/2014/main" id="{BCD2ECC0-928A-41C7-9682-FD10463828A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A2D89E91-4B86-48FA-BF90-3C143924004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Đầu ra có thể thuộc nút, cạnh, graph hoặc thời gian</a:t>
            </a:r>
          </a:p>
        </p:txBody>
      </p:sp>
      <p:sp>
        <p:nvSpPr>
          <p:cNvPr id="3" name="">
            <a:extLst xmlns:a="http://schemas.openxmlformats.org/drawingml/2006/main">
              <a:ext uri="{FF2B5EF4-FFF2-40B4-BE49-F238E27FC236}">
                <a16:creationId xmlns:a16="http://schemas.microsoft.com/office/drawing/2014/main" id="{864D5193-EC32-4E5A-8FB4-5301BAFFD9F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0 giây">
            <a:extLst xmlns:a="http://schemas.openxmlformats.org/drawingml/2006/main">
              <a:ext uri="{FF2B5EF4-FFF2-40B4-BE49-F238E27FC236}">
                <a16:creationId xmlns:a16="http://schemas.microsoft.com/office/drawing/2014/main" id="{948F40FA-C10E-4D5C-8ACE-A345C02B7ED6}"/>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70 giây</a:t>
            </a:r>
          </a:p>
        </p:txBody>
      </p:sp>
      <p:sp>
        <p:nvSpPr>
          <p:cNvPr id="5" name="05 / 32">
            <a:extLst xmlns:a="http://schemas.openxmlformats.org/drawingml/2006/main">
              <a:ext uri="{FF2B5EF4-FFF2-40B4-BE49-F238E27FC236}">
                <a16:creationId xmlns:a16="http://schemas.microsoft.com/office/drawing/2014/main" id="{25E07D6E-CBF7-4768-A52D-FE3E691C69AD}"/>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05 / 32</a:t>
            </a:r>
          </a:p>
        </p:txBody>
      </p:sp>
      <p:sp>
        <p:nvSpPr>
          <p:cNvPr id="6" name="">
            <a:extLst xmlns:a="http://schemas.openxmlformats.org/drawingml/2006/main">
              <a:ext uri="{FF2B5EF4-FFF2-40B4-BE49-F238E27FC236}">
                <a16:creationId xmlns:a16="http://schemas.microsoft.com/office/drawing/2014/main" id="{FCF7B59A-18E8-4FBE-BAE9-DAE6EAA1A50E}"/>
              </a:ext>
            </a:extLst>
          </p:cNvPr>
          <p:cNvSpPr>
            <a:spLocks xmlns:a="http://schemas.openxmlformats.org/drawingml/2006/main" noGrp="1"/>
          </p:cNvSpPr>
          <p:nvPr/>
        </p:nvSpPr>
        <p:spPr>
          <a:xfrm xmlns:a="http://schemas.openxmlformats.org/drawingml/2006/main">
            <a:off x="62865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7" name="Nút">
            <a:extLst xmlns:a="http://schemas.openxmlformats.org/drawingml/2006/main">
              <a:ext uri="{FF2B5EF4-FFF2-40B4-BE49-F238E27FC236}">
                <a16:creationId xmlns:a16="http://schemas.microsoft.com/office/drawing/2014/main" id="{B22389B0-3197-460B-8C6B-F5169EFB6EE6}"/>
              </a:ext>
            </a:extLst>
          </p:cNvPr>
          <p:cNvSpPr>
            <a:spLocks xmlns:a="http://schemas.openxmlformats.org/drawingml/2006/main" noGrp="1"/>
          </p:cNvSpPr>
          <p:nvPr/>
        </p:nvSpPr>
        <p:spPr>
          <a:xfrm xmlns:a="http://schemas.openxmlformats.org/drawingml/2006/main">
            <a:off x="80962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Nút</a:t>
            </a:r>
          </a:p>
        </p:txBody>
      </p:sp>
      <p:sp>
        <p:nvSpPr>
          <p:cNvPr id="8" name="phân loại một giao dịch">
            <a:extLst xmlns:a="http://schemas.openxmlformats.org/drawingml/2006/main">
              <a:ext uri="{FF2B5EF4-FFF2-40B4-BE49-F238E27FC236}">
                <a16:creationId xmlns:a16="http://schemas.microsoft.com/office/drawing/2014/main" id="{AAA1FC70-3630-4EB3-8D92-E6F71403EA73}"/>
              </a:ext>
            </a:extLst>
          </p:cNvPr>
          <p:cNvSpPr>
            <a:spLocks xmlns:a="http://schemas.openxmlformats.org/drawingml/2006/main" noGrp="1"/>
          </p:cNvSpPr>
          <p:nvPr/>
        </p:nvSpPr>
        <p:spPr>
          <a:xfrm xmlns:a="http://schemas.openxmlformats.org/drawingml/2006/main">
            <a:off x="80962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phân loại một giao dịch</a:t>
            </a:r>
          </a:p>
        </p:txBody>
      </p:sp>
      <p:sp>
        <p:nvSpPr>
          <p:cNvPr id="9" name="">
            <a:extLst xmlns:a="http://schemas.openxmlformats.org/drawingml/2006/main">
              <a:ext uri="{FF2B5EF4-FFF2-40B4-BE49-F238E27FC236}">
                <a16:creationId xmlns:a16="http://schemas.microsoft.com/office/drawing/2014/main" id="{C7A61313-E926-462C-8804-0F4040650696}"/>
              </a:ext>
            </a:extLst>
          </p:cNvPr>
          <p:cNvSpPr>
            <a:spLocks xmlns:a="http://schemas.openxmlformats.org/drawingml/2006/main" noGrp="1"/>
          </p:cNvSpPr>
          <p:nvPr/>
        </p:nvSpPr>
        <p:spPr>
          <a:xfrm xmlns:a="http://schemas.openxmlformats.org/drawingml/2006/main">
            <a:off x="342900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0" name="Cạnh">
            <a:extLst xmlns:a="http://schemas.openxmlformats.org/drawingml/2006/main">
              <a:ext uri="{FF2B5EF4-FFF2-40B4-BE49-F238E27FC236}">
                <a16:creationId xmlns:a16="http://schemas.microsoft.com/office/drawing/2014/main" id="{F8BEB819-E0E8-4FAC-9144-558F1EF13518}"/>
              </a:ext>
            </a:extLst>
          </p:cNvPr>
          <p:cNvSpPr>
            <a:spLocks xmlns:a="http://schemas.openxmlformats.org/drawingml/2006/main" noGrp="1"/>
          </p:cNvSpPr>
          <p:nvPr/>
        </p:nvSpPr>
        <p:spPr>
          <a:xfrm xmlns:a="http://schemas.openxmlformats.org/drawingml/2006/main">
            <a:off x="360997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Cạnh</a:t>
            </a:r>
          </a:p>
        </p:txBody>
      </p:sp>
      <p:sp>
        <p:nvSpPr>
          <p:cNvPr id="11" name="dự đoán liên kết giữa hai đối tượng">
            <a:extLst xmlns:a="http://schemas.openxmlformats.org/drawingml/2006/main">
              <a:ext uri="{FF2B5EF4-FFF2-40B4-BE49-F238E27FC236}">
                <a16:creationId xmlns:a16="http://schemas.microsoft.com/office/drawing/2014/main" id="{75BF244F-58D9-46C3-B812-45630143366C}"/>
              </a:ext>
            </a:extLst>
          </p:cNvPr>
          <p:cNvSpPr>
            <a:spLocks xmlns:a="http://schemas.openxmlformats.org/drawingml/2006/main" noGrp="1"/>
          </p:cNvSpPr>
          <p:nvPr/>
        </p:nvSpPr>
        <p:spPr>
          <a:xfrm xmlns:a="http://schemas.openxmlformats.org/drawingml/2006/main">
            <a:off x="360997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dự đoán liên kết giữa hai đối tượng</a:t>
            </a:r>
          </a:p>
        </p:txBody>
      </p:sp>
      <p:sp>
        <p:nvSpPr>
          <p:cNvPr id="12" name="">
            <a:extLst xmlns:a="http://schemas.openxmlformats.org/drawingml/2006/main">
              <a:ext uri="{FF2B5EF4-FFF2-40B4-BE49-F238E27FC236}">
                <a16:creationId xmlns:a16="http://schemas.microsoft.com/office/drawing/2014/main" id="{5B433567-C928-48D4-A8C7-0338B2377147}"/>
              </a:ext>
            </a:extLst>
          </p:cNvPr>
          <p:cNvSpPr>
            <a:spLocks xmlns:a="http://schemas.openxmlformats.org/drawingml/2006/main" noGrp="1"/>
          </p:cNvSpPr>
          <p:nvPr/>
        </p:nvSpPr>
        <p:spPr>
          <a:xfrm xmlns:a="http://schemas.openxmlformats.org/drawingml/2006/main">
            <a:off x="6229350" y="1971675"/>
            <a:ext cx="28575" cy="25241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3" name="Graph">
            <a:extLst xmlns:a="http://schemas.openxmlformats.org/drawingml/2006/main">
              <a:ext uri="{FF2B5EF4-FFF2-40B4-BE49-F238E27FC236}">
                <a16:creationId xmlns:a16="http://schemas.microsoft.com/office/drawing/2014/main" id="{1101647D-100C-4D7B-B9F9-419157234FC1}"/>
              </a:ext>
            </a:extLst>
          </p:cNvPr>
          <p:cNvSpPr>
            <a:spLocks xmlns:a="http://schemas.openxmlformats.org/drawingml/2006/main" noGrp="1"/>
          </p:cNvSpPr>
          <p:nvPr/>
        </p:nvSpPr>
        <p:spPr>
          <a:xfrm xmlns:a="http://schemas.openxmlformats.org/drawingml/2006/main">
            <a:off x="641032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087E73"/>
                </a:solidFill>
                <a:latin typeface="Arial"/>
                <a:ea typeface="Arial"/>
                <a:cs typeface="Arial"/>
              </a:defRPr>
            </a:defPPr>
          </a:lstStyle>
          <a:p xmlns:a="http://schemas.openxmlformats.org/drawingml/2006/main">
            <a:pPr>
              <a:defRPr sz="2325" b="1">
                <a:solidFill>
                  <a:srgbClr val="087E73"/>
                </a:solidFill>
                <a:latin typeface="Arial"/>
                <a:ea typeface="Arial"/>
                <a:cs typeface="Arial"/>
              </a:defRPr>
            </a:pPr>
            <a:r>
              <a:rPr sz="2325" b="1">
                <a:solidFill>
                  <a:srgbClr val="087E73"/>
                </a:solidFill>
                <a:latin typeface="Arial"/>
                <a:ea typeface="Arial"/>
                <a:cs typeface="Arial"/>
              </a:rPr>
              <a:t>Graph</a:t>
            </a:r>
          </a:p>
        </p:txBody>
      </p:sp>
      <p:sp>
        <p:nvSpPr>
          <p:cNvPr id="14" name="phân loại một phân tử">
            <a:extLst xmlns:a="http://schemas.openxmlformats.org/drawingml/2006/main">
              <a:ext uri="{FF2B5EF4-FFF2-40B4-BE49-F238E27FC236}">
                <a16:creationId xmlns:a16="http://schemas.microsoft.com/office/drawing/2014/main" id="{2EBF4CED-F3DF-459C-BE09-192F196DC4E4}"/>
              </a:ext>
            </a:extLst>
          </p:cNvPr>
          <p:cNvSpPr>
            <a:spLocks xmlns:a="http://schemas.openxmlformats.org/drawingml/2006/main" noGrp="1"/>
          </p:cNvSpPr>
          <p:nvPr/>
        </p:nvSpPr>
        <p:spPr>
          <a:xfrm xmlns:a="http://schemas.openxmlformats.org/drawingml/2006/main">
            <a:off x="641032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phân loại một phân tử</a:t>
            </a:r>
          </a:p>
        </p:txBody>
      </p:sp>
      <p:sp>
        <p:nvSpPr>
          <p:cNvPr id="15" name="">
            <a:extLst xmlns:a="http://schemas.openxmlformats.org/drawingml/2006/main">
              <a:ext uri="{FF2B5EF4-FFF2-40B4-BE49-F238E27FC236}">
                <a16:creationId xmlns:a16="http://schemas.microsoft.com/office/drawing/2014/main" id="{CF916E9E-7FF4-471C-8C7E-95D738DE5947}"/>
              </a:ext>
            </a:extLst>
          </p:cNvPr>
          <p:cNvSpPr>
            <a:spLocks xmlns:a="http://schemas.openxmlformats.org/drawingml/2006/main" noGrp="1"/>
          </p:cNvSpPr>
          <p:nvPr/>
        </p:nvSpPr>
        <p:spPr>
          <a:xfrm xmlns:a="http://schemas.openxmlformats.org/drawingml/2006/main">
            <a:off x="9029700" y="1971675"/>
            <a:ext cx="28575" cy="2524125"/>
          </a:xfrm>
          <a:prstGeom xmlns:a="http://schemas.openxmlformats.org/drawingml/2006/main" prst="rect">
            <a:avLst/>
          </a:prstGeom>
          <a:solidFill xmlns:a="http://schemas.openxmlformats.org/drawingml/2006/main">
            <a:srgbClr val="CE704C"/>
          </a:solidFill>
          <a:ln xmlns:a="http://schemas.openxmlformats.org/drawingml/2006/main" w="0">
            <a:noFill/>
          </a:ln>
        </p:spPr>
      </p:sp>
      <p:sp>
        <p:nvSpPr>
          <p:cNvPr id="16" name="Chuỗi trên graph">
            <a:extLst xmlns:a="http://schemas.openxmlformats.org/drawingml/2006/main">
              <a:ext uri="{FF2B5EF4-FFF2-40B4-BE49-F238E27FC236}">
                <a16:creationId xmlns:a16="http://schemas.microsoft.com/office/drawing/2014/main" id="{D00AE12F-CB58-4D62-A13B-56B399C7F646}"/>
              </a:ext>
            </a:extLst>
          </p:cNvPr>
          <p:cNvSpPr>
            <a:spLocks xmlns:a="http://schemas.openxmlformats.org/drawingml/2006/main" noGrp="1"/>
          </p:cNvSpPr>
          <p:nvPr/>
        </p:nvSpPr>
        <p:spPr>
          <a:xfrm xmlns:a="http://schemas.openxmlformats.org/drawingml/2006/main">
            <a:off x="9210675" y="19621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E704C"/>
                </a:solidFill>
                <a:latin typeface="Arial"/>
                <a:ea typeface="Arial"/>
                <a:cs typeface="Arial"/>
              </a:defRPr>
            </a:defPPr>
          </a:lstStyle>
          <a:p xmlns:a="http://schemas.openxmlformats.org/drawingml/2006/main">
            <a:pPr>
              <a:defRPr sz="2325" b="1">
                <a:solidFill>
                  <a:srgbClr val="CE704C"/>
                </a:solidFill>
                <a:latin typeface="Arial"/>
                <a:ea typeface="Arial"/>
                <a:cs typeface="Arial"/>
              </a:defRPr>
            </a:pPr>
            <a:r>
              <a:rPr sz="2325" b="1">
                <a:solidFill>
                  <a:srgbClr val="CE704C"/>
                </a:solidFill>
                <a:latin typeface="Arial"/>
                <a:ea typeface="Arial"/>
                <a:cs typeface="Arial"/>
              </a:rPr>
              <a:t>Chuỗi trên graph</a:t>
            </a:r>
          </a:p>
        </p:txBody>
      </p:sp>
      <p:sp>
        <p:nvSpPr>
          <p:cNvPr id="17" name="dự báo tốc độ theo thời gian">
            <a:extLst xmlns:a="http://schemas.openxmlformats.org/drawingml/2006/main">
              <a:ext uri="{FF2B5EF4-FFF2-40B4-BE49-F238E27FC236}">
                <a16:creationId xmlns:a16="http://schemas.microsoft.com/office/drawing/2014/main" id="{26D04D3D-38EE-482F-AA64-BBC084EF8713}"/>
              </a:ext>
            </a:extLst>
          </p:cNvPr>
          <p:cNvSpPr>
            <a:spLocks xmlns:a="http://schemas.openxmlformats.org/drawingml/2006/main" noGrp="1"/>
          </p:cNvSpPr>
          <p:nvPr/>
        </p:nvSpPr>
        <p:spPr>
          <a:xfrm xmlns:a="http://schemas.openxmlformats.org/drawingml/2006/main">
            <a:off x="9210675" y="2724150"/>
            <a:ext cx="2390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dự báo tốc độ theo thời gian</a:t>
            </a:r>
          </a:p>
        </p:txBody>
      </p:sp>
      <p:sp>
        <p:nvSpPr>
          <p:cNvPr id="18" name="">
            <a:extLst xmlns:a="http://schemas.openxmlformats.org/drawingml/2006/main">
              <a:ext uri="{FF2B5EF4-FFF2-40B4-BE49-F238E27FC236}">
                <a16:creationId xmlns:a16="http://schemas.microsoft.com/office/drawing/2014/main" id="{94F28EC1-9A39-4560-A806-526DE0D540D7}"/>
              </a:ext>
            </a:extLst>
          </p:cNvPr>
          <p:cNvSpPr>
            <a:spLocks xmlns:a="http://schemas.openxmlformats.org/drawingml/2006/main" noGrp="1"/>
          </p:cNvSpPr>
          <p:nvPr/>
        </p:nvSpPr>
        <p:spPr>
          <a:xfrm xmlns:a="http://schemas.openxmlformats.org/drawingml/2006/main">
            <a:off x="609600" y="52387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9" name="Chọn đúng đơn vị dự đoán trước khi chọn loss">
            <a:extLst xmlns:a="http://schemas.openxmlformats.org/drawingml/2006/main">
              <a:ext uri="{FF2B5EF4-FFF2-40B4-BE49-F238E27FC236}">
                <a16:creationId xmlns:a16="http://schemas.microsoft.com/office/drawing/2014/main" id="{2F07687A-8B5F-4361-B6F8-35581512E5E7}"/>
              </a:ext>
            </a:extLst>
          </p:cNvPr>
          <p:cNvSpPr>
            <a:spLocks xmlns:a="http://schemas.openxmlformats.org/drawingml/2006/main" noGrp="1"/>
          </p:cNvSpPr>
          <p:nvPr/>
        </p:nvSpPr>
        <p:spPr>
          <a:xfrm xmlns:a="http://schemas.openxmlformats.org/drawingml/2006/main">
            <a:off x="609600" y="53721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Chọn đúng đơn vị dự đoán trước khi chọn loss và metric.</a:t>
            </a:r>
          </a:p>
        </p:txBody>
      </p:sp>
    </p:spTree>
    <p:extLst>
      <p:ext uri="{BB962C8B-B14F-4D97-AF65-F5344CB8AC3E}">
        <p14:creationId xmlns:p14="http://schemas.microsoft.com/office/powerpoint/2010/main" val="92798152"/>
      </p:ext>
    </p:extLst>
  </p:cSld>
</p:sld>
</file>

<file path=ppt/slides/slide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19ED7A6B-44B7-43F3-B43C-A98B19CA3E57}"/>
              </a:ext>
            </a:extLst>
          </p:cNvPr>
          <p:cNvCxnSpPr>
            <a:stCxn xmlns:a="http://schemas.openxmlformats.org/drawingml/2006/main" id="9" idx="5"/>
            <a:endCxn xmlns:a="http://schemas.openxmlformats.org/drawingml/2006/main" id="11" idx="1"/>
          </p:cNvCxnSpPr>
          <p:nvPr/>
        </p:nvCxnSpPr>
        <p:spPr>
          <a:xfrm xmlns:a="http://schemas.openxmlformats.org/drawingml/2006/main">
            <a:off x="3062062" y="3094447"/>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9D72602D-8F53-43FB-9915-AFE6A2819140}"/>
              </a:ext>
            </a:extLst>
          </p:cNvPr>
          <p:cNvCxnSpPr>
            <a:stCxn xmlns:a="http://schemas.openxmlformats.org/drawingml/2006/main" id="9" idx="7"/>
            <a:endCxn xmlns:a="http://schemas.openxmlformats.org/drawingml/2006/main" id="10" idx="3"/>
          </p:cNvCxnSpPr>
          <p:nvPr/>
        </p:nvCxnSpPr>
        <p:spPr>
          <a:xfrm xmlns:a="http://schemas.openxmlformats.org/drawingml/2006/main" flipV="1">
            <a:off x="3062062" y="2361022"/>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20C6A745-4E6A-48E5-8736-5193F47B48AD}"/>
              </a:ext>
            </a:extLst>
          </p:cNvPr>
          <p:cNvCxnSpPr>
            <a:stCxn xmlns:a="http://schemas.openxmlformats.org/drawingml/2006/main" id="8" idx="7"/>
            <a:endCxn xmlns:a="http://schemas.openxmlformats.org/drawingml/2006/main" id="9" idx="3"/>
          </p:cNvCxnSpPr>
          <p:nvPr/>
        </p:nvCxnSpPr>
        <p:spPr>
          <a:xfrm xmlns:a="http://schemas.openxmlformats.org/drawingml/2006/main" flipV="1">
            <a:off x="1998595" y="3094447"/>
            <a:ext cx="793790"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30AB17A0-447D-4492-BF59-CF4BB7C623FF}"/>
              </a:ext>
            </a:extLst>
          </p:cNvPr>
          <p:cNvCxnSpPr>
            <a:stCxn xmlns:a="http://schemas.openxmlformats.org/drawingml/2006/main" id="7" idx="5"/>
            <a:endCxn xmlns:a="http://schemas.openxmlformats.org/drawingml/2006/main" id="9" idx="1"/>
          </p:cNvCxnSpPr>
          <p:nvPr/>
        </p:nvCxnSpPr>
        <p:spPr>
          <a:xfrm xmlns:a="http://schemas.openxmlformats.org/drawingml/2006/main">
            <a:off x="1998595" y="2361022"/>
            <a:ext cx="793790"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281D47F3-D699-42AA-A6EA-8423340D7E8E}"/>
              </a:ext>
            </a:extLst>
          </p:cNvPr>
          <p:cNvCxnSpPr>
            <a:stCxn xmlns:a="http://schemas.openxmlformats.org/drawingml/2006/main" id="6" idx="5"/>
            <a:endCxn xmlns:a="http://schemas.openxmlformats.org/drawingml/2006/main" id="8" idx="1"/>
          </p:cNvCxnSpPr>
          <p:nvPr/>
        </p:nvCxnSpPr>
        <p:spPr>
          <a:xfrm xmlns:a="http://schemas.openxmlformats.org/drawingml/2006/main">
            <a:off x="1008472" y="3094447"/>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4E2683F7-78AC-4F10-9A69-50DEF341948A}"/>
              </a:ext>
            </a:extLst>
          </p:cNvPr>
          <p:cNvCxnSpPr>
            <a:stCxn xmlns:a="http://schemas.openxmlformats.org/drawingml/2006/main" id="6" idx="7"/>
            <a:endCxn xmlns:a="http://schemas.openxmlformats.org/drawingml/2006/main" id="7" idx="3"/>
          </p:cNvCxnSpPr>
          <p:nvPr/>
        </p:nvCxnSpPr>
        <p:spPr>
          <a:xfrm xmlns:a="http://schemas.openxmlformats.org/drawingml/2006/main" flipV="1">
            <a:off x="1008472" y="2361022"/>
            <a:ext cx="720446" cy="463748"/>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4" name="DEEP GRAPH  /  NGƯỜI 1">
            <a:extLst xmlns:a="http://schemas.openxmlformats.org/drawingml/2006/main">
              <a:ext uri="{FF2B5EF4-FFF2-40B4-BE49-F238E27FC236}">
                <a16:creationId xmlns:a16="http://schemas.microsoft.com/office/drawing/2014/main" id="{75CF47CA-6DFE-4433-8EEF-906BC4131AC2}"/>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91572E85-7FBF-4AF8-BE02-56BF1D82482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Message passing: các nút trao đổi tín hiệu</a:t>
            </a:r>
          </a:p>
        </p:txBody>
      </p:sp>
      <p:sp>
        <p:nvSpPr>
          <p:cNvPr id="3" name="">
            <a:extLst xmlns:a="http://schemas.openxmlformats.org/drawingml/2006/main">
              <a:ext uri="{FF2B5EF4-FFF2-40B4-BE49-F238E27FC236}">
                <a16:creationId xmlns:a16="http://schemas.microsoft.com/office/drawing/2014/main" id="{A4FFADF5-2C1B-4359-B3F0-5E14CFEC946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85 giây">
            <a:extLst xmlns:a="http://schemas.openxmlformats.org/drawingml/2006/main">
              <a:ext uri="{FF2B5EF4-FFF2-40B4-BE49-F238E27FC236}">
                <a16:creationId xmlns:a16="http://schemas.microsoft.com/office/drawing/2014/main" id="{BE70BC4D-1128-49DF-976D-468D4893816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85 giây</a:t>
            </a:r>
          </a:p>
        </p:txBody>
      </p:sp>
      <p:sp>
        <p:nvSpPr>
          <p:cNvPr id="5" name="06 / 32">
            <a:extLst xmlns:a="http://schemas.openxmlformats.org/drawingml/2006/main">
              <a:ext uri="{FF2B5EF4-FFF2-40B4-BE49-F238E27FC236}">
                <a16:creationId xmlns:a16="http://schemas.microsoft.com/office/drawing/2014/main" id="{71269DC9-5598-4D89-80FF-AB908596B023}"/>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06 / 32</a:t>
            </a:r>
          </a:p>
        </p:txBody>
      </p:sp>
      <p:sp>
        <p:nvSpPr>
          <p:cNvPr id="6" name="">
            <a:extLst xmlns:a="http://schemas.openxmlformats.org/drawingml/2006/main">
              <a:ext uri="{FF2B5EF4-FFF2-40B4-BE49-F238E27FC236}">
                <a16:creationId xmlns:a16="http://schemas.microsoft.com/office/drawing/2014/main" id="{2218A9BC-E6AD-45A1-AF50-275E190014D5}"/>
              </a:ext>
            </a:extLst>
          </p:cNvPr>
          <p:cNvSpPr>
            <a:spLocks xmlns:a="http://schemas.openxmlformats.org/drawingml/2006/main" noGrp="1"/>
          </p:cNvSpPr>
          <p:nvPr/>
        </p:nvSpPr>
        <p:spPr>
          <a:xfrm xmlns:a="http://schemas.openxmlformats.org/drawingml/2006/main">
            <a:off x="682943" y="2768918"/>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36231E0-2BE3-4835-86D9-5A5D7E7FB887}"/>
              </a:ext>
            </a:extLst>
          </p:cNvPr>
          <p:cNvSpPr>
            <a:spLocks xmlns:a="http://schemas.openxmlformats.org/drawingml/2006/main" noGrp="1"/>
          </p:cNvSpPr>
          <p:nvPr/>
        </p:nvSpPr>
        <p:spPr>
          <a:xfrm xmlns:a="http://schemas.openxmlformats.org/drawingml/2006/main">
            <a:off x="1673066" y="2035493"/>
            <a:ext cx="381381" cy="381381"/>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5A4F123-FC48-4CA2-9B0D-60D40E826727}"/>
              </a:ext>
            </a:extLst>
          </p:cNvPr>
          <p:cNvSpPr>
            <a:spLocks xmlns:a="http://schemas.openxmlformats.org/drawingml/2006/main" noGrp="1"/>
          </p:cNvSpPr>
          <p:nvPr/>
        </p:nvSpPr>
        <p:spPr>
          <a:xfrm xmlns:a="http://schemas.openxmlformats.org/drawingml/2006/main">
            <a:off x="1673066" y="3502343"/>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50A1C1E-2D3E-42D9-823D-71E381F3F30B}"/>
              </a:ext>
            </a:extLst>
          </p:cNvPr>
          <p:cNvSpPr>
            <a:spLocks xmlns:a="http://schemas.openxmlformats.org/drawingml/2006/main" noGrp="1"/>
          </p:cNvSpPr>
          <p:nvPr/>
        </p:nvSpPr>
        <p:spPr>
          <a:xfrm xmlns:a="http://schemas.openxmlformats.org/drawingml/2006/main">
            <a:off x="2736533" y="2768918"/>
            <a:ext cx="381381" cy="381381"/>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DDAEE3F-EBCD-44CA-9130-8137E1A44040}"/>
              </a:ext>
            </a:extLst>
          </p:cNvPr>
          <p:cNvSpPr>
            <a:spLocks xmlns:a="http://schemas.openxmlformats.org/drawingml/2006/main" noGrp="1"/>
          </p:cNvSpPr>
          <p:nvPr/>
        </p:nvSpPr>
        <p:spPr>
          <a:xfrm xmlns:a="http://schemas.openxmlformats.org/drawingml/2006/main">
            <a:off x="3726656" y="2035493"/>
            <a:ext cx="381381" cy="381381"/>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9ECC38E-1758-4038-8828-FC610563EFC2}"/>
              </a:ext>
            </a:extLst>
          </p:cNvPr>
          <p:cNvSpPr>
            <a:spLocks xmlns:a="http://schemas.openxmlformats.org/drawingml/2006/main" noGrp="1"/>
          </p:cNvSpPr>
          <p:nvPr/>
        </p:nvSpPr>
        <p:spPr>
          <a:xfrm xmlns:a="http://schemas.openxmlformats.org/drawingml/2006/main">
            <a:off x="3726656" y="3502343"/>
            <a:ext cx="381381" cy="381381"/>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FE1DDC38-C1F7-4874-A689-64D834C8439A}"/>
              </a:ext>
            </a:extLst>
          </p:cNvPr>
          <p:cNvSpPr>
            <a:spLocks xmlns:a="http://schemas.openxmlformats.org/drawingml/2006/main" noGrp="1"/>
          </p:cNvSpPr>
          <p:nvPr/>
        </p:nvSpPr>
        <p:spPr>
          <a:xfrm xmlns:a="http://schemas.openxmlformats.org/drawingml/2006/main">
            <a:off x="682943" y="2856929"/>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B7051E5E-F147-42CD-837C-ED07B21B3F1B}"/>
              </a:ext>
            </a:extLst>
          </p:cNvPr>
          <p:cNvSpPr>
            <a:spLocks xmlns:a="http://schemas.openxmlformats.org/drawingml/2006/main" noGrp="1"/>
          </p:cNvSpPr>
          <p:nvPr/>
        </p:nvSpPr>
        <p:spPr>
          <a:xfrm xmlns:a="http://schemas.openxmlformats.org/drawingml/2006/main">
            <a:off x="1673066" y="212350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FE3F5348-28A6-4BEB-A5E4-46286D3B2AE5}"/>
              </a:ext>
            </a:extLst>
          </p:cNvPr>
          <p:cNvSpPr>
            <a:spLocks xmlns:a="http://schemas.openxmlformats.org/drawingml/2006/main" noGrp="1"/>
          </p:cNvSpPr>
          <p:nvPr/>
        </p:nvSpPr>
        <p:spPr>
          <a:xfrm xmlns:a="http://schemas.openxmlformats.org/drawingml/2006/main">
            <a:off x="1673066" y="359035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AEF70D49-0EC8-46D2-8408-7FB2F8CF9437}"/>
              </a:ext>
            </a:extLst>
          </p:cNvPr>
          <p:cNvSpPr>
            <a:spLocks xmlns:a="http://schemas.openxmlformats.org/drawingml/2006/main" noGrp="1"/>
          </p:cNvSpPr>
          <p:nvPr/>
        </p:nvSpPr>
        <p:spPr>
          <a:xfrm xmlns:a="http://schemas.openxmlformats.org/drawingml/2006/main">
            <a:off x="2736533" y="2856929"/>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07500C8A-AA61-4BEE-A046-BE58EFC0415C}"/>
              </a:ext>
            </a:extLst>
          </p:cNvPr>
          <p:cNvSpPr>
            <a:spLocks xmlns:a="http://schemas.openxmlformats.org/drawingml/2006/main" noGrp="1"/>
          </p:cNvSpPr>
          <p:nvPr/>
        </p:nvSpPr>
        <p:spPr>
          <a:xfrm xmlns:a="http://schemas.openxmlformats.org/drawingml/2006/main">
            <a:off x="3726656" y="212350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3DF70D6D-E92F-456A-9E57-FE6CD90E1FF6}"/>
              </a:ext>
            </a:extLst>
          </p:cNvPr>
          <p:cNvSpPr>
            <a:spLocks xmlns:a="http://schemas.openxmlformats.org/drawingml/2006/main" noGrp="1"/>
          </p:cNvSpPr>
          <p:nvPr/>
        </p:nvSpPr>
        <p:spPr>
          <a:xfrm xmlns:a="http://schemas.openxmlformats.org/drawingml/2006/main">
            <a:off x="3726656" y="3590354"/>
            <a:ext cx="381381" cy="1833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97" b="1">
                <a:solidFill>
                  <a:srgbClr val="FFFFFF"/>
                </a:solidFill>
                <a:latin typeface="Arial"/>
                <a:ea typeface="Arial"/>
                <a:cs typeface="Arial"/>
              </a:defRPr>
            </a:defPPr>
          </a:lstStyle>
          <a:p xmlns:a="http://schemas.openxmlformats.org/drawingml/2006/main">
            <a:pPr algn="ctr">
              <a:defRPr sz="1097" b="1">
                <a:solidFill>
                  <a:srgbClr val="FFFFFF"/>
                </a:solidFill>
                <a:latin typeface="Arial"/>
                <a:ea typeface="Arial"/>
                <a:cs typeface="Arial"/>
              </a:defRPr>
            </a:pPr>
            <a:r>
              <a:rPr sz="1097" b="1">
                <a:solidFill>
                  <a:srgbClr val="FFFFFF"/>
                </a:solidFill>
                <a:latin typeface="Arial"/>
                <a:ea typeface="Arial"/>
                <a:cs typeface="Arial"/>
              </a:rPr>
              <a:t>F</a:t>
            </a:r>
          </a:p>
        </p:txBody>
      </p:sp>
      <p:sp>
        <p:nvSpPr>
          <p:cNvPr id="24" name="">
            <a:extLst xmlns:a="http://schemas.openxmlformats.org/drawingml/2006/main">
              <a:ext uri="{FF2B5EF4-FFF2-40B4-BE49-F238E27FC236}">
                <a16:creationId xmlns:a16="http://schemas.microsoft.com/office/drawing/2014/main" id="{AEAF9DB8-610D-4DCF-BEBC-5F6C796872D5}"/>
              </a:ext>
            </a:extLst>
          </p:cNvPr>
          <p:cNvSpPr>
            <a:spLocks xmlns:a="http://schemas.openxmlformats.org/drawingml/2006/main" noGrp="1"/>
          </p:cNvSpPr>
          <p:nvPr/>
        </p:nvSpPr>
        <p:spPr>
          <a:xfrm xmlns:a="http://schemas.openxmlformats.org/drawingml/2006/main">
            <a:off x="5762625"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5" name="Mỗi nút gửi thông tin đang có">
            <a:extLst xmlns:a="http://schemas.openxmlformats.org/drawingml/2006/main">
              <a:ext uri="{FF2B5EF4-FFF2-40B4-BE49-F238E27FC236}">
                <a16:creationId xmlns:a16="http://schemas.microsoft.com/office/drawing/2014/main" id="{703F590A-5900-4478-A03B-50D59EE2FA5C}"/>
              </a:ext>
            </a:extLst>
          </p:cNvPr>
          <p:cNvSpPr>
            <a:spLocks xmlns:a="http://schemas.openxmlformats.org/drawingml/2006/main" noGrp="1"/>
          </p:cNvSpPr>
          <p:nvPr/>
        </p:nvSpPr>
        <p:spPr>
          <a:xfrm xmlns:a="http://schemas.openxmlformats.org/drawingml/2006/main">
            <a:off x="6019800" y="18669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Mỗi nút gửi thông tin đang có</a:t>
            </a:r>
          </a:p>
        </p:txBody>
      </p:sp>
      <p:sp>
        <p:nvSpPr>
          <p:cNvPr id="26" name="">
            <a:extLst xmlns:a="http://schemas.openxmlformats.org/drawingml/2006/main">
              <a:ext uri="{FF2B5EF4-FFF2-40B4-BE49-F238E27FC236}">
                <a16:creationId xmlns:a16="http://schemas.microsoft.com/office/drawing/2014/main" id="{83DAEB9B-A047-4AFB-B793-3BB46289BB38}"/>
              </a:ext>
            </a:extLst>
          </p:cNvPr>
          <p:cNvSpPr>
            <a:spLocks xmlns:a="http://schemas.openxmlformats.org/drawingml/2006/main" noGrp="1"/>
          </p:cNvSpPr>
          <p:nvPr/>
        </p:nvSpPr>
        <p:spPr>
          <a:xfrm xmlns:a="http://schemas.openxmlformats.org/drawingml/2006/main">
            <a:off x="5762625" y="2838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Nút nhận tổng hợp các hàng xóm">
            <a:extLst xmlns:a="http://schemas.openxmlformats.org/drawingml/2006/main">
              <a:ext uri="{FF2B5EF4-FFF2-40B4-BE49-F238E27FC236}">
                <a16:creationId xmlns:a16="http://schemas.microsoft.com/office/drawing/2014/main" id="{BB5E1051-37FA-4BE3-BE52-A23E2F6205F4}"/>
              </a:ext>
            </a:extLst>
          </p:cNvPr>
          <p:cNvSpPr>
            <a:spLocks xmlns:a="http://schemas.openxmlformats.org/drawingml/2006/main" noGrp="1"/>
          </p:cNvSpPr>
          <p:nvPr/>
        </p:nvSpPr>
        <p:spPr>
          <a:xfrm xmlns:a="http://schemas.openxmlformats.org/drawingml/2006/main">
            <a:off x="6019800" y="27432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Nút nhận tổng hợp các hàng xóm</a:t>
            </a:r>
          </a:p>
        </p:txBody>
      </p:sp>
      <p:sp>
        <p:nvSpPr>
          <p:cNvPr id="28" name="">
            <a:extLst xmlns:a="http://schemas.openxmlformats.org/drawingml/2006/main">
              <a:ext uri="{FF2B5EF4-FFF2-40B4-BE49-F238E27FC236}">
                <a16:creationId xmlns:a16="http://schemas.microsoft.com/office/drawing/2014/main" id="{37D9173A-9483-4142-AB19-CCEFF891FDB7}"/>
              </a:ext>
            </a:extLst>
          </p:cNvPr>
          <p:cNvSpPr>
            <a:spLocks xmlns:a="http://schemas.openxmlformats.org/drawingml/2006/main" noGrp="1"/>
          </p:cNvSpPr>
          <p:nvPr/>
        </p:nvSpPr>
        <p:spPr>
          <a:xfrm xmlns:a="http://schemas.openxmlformats.org/drawingml/2006/main">
            <a:off x="5762625" y="37147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Lớp neural cập nhật biểu diễn mới">
            <a:extLst xmlns:a="http://schemas.openxmlformats.org/drawingml/2006/main">
              <a:ext uri="{FF2B5EF4-FFF2-40B4-BE49-F238E27FC236}">
                <a16:creationId xmlns:a16="http://schemas.microsoft.com/office/drawing/2014/main" id="{E1D1DBF4-5534-44D7-BB95-472D207D7A6E}"/>
              </a:ext>
            </a:extLst>
          </p:cNvPr>
          <p:cNvSpPr>
            <a:spLocks xmlns:a="http://schemas.openxmlformats.org/drawingml/2006/main" noGrp="1"/>
          </p:cNvSpPr>
          <p:nvPr/>
        </p:nvSpPr>
        <p:spPr>
          <a:xfrm xmlns:a="http://schemas.openxmlformats.org/drawingml/2006/main">
            <a:off x="6019800" y="36195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Lớp neural cập nhật biểu diễn mới</a:t>
            </a:r>
          </a:p>
        </p:txBody>
      </p:sp>
      <p:sp>
        <p:nvSpPr>
          <p:cNvPr id="30" name="">
            <a:extLst xmlns:a="http://schemas.openxmlformats.org/drawingml/2006/main">
              <a:ext uri="{FF2B5EF4-FFF2-40B4-BE49-F238E27FC236}">
                <a16:creationId xmlns:a16="http://schemas.microsoft.com/office/drawing/2014/main" id="{DD102808-23EF-4261-A9A7-97B65334736C}"/>
              </a:ext>
            </a:extLst>
          </p:cNvPr>
          <p:cNvSpPr>
            <a:spLocks xmlns:a="http://schemas.openxmlformats.org/drawingml/2006/main" noGrp="1"/>
          </p:cNvSpPr>
          <p:nvPr/>
        </p:nvSpPr>
        <p:spPr>
          <a:xfrm xmlns:a="http://schemas.openxmlformats.org/drawingml/2006/main">
            <a:off x="5762625" y="45910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Nhiều lớp mở rộng vùng ảnh hưởng">
            <a:extLst xmlns:a="http://schemas.openxmlformats.org/drawingml/2006/main">
              <a:ext uri="{FF2B5EF4-FFF2-40B4-BE49-F238E27FC236}">
                <a16:creationId xmlns:a16="http://schemas.microsoft.com/office/drawing/2014/main" id="{ECD535BA-0D37-4995-9AAC-04FC29371ADA}"/>
              </a:ext>
            </a:extLst>
          </p:cNvPr>
          <p:cNvSpPr>
            <a:spLocks xmlns:a="http://schemas.openxmlformats.org/drawingml/2006/main" noGrp="1"/>
          </p:cNvSpPr>
          <p:nvPr/>
        </p:nvSpPr>
        <p:spPr>
          <a:xfrm xmlns:a="http://schemas.openxmlformats.org/drawingml/2006/main">
            <a:off x="6019800" y="4495800"/>
            <a:ext cx="55435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Nhiều lớp mở rộng vùng ảnh hưởng</a:t>
            </a:r>
          </a:p>
        </p:txBody>
      </p:sp>
      <p:sp>
        <p:nvSpPr>
          <p:cNvPr id="32" name="">
            <a:extLst xmlns:a="http://schemas.openxmlformats.org/drawingml/2006/main">
              <a:ext uri="{FF2B5EF4-FFF2-40B4-BE49-F238E27FC236}">
                <a16:creationId xmlns:a16="http://schemas.microsoft.com/office/drawing/2014/main" id="{8407780E-D69C-46E8-A8B9-B0940A748EB4}"/>
              </a:ext>
            </a:extLst>
          </p:cNvPr>
          <p:cNvSpPr>
            <a:spLocks xmlns:a="http://schemas.openxmlformats.org/drawingml/2006/main" noGrp="1"/>
          </p:cNvSpPr>
          <p:nvPr/>
        </p:nvSpPr>
        <p:spPr>
          <a:xfrm xmlns:a="http://schemas.openxmlformats.org/drawingml/2006/main">
            <a:off x="609600" y="53530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33" name="Gửi thông điệp → tổng hợp → cập nhật biểu di">
            <a:extLst xmlns:a="http://schemas.openxmlformats.org/drawingml/2006/main">
              <a:ext uri="{FF2B5EF4-FFF2-40B4-BE49-F238E27FC236}">
                <a16:creationId xmlns:a16="http://schemas.microsoft.com/office/drawing/2014/main" id="{ED120B39-46CB-4A86-A8B8-AEC8D0D26740}"/>
              </a:ext>
            </a:extLst>
          </p:cNvPr>
          <p:cNvSpPr>
            <a:spLocks xmlns:a="http://schemas.openxmlformats.org/drawingml/2006/main" noGrp="1"/>
          </p:cNvSpPr>
          <p:nvPr/>
        </p:nvSpPr>
        <p:spPr>
          <a:xfrm xmlns:a="http://schemas.openxmlformats.org/drawingml/2006/main">
            <a:off x="609600" y="5486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Gửi thông điệp → tổng hợp → cập nhật biểu diễn</a:t>
            </a:r>
          </a:p>
        </p:txBody>
      </p:sp>
    </p:spTree>
    <p:extLst>
      <p:ext uri="{BB962C8B-B14F-4D97-AF65-F5344CB8AC3E}">
        <p14:creationId xmlns:p14="http://schemas.microsoft.com/office/powerpoint/2010/main" val="525338778"/>
      </p:ext>
    </p:extLst>
  </p:cSld>
</p:sld>
</file>

<file path=ppt/slides/slide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3" name="DEEP GRAPH  /  NGƯỜI 1">
            <a:extLst xmlns:a="http://schemas.openxmlformats.org/drawingml/2006/main">
              <a:ext uri="{FF2B5EF4-FFF2-40B4-BE49-F238E27FC236}">
                <a16:creationId xmlns:a16="http://schemas.microsoft.com/office/drawing/2014/main" id="{E5DC00A7-9F23-4FA5-8E07-995DE196CF9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33E12697-151F-4424-914E-4D0466E2B1B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GNN mở rộng trực giác cục bộ của CNN</a:t>
            </a:r>
          </a:p>
        </p:txBody>
      </p:sp>
      <p:sp>
        <p:nvSpPr>
          <p:cNvPr id="3" name="">
            <a:extLst xmlns:a="http://schemas.openxmlformats.org/drawingml/2006/main">
              <a:ext uri="{FF2B5EF4-FFF2-40B4-BE49-F238E27FC236}">
                <a16:creationId xmlns:a16="http://schemas.microsoft.com/office/drawing/2014/main" id="{D0C09539-7A25-4924-A7D1-6DF99397A88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75 giây">
            <a:extLst xmlns:a="http://schemas.openxmlformats.org/drawingml/2006/main">
              <a:ext uri="{FF2B5EF4-FFF2-40B4-BE49-F238E27FC236}">
                <a16:creationId xmlns:a16="http://schemas.microsoft.com/office/drawing/2014/main" id="{5AD8CF4A-3B97-465A-978F-705C4759067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75 giây</a:t>
            </a:r>
          </a:p>
        </p:txBody>
      </p:sp>
      <p:sp>
        <p:nvSpPr>
          <p:cNvPr id="5" name="07 / 32">
            <a:extLst xmlns:a="http://schemas.openxmlformats.org/drawingml/2006/main">
              <a:ext uri="{FF2B5EF4-FFF2-40B4-BE49-F238E27FC236}">
                <a16:creationId xmlns:a16="http://schemas.microsoft.com/office/drawing/2014/main" id="{6138FBA6-3329-4F8C-9713-BDEAC0364FD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07 / 32</a:t>
            </a:r>
          </a:p>
        </p:txBody>
      </p:sp>
      <p:sp>
        <p:nvSpPr>
          <p:cNvPr id="6" name="CNN">
            <a:extLst xmlns:a="http://schemas.openxmlformats.org/drawingml/2006/main">
              <a:ext uri="{FF2B5EF4-FFF2-40B4-BE49-F238E27FC236}">
                <a16:creationId xmlns:a16="http://schemas.microsoft.com/office/drawing/2014/main" id="{FCFA2E9B-2F8D-4B0B-9F14-9244CCF2C1E0}"/>
              </a:ext>
            </a:extLst>
          </p:cNvPr>
          <p:cNvSpPr>
            <a:spLocks xmlns:a="http://schemas.openxmlformats.org/drawingml/2006/main" noGrp="1"/>
          </p:cNvSpPr>
          <p:nvPr/>
        </p:nvSpPr>
        <p:spPr>
          <a:xfrm xmlns:a="http://schemas.openxmlformats.org/drawingml/2006/main">
            <a:off x="876300" y="18478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E73"/>
                </a:solidFill>
                <a:latin typeface="Arial"/>
                <a:ea typeface="Arial"/>
                <a:cs typeface="Arial"/>
              </a:defRPr>
            </a:defPPr>
          </a:lstStyle>
          <a:p xmlns:a="http://schemas.openxmlformats.org/drawingml/2006/main">
            <a:pPr>
              <a:defRPr sz="2700" b="1">
                <a:solidFill>
                  <a:srgbClr val="087E73"/>
                </a:solidFill>
                <a:latin typeface="Arial"/>
                <a:ea typeface="Arial"/>
                <a:cs typeface="Arial"/>
              </a:defRPr>
            </a:pPr>
            <a:r>
              <a:rPr sz="2700" b="1">
                <a:solidFill>
                  <a:srgbClr val="087E73"/>
                </a:solidFill>
                <a:latin typeface="Arial"/>
                <a:ea typeface="Arial"/>
                <a:cs typeface="Arial"/>
              </a:rPr>
              <a:t>CNN</a:t>
            </a:r>
          </a:p>
        </p:txBody>
      </p:sp>
      <p:sp>
        <p:nvSpPr>
          <p:cNvPr id="7" name="Lưới pixel&#10;Vùng lân cận cố định&#10;Bộ lọc dùng ">
            <a:extLst xmlns:a="http://schemas.openxmlformats.org/drawingml/2006/main">
              <a:ext uri="{FF2B5EF4-FFF2-40B4-BE49-F238E27FC236}">
                <a16:creationId xmlns:a16="http://schemas.microsoft.com/office/drawing/2014/main" id="{D2460C92-A7F1-4930-B19A-4E86526EF4D9}"/>
              </a:ext>
            </a:extLst>
          </p:cNvPr>
          <p:cNvSpPr>
            <a:spLocks xmlns:a="http://schemas.openxmlformats.org/drawingml/2006/main" noGrp="1"/>
          </p:cNvSpPr>
          <p:nvPr/>
        </p:nvSpPr>
        <p:spPr>
          <a:xfrm xmlns:a="http://schemas.openxmlformats.org/drawingml/2006/main">
            <a:off x="876300" y="2619375"/>
            <a:ext cx="4381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Lưới pixel</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Vùng lân cận cố định</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Bộ lọc dùng chung</a:t>
            </a:r>
          </a:p>
        </p:txBody>
      </p:sp>
      <p:sp>
        <p:nvSpPr>
          <p:cNvPr id="8" name="→">
            <a:extLst xmlns:a="http://schemas.openxmlformats.org/drawingml/2006/main">
              <a:ext uri="{FF2B5EF4-FFF2-40B4-BE49-F238E27FC236}">
                <a16:creationId xmlns:a16="http://schemas.microsoft.com/office/drawing/2014/main" id="{6F92C7B8-FD92-455B-AF29-8BEAF43A9391}"/>
              </a:ext>
            </a:extLst>
          </p:cNvPr>
          <p:cNvSpPr>
            <a:spLocks xmlns:a="http://schemas.openxmlformats.org/drawingml/2006/main" noGrp="1"/>
          </p:cNvSpPr>
          <p:nvPr/>
        </p:nvSpPr>
        <p:spPr>
          <a:xfrm xmlns:a="http://schemas.openxmlformats.org/drawingml/2006/main">
            <a:off x="5495925" y="2819400"/>
            <a:ext cx="95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900" b="1">
                <a:solidFill>
                  <a:srgbClr val="BE7B2F"/>
                </a:solidFill>
                <a:latin typeface="Arial"/>
                <a:ea typeface="Arial"/>
                <a:cs typeface="Arial"/>
              </a:defRPr>
            </a:defPPr>
          </a:lstStyle>
          <a:p xmlns:a="http://schemas.openxmlformats.org/drawingml/2006/main">
            <a:pPr algn="ctr">
              <a:defRPr sz="3900" b="1">
                <a:solidFill>
                  <a:srgbClr val="BE7B2F"/>
                </a:solidFill>
                <a:latin typeface="Arial"/>
                <a:ea typeface="Arial"/>
                <a:cs typeface="Arial"/>
              </a:defRPr>
            </a:pPr>
            <a:r>
              <a:rPr sz="3900" b="1">
                <a:solidFill>
                  <a:srgbClr val="BE7B2F"/>
                </a:solidFill>
                <a:latin typeface="Arial"/>
                <a:ea typeface="Arial"/>
                <a:cs typeface="Arial"/>
              </a:rPr>
              <a:t>→</a:t>
            </a:r>
          </a:p>
        </p:txBody>
      </p:sp>
      <p:sp>
        <p:nvSpPr>
          <p:cNvPr id="9" name="GNN">
            <a:extLst xmlns:a="http://schemas.openxmlformats.org/drawingml/2006/main">
              <a:ext uri="{FF2B5EF4-FFF2-40B4-BE49-F238E27FC236}">
                <a16:creationId xmlns:a16="http://schemas.microsoft.com/office/drawing/2014/main" id="{2BE2D901-D208-436B-AD17-30DCDBE36704}"/>
              </a:ext>
            </a:extLst>
          </p:cNvPr>
          <p:cNvSpPr>
            <a:spLocks xmlns:a="http://schemas.openxmlformats.org/drawingml/2006/main" noGrp="1"/>
          </p:cNvSpPr>
          <p:nvPr/>
        </p:nvSpPr>
        <p:spPr>
          <a:xfrm xmlns:a="http://schemas.openxmlformats.org/drawingml/2006/main">
            <a:off x="6934200" y="18478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E73"/>
                </a:solidFill>
                <a:latin typeface="Arial"/>
                <a:ea typeface="Arial"/>
                <a:cs typeface="Arial"/>
              </a:defRPr>
            </a:defPPr>
          </a:lstStyle>
          <a:p xmlns:a="http://schemas.openxmlformats.org/drawingml/2006/main">
            <a:pPr>
              <a:defRPr sz="2700" b="1">
                <a:solidFill>
                  <a:srgbClr val="087E73"/>
                </a:solidFill>
                <a:latin typeface="Arial"/>
                <a:ea typeface="Arial"/>
                <a:cs typeface="Arial"/>
              </a:defRPr>
            </a:pPr>
            <a:r>
              <a:rPr sz="2700" b="1">
                <a:solidFill>
                  <a:srgbClr val="087E73"/>
                </a:solidFill>
                <a:latin typeface="Arial"/>
                <a:ea typeface="Arial"/>
                <a:cs typeface="Arial"/>
              </a:rPr>
              <a:t>GNN</a:t>
            </a:r>
          </a:p>
        </p:txBody>
      </p:sp>
      <p:sp>
        <p:nvSpPr>
          <p:cNvPr id="10" name="Nút và cạnh&#10;Số hàng xóm thay đổi&#10;Quy tắc cập">
            <a:extLst xmlns:a="http://schemas.openxmlformats.org/drawingml/2006/main">
              <a:ext uri="{FF2B5EF4-FFF2-40B4-BE49-F238E27FC236}">
                <a16:creationId xmlns:a16="http://schemas.microsoft.com/office/drawing/2014/main" id="{5D2876D4-ED09-47A7-B452-127C14D012F6}"/>
              </a:ext>
            </a:extLst>
          </p:cNvPr>
          <p:cNvSpPr>
            <a:spLocks xmlns:a="http://schemas.openxmlformats.org/drawingml/2006/main" noGrp="1"/>
          </p:cNvSpPr>
          <p:nvPr/>
        </p:nvSpPr>
        <p:spPr>
          <a:xfrm xmlns:a="http://schemas.openxmlformats.org/drawingml/2006/main">
            <a:off x="6934200" y="2619375"/>
            <a:ext cx="45243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a:solidFill>
                  <a:srgbClr val="163B3B"/>
                </a:solidFill>
                <a:latin typeface="Arial"/>
                <a:ea typeface="Arial"/>
                <a:cs typeface="Arial"/>
              </a:defRPr>
            </a:defPPr>
          </a:lstStyle>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Nút và cạnh</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Số hàng xóm thay đổi</a:t>
            </a:r>
          </a:p>
          <a:p xmlns:a="http://schemas.openxmlformats.org/drawingml/2006/main">
            <a:pPr>
              <a:defRPr sz="2325">
                <a:solidFill>
                  <a:srgbClr val="163B3B"/>
                </a:solidFill>
                <a:latin typeface="Arial"/>
                <a:ea typeface="Arial"/>
                <a:cs typeface="Arial"/>
              </a:defRPr>
            </a:pPr>
            <a:r>
              <a:rPr sz="2325">
                <a:solidFill>
                  <a:srgbClr val="163B3B"/>
                </a:solidFill>
                <a:latin typeface="Arial"/>
                <a:ea typeface="Arial"/>
                <a:cs typeface="Arial"/>
              </a:rPr>
              <a:t>Quy tắc cập nhật dùng chung</a:t>
            </a:r>
          </a:p>
        </p:txBody>
      </p:sp>
      <p:sp>
        <p:nvSpPr>
          <p:cNvPr id="11" name="">
            <a:extLst xmlns:a="http://schemas.openxmlformats.org/drawingml/2006/main">
              <a:ext uri="{FF2B5EF4-FFF2-40B4-BE49-F238E27FC236}">
                <a16:creationId xmlns:a16="http://schemas.microsoft.com/office/drawing/2014/main" id="{506C6CFC-FDCA-495B-B7EA-29D740262875}"/>
              </a:ext>
            </a:extLst>
          </p:cNvPr>
          <p:cNvSpPr>
            <a:spLocks xmlns:a="http://schemas.openxmlformats.org/drawingml/2006/main" noGrp="1"/>
          </p:cNvSpPr>
          <p:nvPr/>
        </p:nvSpPr>
        <p:spPr>
          <a:xfrm xmlns:a="http://schemas.openxmlformats.org/drawingml/2006/main">
            <a:off x="609600" y="52197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2" name="CNN dùng vùng lân cận trên lưới; GNN dùng hà">
            <a:extLst xmlns:a="http://schemas.openxmlformats.org/drawingml/2006/main">
              <a:ext uri="{FF2B5EF4-FFF2-40B4-BE49-F238E27FC236}">
                <a16:creationId xmlns:a16="http://schemas.microsoft.com/office/drawing/2014/main" id="{F978E735-3EC4-459F-82F9-29AE871F63B2}"/>
              </a:ext>
            </a:extLst>
          </p:cNvPr>
          <p:cNvSpPr>
            <a:spLocks xmlns:a="http://schemas.openxmlformats.org/drawingml/2006/main" noGrp="1"/>
          </p:cNvSpPr>
          <p:nvPr/>
        </p:nvSpPr>
        <p:spPr>
          <a:xfrm xmlns:a="http://schemas.openxmlformats.org/drawingml/2006/main">
            <a:off x="609600" y="535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CNN dùng vùng lân cận trên lưới; GNN dùng hàng xóm theo cạnh</a:t>
            </a:r>
          </a:p>
        </p:txBody>
      </p:sp>
    </p:spTree>
    <p:extLst>
      <p:ext uri="{BB962C8B-B14F-4D97-AF65-F5344CB8AC3E}">
        <p14:creationId xmlns:p14="http://schemas.microsoft.com/office/powerpoint/2010/main" val="2022807491"/>
      </p:ext>
    </p:extLst>
  </p:cSld>
</p:sld>
</file>

<file path=ppt/slides/slide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1">
            <a:extLst xmlns:a="http://schemas.openxmlformats.org/drawingml/2006/main">
              <a:ext uri="{FF2B5EF4-FFF2-40B4-BE49-F238E27FC236}">
                <a16:creationId xmlns:a16="http://schemas.microsoft.com/office/drawing/2014/main" id="{8A3F5735-2A33-4F46-81B6-3A231919A31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1</a:t>
            </a:r>
          </a:p>
        </p:txBody>
      </p:sp>
      <p:sp>
        <p:nvSpPr>
          <p:cNvPr id="2" name="slide-title">
            <a:extLst xmlns:a="http://schemas.openxmlformats.org/drawingml/2006/main">
              <a:ext uri="{FF2B5EF4-FFF2-40B4-BE49-F238E27FC236}">
                <a16:creationId xmlns:a16="http://schemas.microsoft.com/office/drawing/2014/main" id="{180007D7-A63E-4F59-8F1A-88B816DB61B0}"/>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hữu ích khi quan hệ bổ sung thông tin</a:t>
            </a:r>
          </a:p>
        </p:txBody>
      </p:sp>
      <p:sp>
        <p:nvSpPr>
          <p:cNvPr id="3" name="">
            <a:extLst xmlns:a="http://schemas.openxmlformats.org/drawingml/2006/main">
              <a:ext uri="{FF2B5EF4-FFF2-40B4-BE49-F238E27FC236}">
                <a16:creationId xmlns:a16="http://schemas.microsoft.com/office/drawing/2014/main" id="{7DF16C30-FE05-4300-8B81-7B85384AF37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1 · Nền tảng graph  ·  85 giây">
            <a:extLst xmlns:a="http://schemas.openxmlformats.org/drawingml/2006/main">
              <a:ext uri="{FF2B5EF4-FFF2-40B4-BE49-F238E27FC236}">
                <a16:creationId xmlns:a16="http://schemas.microsoft.com/office/drawing/2014/main" id="{16AE438D-F72F-4D44-B659-71590BD8EBE8}"/>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1 · Nền tảng graph  ·  85 giây</a:t>
            </a:r>
          </a:p>
        </p:txBody>
      </p:sp>
      <p:sp>
        <p:nvSpPr>
          <p:cNvPr id="5" name="08 / 32">
            <a:extLst xmlns:a="http://schemas.openxmlformats.org/drawingml/2006/main">
              <a:ext uri="{FF2B5EF4-FFF2-40B4-BE49-F238E27FC236}">
                <a16:creationId xmlns:a16="http://schemas.microsoft.com/office/drawing/2014/main" id="{53E659D8-B6F3-4961-A154-71A7F25AD9F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08 / 32</a:t>
            </a:r>
          </a:p>
        </p:txBody>
      </p:sp>
      <p:sp>
        <p:nvSpPr>
          <p:cNvPr id="6" name="">
            <a:extLst xmlns:a="http://schemas.openxmlformats.org/drawingml/2006/main">
              <a:ext uri="{FF2B5EF4-FFF2-40B4-BE49-F238E27FC236}">
                <a16:creationId xmlns:a16="http://schemas.microsoft.com/office/drawing/2014/main" id="{AC9CBCEB-C302-4424-91F1-2386F74173FC}"/>
              </a:ext>
            </a:extLst>
          </p:cNvPr>
          <p:cNvSpPr>
            <a:spLocks xmlns:a="http://schemas.openxmlformats.org/drawingml/2006/main" noGrp="1"/>
          </p:cNvSpPr>
          <p:nvPr/>
        </p:nvSpPr>
        <p:spPr>
          <a:xfrm xmlns:a="http://schemas.openxmlformats.org/drawingml/2006/main">
            <a:off x="742950" y="20383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Liên hệ có ý nghĩa trong miền dữ liệu">
            <a:extLst xmlns:a="http://schemas.openxmlformats.org/drawingml/2006/main">
              <a:ext uri="{FF2B5EF4-FFF2-40B4-BE49-F238E27FC236}">
                <a16:creationId xmlns:a16="http://schemas.microsoft.com/office/drawing/2014/main" id="{C3811428-848B-4105-BD31-6CDC1CAD4563}"/>
              </a:ext>
            </a:extLst>
          </p:cNvPr>
          <p:cNvSpPr>
            <a:spLocks xmlns:a="http://schemas.openxmlformats.org/drawingml/2006/main" noGrp="1"/>
          </p:cNvSpPr>
          <p:nvPr/>
        </p:nvSpPr>
        <p:spPr>
          <a:xfrm xmlns:a="http://schemas.openxmlformats.org/drawingml/2006/main">
            <a:off x="1000125" y="1943100"/>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Liên hệ có ý nghĩa trong miền dữ liệu</a:t>
            </a:r>
          </a:p>
        </p:txBody>
      </p:sp>
      <p:sp>
        <p:nvSpPr>
          <p:cNvPr id="8" name="">
            <a:extLst xmlns:a="http://schemas.openxmlformats.org/drawingml/2006/main">
              <a:ext uri="{FF2B5EF4-FFF2-40B4-BE49-F238E27FC236}">
                <a16:creationId xmlns:a16="http://schemas.microsoft.com/office/drawing/2014/main" id="{71C49E75-3025-4B7B-942E-0CFE1DCE63C4}"/>
              </a:ext>
            </a:extLst>
          </p:cNvPr>
          <p:cNvSpPr>
            <a:spLocks xmlns:a="http://schemas.openxmlformats.org/drawingml/2006/main" noGrp="1"/>
          </p:cNvSpPr>
          <p:nvPr/>
        </p:nvSpPr>
        <p:spPr>
          <a:xfrm xmlns:a="http://schemas.openxmlformats.org/drawingml/2006/main">
            <a:off x="742950" y="28670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Feature và nhãn được tạo đúng thời điểm">
            <a:extLst xmlns:a="http://schemas.openxmlformats.org/drawingml/2006/main">
              <a:ext uri="{FF2B5EF4-FFF2-40B4-BE49-F238E27FC236}">
                <a16:creationId xmlns:a16="http://schemas.microsoft.com/office/drawing/2014/main" id="{CF9A3857-FAE6-462A-BCCB-D9B579AA99E4}"/>
              </a:ext>
            </a:extLst>
          </p:cNvPr>
          <p:cNvSpPr>
            <a:spLocks xmlns:a="http://schemas.openxmlformats.org/drawingml/2006/main" noGrp="1"/>
          </p:cNvSpPr>
          <p:nvPr/>
        </p:nvSpPr>
        <p:spPr>
          <a:xfrm xmlns:a="http://schemas.openxmlformats.org/drawingml/2006/main">
            <a:off x="1000125" y="2771775"/>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Feature và nhãn được tạo đúng thời điểm</a:t>
            </a:r>
          </a:p>
        </p:txBody>
      </p:sp>
      <p:sp>
        <p:nvSpPr>
          <p:cNvPr id="10" name="">
            <a:extLst xmlns:a="http://schemas.openxmlformats.org/drawingml/2006/main">
              <a:ext uri="{FF2B5EF4-FFF2-40B4-BE49-F238E27FC236}">
                <a16:creationId xmlns:a16="http://schemas.microsoft.com/office/drawing/2014/main" id="{8AACFE25-723C-46CD-AA9E-F337E7297CB7}"/>
              </a:ext>
            </a:extLst>
          </p:cNvPr>
          <p:cNvSpPr>
            <a:spLocks xmlns:a="http://schemas.openxmlformats.org/drawingml/2006/main" noGrp="1"/>
          </p:cNvSpPr>
          <p:nvPr/>
        </p:nvSpPr>
        <p:spPr>
          <a:xfrm xmlns:a="http://schemas.openxmlformats.org/drawingml/2006/main">
            <a:off x="742950" y="36957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Hàng xóm có thể chia sẻ tín hiệu hữu ích">
            <a:extLst xmlns:a="http://schemas.openxmlformats.org/drawingml/2006/main">
              <a:ext uri="{FF2B5EF4-FFF2-40B4-BE49-F238E27FC236}">
                <a16:creationId xmlns:a16="http://schemas.microsoft.com/office/drawing/2014/main" id="{C8E4327B-81B8-4F85-8C66-B1430D69C536}"/>
              </a:ext>
            </a:extLst>
          </p:cNvPr>
          <p:cNvSpPr>
            <a:spLocks xmlns:a="http://schemas.openxmlformats.org/drawingml/2006/main" noGrp="1"/>
          </p:cNvSpPr>
          <p:nvPr/>
        </p:nvSpPr>
        <p:spPr>
          <a:xfrm xmlns:a="http://schemas.openxmlformats.org/drawingml/2006/main">
            <a:off x="1000125" y="3600450"/>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Hàng xóm có thể chia sẻ tín hiệu hữu ích</a:t>
            </a:r>
          </a:p>
        </p:txBody>
      </p:sp>
      <p:sp>
        <p:nvSpPr>
          <p:cNvPr id="12" name="">
            <a:extLst xmlns:a="http://schemas.openxmlformats.org/drawingml/2006/main">
              <a:ext uri="{FF2B5EF4-FFF2-40B4-BE49-F238E27FC236}">
                <a16:creationId xmlns:a16="http://schemas.microsoft.com/office/drawing/2014/main" id="{223D08F1-4D6C-448C-A12B-3BB26B4C055F}"/>
              </a:ext>
            </a:extLst>
          </p:cNvPr>
          <p:cNvSpPr>
            <a:spLocks xmlns:a="http://schemas.openxmlformats.org/drawingml/2006/main" noGrp="1"/>
          </p:cNvSpPr>
          <p:nvPr/>
        </p:nvSpPr>
        <p:spPr>
          <a:xfrm xmlns:a="http://schemas.openxmlformats.org/drawingml/2006/main">
            <a:off x="742950" y="45243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Lợi ích phải được so với baseline">
            <a:extLst xmlns:a="http://schemas.openxmlformats.org/drawingml/2006/main">
              <a:ext uri="{FF2B5EF4-FFF2-40B4-BE49-F238E27FC236}">
                <a16:creationId xmlns:a16="http://schemas.microsoft.com/office/drawing/2014/main" id="{905A9850-DD18-4D39-AAB6-3F3679538A5D}"/>
              </a:ext>
            </a:extLst>
          </p:cNvPr>
          <p:cNvSpPr>
            <a:spLocks xmlns:a="http://schemas.openxmlformats.org/drawingml/2006/main" noGrp="1"/>
          </p:cNvSpPr>
          <p:nvPr/>
        </p:nvSpPr>
        <p:spPr>
          <a:xfrm xmlns:a="http://schemas.openxmlformats.org/drawingml/2006/main">
            <a:off x="1000125" y="4429125"/>
            <a:ext cx="10258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a:solidFill>
                  <a:srgbClr val="163B3B"/>
                </a:solidFill>
                <a:latin typeface="Arial"/>
                <a:ea typeface="Arial"/>
                <a:cs typeface="Arial"/>
              </a:defRPr>
            </a:defPPr>
          </a:lstStyle>
          <a:p xmlns:a="http://schemas.openxmlformats.org/drawingml/2006/main">
            <a:pPr>
              <a:defRPr sz="2100">
                <a:solidFill>
                  <a:srgbClr val="163B3B"/>
                </a:solidFill>
                <a:latin typeface="Arial"/>
                <a:ea typeface="Arial"/>
                <a:cs typeface="Arial"/>
              </a:defRPr>
            </a:pPr>
            <a:r>
              <a:rPr sz="2100">
                <a:solidFill>
                  <a:srgbClr val="163B3B"/>
                </a:solidFill>
                <a:latin typeface="Arial"/>
                <a:ea typeface="Arial"/>
                <a:cs typeface="Arial"/>
              </a:rPr>
              <a:t>Lợi ích phải được so với baseline</a:t>
            </a:r>
          </a:p>
        </p:txBody>
      </p:sp>
      <p:sp>
        <p:nvSpPr>
          <p:cNvPr id="14" name="">
            <a:extLst xmlns:a="http://schemas.openxmlformats.org/drawingml/2006/main">
              <a:ext uri="{FF2B5EF4-FFF2-40B4-BE49-F238E27FC236}">
                <a16:creationId xmlns:a16="http://schemas.microsoft.com/office/drawing/2014/main" id="{1AC54D84-1261-4D14-8DB7-57EF736F4F08}"/>
              </a:ext>
            </a:extLst>
          </p:cNvPr>
          <p:cNvSpPr>
            <a:spLocks xmlns:a="http://schemas.openxmlformats.org/drawingml/2006/main" noGrp="1"/>
          </p:cNvSpPr>
          <p:nvPr/>
        </p:nvSpPr>
        <p:spPr>
          <a:xfrm xmlns:a="http://schemas.openxmlformats.org/drawingml/2006/main">
            <a:off x="609600" y="53530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5" name="Quan hệ đúng có thể giúp; cạnh sai cũng có t">
            <a:extLst xmlns:a="http://schemas.openxmlformats.org/drawingml/2006/main">
              <a:ext uri="{FF2B5EF4-FFF2-40B4-BE49-F238E27FC236}">
                <a16:creationId xmlns:a16="http://schemas.microsoft.com/office/drawing/2014/main" id="{713C4302-BC2C-4764-BED0-AA74CFF47826}"/>
              </a:ext>
            </a:extLst>
          </p:cNvPr>
          <p:cNvSpPr>
            <a:spLocks xmlns:a="http://schemas.openxmlformats.org/drawingml/2006/main" noGrp="1"/>
          </p:cNvSpPr>
          <p:nvPr/>
        </p:nvSpPr>
        <p:spPr>
          <a:xfrm xmlns:a="http://schemas.openxmlformats.org/drawingml/2006/main">
            <a:off x="609600" y="54864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Quan hệ đúng có thể giúp; cạnh sai cũng có thể gây nhiễu</a:t>
            </a:r>
          </a:p>
        </p:txBody>
      </p:sp>
    </p:spTree>
    <p:extLst>
      <p:ext uri="{BB962C8B-B14F-4D97-AF65-F5344CB8AC3E}">
        <p14:creationId xmlns:p14="http://schemas.microsoft.com/office/powerpoint/2010/main" val="1458420065"/>
      </p:ext>
    </p:extLst>
  </p:cSld>
</p:sld>
</file>

<file path=ppt/slides/slide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C38CD10F-2D44-4B0B-B108-92985AF32118}"/>
              </a:ext>
            </a:extLst>
          </p:cNvPr>
          <p:cNvCxnSpPr>
            <a:stCxn xmlns:a="http://schemas.openxmlformats.org/drawingml/2006/main" id="9" idx="5"/>
            <a:endCxn xmlns:a="http://schemas.openxmlformats.org/drawingml/2006/main" id="11" idx="1"/>
          </p:cNvCxnSpPr>
          <p:nvPr/>
        </p:nvCxnSpPr>
        <p:spPr>
          <a:xfrm xmlns:a="http://schemas.openxmlformats.org/drawingml/2006/main">
            <a:off x="3341562" y="312820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B08511B2-9C9E-4AE5-BB6C-60E5D3F9EA97}"/>
              </a:ext>
            </a:extLst>
          </p:cNvPr>
          <p:cNvCxnSpPr>
            <a:stCxn xmlns:a="http://schemas.openxmlformats.org/drawingml/2006/main" id="9" idx="7"/>
            <a:endCxn xmlns:a="http://schemas.openxmlformats.org/drawingml/2006/main" id="10" idx="3"/>
          </p:cNvCxnSpPr>
          <p:nvPr/>
        </p:nvCxnSpPr>
        <p:spPr>
          <a:xfrm xmlns:a="http://schemas.openxmlformats.org/drawingml/2006/main" flipV="1">
            <a:off x="3341562" y="238525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C3F20D19-653D-44F0-BD92-C374BA197A3A}"/>
              </a:ext>
            </a:extLst>
          </p:cNvPr>
          <p:cNvCxnSpPr>
            <a:stCxn xmlns:a="http://schemas.openxmlformats.org/drawingml/2006/main" id="8" idx="7"/>
            <a:endCxn xmlns:a="http://schemas.openxmlformats.org/drawingml/2006/main" id="9" idx="3"/>
          </p:cNvCxnSpPr>
          <p:nvPr/>
        </p:nvCxnSpPr>
        <p:spPr>
          <a:xfrm xmlns:a="http://schemas.openxmlformats.org/drawingml/2006/main" flipV="1">
            <a:off x="2264285" y="3128202"/>
            <a:ext cx="804098"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7A3489CF-F4F9-44D6-9F0E-2F9C845AEFCB}"/>
              </a:ext>
            </a:extLst>
          </p:cNvPr>
          <p:cNvCxnSpPr>
            <a:stCxn xmlns:a="http://schemas.openxmlformats.org/drawingml/2006/main" id="7" idx="5"/>
            <a:endCxn xmlns:a="http://schemas.openxmlformats.org/drawingml/2006/main" id="9" idx="1"/>
          </p:cNvCxnSpPr>
          <p:nvPr/>
        </p:nvCxnSpPr>
        <p:spPr>
          <a:xfrm xmlns:a="http://schemas.openxmlformats.org/drawingml/2006/main">
            <a:off x="2264285" y="2385252"/>
            <a:ext cx="804098"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BDB1F406-CB84-4B80-B562-88C7849D6C5E}"/>
              </a:ext>
            </a:extLst>
          </p:cNvPr>
          <p:cNvCxnSpPr>
            <a:stCxn xmlns:a="http://schemas.openxmlformats.org/drawingml/2006/main" id="6" idx="5"/>
            <a:endCxn xmlns:a="http://schemas.openxmlformats.org/drawingml/2006/main" id="8" idx="1"/>
          </p:cNvCxnSpPr>
          <p:nvPr/>
        </p:nvCxnSpPr>
        <p:spPr>
          <a:xfrm xmlns:a="http://schemas.openxmlformats.org/drawingml/2006/main">
            <a:off x="1261302" y="312820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AB5A982A-6332-449C-9829-5C7976FD2321}"/>
              </a:ext>
            </a:extLst>
          </p:cNvPr>
          <p:cNvCxnSpPr>
            <a:stCxn xmlns:a="http://schemas.openxmlformats.org/drawingml/2006/main" id="6" idx="7"/>
            <a:endCxn xmlns:a="http://schemas.openxmlformats.org/drawingml/2006/main" id="7" idx="3"/>
          </p:cNvCxnSpPr>
          <p:nvPr/>
        </p:nvCxnSpPr>
        <p:spPr>
          <a:xfrm xmlns:a="http://schemas.openxmlformats.org/drawingml/2006/main" flipV="1">
            <a:off x="1261302" y="2385252"/>
            <a:ext cx="729804" cy="469771"/>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1" name="DEEP GRAPH  /  NGƯỜI 2">
            <a:extLst xmlns:a="http://schemas.openxmlformats.org/drawingml/2006/main">
              <a:ext uri="{FF2B5EF4-FFF2-40B4-BE49-F238E27FC236}">
                <a16:creationId xmlns:a16="http://schemas.microsoft.com/office/drawing/2014/main" id="{E9489025-983C-4944-8066-3F7AC4C073B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CE1B3E55-DB47-4A7B-BE40-D5390609279E}"/>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GCN gộp thông tin từ các nút kề</a:t>
            </a:r>
          </a:p>
        </p:txBody>
      </p:sp>
      <p:sp>
        <p:nvSpPr>
          <p:cNvPr id="3" name="">
            <a:extLst xmlns:a="http://schemas.openxmlformats.org/drawingml/2006/main">
              <a:ext uri="{FF2B5EF4-FFF2-40B4-BE49-F238E27FC236}">
                <a16:creationId xmlns:a16="http://schemas.microsoft.com/office/drawing/2014/main" id="{F08EEE68-8E31-401E-ADA5-99754D0D81B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5 giây">
            <a:extLst xmlns:a="http://schemas.openxmlformats.org/drawingml/2006/main">
              <a:ext uri="{FF2B5EF4-FFF2-40B4-BE49-F238E27FC236}">
                <a16:creationId xmlns:a16="http://schemas.microsoft.com/office/drawing/2014/main" id="{76744C5C-F309-484F-A376-8CF81852C3B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75 giây</a:t>
            </a:r>
          </a:p>
        </p:txBody>
      </p:sp>
      <p:sp>
        <p:nvSpPr>
          <p:cNvPr id="5" name="09 / 32">
            <a:extLst xmlns:a="http://schemas.openxmlformats.org/drawingml/2006/main">
              <a:ext uri="{FF2B5EF4-FFF2-40B4-BE49-F238E27FC236}">
                <a16:creationId xmlns:a16="http://schemas.microsoft.com/office/drawing/2014/main" id="{442E7DFB-2203-485F-9264-DC4522E7BF9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09 / 32</a:t>
            </a:r>
          </a:p>
        </p:txBody>
      </p:sp>
      <p:sp>
        <p:nvSpPr>
          <p:cNvPr id="6" name="">
            <a:extLst xmlns:a="http://schemas.openxmlformats.org/drawingml/2006/main">
              <a:ext uri="{FF2B5EF4-FFF2-40B4-BE49-F238E27FC236}">
                <a16:creationId xmlns:a16="http://schemas.microsoft.com/office/drawing/2014/main" id="{989AD96D-73B7-40EC-901F-587797F8832C}"/>
              </a:ext>
            </a:extLst>
          </p:cNvPr>
          <p:cNvSpPr>
            <a:spLocks xmlns:a="http://schemas.openxmlformats.org/drawingml/2006/main" noGrp="1"/>
          </p:cNvSpPr>
          <p:nvPr/>
        </p:nvSpPr>
        <p:spPr>
          <a:xfrm xmlns:a="http://schemas.openxmlformats.org/drawingml/2006/main">
            <a:off x="931545" y="279844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D592827-9429-4B01-9349-6937DCAFC16F}"/>
              </a:ext>
            </a:extLst>
          </p:cNvPr>
          <p:cNvSpPr>
            <a:spLocks xmlns:a="http://schemas.openxmlformats.org/drawingml/2006/main" noGrp="1"/>
          </p:cNvSpPr>
          <p:nvPr/>
        </p:nvSpPr>
        <p:spPr>
          <a:xfrm xmlns:a="http://schemas.openxmlformats.org/drawingml/2006/main">
            <a:off x="1934528" y="2055495"/>
            <a:ext cx="386334" cy="38633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F369599-E449-472B-A74B-2277A7F47C53}"/>
              </a:ext>
            </a:extLst>
          </p:cNvPr>
          <p:cNvSpPr>
            <a:spLocks xmlns:a="http://schemas.openxmlformats.org/drawingml/2006/main" noGrp="1"/>
          </p:cNvSpPr>
          <p:nvPr/>
        </p:nvSpPr>
        <p:spPr>
          <a:xfrm xmlns:a="http://schemas.openxmlformats.org/drawingml/2006/main">
            <a:off x="1934528" y="354139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079FF52-41D6-4D3E-A5DD-99A14978B3F9}"/>
              </a:ext>
            </a:extLst>
          </p:cNvPr>
          <p:cNvSpPr>
            <a:spLocks xmlns:a="http://schemas.openxmlformats.org/drawingml/2006/main" noGrp="1"/>
          </p:cNvSpPr>
          <p:nvPr/>
        </p:nvSpPr>
        <p:spPr>
          <a:xfrm xmlns:a="http://schemas.openxmlformats.org/drawingml/2006/main">
            <a:off x="3011805" y="2798445"/>
            <a:ext cx="386334" cy="38633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AB94F62-598C-4390-8E7F-BBFF500FAA60}"/>
              </a:ext>
            </a:extLst>
          </p:cNvPr>
          <p:cNvSpPr>
            <a:spLocks xmlns:a="http://schemas.openxmlformats.org/drawingml/2006/main" noGrp="1"/>
          </p:cNvSpPr>
          <p:nvPr/>
        </p:nvSpPr>
        <p:spPr>
          <a:xfrm xmlns:a="http://schemas.openxmlformats.org/drawingml/2006/main">
            <a:off x="4014788" y="2055495"/>
            <a:ext cx="386334" cy="38633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A4E0CBA-A10C-4312-80F4-B25005EB8B8C}"/>
              </a:ext>
            </a:extLst>
          </p:cNvPr>
          <p:cNvSpPr>
            <a:spLocks xmlns:a="http://schemas.openxmlformats.org/drawingml/2006/main" noGrp="1"/>
          </p:cNvSpPr>
          <p:nvPr/>
        </p:nvSpPr>
        <p:spPr>
          <a:xfrm xmlns:a="http://schemas.openxmlformats.org/drawingml/2006/main">
            <a:off x="4014788" y="3541395"/>
            <a:ext cx="386334" cy="38633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26AD6D71-E73B-4A1E-BA1A-0A20AA073865}"/>
              </a:ext>
            </a:extLst>
          </p:cNvPr>
          <p:cNvSpPr>
            <a:spLocks xmlns:a="http://schemas.openxmlformats.org/drawingml/2006/main" noGrp="1"/>
          </p:cNvSpPr>
          <p:nvPr/>
        </p:nvSpPr>
        <p:spPr>
          <a:xfrm xmlns:a="http://schemas.openxmlformats.org/drawingml/2006/main">
            <a:off x="931545" y="288759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504BDF48-0296-4D55-B920-8E6C5344D78A}"/>
              </a:ext>
            </a:extLst>
          </p:cNvPr>
          <p:cNvSpPr>
            <a:spLocks xmlns:a="http://schemas.openxmlformats.org/drawingml/2006/main" noGrp="1"/>
          </p:cNvSpPr>
          <p:nvPr/>
        </p:nvSpPr>
        <p:spPr>
          <a:xfrm xmlns:a="http://schemas.openxmlformats.org/drawingml/2006/main">
            <a:off x="1934528" y="21446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EB8FF17E-9B6D-4E1E-A576-DDC033AA3C37}"/>
              </a:ext>
            </a:extLst>
          </p:cNvPr>
          <p:cNvSpPr>
            <a:spLocks xmlns:a="http://schemas.openxmlformats.org/drawingml/2006/main" noGrp="1"/>
          </p:cNvSpPr>
          <p:nvPr/>
        </p:nvSpPr>
        <p:spPr>
          <a:xfrm xmlns:a="http://schemas.openxmlformats.org/drawingml/2006/main">
            <a:off x="1934528" y="36305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47BA586A-B54D-4FE9-88A4-75A9A0CB1137}"/>
              </a:ext>
            </a:extLst>
          </p:cNvPr>
          <p:cNvSpPr>
            <a:spLocks xmlns:a="http://schemas.openxmlformats.org/drawingml/2006/main" noGrp="1"/>
          </p:cNvSpPr>
          <p:nvPr/>
        </p:nvSpPr>
        <p:spPr>
          <a:xfrm xmlns:a="http://schemas.openxmlformats.org/drawingml/2006/main">
            <a:off x="3011805" y="288759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AB5D73BD-8F32-4E10-8E07-97B23580D145}"/>
              </a:ext>
            </a:extLst>
          </p:cNvPr>
          <p:cNvSpPr>
            <a:spLocks xmlns:a="http://schemas.openxmlformats.org/drawingml/2006/main" noGrp="1"/>
          </p:cNvSpPr>
          <p:nvPr/>
        </p:nvSpPr>
        <p:spPr>
          <a:xfrm xmlns:a="http://schemas.openxmlformats.org/drawingml/2006/main">
            <a:off x="4014788" y="21446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8945514B-B87D-44F1-B45E-AAD6072C38A0}"/>
              </a:ext>
            </a:extLst>
          </p:cNvPr>
          <p:cNvSpPr>
            <a:spLocks xmlns:a="http://schemas.openxmlformats.org/drawingml/2006/main" noGrp="1"/>
          </p:cNvSpPr>
          <p:nvPr/>
        </p:nvSpPr>
        <p:spPr>
          <a:xfrm xmlns:a="http://schemas.openxmlformats.org/drawingml/2006/main">
            <a:off x="4014788" y="3630549"/>
            <a:ext cx="386334" cy="1857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12" b="1">
                <a:solidFill>
                  <a:srgbClr val="FFFFFF"/>
                </a:solidFill>
                <a:latin typeface="Arial"/>
                <a:ea typeface="Arial"/>
                <a:cs typeface="Arial"/>
              </a:defRPr>
            </a:defPPr>
          </a:lstStyle>
          <a:p xmlns:a="http://schemas.openxmlformats.org/drawingml/2006/main">
            <a:pPr algn="ctr">
              <a:defRPr sz="1112" b="1">
                <a:solidFill>
                  <a:srgbClr val="FFFFFF"/>
                </a:solidFill>
                <a:latin typeface="Arial"/>
                <a:ea typeface="Arial"/>
                <a:cs typeface="Arial"/>
              </a:defRPr>
            </a:pPr>
            <a:r>
              <a:rPr sz="1112" b="1">
                <a:solidFill>
                  <a:srgbClr val="FFFFFF"/>
                </a:solidFill>
                <a:latin typeface="Arial"/>
                <a:ea typeface="Arial"/>
                <a:cs typeface="Arial"/>
              </a:rPr>
              <a:t>F</a:t>
            </a:r>
          </a:p>
        </p:txBody>
      </p:sp>
      <p:sp>
        <p:nvSpPr>
          <p:cNvPr id="24" name="TỰ THÂN">
            <a:extLst xmlns:a="http://schemas.openxmlformats.org/drawingml/2006/main">
              <a:ext uri="{FF2B5EF4-FFF2-40B4-BE49-F238E27FC236}">
                <a16:creationId xmlns:a16="http://schemas.microsoft.com/office/drawing/2014/main" id="{1D739B90-2343-40B5-8F5A-CFA1BB3A8F59}"/>
              </a:ext>
            </a:extLst>
          </p:cNvPr>
          <p:cNvSpPr>
            <a:spLocks xmlns:a="http://schemas.openxmlformats.org/drawingml/2006/main" noGrp="1"/>
          </p:cNvSpPr>
          <p:nvPr/>
        </p:nvSpPr>
        <p:spPr>
          <a:xfrm xmlns:a="http://schemas.openxmlformats.org/drawingml/2006/main">
            <a:off x="5810250" y="197167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TỰ THÂN</a:t>
            </a:r>
          </a:p>
        </p:txBody>
      </p:sp>
      <p:sp>
        <p:nvSpPr>
          <p:cNvPr id="25" name="+">
            <a:extLst xmlns:a="http://schemas.openxmlformats.org/drawingml/2006/main">
              <a:ext uri="{FF2B5EF4-FFF2-40B4-BE49-F238E27FC236}">
                <a16:creationId xmlns:a16="http://schemas.microsoft.com/office/drawing/2014/main" id="{BDE2F319-2C7C-4B3F-8BA2-5F22FFDDFB2A}"/>
              </a:ext>
            </a:extLst>
          </p:cNvPr>
          <p:cNvSpPr>
            <a:spLocks xmlns:a="http://schemas.openxmlformats.org/drawingml/2006/main" noGrp="1"/>
          </p:cNvSpPr>
          <p:nvPr/>
        </p:nvSpPr>
        <p:spPr>
          <a:xfrm xmlns:a="http://schemas.openxmlformats.org/drawingml/2006/main">
            <a:off x="5810250" y="2447925"/>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BE7B2F"/>
                </a:solidFill>
                <a:latin typeface="Arial"/>
                <a:ea typeface="Arial"/>
                <a:cs typeface="Arial"/>
              </a:defRPr>
            </a:defPPr>
          </a:lstStyle>
          <a:p xmlns:a="http://schemas.openxmlformats.org/drawingml/2006/main">
            <a:pPr>
              <a:defRPr sz="2625" b="1">
                <a:solidFill>
                  <a:srgbClr val="BE7B2F"/>
                </a:solidFill>
                <a:latin typeface="Arial"/>
                <a:ea typeface="Arial"/>
                <a:cs typeface="Arial"/>
              </a:defRPr>
            </a:pPr>
            <a:r>
              <a:rPr sz="2625" b="1">
                <a:solidFill>
                  <a:srgbClr val="BE7B2F"/>
                </a:solidFill>
                <a:latin typeface="Arial"/>
                <a:ea typeface="Arial"/>
                <a:cs typeface="Arial"/>
              </a:rPr>
              <a:t>+</a:t>
            </a:r>
          </a:p>
        </p:txBody>
      </p:sp>
      <p:sp>
        <p:nvSpPr>
          <p:cNvPr id="26" name="THÔNG TIN HÀNG XÓM">
            <a:extLst xmlns:a="http://schemas.openxmlformats.org/drawingml/2006/main">
              <a:ext uri="{FF2B5EF4-FFF2-40B4-BE49-F238E27FC236}">
                <a16:creationId xmlns:a16="http://schemas.microsoft.com/office/drawing/2014/main" id="{B80611B5-86AE-4909-935E-EF25651B52F3}"/>
              </a:ext>
            </a:extLst>
          </p:cNvPr>
          <p:cNvSpPr>
            <a:spLocks xmlns:a="http://schemas.openxmlformats.org/drawingml/2006/main" noGrp="1"/>
          </p:cNvSpPr>
          <p:nvPr/>
        </p:nvSpPr>
        <p:spPr>
          <a:xfrm xmlns:a="http://schemas.openxmlformats.org/drawingml/2006/main">
            <a:off x="6362700" y="2505075"/>
            <a:ext cx="5048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THÔNG TIN HÀNG XÓM</a:t>
            </a:r>
          </a:p>
        </p:txBody>
      </p:sp>
      <p:sp>
        <p:nvSpPr>
          <p:cNvPr id="27" name="↓">
            <a:extLst xmlns:a="http://schemas.openxmlformats.org/drawingml/2006/main">
              <a:ext uri="{FF2B5EF4-FFF2-40B4-BE49-F238E27FC236}">
                <a16:creationId xmlns:a16="http://schemas.microsoft.com/office/drawing/2014/main" id="{FB7558C8-1B2F-4E74-9E4E-ADF13A3B5F9B}"/>
              </a:ext>
            </a:extLst>
          </p:cNvPr>
          <p:cNvSpPr>
            <a:spLocks xmlns:a="http://schemas.openxmlformats.org/drawingml/2006/main" noGrp="1"/>
          </p:cNvSpPr>
          <p:nvPr/>
        </p:nvSpPr>
        <p:spPr>
          <a:xfrm xmlns:a="http://schemas.openxmlformats.org/drawingml/2006/main">
            <a:off x="7724775" y="2971800"/>
            <a:ext cx="6096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BE7B2F"/>
                </a:solidFill>
                <a:latin typeface="Arial"/>
                <a:ea typeface="Arial"/>
                <a:cs typeface="Arial"/>
              </a:defRPr>
            </a:defPPr>
          </a:lstStyle>
          <a:p xmlns:a="http://schemas.openxmlformats.org/drawingml/2006/main">
            <a:pPr algn="ct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28" name="biến đổi đã học">
            <a:extLst xmlns:a="http://schemas.openxmlformats.org/drawingml/2006/main">
              <a:ext uri="{FF2B5EF4-FFF2-40B4-BE49-F238E27FC236}">
                <a16:creationId xmlns:a16="http://schemas.microsoft.com/office/drawing/2014/main" id="{32D4382E-D5A9-430A-8F90-F13712683EA8}"/>
              </a:ext>
            </a:extLst>
          </p:cNvPr>
          <p:cNvSpPr>
            <a:spLocks xmlns:a="http://schemas.openxmlformats.org/drawingml/2006/main" noGrp="1"/>
          </p:cNvSpPr>
          <p:nvPr/>
        </p:nvSpPr>
        <p:spPr>
          <a:xfrm xmlns:a="http://schemas.openxmlformats.org/drawingml/2006/main">
            <a:off x="6419850" y="3438525"/>
            <a:ext cx="38290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63B3B"/>
                </a:solidFill>
                <a:latin typeface="Arial"/>
                <a:ea typeface="Arial"/>
                <a:cs typeface="Arial"/>
              </a:defRPr>
            </a:defPPr>
          </a:lstStyle>
          <a:p xmlns:a="http://schemas.openxmlformats.org/drawingml/2006/main">
            <a:pPr algn="ctr">
              <a:defRPr sz="2325" b="1">
                <a:solidFill>
                  <a:srgbClr val="163B3B"/>
                </a:solidFill>
                <a:latin typeface="Arial"/>
                <a:ea typeface="Arial"/>
                <a:cs typeface="Arial"/>
              </a:defRPr>
            </a:pPr>
            <a:r>
              <a:rPr sz="2325" b="1">
                <a:solidFill>
                  <a:srgbClr val="163B3B"/>
                </a:solidFill>
                <a:latin typeface="Arial"/>
                <a:ea typeface="Arial"/>
                <a:cs typeface="Arial"/>
              </a:rPr>
              <a:t>biến đổi đã học</a:t>
            </a:r>
          </a:p>
        </p:txBody>
      </p:sp>
      <p:sp>
        <p:nvSpPr>
          <p:cNvPr id="29" name="Tự thân + hàng xóm → biến đổi đã học">
            <a:extLst xmlns:a="http://schemas.openxmlformats.org/drawingml/2006/main">
              <a:ext uri="{FF2B5EF4-FFF2-40B4-BE49-F238E27FC236}">
                <a16:creationId xmlns:a16="http://schemas.microsoft.com/office/drawing/2014/main" id="{49754C32-D4DB-4CD3-89A5-D128D97F04AE}"/>
              </a:ext>
            </a:extLst>
          </p:cNvPr>
          <p:cNvSpPr>
            <a:spLocks xmlns:a="http://schemas.openxmlformats.org/drawingml/2006/main" noGrp="1"/>
          </p:cNvSpPr>
          <p:nvPr/>
        </p:nvSpPr>
        <p:spPr>
          <a:xfrm xmlns:a="http://schemas.openxmlformats.org/drawingml/2006/main">
            <a:off x="5781675" y="4333875"/>
            <a:ext cx="54102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087E73"/>
                </a:solidFill>
                <a:latin typeface="Arial"/>
                <a:ea typeface="Arial"/>
                <a:cs typeface="Arial"/>
              </a:defRPr>
            </a:defPPr>
          </a:lstStyle>
          <a:p xmlns:a="http://schemas.openxmlformats.org/drawingml/2006/main">
            <a:pPr algn="ctr">
              <a:defRPr sz="2175" b="1">
                <a:solidFill>
                  <a:srgbClr val="087E73"/>
                </a:solidFill>
                <a:latin typeface="Arial"/>
                <a:ea typeface="Arial"/>
                <a:cs typeface="Arial"/>
              </a:defRPr>
            </a:pPr>
            <a:r>
              <a:rPr sz="2175" b="1">
                <a:solidFill>
                  <a:srgbClr val="087E73"/>
                </a:solidFill>
                <a:latin typeface="Arial"/>
                <a:ea typeface="Arial"/>
                <a:cs typeface="Arial"/>
              </a:rPr>
              <a:t>Tự thân + hàng xóm → biến đổi đã học</a:t>
            </a:r>
          </a:p>
        </p:txBody>
      </p:sp>
      <p:sp>
        <p:nvSpPr>
          <p:cNvPr id="30" name="Một lớp lan thông tin qua một bước cạnh.">
            <a:extLst xmlns:a="http://schemas.openxmlformats.org/drawingml/2006/main">
              <a:ext uri="{FF2B5EF4-FFF2-40B4-BE49-F238E27FC236}">
                <a16:creationId xmlns:a16="http://schemas.microsoft.com/office/drawing/2014/main" id="{5C2AA6D7-FCFE-4495-B31E-9649132B773E}"/>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Một lớp lan thông tin qua một bước cạnh.</a:t>
            </a:r>
          </a:p>
        </p:txBody>
      </p:sp>
    </p:spTree>
    <p:extLst>
      <p:ext uri="{BB962C8B-B14F-4D97-AF65-F5344CB8AC3E}">
        <p14:creationId xmlns:p14="http://schemas.microsoft.com/office/powerpoint/2010/main" val="1289131716"/>
      </p:ext>
    </p:extLst>
  </p:cSld>
</p:sld>
</file>

<file path=ppt/slides/slide1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098E694-8920-438C-AEF3-D92F2B9EB840}"/>
              </a:ext>
            </a:extLst>
          </p:cNvPr>
          <p:cNvCxnSpPr>
            <a:stCxn xmlns:a="http://schemas.openxmlformats.org/drawingml/2006/main" id="13" idx="6"/>
            <a:endCxn xmlns:a="http://schemas.openxmlformats.org/drawingml/2006/main" id="15" idx="2"/>
          </p:cNvCxnSpPr>
          <p:nvPr/>
        </p:nvCxnSpPr>
        <p:spPr>
          <a:xfrm xmlns:a="http://schemas.openxmlformats.org/drawingml/2006/main">
            <a:off x="7810500" y="3228975"/>
            <a:ext cx="1657350" cy="0"/>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1" name="">
            <a:extLst xmlns:a="http://schemas.openxmlformats.org/drawingml/2006/main">
              <a:ext uri="{FF2B5EF4-FFF2-40B4-BE49-F238E27FC236}">
                <a16:creationId xmlns:a16="http://schemas.microsoft.com/office/drawing/2014/main" id="{7E1D4A10-518B-4424-84BA-13830512C52C}"/>
              </a:ext>
            </a:extLst>
          </p:cNvPr>
          <p:cNvCxnSpPr>
            <a:stCxn xmlns:a="http://schemas.openxmlformats.org/drawingml/2006/main" id="7" idx="6"/>
            <a:endCxn xmlns:a="http://schemas.openxmlformats.org/drawingml/2006/main" id="9" idx="2"/>
          </p:cNvCxnSpPr>
          <p:nvPr/>
        </p:nvCxnSpPr>
        <p:spPr>
          <a:xfrm xmlns:a="http://schemas.openxmlformats.org/drawingml/2006/main">
            <a:off x="2667000" y="3228975"/>
            <a:ext cx="1352550" cy="0"/>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28" name="DEEP GRAPH  /  NGƯỜI 2">
            <a:extLst xmlns:a="http://schemas.openxmlformats.org/drawingml/2006/main">
              <a:ext uri="{FF2B5EF4-FFF2-40B4-BE49-F238E27FC236}">
                <a16:creationId xmlns:a16="http://schemas.microsoft.com/office/drawing/2014/main" id="{D721C9E4-9740-4AB9-AB71-577B19C8458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A43DAB2E-FC92-45E6-AF17-5FC869B1DDE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Self-loop giữ tín hiệu của nút</a:t>
            </a:r>
          </a:p>
        </p:txBody>
      </p:sp>
      <p:sp>
        <p:nvSpPr>
          <p:cNvPr id="3" name="">
            <a:extLst xmlns:a="http://schemas.openxmlformats.org/drawingml/2006/main">
              <a:ext uri="{FF2B5EF4-FFF2-40B4-BE49-F238E27FC236}">
                <a16:creationId xmlns:a16="http://schemas.microsoft.com/office/drawing/2014/main" id="{BEF13E9A-2B92-46D1-8195-B481FED7A3D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2E19E7E5-CDC7-407C-889A-0A9D9AF394E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0 / 32">
            <a:extLst xmlns:a="http://schemas.openxmlformats.org/drawingml/2006/main">
              <a:ext uri="{FF2B5EF4-FFF2-40B4-BE49-F238E27FC236}">
                <a16:creationId xmlns:a16="http://schemas.microsoft.com/office/drawing/2014/main" id="{D3215BA1-33BB-4B66-8884-E108EBB131FC}"/>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10 / 32</a:t>
            </a:r>
          </a:p>
        </p:txBody>
      </p:sp>
      <p:sp>
        <p:nvSpPr>
          <p:cNvPr id="6" name="TRƯỚC">
            <a:extLst xmlns:a="http://schemas.openxmlformats.org/drawingml/2006/main">
              <a:ext uri="{FF2B5EF4-FFF2-40B4-BE49-F238E27FC236}">
                <a16:creationId xmlns:a16="http://schemas.microsoft.com/office/drawing/2014/main" id="{C6D95966-AD0D-46B8-9E3B-4F761A21571E}"/>
              </a:ext>
            </a:extLst>
          </p:cNvPr>
          <p:cNvSpPr>
            <a:spLocks xmlns:a="http://schemas.openxmlformats.org/drawingml/2006/main" noGrp="1"/>
          </p:cNvSpPr>
          <p:nvPr/>
        </p:nvSpPr>
        <p:spPr>
          <a:xfrm xmlns:a="http://schemas.openxmlformats.org/drawingml/2006/main">
            <a:off x="1047750" y="1933575"/>
            <a:ext cx="400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657B79"/>
                </a:solidFill>
                <a:latin typeface="Arial"/>
                <a:ea typeface="Arial"/>
                <a:cs typeface="Arial"/>
              </a:defRPr>
            </a:defPPr>
          </a:lstStyle>
          <a:p xmlns:a="http://schemas.openxmlformats.org/drawingml/2006/main">
            <a:pPr>
              <a:defRPr sz="1800" b="1">
                <a:solidFill>
                  <a:srgbClr val="657B79"/>
                </a:solidFill>
                <a:latin typeface="Arial"/>
                <a:ea typeface="Arial"/>
                <a:cs typeface="Arial"/>
              </a:defRPr>
            </a:pPr>
            <a:r>
              <a:rPr sz="1800" b="1">
                <a:solidFill>
                  <a:srgbClr val="657B79"/>
                </a:solidFill>
                <a:latin typeface="Arial"/>
                <a:ea typeface="Arial"/>
                <a:cs typeface="Arial"/>
              </a:rPr>
              <a:t>TRƯỚC</a:t>
            </a:r>
          </a:p>
        </p:txBody>
      </p:sp>
      <p:sp>
        <p:nvSpPr>
          <p:cNvPr id="7" name="">
            <a:extLst xmlns:a="http://schemas.openxmlformats.org/drawingml/2006/main">
              <a:ext uri="{FF2B5EF4-FFF2-40B4-BE49-F238E27FC236}">
                <a16:creationId xmlns:a16="http://schemas.microsoft.com/office/drawing/2014/main" id="{41CE2FC8-D792-4C91-9E3C-B86151F21967}"/>
              </a:ext>
            </a:extLst>
          </p:cNvPr>
          <p:cNvSpPr>
            <a:spLocks xmlns:a="http://schemas.openxmlformats.org/drawingml/2006/main" noGrp="1"/>
          </p:cNvSpPr>
          <p:nvPr/>
        </p:nvSpPr>
        <p:spPr>
          <a:xfrm xmlns:a="http://schemas.openxmlformats.org/drawingml/2006/main">
            <a:off x="1809750" y="2800350"/>
            <a:ext cx="857250" cy="85725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A">
            <a:extLst xmlns:a="http://schemas.openxmlformats.org/drawingml/2006/main">
              <a:ext uri="{FF2B5EF4-FFF2-40B4-BE49-F238E27FC236}">
                <a16:creationId xmlns:a16="http://schemas.microsoft.com/office/drawing/2014/main" id="{4C3CF828-DD61-4F98-B0D1-F330A8F711AE}"/>
              </a:ext>
            </a:extLst>
          </p:cNvPr>
          <p:cNvSpPr>
            <a:spLocks xmlns:a="http://schemas.openxmlformats.org/drawingml/2006/main" noGrp="1"/>
          </p:cNvSpPr>
          <p:nvPr/>
        </p:nvSpPr>
        <p:spPr>
          <a:xfrm xmlns:a="http://schemas.openxmlformats.org/drawingml/2006/main">
            <a:off x="20478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a:t>
            </a:r>
          </a:p>
        </p:txBody>
      </p:sp>
      <p:sp>
        <p:nvSpPr>
          <p:cNvPr id="9" name="">
            <a:extLst xmlns:a="http://schemas.openxmlformats.org/drawingml/2006/main">
              <a:ext uri="{FF2B5EF4-FFF2-40B4-BE49-F238E27FC236}">
                <a16:creationId xmlns:a16="http://schemas.microsoft.com/office/drawing/2014/main" id="{8B23BBAE-A3E6-4A04-A365-24568026795B}"/>
              </a:ext>
            </a:extLst>
          </p:cNvPr>
          <p:cNvSpPr>
            <a:spLocks xmlns:a="http://schemas.openxmlformats.org/drawingml/2006/main" noGrp="1"/>
          </p:cNvSpPr>
          <p:nvPr/>
        </p:nvSpPr>
        <p:spPr>
          <a:xfrm xmlns:a="http://schemas.openxmlformats.org/drawingml/2006/main">
            <a:off x="4019550" y="2800350"/>
            <a:ext cx="857250" cy="85725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0" name="B">
            <a:extLst xmlns:a="http://schemas.openxmlformats.org/drawingml/2006/main">
              <a:ext uri="{FF2B5EF4-FFF2-40B4-BE49-F238E27FC236}">
                <a16:creationId xmlns:a16="http://schemas.microsoft.com/office/drawing/2014/main" id="{D39E9A30-3393-4DC8-90FA-A682E8835CE3}"/>
              </a:ext>
            </a:extLst>
          </p:cNvPr>
          <p:cNvSpPr>
            <a:spLocks xmlns:a="http://schemas.openxmlformats.org/drawingml/2006/main" noGrp="1"/>
          </p:cNvSpPr>
          <p:nvPr/>
        </p:nvSpPr>
        <p:spPr>
          <a:xfrm xmlns:a="http://schemas.openxmlformats.org/drawingml/2006/main">
            <a:off x="42576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a:t>
            </a:r>
          </a:p>
        </p:txBody>
      </p:sp>
      <p:sp>
        <p:nvSpPr>
          <p:cNvPr id="12" name="SAU KHI THÊM SELF-LOOP">
            <a:extLst xmlns:a="http://schemas.openxmlformats.org/drawingml/2006/main">
              <a:ext uri="{FF2B5EF4-FFF2-40B4-BE49-F238E27FC236}">
                <a16:creationId xmlns:a16="http://schemas.microsoft.com/office/drawing/2014/main" id="{1A470284-C3E8-46BA-B103-C01A23F10ECC}"/>
              </a:ext>
            </a:extLst>
          </p:cNvPr>
          <p:cNvSpPr>
            <a:spLocks xmlns:a="http://schemas.openxmlformats.org/drawingml/2006/main" noGrp="1"/>
          </p:cNvSpPr>
          <p:nvPr/>
        </p:nvSpPr>
        <p:spPr>
          <a:xfrm xmlns:a="http://schemas.openxmlformats.org/drawingml/2006/main">
            <a:off x="6286500" y="19335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SAU KHI THÊM SELF-LOOP</a:t>
            </a:r>
          </a:p>
        </p:txBody>
      </p:sp>
      <p:sp>
        <p:nvSpPr>
          <p:cNvPr id="13" name="">
            <a:extLst xmlns:a="http://schemas.openxmlformats.org/drawingml/2006/main">
              <a:ext uri="{FF2B5EF4-FFF2-40B4-BE49-F238E27FC236}">
                <a16:creationId xmlns:a16="http://schemas.microsoft.com/office/drawing/2014/main" id="{07BB0E64-9D39-4DA7-AFB2-2A7F3BAD0712}"/>
              </a:ext>
            </a:extLst>
          </p:cNvPr>
          <p:cNvSpPr>
            <a:spLocks xmlns:a="http://schemas.openxmlformats.org/drawingml/2006/main" noGrp="1"/>
          </p:cNvSpPr>
          <p:nvPr/>
        </p:nvSpPr>
        <p:spPr>
          <a:xfrm xmlns:a="http://schemas.openxmlformats.org/drawingml/2006/main">
            <a:off x="6953250" y="2800350"/>
            <a:ext cx="857250" cy="857250"/>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428A33AF-7CE7-4237-A3DC-1E9734137B74}"/>
              </a:ext>
            </a:extLst>
          </p:cNvPr>
          <p:cNvSpPr>
            <a:spLocks xmlns:a="http://schemas.openxmlformats.org/drawingml/2006/main" noGrp="1"/>
          </p:cNvSpPr>
          <p:nvPr/>
        </p:nvSpPr>
        <p:spPr>
          <a:xfrm xmlns:a="http://schemas.openxmlformats.org/drawingml/2006/main">
            <a:off x="71913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a:t>
            </a:r>
          </a:p>
        </p:txBody>
      </p:sp>
      <p:sp>
        <p:nvSpPr>
          <p:cNvPr id="15" name="">
            <a:extLst xmlns:a="http://schemas.openxmlformats.org/drawingml/2006/main">
              <a:ext uri="{FF2B5EF4-FFF2-40B4-BE49-F238E27FC236}">
                <a16:creationId xmlns:a16="http://schemas.microsoft.com/office/drawing/2014/main" id="{DE8004CD-018A-4ED7-B683-0FAA065BF0DF}"/>
              </a:ext>
            </a:extLst>
          </p:cNvPr>
          <p:cNvSpPr>
            <a:spLocks xmlns:a="http://schemas.openxmlformats.org/drawingml/2006/main" noGrp="1"/>
          </p:cNvSpPr>
          <p:nvPr/>
        </p:nvSpPr>
        <p:spPr>
          <a:xfrm xmlns:a="http://schemas.openxmlformats.org/drawingml/2006/main">
            <a:off x="9467850" y="2800350"/>
            <a:ext cx="857250" cy="857250"/>
          </a:xfrm>
          <a:prstGeom xmlns:a="http://schemas.openxmlformats.org/drawingml/2006/main" prst="ellipse">
            <a:avLst/>
          </a:prstGeom>
          <a:solidFill xmlns:a="http://schemas.openxmlformats.org/drawingml/2006/main">
            <a:srgbClr val="98A8A6"/>
          </a:solidFill>
          <a:ln xmlns:a="http://schemas.openxmlformats.org/drawingml/2006/main" w="0">
            <a:noFill/>
          </a:ln>
        </p:spPr>
      </p:sp>
      <p:sp>
        <p:nvSpPr>
          <p:cNvPr id="16" name="B">
            <a:extLst xmlns:a="http://schemas.openxmlformats.org/drawingml/2006/main">
              <a:ext uri="{FF2B5EF4-FFF2-40B4-BE49-F238E27FC236}">
                <a16:creationId xmlns:a16="http://schemas.microsoft.com/office/drawing/2014/main" id="{B7434DDA-BBBB-4350-A2DA-96C0B57D8674}"/>
              </a:ext>
            </a:extLst>
          </p:cNvPr>
          <p:cNvSpPr>
            <a:spLocks xmlns:a="http://schemas.openxmlformats.org/drawingml/2006/main" noGrp="1"/>
          </p:cNvSpPr>
          <p:nvPr/>
        </p:nvSpPr>
        <p:spPr>
          <a:xfrm xmlns:a="http://schemas.openxmlformats.org/drawingml/2006/main">
            <a:off x="9705975" y="3048000"/>
            <a:ext cx="381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B</a:t>
            </a:r>
          </a:p>
        </p:txBody>
      </p:sp>
      <p:sp>
        <p:nvSpPr>
          <p:cNvPr id="18" name="↻">
            <a:extLst xmlns:a="http://schemas.openxmlformats.org/drawingml/2006/main">
              <a:ext uri="{FF2B5EF4-FFF2-40B4-BE49-F238E27FC236}">
                <a16:creationId xmlns:a16="http://schemas.microsoft.com/office/drawing/2014/main" id="{BE6E880E-EB7F-4B17-8E79-A66B2EF94873}"/>
              </a:ext>
            </a:extLst>
          </p:cNvPr>
          <p:cNvSpPr>
            <a:spLocks xmlns:a="http://schemas.openxmlformats.org/drawingml/2006/main" noGrp="1"/>
          </p:cNvSpPr>
          <p:nvPr/>
        </p:nvSpPr>
        <p:spPr>
          <a:xfrm xmlns:a="http://schemas.openxmlformats.org/drawingml/2006/main">
            <a:off x="7239000" y="36480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E7B2F"/>
                </a:solidFill>
                <a:latin typeface="Arial"/>
                <a:ea typeface="Arial"/>
                <a:cs typeface="Arial"/>
              </a:defRPr>
            </a:defPPr>
          </a:lstStyle>
          <a:p xmlns:a="http://schemas.openxmlformats.org/drawingml/2006/main">
            <a:pP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19" name="↻">
            <a:extLst xmlns:a="http://schemas.openxmlformats.org/drawingml/2006/main">
              <a:ext uri="{FF2B5EF4-FFF2-40B4-BE49-F238E27FC236}">
                <a16:creationId xmlns:a16="http://schemas.microsoft.com/office/drawing/2014/main" id="{1D7FE87F-B866-4BA7-8F6A-91C6B22C7AA2}"/>
              </a:ext>
            </a:extLst>
          </p:cNvPr>
          <p:cNvSpPr>
            <a:spLocks xmlns:a="http://schemas.openxmlformats.org/drawingml/2006/main" noGrp="1"/>
          </p:cNvSpPr>
          <p:nvPr/>
        </p:nvSpPr>
        <p:spPr>
          <a:xfrm xmlns:a="http://schemas.openxmlformats.org/drawingml/2006/main">
            <a:off x="9744075" y="36480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E7B2F"/>
                </a:solidFill>
                <a:latin typeface="Arial"/>
                <a:ea typeface="Arial"/>
                <a:cs typeface="Arial"/>
              </a:defRPr>
            </a:defPPr>
          </a:lstStyle>
          <a:p xmlns:a="http://schemas.openxmlformats.org/drawingml/2006/main">
            <a:pPr>
              <a:defRPr sz="2325" b="1">
                <a:solidFill>
                  <a:srgbClr val="BE7B2F"/>
                </a:solidFill>
                <a:latin typeface="Arial"/>
                <a:ea typeface="Arial"/>
                <a:cs typeface="Arial"/>
              </a:defRPr>
            </a:pPr>
            <a:r>
              <a:rPr sz="2325" b="1">
                <a:solidFill>
                  <a:srgbClr val="BE7B2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7DEB79E4-ED02-4447-9307-774FE131930A}"/>
              </a:ext>
            </a:extLst>
          </p:cNvPr>
          <p:cNvSpPr>
            <a:spLocks xmlns:a="http://schemas.openxmlformats.org/drawingml/2006/main" noGrp="1"/>
          </p:cNvSpPr>
          <p:nvPr/>
        </p:nvSpPr>
        <p:spPr>
          <a:xfrm xmlns:a="http://schemas.openxmlformats.org/drawingml/2006/main">
            <a:off x="1171575" y="46386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1" name="Không self-loop: chỉ nghe nút khác">
            <a:extLst xmlns:a="http://schemas.openxmlformats.org/drawingml/2006/main">
              <a:ext uri="{FF2B5EF4-FFF2-40B4-BE49-F238E27FC236}">
                <a16:creationId xmlns:a16="http://schemas.microsoft.com/office/drawing/2014/main" id="{37DF4E3C-2640-4123-A561-721E2B550427}"/>
              </a:ext>
            </a:extLst>
          </p:cNvPr>
          <p:cNvSpPr>
            <a:spLocks xmlns:a="http://schemas.openxmlformats.org/drawingml/2006/main" noGrp="1"/>
          </p:cNvSpPr>
          <p:nvPr/>
        </p:nvSpPr>
        <p:spPr>
          <a:xfrm xmlns:a="http://schemas.openxmlformats.org/drawingml/2006/main">
            <a:off x="1428750" y="4543425"/>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Không self-loop: chỉ nghe nút khác</a:t>
            </a:r>
          </a:p>
        </p:txBody>
      </p:sp>
      <p:sp>
        <p:nvSpPr>
          <p:cNvPr id="22" name="">
            <a:extLst xmlns:a="http://schemas.openxmlformats.org/drawingml/2006/main">
              <a:ext uri="{FF2B5EF4-FFF2-40B4-BE49-F238E27FC236}">
                <a16:creationId xmlns:a16="http://schemas.microsoft.com/office/drawing/2014/main" id="{8841298E-D01A-4EAB-B567-253202905834}"/>
              </a:ext>
            </a:extLst>
          </p:cNvPr>
          <p:cNvSpPr>
            <a:spLocks xmlns:a="http://schemas.openxmlformats.org/drawingml/2006/main" noGrp="1"/>
          </p:cNvSpPr>
          <p:nvPr/>
        </p:nvSpPr>
        <p:spPr>
          <a:xfrm xmlns:a="http://schemas.openxmlformats.org/drawingml/2006/main">
            <a:off x="1171575" y="50482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3" name="Có self-loop: nút vẫn tự giữ một phần thông ">
            <a:extLst xmlns:a="http://schemas.openxmlformats.org/drawingml/2006/main">
              <a:ext uri="{FF2B5EF4-FFF2-40B4-BE49-F238E27FC236}">
                <a16:creationId xmlns:a16="http://schemas.microsoft.com/office/drawing/2014/main" id="{076DDBF8-CCAF-446A-B204-349AD38F1303}"/>
              </a:ext>
            </a:extLst>
          </p:cNvPr>
          <p:cNvSpPr>
            <a:spLocks xmlns:a="http://schemas.openxmlformats.org/drawingml/2006/main" noGrp="1"/>
          </p:cNvSpPr>
          <p:nvPr/>
        </p:nvSpPr>
        <p:spPr>
          <a:xfrm xmlns:a="http://schemas.openxmlformats.org/drawingml/2006/main">
            <a:off x="1428750" y="4953000"/>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Có self-loop: nút vẫn tự giữ một phần thông tin</a:t>
            </a:r>
          </a:p>
        </p:txBody>
      </p:sp>
      <p:sp>
        <p:nvSpPr>
          <p:cNvPr id="24" name="">
            <a:extLst xmlns:a="http://schemas.openxmlformats.org/drawingml/2006/main">
              <a:ext uri="{FF2B5EF4-FFF2-40B4-BE49-F238E27FC236}">
                <a16:creationId xmlns:a16="http://schemas.microsoft.com/office/drawing/2014/main" id="{1387D33E-97B9-41C2-B6B6-E14BCCDFBC7E}"/>
              </a:ext>
            </a:extLst>
          </p:cNvPr>
          <p:cNvSpPr>
            <a:spLocks xmlns:a="http://schemas.openxmlformats.org/drawingml/2006/main" noGrp="1"/>
          </p:cNvSpPr>
          <p:nvPr/>
        </p:nvSpPr>
        <p:spPr>
          <a:xfrm xmlns:a="http://schemas.openxmlformats.org/drawingml/2006/main">
            <a:off x="1171575" y="54578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5" name="Chuẩn hóa: nút bậc cao không lấn át toàn bộ">
            <a:extLst xmlns:a="http://schemas.openxmlformats.org/drawingml/2006/main">
              <a:ext uri="{FF2B5EF4-FFF2-40B4-BE49-F238E27FC236}">
                <a16:creationId xmlns:a16="http://schemas.microsoft.com/office/drawing/2014/main" id="{4A9C48D9-4B84-47F4-B2CC-794BF97D21A1}"/>
              </a:ext>
            </a:extLst>
          </p:cNvPr>
          <p:cNvSpPr>
            <a:spLocks xmlns:a="http://schemas.openxmlformats.org/drawingml/2006/main" noGrp="1"/>
          </p:cNvSpPr>
          <p:nvPr/>
        </p:nvSpPr>
        <p:spPr>
          <a:xfrm xmlns:a="http://schemas.openxmlformats.org/drawingml/2006/main">
            <a:off x="1428750" y="5362575"/>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Chuẩn hóa: nút bậc cao không lấn át toàn bộ</a:t>
            </a:r>
          </a:p>
        </p:txBody>
      </p:sp>
      <p:sp>
        <p:nvSpPr>
          <p:cNvPr id="26" name="">
            <a:extLst xmlns:a="http://schemas.openxmlformats.org/drawingml/2006/main">
              <a:ext uri="{FF2B5EF4-FFF2-40B4-BE49-F238E27FC236}">
                <a16:creationId xmlns:a16="http://schemas.microsoft.com/office/drawing/2014/main" id="{D434A518-443A-4C44-A6F0-F1D436735B60}"/>
              </a:ext>
            </a:extLst>
          </p:cNvPr>
          <p:cNvSpPr>
            <a:spLocks xmlns:a="http://schemas.openxmlformats.org/drawingml/2006/main" noGrp="1"/>
          </p:cNvSpPr>
          <p:nvPr/>
        </p:nvSpPr>
        <p:spPr>
          <a:xfrm xmlns:a="http://schemas.openxmlformats.org/drawingml/2006/main">
            <a:off x="1171575" y="58674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Quy ước graph là một phần của mô hình">
            <a:extLst xmlns:a="http://schemas.openxmlformats.org/drawingml/2006/main">
              <a:ext uri="{FF2B5EF4-FFF2-40B4-BE49-F238E27FC236}">
                <a16:creationId xmlns:a16="http://schemas.microsoft.com/office/drawing/2014/main" id="{62ED8AC6-B6E7-4B23-91AB-B7C853FE405F}"/>
              </a:ext>
            </a:extLst>
          </p:cNvPr>
          <p:cNvSpPr>
            <a:spLocks xmlns:a="http://schemas.openxmlformats.org/drawingml/2006/main" noGrp="1"/>
          </p:cNvSpPr>
          <p:nvPr/>
        </p:nvSpPr>
        <p:spPr>
          <a:xfrm xmlns:a="http://schemas.openxmlformats.org/drawingml/2006/main">
            <a:off x="1428750" y="5772150"/>
            <a:ext cx="9639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Quy ước graph là một phần của mô hình</a:t>
            </a:r>
          </a:p>
        </p:txBody>
      </p:sp>
    </p:spTree>
    <p:extLst>
      <p:ext uri="{BB962C8B-B14F-4D97-AF65-F5344CB8AC3E}">
        <p14:creationId xmlns:p14="http://schemas.microsoft.com/office/powerpoint/2010/main" val="1390837905"/>
      </p:ext>
    </p:extLst>
  </p:cSld>
</p:sld>
</file>

<file path=ppt/slides/slide1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BFA8E5D4-758F-44AE-AD8E-A95F0D11DBA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8C3FE994-39A8-481F-8293-1559B4B113B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GraphSAGE và GAT · hai cách tổng hợp hàng xóm</a:t>
            </a:r>
          </a:p>
        </p:txBody>
      </p:sp>
      <p:sp>
        <p:nvSpPr>
          <p:cNvPr id="3" name="">
            <a:extLst xmlns:a="http://schemas.openxmlformats.org/drawingml/2006/main">
              <a:ext uri="{FF2B5EF4-FFF2-40B4-BE49-F238E27FC236}">
                <a16:creationId xmlns:a16="http://schemas.microsoft.com/office/drawing/2014/main" id="{590106F0-2428-4A50-95EA-0C1D9ED7B46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80 giây">
            <a:extLst xmlns:a="http://schemas.openxmlformats.org/drawingml/2006/main">
              <a:ext uri="{FF2B5EF4-FFF2-40B4-BE49-F238E27FC236}">
                <a16:creationId xmlns:a16="http://schemas.microsoft.com/office/drawing/2014/main" id="{F6FA5733-42AB-48E3-A21D-CEB9F2CB71C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80 giây</a:t>
            </a:r>
          </a:p>
        </p:txBody>
      </p:sp>
      <p:sp>
        <p:nvSpPr>
          <p:cNvPr id="5" name="11 / 32">
            <a:extLst xmlns:a="http://schemas.openxmlformats.org/drawingml/2006/main">
              <a:ext uri="{FF2B5EF4-FFF2-40B4-BE49-F238E27FC236}">
                <a16:creationId xmlns:a16="http://schemas.microsoft.com/office/drawing/2014/main" id="{666C990E-4C17-4C3C-A059-5A83336D36F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11 / 32</a:t>
            </a:r>
          </a:p>
        </p:txBody>
      </p:sp>
      <p:graphicFrame>
        <p:nvGraphicFramePr>
          <p:cNvPr id="6" name="">
            <a:extLst xmlns:a="http://schemas.openxmlformats.org/drawingml/2006/main">
              <a:ext uri="{FF2B5EF4-FFF2-40B4-BE49-F238E27FC236}">
                <a16:creationId xmlns:a16="http://schemas.microsoft.com/office/drawing/2014/main" id="{FADFED30-17F0-4DB4-96D0-E3FAAE4A1EE3}"/>
              </a:ext>
            </a:extLst>
          </p:cNvPr>
          <p:cNvGraphicFramePr/>
          <p:nvPr/>
        </p:nvGraphicFramePr>
        <p:xfrm>
          <a:off xmlns:a="http://schemas.openxmlformats.org/drawingml/2006/main" x="609600" y="1847850"/>
          <a:ext xmlns:a="http://schemas.openxmlformats.org/drawingml/2006/main" cx="10972800" cy="3114675"/>
        </p:xfrm>
        <a:graphic xmlns:a="http://schemas.openxmlformats.org/drawingml/2006/main">
          <a:graphicData uri="http://schemas.openxmlformats.org/drawingml/2006/table">
            <a:tbl>
              <a:tblPr firstRow="0" bandRow="0"/>
              <a:tblGrid>
                <a:gridCol w="2762250"/>
                <a:gridCol w="4762500"/>
                <a:gridCol w="3448050"/>
              </a:tblGrid>
              <a:tr h="778669">
                <a:tc>
                  <a:txBody>
                    <a:bodyPr/>
                    <a:lstStyle/>
                    <a:p>
                      <a:r>
                        <a:rPr sz="1725" b="1">
                          <a:solidFill>
                            <a:srgbClr val="FFFFFF"/>
                          </a:solidFill>
                          <a:latin typeface="Arial"/>
                          <a:ea typeface="Arial"/>
                          <a:cs typeface="Arial"/>
                        </a:rPr>
                        <a:t>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Cách kết hợp hàng xóm</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Điểm cần nhớ</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78669">
                <a:tc>
                  <a:txBody>
                    <a:bodyPr/>
                    <a:lstStyle/>
                    <a:p>
                      <a:r>
                        <a:rPr sz="1725">
                          <a:solidFill>
                            <a:srgbClr val="163B3B"/>
                          </a:solidFill>
                          <a:latin typeface="Arial"/>
                          <a:ea typeface="Arial"/>
                          <a:cs typeface="Arial"/>
                        </a:rPr>
                        <a:t>GCN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Trọng số theo cấu trúc</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Gọn, dễ làm baseline</a:t>
                      </a:r>
                    </a:p>
                  </a:txBody>
                  <a:tcPr marL="114300" marR="95250" marT="85725" marB="76200" anchor="ctr">
                    <a:lnR w="7620">
                      <a:solidFill>
                        <a:srgbClr val="D7E1D9"/>
                      </a:solidFill>
                    </a:lnR>
                    <a:lnB w="7620">
                      <a:solidFill>
                        <a:srgbClr val="D7E1D9"/>
                      </a:solidFill>
                    </a:lnB>
                    <a:solidFill>
                      <a:srgbClr val="F7F6F0"/>
                    </a:solidFill>
                  </a:tcPr>
                </a:tc>
              </a:tr>
              <a:tr h="778669">
                <a:tc>
                  <a:txBody>
                    <a:bodyPr/>
                    <a:lstStyle/>
                    <a:p>
                      <a:r>
                        <a:rPr sz="1725">
                          <a:solidFill>
                            <a:srgbClr val="163B3B"/>
                          </a:solidFill>
                          <a:latin typeface="Arial"/>
                          <a:ea typeface="Arial"/>
                          <a:cs typeface="Arial"/>
                        </a:rPr>
                        <a:t>GraphSAGE</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Lấy mẫu + hàm tổng hợp</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Có thể áp dụng cho nút mới</a:t>
                      </a:r>
                    </a:p>
                  </a:txBody>
                  <a:tcPr marL="114300" marR="95250" marT="85725" marB="76200" anchor="ctr">
                    <a:lnR w="7620">
                      <a:solidFill>
                        <a:srgbClr val="D7E1D9"/>
                      </a:solidFill>
                    </a:lnR>
                    <a:lnB w="7620">
                      <a:solidFill>
                        <a:srgbClr val="D7E1D9"/>
                      </a:solidFill>
                    </a:lnB>
                    <a:solidFill>
                      <a:srgbClr val="F7F6F0"/>
                    </a:solidFill>
                  </a:tcPr>
                </a:tc>
              </a:tr>
              <a:tr h="778669">
                <a:tc>
                  <a:txBody>
                    <a:bodyPr/>
                    <a:lstStyle/>
                    <a:p>
                      <a:r>
                        <a:rPr sz="1725">
                          <a:solidFill>
                            <a:srgbClr val="163B3B"/>
                          </a:solidFill>
                          <a:latin typeface="Arial"/>
                          <a:ea typeface="Arial"/>
                          <a:cs typeface="Arial"/>
                        </a:rPr>
                        <a:t>GAT</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Trọng số attention theo cạnh</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Attention không chứng minh nhân quả</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202F334B-F9CD-47FC-A3C6-D6CD87F733FA}"/>
              </a:ext>
            </a:extLst>
          </p:cNvPr>
          <p:cNvSpPr>
            <a:spLocks xmlns:a="http://schemas.openxmlformats.org/drawingml/2006/main" noGrp="1"/>
          </p:cNvSpPr>
          <p:nvPr/>
        </p:nvSpPr>
        <p:spPr>
          <a:xfrm xmlns:a="http://schemas.openxmlformats.org/drawingml/2006/main">
            <a:off x="609600" y="526732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GraphSAGE học hàm tổng hợp; GAT học trọng số">
            <a:extLst xmlns:a="http://schemas.openxmlformats.org/drawingml/2006/main">
              <a:ext uri="{FF2B5EF4-FFF2-40B4-BE49-F238E27FC236}">
                <a16:creationId xmlns:a16="http://schemas.microsoft.com/office/drawing/2014/main" id="{91340C46-543F-436A-AA9B-F6866D49E4CF}"/>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GraphSAGE học hàm tổng hợp; GAT học trọng số chú ý</a:t>
            </a:r>
          </a:p>
        </p:txBody>
      </p:sp>
    </p:spTree>
    <p:extLst>
      <p:ext uri="{BB962C8B-B14F-4D97-AF65-F5344CB8AC3E}">
        <p14:creationId xmlns:p14="http://schemas.microsoft.com/office/powerpoint/2010/main" val="142512684"/>
      </p:ext>
    </p:extLst>
  </p:cSld>
</p:sld>
</file>

<file path=ppt/slides/slide1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31" name="">
            <a:extLst xmlns:a="http://schemas.openxmlformats.org/drawingml/2006/main">
              <a:ext uri="{FF2B5EF4-FFF2-40B4-BE49-F238E27FC236}">
                <a16:creationId xmlns:a16="http://schemas.microsoft.com/office/drawing/2014/main" id="{6C73FD31-9486-47FF-AAA7-15C7026740EB}"/>
              </a:ext>
            </a:extLst>
          </p:cNvPr>
          <p:cNvCxnSpPr>
            <a:stCxn xmlns:a="http://schemas.openxmlformats.org/drawingml/2006/main" id="23" idx="5"/>
            <a:endCxn xmlns:a="http://schemas.openxmlformats.org/drawingml/2006/main" id="25" idx="1"/>
          </p:cNvCxnSpPr>
          <p:nvPr/>
        </p:nvCxnSpPr>
        <p:spPr>
          <a:xfrm xmlns:a="http://schemas.openxmlformats.org/drawingml/2006/main">
            <a:off x="9500060" y="34574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30" name="">
            <a:extLst xmlns:a="http://schemas.openxmlformats.org/drawingml/2006/main">
              <a:ext uri="{FF2B5EF4-FFF2-40B4-BE49-F238E27FC236}">
                <a16:creationId xmlns:a16="http://schemas.microsoft.com/office/drawing/2014/main" id="{FF46111D-CCF0-4D0E-8D9E-9C7AE66A5401}"/>
              </a:ext>
            </a:extLst>
          </p:cNvPr>
          <p:cNvCxnSpPr>
            <a:stCxn xmlns:a="http://schemas.openxmlformats.org/drawingml/2006/main" id="23" idx="7"/>
            <a:endCxn xmlns:a="http://schemas.openxmlformats.org/drawingml/2006/main" id="24" idx="3"/>
          </p:cNvCxnSpPr>
          <p:nvPr/>
        </p:nvCxnSpPr>
        <p:spPr>
          <a:xfrm xmlns:a="http://schemas.openxmlformats.org/drawingml/2006/main" flipV="1">
            <a:off x="9500060" y="28097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9" name="">
            <a:extLst xmlns:a="http://schemas.openxmlformats.org/drawingml/2006/main">
              <a:ext uri="{FF2B5EF4-FFF2-40B4-BE49-F238E27FC236}">
                <a16:creationId xmlns:a16="http://schemas.microsoft.com/office/drawing/2014/main" id="{A076D547-A30E-47B7-8209-93D25AF6CA4C}"/>
              </a:ext>
            </a:extLst>
          </p:cNvPr>
          <p:cNvCxnSpPr>
            <a:stCxn xmlns:a="http://schemas.openxmlformats.org/drawingml/2006/main" id="22" idx="7"/>
            <a:endCxn xmlns:a="http://schemas.openxmlformats.org/drawingml/2006/main" id="23" idx="3"/>
          </p:cNvCxnSpPr>
          <p:nvPr/>
        </p:nvCxnSpPr>
        <p:spPr>
          <a:xfrm xmlns:a="http://schemas.openxmlformats.org/drawingml/2006/main" flipV="1">
            <a:off x="8560895" y="3457400"/>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8" name="">
            <a:extLst xmlns:a="http://schemas.openxmlformats.org/drawingml/2006/main">
              <a:ext uri="{FF2B5EF4-FFF2-40B4-BE49-F238E27FC236}">
                <a16:creationId xmlns:a16="http://schemas.microsoft.com/office/drawing/2014/main" id="{B8F5C6BA-2FCC-4138-958C-8991D8F2AB51}"/>
              </a:ext>
            </a:extLst>
          </p:cNvPr>
          <p:cNvCxnSpPr>
            <a:stCxn xmlns:a="http://schemas.openxmlformats.org/drawingml/2006/main" id="21" idx="5"/>
            <a:endCxn xmlns:a="http://schemas.openxmlformats.org/drawingml/2006/main" id="23" idx="1"/>
          </p:cNvCxnSpPr>
          <p:nvPr/>
        </p:nvCxnSpPr>
        <p:spPr>
          <a:xfrm xmlns:a="http://schemas.openxmlformats.org/drawingml/2006/main">
            <a:off x="8560895" y="2809700"/>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7" name="">
            <a:extLst xmlns:a="http://schemas.openxmlformats.org/drawingml/2006/main">
              <a:ext uri="{FF2B5EF4-FFF2-40B4-BE49-F238E27FC236}">
                <a16:creationId xmlns:a16="http://schemas.microsoft.com/office/drawing/2014/main" id="{814CF960-8CA4-44A9-9657-638E3B4B74A5}"/>
              </a:ext>
            </a:extLst>
          </p:cNvPr>
          <p:cNvCxnSpPr>
            <a:stCxn xmlns:a="http://schemas.openxmlformats.org/drawingml/2006/main" id="20" idx="5"/>
            <a:endCxn xmlns:a="http://schemas.openxmlformats.org/drawingml/2006/main" id="22" idx="1"/>
          </p:cNvCxnSpPr>
          <p:nvPr/>
        </p:nvCxnSpPr>
        <p:spPr>
          <a:xfrm xmlns:a="http://schemas.openxmlformats.org/drawingml/2006/main">
            <a:off x="7686500" y="34574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26" name="">
            <a:extLst xmlns:a="http://schemas.openxmlformats.org/drawingml/2006/main">
              <a:ext uri="{FF2B5EF4-FFF2-40B4-BE49-F238E27FC236}">
                <a16:creationId xmlns:a16="http://schemas.microsoft.com/office/drawing/2014/main" id="{F497BFAB-36DB-41DC-AF01-0F5FBA897890}"/>
              </a:ext>
            </a:extLst>
          </p:cNvPr>
          <p:cNvCxnSpPr>
            <a:stCxn xmlns:a="http://schemas.openxmlformats.org/drawingml/2006/main" id="20" idx="7"/>
            <a:endCxn xmlns:a="http://schemas.openxmlformats.org/drawingml/2006/main" id="21" idx="3"/>
          </p:cNvCxnSpPr>
          <p:nvPr/>
        </p:nvCxnSpPr>
        <p:spPr>
          <a:xfrm xmlns:a="http://schemas.openxmlformats.org/drawingml/2006/main" flipV="1">
            <a:off x="7686500" y="2809700"/>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40" name="DEEP GRAPH  /  NGƯỜI 2">
            <a:extLst xmlns:a="http://schemas.openxmlformats.org/drawingml/2006/main">
              <a:ext uri="{FF2B5EF4-FFF2-40B4-BE49-F238E27FC236}">
                <a16:creationId xmlns:a16="http://schemas.microsoft.com/office/drawing/2014/main" id="{CE5A29B3-4AFF-42AF-BFFA-0FFFF37AADF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F0CBFDC3-82B4-46F7-AB40-1EE3B89FF5A8}"/>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có thể kết hợp với chuỗi thời gian</a:t>
            </a:r>
          </a:p>
        </p:txBody>
      </p:sp>
      <p:sp>
        <p:nvSpPr>
          <p:cNvPr id="3" name="">
            <a:extLst xmlns:a="http://schemas.openxmlformats.org/drawingml/2006/main">
              <a:ext uri="{FF2B5EF4-FFF2-40B4-BE49-F238E27FC236}">
                <a16:creationId xmlns:a16="http://schemas.microsoft.com/office/drawing/2014/main" id="{17A202A4-3C3C-4A95-9235-5E2EB0DAA71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0 giây">
            <a:extLst xmlns:a="http://schemas.openxmlformats.org/drawingml/2006/main">
              <a:ext uri="{FF2B5EF4-FFF2-40B4-BE49-F238E27FC236}">
                <a16:creationId xmlns:a16="http://schemas.microsoft.com/office/drawing/2014/main" id="{EAE7CA05-2D8C-4B28-BF1A-C47075A61FD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70 giây</a:t>
            </a:r>
          </a:p>
        </p:txBody>
      </p:sp>
      <p:sp>
        <p:nvSpPr>
          <p:cNvPr id="5" name="12 / 32">
            <a:extLst xmlns:a="http://schemas.openxmlformats.org/drawingml/2006/main">
              <a:ext uri="{FF2B5EF4-FFF2-40B4-BE49-F238E27FC236}">
                <a16:creationId xmlns:a16="http://schemas.microsoft.com/office/drawing/2014/main" id="{335D1673-5C06-4A8F-9305-949024BD93C2}"/>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12 / 32</a:t>
            </a:r>
          </a:p>
        </p:txBody>
      </p:sp>
      <p:sp>
        <p:nvSpPr>
          <p:cNvPr id="6" name="">
            <a:extLst xmlns:a="http://schemas.openxmlformats.org/drawingml/2006/main">
              <a:ext uri="{FF2B5EF4-FFF2-40B4-BE49-F238E27FC236}">
                <a16:creationId xmlns:a16="http://schemas.microsoft.com/office/drawing/2014/main" id="{1C564040-CCBC-4241-A4DC-5E589D0B4C77}"/>
              </a:ext>
            </a:extLst>
          </p:cNvPr>
          <p:cNvSpPr>
            <a:spLocks xmlns:a="http://schemas.openxmlformats.org/drawingml/2006/main" noGrp="1"/>
          </p:cNvSpPr>
          <p:nvPr/>
        </p:nvSpPr>
        <p:spPr>
          <a:xfrm xmlns:a="http://schemas.openxmlformats.org/drawingml/2006/main">
            <a:off x="857250" y="3352800"/>
            <a:ext cx="238125" cy="32385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02BD6A4-2934-4A0F-9A9E-0D9F1A2AFBF0}"/>
              </a:ext>
            </a:extLst>
          </p:cNvPr>
          <p:cNvSpPr>
            <a:spLocks xmlns:a="http://schemas.openxmlformats.org/drawingml/2006/main" noGrp="1"/>
          </p:cNvSpPr>
          <p:nvPr/>
        </p:nvSpPr>
        <p:spPr>
          <a:xfrm xmlns:a="http://schemas.openxmlformats.org/drawingml/2006/main">
            <a:off x="1295400" y="3076575"/>
            <a:ext cx="238125" cy="6000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9E63181-0D8B-4D42-820B-761E9B35C0B3}"/>
              </a:ext>
            </a:extLst>
          </p:cNvPr>
          <p:cNvSpPr>
            <a:spLocks xmlns:a="http://schemas.openxmlformats.org/drawingml/2006/main" noGrp="1"/>
          </p:cNvSpPr>
          <p:nvPr/>
        </p:nvSpPr>
        <p:spPr>
          <a:xfrm xmlns:a="http://schemas.openxmlformats.org/drawingml/2006/main">
            <a:off x="1733550" y="2800350"/>
            <a:ext cx="238125" cy="8763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1C14039-7CD2-498B-B27F-7A1176DC58E2}"/>
              </a:ext>
            </a:extLst>
          </p:cNvPr>
          <p:cNvSpPr>
            <a:spLocks xmlns:a="http://schemas.openxmlformats.org/drawingml/2006/main" noGrp="1"/>
          </p:cNvSpPr>
          <p:nvPr/>
        </p:nvSpPr>
        <p:spPr>
          <a:xfrm xmlns:a="http://schemas.openxmlformats.org/drawingml/2006/main">
            <a:off x="2171700" y="3190875"/>
            <a:ext cx="238125" cy="4857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00DBC27-B003-4318-8902-DE8028A80F6C}"/>
              </a:ext>
            </a:extLst>
          </p:cNvPr>
          <p:cNvSpPr>
            <a:spLocks xmlns:a="http://schemas.openxmlformats.org/drawingml/2006/main" noGrp="1"/>
          </p:cNvSpPr>
          <p:nvPr/>
        </p:nvSpPr>
        <p:spPr>
          <a:xfrm xmlns:a="http://schemas.openxmlformats.org/drawingml/2006/main">
            <a:off x="2609850" y="2914650"/>
            <a:ext cx="238125" cy="7620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7C5556C-B127-4E89-A920-19C2ECF46132}"/>
              </a:ext>
            </a:extLst>
          </p:cNvPr>
          <p:cNvSpPr>
            <a:spLocks xmlns:a="http://schemas.openxmlformats.org/drawingml/2006/main" noGrp="1"/>
          </p:cNvSpPr>
          <p:nvPr/>
        </p:nvSpPr>
        <p:spPr>
          <a:xfrm xmlns:a="http://schemas.openxmlformats.org/drawingml/2006/main">
            <a:off x="3048000" y="3305175"/>
            <a:ext cx="238125" cy="37147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AF1345E-9D30-40FB-A413-7F62DD2925FA}"/>
              </a:ext>
            </a:extLst>
          </p:cNvPr>
          <p:cNvSpPr>
            <a:spLocks xmlns:a="http://schemas.openxmlformats.org/drawingml/2006/main" noGrp="1"/>
          </p:cNvSpPr>
          <p:nvPr/>
        </p:nvSpPr>
        <p:spPr>
          <a:xfrm xmlns:a="http://schemas.openxmlformats.org/drawingml/2006/main">
            <a:off x="3486150" y="3028950"/>
            <a:ext cx="238125" cy="6477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75CD651-F4C0-438E-9978-1CECFC3F7211}"/>
              </a:ext>
            </a:extLst>
          </p:cNvPr>
          <p:cNvSpPr>
            <a:spLocks xmlns:a="http://schemas.openxmlformats.org/drawingml/2006/main" noGrp="1"/>
          </p:cNvSpPr>
          <p:nvPr/>
        </p:nvSpPr>
        <p:spPr>
          <a:xfrm xmlns:a="http://schemas.openxmlformats.org/drawingml/2006/main">
            <a:off x="3924300" y="2752725"/>
            <a:ext cx="238125" cy="92392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6E37459-CCAF-4C80-AE08-E9EC5B4F90CB}"/>
              </a:ext>
            </a:extLst>
          </p:cNvPr>
          <p:cNvSpPr>
            <a:spLocks xmlns:a="http://schemas.openxmlformats.org/drawingml/2006/main" noGrp="1"/>
          </p:cNvSpPr>
          <p:nvPr/>
        </p:nvSpPr>
        <p:spPr>
          <a:xfrm xmlns:a="http://schemas.openxmlformats.org/drawingml/2006/main">
            <a:off x="4362450" y="3143250"/>
            <a:ext cx="238125" cy="5334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64F4E23-8498-4C12-8A31-E3BC75D21B84}"/>
              </a:ext>
            </a:extLst>
          </p:cNvPr>
          <p:cNvSpPr>
            <a:spLocks xmlns:a="http://schemas.openxmlformats.org/drawingml/2006/main" noGrp="1"/>
          </p:cNvSpPr>
          <p:nvPr/>
        </p:nvSpPr>
        <p:spPr>
          <a:xfrm xmlns:a="http://schemas.openxmlformats.org/drawingml/2006/main">
            <a:off x="4800600" y="2867025"/>
            <a:ext cx="238125" cy="809625"/>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1FD619D-8078-451E-8D34-A30E15C20B16}"/>
              </a:ext>
            </a:extLst>
          </p:cNvPr>
          <p:cNvSpPr>
            <a:spLocks xmlns:a="http://schemas.openxmlformats.org/drawingml/2006/main" noGrp="1"/>
          </p:cNvSpPr>
          <p:nvPr/>
        </p:nvSpPr>
        <p:spPr>
          <a:xfrm xmlns:a="http://schemas.openxmlformats.org/drawingml/2006/main">
            <a:off x="5238750" y="3257550"/>
            <a:ext cx="238125" cy="419100"/>
          </a:xfrm>
          <a:prstGeom xmlns:a="http://schemas.openxmlformats.org/drawingml/2006/main" prst="rect">
            <a:avLst/>
          </a:prstGeom>
          <a:solidFill xmlns:a="http://schemas.openxmlformats.org/drawingml/2006/main">
            <a:srgbClr val="9EB6A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AE74324-4B3B-4A76-869D-F2912086EEE6}"/>
              </a:ext>
            </a:extLst>
          </p:cNvPr>
          <p:cNvSpPr>
            <a:spLocks xmlns:a="http://schemas.openxmlformats.org/drawingml/2006/main" noGrp="1"/>
          </p:cNvSpPr>
          <p:nvPr/>
        </p:nvSpPr>
        <p:spPr>
          <a:xfrm xmlns:a="http://schemas.openxmlformats.org/drawingml/2006/main">
            <a:off x="5676900" y="2981325"/>
            <a:ext cx="238125" cy="69532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18" name="12 mốc lịch sử">
            <a:extLst xmlns:a="http://schemas.openxmlformats.org/drawingml/2006/main">
              <a:ext uri="{FF2B5EF4-FFF2-40B4-BE49-F238E27FC236}">
                <a16:creationId xmlns:a16="http://schemas.microsoft.com/office/drawing/2014/main" id="{2A9D8C38-0795-4532-A324-1260CCAF490D}"/>
              </a:ext>
            </a:extLst>
          </p:cNvPr>
          <p:cNvSpPr>
            <a:spLocks xmlns:a="http://schemas.openxmlformats.org/drawingml/2006/main" noGrp="1"/>
          </p:cNvSpPr>
          <p:nvPr/>
        </p:nvSpPr>
        <p:spPr>
          <a:xfrm xmlns:a="http://schemas.openxmlformats.org/drawingml/2006/main">
            <a:off x="838200" y="3829050"/>
            <a:ext cx="5286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087E73"/>
                </a:solidFill>
                <a:latin typeface="Arial"/>
                <a:ea typeface="Arial"/>
                <a:cs typeface="Arial"/>
              </a:defRPr>
            </a:defPPr>
          </a:lstStyle>
          <a:p xmlns:a="http://schemas.openxmlformats.org/drawingml/2006/main">
            <a:pPr>
              <a:defRPr sz="1800" b="1">
                <a:solidFill>
                  <a:srgbClr val="087E73"/>
                </a:solidFill>
                <a:latin typeface="Arial"/>
                <a:ea typeface="Arial"/>
                <a:cs typeface="Arial"/>
              </a:defRPr>
            </a:pPr>
            <a:r>
              <a:rPr sz="1800" b="1">
                <a:solidFill>
                  <a:srgbClr val="087E73"/>
                </a:solidFill>
                <a:latin typeface="Arial"/>
                <a:ea typeface="Arial"/>
                <a:cs typeface="Arial"/>
              </a:rPr>
              <a:t>12 mốc lịch sử</a:t>
            </a:r>
          </a:p>
        </p:txBody>
      </p:sp>
      <p:sp>
        <p:nvSpPr>
          <p:cNvPr id="19" name="→">
            <a:extLst xmlns:a="http://schemas.openxmlformats.org/drawingml/2006/main">
              <a:ext uri="{FF2B5EF4-FFF2-40B4-BE49-F238E27FC236}">
                <a16:creationId xmlns:a16="http://schemas.microsoft.com/office/drawing/2014/main" id="{B461100C-4789-42BF-97C1-AA849FBA985A}"/>
              </a:ext>
            </a:extLst>
          </p:cNvPr>
          <p:cNvSpPr>
            <a:spLocks xmlns:a="http://schemas.openxmlformats.org/drawingml/2006/main" noGrp="1"/>
          </p:cNvSpPr>
          <p:nvPr/>
        </p:nvSpPr>
        <p:spPr>
          <a:xfrm xmlns:a="http://schemas.openxmlformats.org/drawingml/2006/main">
            <a:off x="6191250" y="3048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750" b="1">
                <a:solidFill>
                  <a:srgbClr val="BE7B2F"/>
                </a:solidFill>
                <a:latin typeface="Arial"/>
                <a:ea typeface="Arial"/>
                <a:cs typeface="Arial"/>
              </a:defRPr>
            </a:defPPr>
          </a:lstStyle>
          <a:p xmlns:a="http://schemas.openxmlformats.org/drawingml/2006/main">
            <a:pPr algn="ctr">
              <a:defRPr sz="3750" b="1">
                <a:solidFill>
                  <a:srgbClr val="BE7B2F"/>
                </a:solidFill>
                <a:latin typeface="Arial"/>
                <a:ea typeface="Arial"/>
                <a:cs typeface="Arial"/>
              </a:defRPr>
            </a:pPr>
            <a:r>
              <a:rPr sz="3750" b="1">
                <a:solidFill>
                  <a:srgbClr val="BE7B2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6518402E-0A8A-4D48-B44C-C6837E8C943D}"/>
              </a:ext>
            </a:extLst>
          </p:cNvPr>
          <p:cNvSpPr>
            <a:spLocks xmlns:a="http://schemas.openxmlformats.org/drawingml/2006/main" noGrp="1"/>
          </p:cNvSpPr>
          <p:nvPr/>
        </p:nvSpPr>
        <p:spPr>
          <a:xfrm xmlns:a="http://schemas.openxmlformats.org/drawingml/2006/main">
            <a:off x="7399020" y="31699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AD2F2CF-39EB-4704-A8D7-DA766A64F982}"/>
              </a:ext>
            </a:extLst>
          </p:cNvPr>
          <p:cNvSpPr>
            <a:spLocks xmlns:a="http://schemas.openxmlformats.org/drawingml/2006/main" noGrp="1"/>
          </p:cNvSpPr>
          <p:nvPr/>
        </p:nvSpPr>
        <p:spPr>
          <a:xfrm xmlns:a="http://schemas.openxmlformats.org/drawingml/2006/main">
            <a:off x="8273415" y="2522220"/>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A6E8C18-C0AF-4B9B-8076-DC3A4A12630C}"/>
              </a:ext>
            </a:extLst>
          </p:cNvPr>
          <p:cNvSpPr>
            <a:spLocks xmlns:a="http://schemas.openxmlformats.org/drawingml/2006/main" noGrp="1"/>
          </p:cNvSpPr>
          <p:nvPr/>
        </p:nvSpPr>
        <p:spPr>
          <a:xfrm xmlns:a="http://schemas.openxmlformats.org/drawingml/2006/main">
            <a:off x="8273415" y="38176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6359A8C-5B50-4CF1-A32C-427396E953C5}"/>
              </a:ext>
            </a:extLst>
          </p:cNvPr>
          <p:cNvSpPr>
            <a:spLocks xmlns:a="http://schemas.openxmlformats.org/drawingml/2006/main" noGrp="1"/>
          </p:cNvSpPr>
          <p:nvPr/>
        </p:nvSpPr>
        <p:spPr>
          <a:xfrm xmlns:a="http://schemas.openxmlformats.org/drawingml/2006/main">
            <a:off x="9212580" y="3169920"/>
            <a:ext cx="336804" cy="33680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AD618E6-803B-4413-92EB-607A25ACB699}"/>
              </a:ext>
            </a:extLst>
          </p:cNvPr>
          <p:cNvSpPr>
            <a:spLocks xmlns:a="http://schemas.openxmlformats.org/drawingml/2006/main" noGrp="1"/>
          </p:cNvSpPr>
          <p:nvPr/>
        </p:nvSpPr>
        <p:spPr>
          <a:xfrm xmlns:a="http://schemas.openxmlformats.org/drawingml/2006/main">
            <a:off x="10086975" y="2522220"/>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F0D22B2-15A2-487B-880F-C4BF68C6987B}"/>
              </a:ext>
            </a:extLst>
          </p:cNvPr>
          <p:cNvSpPr>
            <a:spLocks xmlns:a="http://schemas.openxmlformats.org/drawingml/2006/main" noGrp="1"/>
          </p:cNvSpPr>
          <p:nvPr/>
        </p:nvSpPr>
        <p:spPr>
          <a:xfrm xmlns:a="http://schemas.openxmlformats.org/drawingml/2006/main">
            <a:off x="10086975" y="3817620"/>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32" name="A">
            <a:extLst xmlns:a="http://schemas.openxmlformats.org/drawingml/2006/main">
              <a:ext uri="{FF2B5EF4-FFF2-40B4-BE49-F238E27FC236}">
                <a16:creationId xmlns:a16="http://schemas.microsoft.com/office/drawing/2014/main" id="{937AA919-6D1B-40BB-A35E-ADF43880C226}"/>
              </a:ext>
            </a:extLst>
          </p:cNvPr>
          <p:cNvSpPr>
            <a:spLocks xmlns:a="http://schemas.openxmlformats.org/drawingml/2006/main" noGrp="1"/>
          </p:cNvSpPr>
          <p:nvPr/>
        </p:nvSpPr>
        <p:spPr>
          <a:xfrm xmlns:a="http://schemas.openxmlformats.org/drawingml/2006/main">
            <a:off x="7399020" y="32476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A</a:t>
            </a:r>
          </a:p>
        </p:txBody>
      </p:sp>
      <p:sp>
        <p:nvSpPr>
          <p:cNvPr id="33" name="B">
            <a:extLst xmlns:a="http://schemas.openxmlformats.org/drawingml/2006/main">
              <a:ext uri="{FF2B5EF4-FFF2-40B4-BE49-F238E27FC236}">
                <a16:creationId xmlns:a16="http://schemas.microsoft.com/office/drawing/2014/main" id="{A9AD4E59-0CBA-4CCA-B449-54041D62F4BE}"/>
              </a:ext>
            </a:extLst>
          </p:cNvPr>
          <p:cNvSpPr>
            <a:spLocks xmlns:a="http://schemas.openxmlformats.org/drawingml/2006/main" noGrp="1"/>
          </p:cNvSpPr>
          <p:nvPr/>
        </p:nvSpPr>
        <p:spPr>
          <a:xfrm xmlns:a="http://schemas.openxmlformats.org/drawingml/2006/main">
            <a:off x="8273415" y="25999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B</a:t>
            </a:r>
          </a:p>
        </p:txBody>
      </p:sp>
      <p:sp>
        <p:nvSpPr>
          <p:cNvPr id="34" name="C">
            <a:extLst xmlns:a="http://schemas.openxmlformats.org/drawingml/2006/main">
              <a:ext uri="{FF2B5EF4-FFF2-40B4-BE49-F238E27FC236}">
                <a16:creationId xmlns:a16="http://schemas.microsoft.com/office/drawing/2014/main" id="{AA05D0BF-50AA-417A-8F4E-27483A639F2F}"/>
              </a:ext>
            </a:extLst>
          </p:cNvPr>
          <p:cNvSpPr>
            <a:spLocks xmlns:a="http://schemas.openxmlformats.org/drawingml/2006/main" noGrp="1"/>
          </p:cNvSpPr>
          <p:nvPr/>
        </p:nvSpPr>
        <p:spPr>
          <a:xfrm xmlns:a="http://schemas.openxmlformats.org/drawingml/2006/main">
            <a:off x="8273415" y="38953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C</a:t>
            </a:r>
          </a:p>
        </p:txBody>
      </p:sp>
      <p:sp>
        <p:nvSpPr>
          <p:cNvPr id="35" name="D">
            <a:extLst xmlns:a="http://schemas.openxmlformats.org/drawingml/2006/main">
              <a:ext uri="{FF2B5EF4-FFF2-40B4-BE49-F238E27FC236}">
                <a16:creationId xmlns:a16="http://schemas.microsoft.com/office/drawing/2014/main" id="{14C59C90-F3D5-472E-948F-770D5FD46795}"/>
              </a:ext>
            </a:extLst>
          </p:cNvPr>
          <p:cNvSpPr>
            <a:spLocks xmlns:a="http://schemas.openxmlformats.org/drawingml/2006/main" noGrp="1"/>
          </p:cNvSpPr>
          <p:nvPr/>
        </p:nvSpPr>
        <p:spPr>
          <a:xfrm xmlns:a="http://schemas.openxmlformats.org/drawingml/2006/main">
            <a:off x="9212580" y="32476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D</a:t>
            </a:r>
          </a:p>
        </p:txBody>
      </p:sp>
      <p:sp>
        <p:nvSpPr>
          <p:cNvPr id="36" name="E">
            <a:extLst xmlns:a="http://schemas.openxmlformats.org/drawingml/2006/main">
              <a:ext uri="{FF2B5EF4-FFF2-40B4-BE49-F238E27FC236}">
                <a16:creationId xmlns:a16="http://schemas.microsoft.com/office/drawing/2014/main" id="{B7960463-A929-42A1-BB8E-514C72969D0B}"/>
              </a:ext>
            </a:extLst>
          </p:cNvPr>
          <p:cNvSpPr>
            <a:spLocks xmlns:a="http://schemas.openxmlformats.org/drawingml/2006/main" noGrp="1"/>
          </p:cNvSpPr>
          <p:nvPr/>
        </p:nvSpPr>
        <p:spPr>
          <a:xfrm xmlns:a="http://schemas.openxmlformats.org/drawingml/2006/main">
            <a:off x="10086975" y="25999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E</a:t>
            </a:r>
          </a:p>
        </p:txBody>
      </p:sp>
      <p:sp>
        <p:nvSpPr>
          <p:cNvPr id="37" name="F">
            <a:extLst xmlns:a="http://schemas.openxmlformats.org/drawingml/2006/main">
              <a:ext uri="{FF2B5EF4-FFF2-40B4-BE49-F238E27FC236}">
                <a16:creationId xmlns:a16="http://schemas.microsoft.com/office/drawing/2014/main" id="{8F3228F5-A303-491C-A955-3D88B0B099DA}"/>
              </a:ext>
            </a:extLst>
          </p:cNvPr>
          <p:cNvSpPr>
            <a:spLocks xmlns:a="http://schemas.openxmlformats.org/drawingml/2006/main" noGrp="1"/>
          </p:cNvSpPr>
          <p:nvPr/>
        </p:nvSpPr>
        <p:spPr>
          <a:xfrm xmlns:a="http://schemas.openxmlformats.org/drawingml/2006/main">
            <a:off x="10086975" y="3895344"/>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F</a:t>
            </a:r>
          </a:p>
        </p:txBody>
      </p:sp>
      <p:sp>
        <p:nvSpPr>
          <p:cNvPr id="38" name="GCN + GRU">
            <a:extLst xmlns:a="http://schemas.openxmlformats.org/drawingml/2006/main">
              <a:ext uri="{FF2B5EF4-FFF2-40B4-BE49-F238E27FC236}">
                <a16:creationId xmlns:a16="http://schemas.microsoft.com/office/drawing/2014/main" id="{93B7370C-500C-41E0-85EC-C0CDA62BFA4C}"/>
              </a:ext>
            </a:extLst>
          </p:cNvPr>
          <p:cNvSpPr>
            <a:spLocks xmlns:a="http://schemas.openxmlformats.org/drawingml/2006/main" noGrp="1"/>
          </p:cNvSpPr>
          <p:nvPr/>
        </p:nvSpPr>
        <p:spPr>
          <a:xfrm xmlns:a="http://schemas.openxmlformats.org/drawingml/2006/main">
            <a:off x="8953500" y="42481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GCN + GRU</a:t>
            </a:r>
          </a:p>
        </p:txBody>
      </p:sp>
      <p:sp>
        <p:nvSpPr>
          <p:cNvPr id="39" name="Không gian trả lời ai liên quan; thời gian t">
            <a:extLst xmlns:a="http://schemas.openxmlformats.org/drawingml/2006/main">
              <a:ext uri="{FF2B5EF4-FFF2-40B4-BE49-F238E27FC236}">
                <a16:creationId xmlns:a16="http://schemas.microsoft.com/office/drawing/2014/main" id="{8290B9A5-1C47-4186-87DB-AA31F72005D3}"/>
              </a:ext>
            </a:extLst>
          </p:cNvPr>
          <p:cNvSpPr>
            <a:spLocks xmlns:a="http://schemas.openxmlformats.org/drawingml/2006/main" noGrp="1"/>
          </p:cNvSpPr>
          <p:nvPr/>
        </p:nvSpPr>
        <p:spPr>
          <a:xfrm xmlns:a="http://schemas.openxmlformats.org/drawingml/2006/main">
            <a:off x="762000" y="51339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087E73"/>
                </a:solidFill>
                <a:latin typeface="Arial"/>
                <a:ea typeface="Arial"/>
                <a:cs typeface="Arial"/>
              </a:defRPr>
            </a:defPPr>
          </a:lstStyle>
          <a:p xmlns:a="http://schemas.openxmlformats.org/drawingml/2006/main">
            <a:pPr algn="ctr">
              <a:defRPr sz="1800" b="1">
                <a:solidFill>
                  <a:srgbClr val="087E73"/>
                </a:solidFill>
                <a:latin typeface="Arial"/>
                <a:ea typeface="Arial"/>
                <a:cs typeface="Arial"/>
              </a:defRPr>
            </a:pPr>
            <a:r>
              <a:rPr sz="1800" b="1">
                <a:solidFill>
                  <a:srgbClr val="087E73"/>
                </a:solidFill>
                <a:latin typeface="Arial"/>
                <a:ea typeface="Arial"/>
                <a:cs typeface="Arial"/>
              </a:rPr>
              <a:t>Không gian trả lời ai liên quan; thời gian trả lời điều gì thay đổi</a:t>
            </a:r>
          </a:p>
        </p:txBody>
      </p:sp>
    </p:spTree>
    <p:extLst>
      <p:ext uri="{BB962C8B-B14F-4D97-AF65-F5344CB8AC3E}">
        <p14:creationId xmlns:p14="http://schemas.microsoft.com/office/powerpoint/2010/main" val="1130985523"/>
      </p:ext>
    </p:extLst>
  </p:cSld>
</p:sld>
</file>

<file path=ppt/slides/slide1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3" name="DEEP GRAPH  /  NGƯỜI 2">
            <a:extLst xmlns:a="http://schemas.openxmlformats.org/drawingml/2006/main">
              <a:ext uri="{FF2B5EF4-FFF2-40B4-BE49-F238E27FC236}">
                <a16:creationId xmlns:a16="http://schemas.microsoft.com/office/drawing/2014/main" id="{937365E3-CD78-4783-AFB9-82149BC8616F}"/>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3286B5CF-A0E0-4F0B-9D33-F3E77993C44A}"/>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Huấn luyện học tham số từ nhãn</a:t>
            </a:r>
          </a:p>
        </p:txBody>
      </p:sp>
      <p:sp>
        <p:nvSpPr>
          <p:cNvPr id="3" name="">
            <a:extLst xmlns:a="http://schemas.openxmlformats.org/drawingml/2006/main">
              <a:ext uri="{FF2B5EF4-FFF2-40B4-BE49-F238E27FC236}">
                <a16:creationId xmlns:a16="http://schemas.microsoft.com/office/drawing/2014/main" id="{D97F37C4-49D3-4F76-8D9F-5534887A464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0E04ACE0-E7E6-4550-B631-6075F1749A8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3 / 32">
            <a:extLst xmlns:a="http://schemas.openxmlformats.org/drawingml/2006/main">
              <a:ext uri="{FF2B5EF4-FFF2-40B4-BE49-F238E27FC236}">
                <a16:creationId xmlns:a16="http://schemas.microsoft.com/office/drawing/2014/main" id="{0BDC131E-5E3B-47F4-8591-85D360075A6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13 / 32</a:t>
            </a:r>
          </a:p>
        </p:txBody>
      </p:sp>
      <p:sp>
        <p:nvSpPr>
          <p:cNvPr id="6" name="">
            <a:extLst xmlns:a="http://schemas.openxmlformats.org/drawingml/2006/main">
              <a:ext uri="{FF2B5EF4-FFF2-40B4-BE49-F238E27FC236}">
                <a16:creationId xmlns:a16="http://schemas.microsoft.com/office/drawing/2014/main" id="{A8E93E70-F44D-4731-8C4E-1A0175643443}"/>
              </a:ext>
            </a:extLst>
          </p:cNvPr>
          <p:cNvSpPr>
            <a:spLocks xmlns:a="http://schemas.openxmlformats.org/drawingml/2006/main" noGrp="1"/>
          </p:cNvSpPr>
          <p:nvPr/>
        </p:nvSpPr>
        <p:spPr>
          <a:xfrm xmlns:a="http://schemas.openxmlformats.org/drawingml/2006/main">
            <a:off x="704850"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7" name="Forward">
            <a:extLst xmlns:a="http://schemas.openxmlformats.org/drawingml/2006/main">
              <a:ext uri="{FF2B5EF4-FFF2-40B4-BE49-F238E27FC236}">
                <a16:creationId xmlns:a16="http://schemas.microsoft.com/office/drawing/2014/main" id="{4FC1EFD9-8C1A-4793-A363-861FF75C4476}"/>
              </a:ext>
            </a:extLst>
          </p:cNvPr>
          <p:cNvSpPr>
            <a:spLocks xmlns:a="http://schemas.openxmlformats.org/drawingml/2006/main" noGrp="1"/>
          </p:cNvSpPr>
          <p:nvPr/>
        </p:nvSpPr>
        <p:spPr>
          <a:xfrm xmlns:a="http://schemas.openxmlformats.org/drawingml/2006/main">
            <a:off x="800100"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Forward</a:t>
            </a:r>
          </a:p>
        </p:txBody>
      </p:sp>
      <p:sp>
        <p:nvSpPr>
          <p:cNvPr id="8" name="→">
            <a:extLst xmlns:a="http://schemas.openxmlformats.org/drawingml/2006/main">
              <a:ext uri="{FF2B5EF4-FFF2-40B4-BE49-F238E27FC236}">
                <a16:creationId xmlns:a16="http://schemas.microsoft.com/office/drawing/2014/main" id="{58D2C624-3B7D-4B7F-8F31-5AC4BE3043FB}"/>
              </a:ext>
            </a:extLst>
          </p:cNvPr>
          <p:cNvSpPr>
            <a:spLocks xmlns:a="http://schemas.openxmlformats.org/drawingml/2006/main" noGrp="1"/>
          </p:cNvSpPr>
          <p:nvPr/>
        </p:nvSpPr>
        <p:spPr>
          <a:xfrm xmlns:a="http://schemas.openxmlformats.org/drawingml/2006/main">
            <a:off x="3300413"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5E44295-9C69-442A-936F-8F55226EB015}"/>
              </a:ext>
            </a:extLst>
          </p:cNvPr>
          <p:cNvSpPr>
            <a:spLocks xmlns:a="http://schemas.openxmlformats.org/drawingml/2006/main" noGrp="1"/>
          </p:cNvSpPr>
          <p:nvPr/>
        </p:nvSpPr>
        <p:spPr>
          <a:xfrm xmlns:a="http://schemas.openxmlformats.org/drawingml/2006/main">
            <a:off x="3433763"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10" name="Loss">
            <a:extLst xmlns:a="http://schemas.openxmlformats.org/drawingml/2006/main">
              <a:ext uri="{FF2B5EF4-FFF2-40B4-BE49-F238E27FC236}">
                <a16:creationId xmlns:a16="http://schemas.microsoft.com/office/drawing/2014/main" id="{EEA55DFF-36CD-4953-BBE5-C43CBE24ABFD}"/>
              </a:ext>
            </a:extLst>
          </p:cNvPr>
          <p:cNvSpPr>
            <a:spLocks xmlns:a="http://schemas.openxmlformats.org/drawingml/2006/main" noGrp="1"/>
          </p:cNvSpPr>
          <p:nvPr/>
        </p:nvSpPr>
        <p:spPr>
          <a:xfrm xmlns:a="http://schemas.openxmlformats.org/drawingml/2006/main">
            <a:off x="3529013"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Loss</a:t>
            </a:r>
          </a:p>
        </p:txBody>
      </p:sp>
      <p:sp>
        <p:nvSpPr>
          <p:cNvPr id="11" name="→">
            <a:extLst xmlns:a="http://schemas.openxmlformats.org/drawingml/2006/main">
              <a:ext uri="{FF2B5EF4-FFF2-40B4-BE49-F238E27FC236}">
                <a16:creationId xmlns:a16="http://schemas.microsoft.com/office/drawing/2014/main" id="{1842BD09-16DE-4290-877C-AD1F55D3B3BC}"/>
              </a:ext>
            </a:extLst>
          </p:cNvPr>
          <p:cNvSpPr>
            <a:spLocks xmlns:a="http://schemas.openxmlformats.org/drawingml/2006/main" noGrp="1"/>
          </p:cNvSpPr>
          <p:nvPr/>
        </p:nvSpPr>
        <p:spPr>
          <a:xfrm xmlns:a="http://schemas.openxmlformats.org/drawingml/2006/main">
            <a:off x="6029325"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C2CA5BCB-A714-4BD5-ACA0-678AA91E6012}"/>
              </a:ext>
            </a:extLst>
          </p:cNvPr>
          <p:cNvSpPr>
            <a:spLocks xmlns:a="http://schemas.openxmlformats.org/drawingml/2006/main" noGrp="1"/>
          </p:cNvSpPr>
          <p:nvPr/>
        </p:nvSpPr>
        <p:spPr>
          <a:xfrm xmlns:a="http://schemas.openxmlformats.org/drawingml/2006/main">
            <a:off x="6162675" y="2295525"/>
            <a:ext cx="2595563"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D7E1D9"/>
            </a:solidFill>
          </a:ln>
        </p:spPr>
      </p:sp>
      <p:sp>
        <p:nvSpPr>
          <p:cNvPr id="13" name="Optimizer">
            <a:extLst xmlns:a="http://schemas.openxmlformats.org/drawingml/2006/main">
              <a:ext uri="{FF2B5EF4-FFF2-40B4-BE49-F238E27FC236}">
                <a16:creationId xmlns:a16="http://schemas.microsoft.com/office/drawing/2014/main" id="{6635541C-2057-4B2A-A7E6-A447B71B7E35}"/>
              </a:ext>
            </a:extLst>
          </p:cNvPr>
          <p:cNvSpPr>
            <a:spLocks xmlns:a="http://schemas.openxmlformats.org/drawingml/2006/main" noGrp="1"/>
          </p:cNvSpPr>
          <p:nvPr/>
        </p:nvSpPr>
        <p:spPr>
          <a:xfrm xmlns:a="http://schemas.openxmlformats.org/drawingml/2006/main">
            <a:off x="6257925"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163B3B"/>
                </a:solidFill>
                <a:latin typeface="Arial"/>
                <a:ea typeface="Arial"/>
                <a:cs typeface="Arial"/>
              </a:defRPr>
            </a:defPPr>
          </a:lstStyle>
          <a:p xmlns:a="http://schemas.openxmlformats.org/drawingml/2006/main">
            <a:pPr algn="ctr">
              <a:defRPr sz="1650" b="1">
                <a:solidFill>
                  <a:srgbClr val="163B3B"/>
                </a:solidFill>
                <a:latin typeface="Arial"/>
                <a:ea typeface="Arial"/>
                <a:cs typeface="Arial"/>
              </a:defRPr>
            </a:pPr>
            <a:r>
              <a:rPr sz="1650" b="1">
                <a:solidFill>
                  <a:srgbClr val="163B3B"/>
                </a:solidFill>
                <a:latin typeface="Arial"/>
                <a:ea typeface="Arial"/>
                <a:cs typeface="Arial"/>
              </a:rPr>
              <a:t>Optimizer</a:t>
            </a:r>
          </a:p>
        </p:txBody>
      </p:sp>
      <p:sp>
        <p:nvSpPr>
          <p:cNvPr id="14" name="→">
            <a:extLst xmlns:a="http://schemas.openxmlformats.org/drawingml/2006/main">
              <a:ext uri="{FF2B5EF4-FFF2-40B4-BE49-F238E27FC236}">
                <a16:creationId xmlns:a16="http://schemas.microsoft.com/office/drawing/2014/main" id="{682F952A-0900-4416-BFF0-817996EAF4E0}"/>
              </a:ext>
            </a:extLst>
          </p:cNvPr>
          <p:cNvSpPr>
            <a:spLocks xmlns:a="http://schemas.openxmlformats.org/drawingml/2006/main" noGrp="1"/>
          </p:cNvSpPr>
          <p:nvPr/>
        </p:nvSpPr>
        <p:spPr>
          <a:xfrm xmlns:a="http://schemas.openxmlformats.org/drawingml/2006/main">
            <a:off x="8758238" y="2524125"/>
            <a:ext cx="13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087E73"/>
                </a:solidFill>
                <a:latin typeface="Arial"/>
                <a:ea typeface="Arial"/>
                <a:cs typeface="Arial"/>
              </a:defRPr>
            </a:defPPr>
          </a:lstStyle>
          <a:p xmlns:a="http://schemas.openxmlformats.org/drawingml/2006/main">
            <a:pPr algn="ctr">
              <a:defRPr sz="1725" b="1">
                <a:solidFill>
                  <a:srgbClr val="087E73"/>
                </a:solidFill>
                <a:latin typeface="Arial"/>
                <a:ea typeface="Arial"/>
                <a:cs typeface="Arial"/>
              </a:defRPr>
            </a:pPr>
            <a:r>
              <a:rPr sz="1725" b="1">
                <a:solidFill>
                  <a:srgbClr val="087E73"/>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7986226A-8042-499B-9F28-9A8BD6D04755}"/>
              </a:ext>
            </a:extLst>
          </p:cNvPr>
          <p:cNvSpPr>
            <a:spLocks xmlns:a="http://schemas.openxmlformats.org/drawingml/2006/main" noGrp="1"/>
          </p:cNvSpPr>
          <p:nvPr/>
        </p:nvSpPr>
        <p:spPr>
          <a:xfrm xmlns:a="http://schemas.openxmlformats.org/drawingml/2006/main">
            <a:off x="8891588" y="2295525"/>
            <a:ext cx="2595563" cy="838200"/>
          </a:xfrm>
          <a:prstGeom xmlns:a="http://schemas.openxmlformats.org/drawingml/2006/main" prst="rect">
            <a:avLst/>
          </a:prstGeom>
          <a:solidFill xmlns:a="http://schemas.openxmlformats.org/drawingml/2006/main">
            <a:srgbClr val="087E73"/>
          </a:solidFill>
          <a:ln xmlns:a="http://schemas.openxmlformats.org/drawingml/2006/main" w="9525">
            <a:solidFill>
              <a:srgbClr val="D7E1D9"/>
            </a:solidFill>
          </a:ln>
        </p:spPr>
      </p:sp>
      <p:sp>
        <p:nvSpPr>
          <p:cNvPr id="16" name="Validation">
            <a:extLst xmlns:a="http://schemas.openxmlformats.org/drawingml/2006/main">
              <a:ext uri="{FF2B5EF4-FFF2-40B4-BE49-F238E27FC236}">
                <a16:creationId xmlns:a16="http://schemas.microsoft.com/office/drawing/2014/main" id="{FE1D55A5-737B-47DB-8D97-96DEDA567B53}"/>
              </a:ext>
            </a:extLst>
          </p:cNvPr>
          <p:cNvSpPr>
            <a:spLocks xmlns:a="http://schemas.openxmlformats.org/drawingml/2006/main" noGrp="1"/>
          </p:cNvSpPr>
          <p:nvPr/>
        </p:nvSpPr>
        <p:spPr>
          <a:xfrm xmlns:a="http://schemas.openxmlformats.org/drawingml/2006/main">
            <a:off x="8986838" y="2438400"/>
            <a:ext cx="2405063"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Validation</a:t>
            </a:r>
          </a:p>
        </p:txBody>
      </p:sp>
      <p:sp>
        <p:nvSpPr>
          <p:cNvPr id="17" name="tính đầu ra từ feature và graph">
            <a:extLst xmlns:a="http://schemas.openxmlformats.org/drawingml/2006/main">
              <a:ext uri="{FF2B5EF4-FFF2-40B4-BE49-F238E27FC236}">
                <a16:creationId xmlns:a16="http://schemas.microsoft.com/office/drawing/2014/main" id="{F7B13861-13EF-4174-A5C0-90B3699FCD7B}"/>
              </a:ext>
            </a:extLst>
          </p:cNvPr>
          <p:cNvSpPr>
            <a:spLocks xmlns:a="http://schemas.openxmlformats.org/drawingml/2006/main" noGrp="1"/>
          </p:cNvSpPr>
          <p:nvPr/>
        </p:nvSpPr>
        <p:spPr>
          <a:xfrm xmlns:a="http://schemas.openxmlformats.org/drawingml/2006/main">
            <a:off x="73342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tính đầu ra từ feature và graph</a:t>
            </a:r>
          </a:p>
        </p:txBody>
      </p:sp>
      <p:sp>
        <p:nvSpPr>
          <p:cNvPr id="18" name="so đầu ra với nhãn hợp lệ">
            <a:extLst xmlns:a="http://schemas.openxmlformats.org/drawingml/2006/main">
              <a:ext uri="{FF2B5EF4-FFF2-40B4-BE49-F238E27FC236}">
                <a16:creationId xmlns:a16="http://schemas.microsoft.com/office/drawing/2014/main" id="{21008923-9F3D-42F5-A699-9DCA42633E79}"/>
              </a:ext>
            </a:extLst>
          </p:cNvPr>
          <p:cNvSpPr>
            <a:spLocks xmlns:a="http://schemas.openxmlformats.org/drawingml/2006/main" noGrp="1"/>
          </p:cNvSpPr>
          <p:nvPr/>
        </p:nvSpPr>
        <p:spPr>
          <a:xfrm xmlns:a="http://schemas.openxmlformats.org/drawingml/2006/main">
            <a:off x="341947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so đầu ra với nhãn hợp lệ</a:t>
            </a:r>
          </a:p>
        </p:txBody>
      </p:sp>
      <p:sp>
        <p:nvSpPr>
          <p:cNvPr id="19" name="cập nhật trọng số neural">
            <a:extLst xmlns:a="http://schemas.openxmlformats.org/drawingml/2006/main">
              <a:ext uri="{FF2B5EF4-FFF2-40B4-BE49-F238E27FC236}">
                <a16:creationId xmlns:a16="http://schemas.microsoft.com/office/drawing/2014/main" id="{A9ED261F-BE66-43E2-865C-82FBE01852B3}"/>
              </a:ext>
            </a:extLst>
          </p:cNvPr>
          <p:cNvSpPr>
            <a:spLocks xmlns:a="http://schemas.openxmlformats.org/drawingml/2006/main" noGrp="1"/>
          </p:cNvSpPr>
          <p:nvPr/>
        </p:nvSpPr>
        <p:spPr>
          <a:xfrm xmlns:a="http://schemas.openxmlformats.org/drawingml/2006/main">
            <a:off x="610552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cập nhật trọng số neural</a:t>
            </a:r>
          </a:p>
        </p:txBody>
      </p:sp>
      <p:sp>
        <p:nvSpPr>
          <p:cNvPr id="20" name="chọn checkpoint/cấu hình">
            <a:extLst xmlns:a="http://schemas.openxmlformats.org/drawingml/2006/main">
              <a:ext uri="{FF2B5EF4-FFF2-40B4-BE49-F238E27FC236}">
                <a16:creationId xmlns:a16="http://schemas.microsoft.com/office/drawing/2014/main" id="{DCE4D87D-E669-4FA7-AD7D-D3C5678E3C70}"/>
              </a:ext>
            </a:extLst>
          </p:cNvPr>
          <p:cNvSpPr>
            <a:spLocks xmlns:a="http://schemas.openxmlformats.org/drawingml/2006/main" noGrp="1"/>
          </p:cNvSpPr>
          <p:nvPr/>
        </p:nvSpPr>
        <p:spPr>
          <a:xfrm xmlns:a="http://schemas.openxmlformats.org/drawingml/2006/main">
            <a:off x="8791575" y="34194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a:solidFill>
                  <a:srgbClr val="657B79"/>
                </a:solidFill>
                <a:latin typeface="Arial"/>
                <a:ea typeface="Arial"/>
                <a:cs typeface="Arial"/>
              </a:defRPr>
            </a:defPPr>
          </a:lstStyle>
          <a:p xmlns:a="http://schemas.openxmlformats.org/drawingml/2006/main">
            <a:pPr algn="ctr">
              <a:defRPr sz="1725">
                <a:solidFill>
                  <a:srgbClr val="657B79"/>
                </a:solidFill>
                <a:latin typeface="Arial"/>
                <a:ea typeface="Arial"/>
                <a:cs typeface="Arial"/>
              </a:defRPr>
            </a:pPr>
            <a:r>
              <a:rPr sz="1725">
                <a:solidFill>
                  <a:srgbClr val="657B79"/>
                </a:solidFill>
                <a:latin typeface="Arial"/>
                <a:ea typeface="Arial"/>
                <a:cs typeface="Arial"/>
              </a:rPr>
              <a:t>chọn checkpoint/cấu hình</a:t>
            </a:r>
          </a:p>
        </p:txBody>
      </p:sp>
      <p:sp>
        <p:nvSpPr>
          <p:cNvPr id="21" name="">
            <a:extLst xmlns:a="http://schemas.openxmlformats.org/drawingml/2006/main">
              <a:ext uri="{FF2B5EF4-FFF2-40B4-BE49-F238E27FC236}">
                <a16:creationId xmlns:a16="http://schemas.microsoft.com/office/drawing/2014/main" id="{2273600C-F298-41DA-9D36-C3CE04B081BA}"/>
              </a:ext>
            </a:extLst>
          </p:cNvPr>
          <p:cNvSpPr>
            <a:spLocks xmlns:a="http://schemas.openxmlformats.org/drawingml/2006/main" noGrp="1"/>
          </p:cNvSpPr>
          <p:nvPr/>
        </p:nvSpPr>
        <p:spPr>
          <a:xfrm xmlns:a="http://schemas.openxmlformats.org/drawingml/2006/main">
            <a:off x="609600" y="51054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22" name="Tách train và validation; chỉ test sau lựa c">
            <a:extLst xmlns:a="http://schemas.openxmlformats.org/drawingml/2006/main">
              <a:ext uri="{FF2B5EF4-FFF2-40B4-BE49-F238E27FC236}">
                <a16:creationId xmlns:a16="http://schemas.microsoft.com/office/drawing/2014/main" id="{98C3071D-D3D1-4D25-808E-9977D6D1CF78}"/>
              </a:ext>
            </a:extLst>
          </p:cNvPr>
          <p:cNvSpPr>
            <a:spLocks xmlns:a="http://schemas.openxmlformats.org/drawingml/2006/main" noGrp="1"/>
          </p:cNvSpPr>
          <p:nvPr/>
        </p:nvSpPr>
        <p:spPr>
          <a:xfrm xmlns:a="http://schemas.openxmlformats.org/drawingml/2006/main">
            <a:off x="609600" y="52387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Tách train và validation; chỉ test sau lựa chọn.</a:t>
            </a:r>
          </a:p>
        </p:txBody>
      </p:sp>
    </p:spTree>
    <p:extLst>
      <p:ext uri="{BB962C8B-B14F-4D97-AF65-F5344CB8AC3E}">
        <p14:creationId xmlns:p14="http://schemas.microsoft.com/office/powerpoint/2010/main" val="1481182502"/>
      </p:ext>
    </p:extLst>
  </p:cSld>
</p:sld>
</file>

<file path=ppt/slides/slide1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20" name="DEEP GRAPH  /  NGƯỜI 2">
            <a:extLst xmlns:a="http://schemas.openxmlformats.org/drawingml/2006/main">
              <a:ext uri="{FF2B5EF4-FFF2-40B4-BE49-F238E27FC236}">
                <a16:creationId xmlns:a16="http://schemas.microsoft.com/office/drawing/2014/main" id="{26EF4B72-9039-4B2E-9735-C2C9524DC32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69C89C63-E348-4CF7-9129-CCE7C4F65C5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Chia tập theo thời điểm để tránh rò rỉ</a:t>
            </a:r>
          </a:p>
        </p:txBody>
      </p:sp>
      <p:sp>
        <p:nvSpPr>
          <p:cNvPr id="3" name="">
            <a:extLst xmlns:a="http://schemas.openxmlformats.org/drawingml/2006/main">
              <a:ext uri="{FF2B5EF4-FFF2-40B4-BE49-F238E27FC236}">
                <a16:creationId xmlns:a16="http://schemas.microsoft.com/office/drawing/2014/main" id="{5DED3B2F-88B0-4ADC-87EB-33BCEF097B8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65 giây">
            <a:extLst xmlns:a="http://schemas.openxmlformats.org/drawingml/2006/main">
              <a:ext uri="{FF2B5EF4-FFF2-40B4-BE49-F238E27FC236}">
                <a16:creationId xmlns:a16="http://schemas.microsoft.com/office/drawing/2014/main" id="{CFC5E33C-B978-4CD8-BB13-BBE4CAC58B2C}"/>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65 giây</a:t>
            </a:r>
          </a:p>
        </p:txBody>
      </p:sp>
      <p:sp>
        <p:nvSpPr>
          <p:cNvPr id="5" name="14 / 32">
            <a:extLst xmlns:a="http://schemas.openxmlformats.org/drawingml/2006/main">
              <a:ext uri="{FF2B5EF4-FFF2-40B4-BE49-F238E27FC236}">
                <a16:creationId xmlns:a16="http://schemas.microsoft.com/office/drawing/2014/main" id="{843C96BA-B318-4B0F-A250-00D4D67BEEEC}"/>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14 / 32</a:t>
            </a:r>
          </a:p>
        </p:txBody>
      </p:sp>
      <p:sp>
        <p:nvSpPr>
          <p:cNvPr id="6" name="">
            <a:extLst xmlns:a="http://schemas.openxmlformats.org/drawingml/2006/main">
              <a:ext uri="{FF2B5EF4-FFF2-40B4-BE49-F238E27FC236}">
                <a16:creationId xmlns:a16="http://schemas.microsoft.com/office/drawing/2014/main" id="{823408CF-9214-4DBD-9322-2EB7CE030D85}"/>
              </a:ext>
            </a:extLst>
          </p:cNvPr>
          <p:cNvSpPr>
            <a:spLocks xmlns:a="http://schemas.openxmlformats.org/drawingml/2006/main" noGrp="1"/>
          </p:cNvSpPr>
          <p:nvPr/>
        </p:nvSpPr>
        <p:spPr>
          <a:xfrm xmlns:a="http://schemas.openxmlformats.org/drawingml/2006/main">
            <a:off x="1047750" y="2476500"/>
            <a:ext cx="6100763" cy="762000"/>
          </a:xfrm>
          <a:prstGeom xmlns:a="http://schemas.openxmlformats.org/drawingml/2006/main" prst="rect">
            <a:avLst/>
          </a:prstGeom>
          <a:solidFill xmlns:a="http://schemas.openxmlformats.org/drawingml/2006/main">
            <a:srgbClr val="8FB3A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05CCD9-8D67-4185-AB3A-3F925380F635}"/>
              </a:ext>
            </a:extLst>
          </p:cNvPr>
          <p:cNvSpPr>
            <a:spLocks xmlns:a="http://schemas.openxmlformats.org/drawingml/2006/main" noGrp="1"/>
          </p:cNvSpPr>
          <p:nvPr/>
        </p:nvSpPr>
        <p:spPr>
          <a:xfrm xmlns:a="http://schemas.openxmlformats.org/drawingml/2006/main">
            <a:off x="7148513" y="2476500"/>
            <a:ext cx="1500188" cy="762000"/>
          </a:xfrm>
          <a:prstGeom xmlns:a="http://schemas.openxmlformats.org/drawingml/2006/main" prst="rect">
            <a:avLst/>
          </a:prstGeom>
          <a:solidFill xmlns:a="http://schemas.openxmlformats.org/drawingml/2006/main">
            <a:srgbClr val="BE7B2F"/>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202F559-ED8F-4375-99AB-1AEAD3DB17E1}"/>
              </a:ext>
            </a:extLst>
          </p:cNvPr>
          <p:cNvSpPr>
            <a:spLocks xmlns:a="http://schemas.openxmlformats.org/drawingml/2006/main" noGrp="1"/>
          </p:cNvSpPr>
          <p:nvPr/>
        </p:nvSpPr>
        <p:spPr>
          <a:xfrm xmlns:a="http://schemas.openxmlformats.org/drawingml/2006/main">
            <a:off x="8648700" y="2476500"/>
            <a:ext cx="2400300" cy="762000"/>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9" name="TRAIN">
            <a:extLst xmlns:a="http://schemas.openxmlformats.org/drawingml/2006/main">
              <a:ext uri="{FF2B5EF4-FFF2-40B4-BE49-F238E27FC236}">
                <a16:creationId xmlns:a16="http://schemas.microsoft.com/office/drawing/2014/main" id="{4165119A-9225-4811-913F-E66D5C579B47}"/>
              </a:ext>
            </a:extLst>
          </p:cNvPr>
          <p:cNvSpPr>
            <a:spLocks xmlns:a="http://schemas.openxmlformats.org/drawingml/2006/main" noGrp="1"/>
          </p:cNvSpPr>
          <p:nvPr/>
        </p:nvSpPr>
        <p:spPr>
          <a:xfrm xmlns:a="http://schemas.openxmlformats.org/drawingml/2006/main">
            <a:off x="1047750" y="2676525"/>
            <a:ext cx="61007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TRAIN</a:t>
            </a:r>
          </a:p>
        </p:txBody>
      </p:sp>
      <p:sp>
        <p:nvSpPr>
          <p:cNvPr id="10" name="VAL">
            <a:extLst xmlns:a="http://schemas.openxmlformats.org/drawingml/2006/main">
              <a:ext uri="{FF2B5EF4-FFF2-40B4-BE49-F238E27FC236}">
                <a16:creationId xmlns:a16="http://schemas.microsoft.com/office/drawing/2014/main" id="{22FD4C15-4575-4CA8-8124-EEAABA0665F5}"/>
              </a:ext>
            </a:extLst>
          </p:cNvPr>
          <p:cNvSpPr>
            <a:spLocks xmlns:a="http://schemas.openxmlformats.org/drawingml/2006/main" noGrp="1"/>
          </p:cNvSpPr>
          <p:nvPr/>
        </p:nvSpPr>
        <p:spPr>
          <a:xfrm xmlns:a="http://schemas.openxmlformats.org/drawingml/2006/main">
            <a:off x="7148513" y="2676525"/>
            <a:ext cx="1500188"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VAL</a:t>
            </a:r>
          </a:p>
        </p:txBody>
      </p:sp>
      <p:sp>
        <p:nvSpPr>
          <p:cNvPr id="11" name="TEST">
            <a:extLst xmlns:a="http://schemas.openxmlformats.org/drawingml/2006/main">
              <a:ext uri="{FF2B5EF4-FFF2-40B4-BE49-F238E27FC236}">
                <a16:creationId xmlns:a16="http://schemas.microsoft.com/office/drawing/2014/main" id="{0B0F1325-C190-483E-A16A-3D55BBE5268F}"/>
              </a:ext>
            </a:extLst>
          </p:cNvPr>
          <p:cNvSpPr>
            <a:spLocks xmlns:a="http://schemas.openxmlformats.org/drawingml/2006/main" noGrp="1"/>
          </p:cNvSpPr>
          <p:nvPr/>
        </p:nvSpPr>
        <p:spPr>
          <a:xfrm xmlns:a="http://schemas.openxmlformats.org/drawingml/2006/main">
            <a:off x="8648700" y="2676525"/>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FFFFFF"/>
                </a:solidFill>
                <a:latin typeface="Arial"/>
                <a:ea typeface="Arial"/>
                <a:cs typeface="Arial"/>
              </a:defRPr>
            </a:defPPr>
          </a:lstStyle>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TEST</a:t>
            </a:r>
          </a:p>
        </p:txBody>
      </p:sp>
      <p:sp>
        <p:nvSpPr>
          <p:cNvPr id="12" name="">
            <a:extLst xmlns:a="http://schemas.openxmlformats.org/drawingml/2006/main">
              <a:ext uri="{FF2B5EF4-FFF2-40B4-BE49-F238E27FC236}">
                <a16:creationId xmlns:a16="http://schemas.microsoft.com/office/drawing/2014/main" id="{6737AC98-1398-4CC9-9099-13383363F588}"/>
              </a:ext>
            </a:extLst>
          </p:cNvPr>
          <p:cNvSpPr>
            <a:spLocks xmlns:a="http://schemas.openxmlformats.org/drawingml/2006/main" noGrp="1"/>
          </p:cNvSpPr>
          <p:nvPr/>
        </p:nvSpPr>
        <p:spPr>
          <a:xfrm xmlns:a="http://schemas.openxmlformats.org/drawingml/2006/main">
            <a:off x="933450" y="38385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3" name="Fit scaler chỉ bằng train">
            <a:extLst xmlns:a="http://schemas.openxmlformats.org/drawingml/2006/main">
              <a:ext uri="{FF2B5EF4-FFF2-40B4-BE49-F238E27FC236}">
                <a16:creationId xmlns:a16="http://schemas.microsoft.com/office/drawing/2014/main" id="{1145B939-7261-4C9D-A0E1-87CB65092D09}"/>
              </a:ext>
            </a:extLst>
          </p:cNvPr>
          <p:cNvSpPr>
            <a:spLocks xmlns:a="http://schemas.openxmlformats.org/drawingml/2006/main" noGrp="1"/>
          </p:cNvSpPr>
          <p:nvPr/>
        </p:nvSpPr>
        <p:spPr>
          <a:xfrm xmlns:a="http://schemas.openxmlformats.org/drawingml/2006/main">
            <a:off x="1190625" y="37433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Fit scaler chỉ bằng train</a:t>
            </a:r>
          </a:p>
        </p:txBody>
      </p:sp>
      <p:sp>
        <p:nvSpPr>
          <p:cNvPr id="14" name="">
            <a:extLst xmlns:a="http://schemas.openxmlformats.org/drawingml/2006/main">
              <a:ext uri="{FF2B5EF4-FFF2-40B4-BE49-F238E27FC236}">
                <a16:creationId xmlns:a16="http://schemas.microsoft.com/office/drawing/2014/main" id="{508789EC-FF4F-4FD5-AF61-10B398D03E55}"/>
              </a:ext>
            </a:extLst>
          </p:cNvPr>
          <p:cNvSpPr>
            <a:spLocks xmlns:a="http://schemas.openxmlformats.org/drawingml/2006/main" noGrp="1"/>
          </p:cNvSpPr>
          <p:nvPr/>
        </p:nvSpPr>
        <p:spPr>
          <a:xfrm xmlns:a="http://schemas.openxmlformats.org/drawingml/2006/main">
            <a:off x="933450" y="42957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5" name="Dùng validation cho checkpoint và ngưỡng">
            <a:extLst xmlns:a="http://schemas.openxmlformats.org/drawingml/2006/main">
              <a:ext uri="{FF2B5EF4-FFF2-40B4-BE49-F238E27FC236}">
                <a16:creationId xmlns:a16="http://schemas.microsoft.com/office/drawing/2014/main" id="{0F906736-A32B-4E93-A686-AD9854EC0172}"/>
              </a:ext>
            </a:extLst>
          </p:cNvPr>
          <p:cNvSpPr>
            <a:spLocks xmlns:a="http://schemas.openxmlformats.org/drawingml/2006/main" noGrp="1"/>
          </p:cNvSpPr>
          <p:nvPr/>
        </p:nvSpPr>
        <p:spPr>
          <a:xfrm xmlns:a="http://schemas.openxmlformats.org/drawingml/2006/main">
            <a:off x="1190625" y="42005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Dùng validation cho checkpoint và ngưỡng</a:t>
            </a:r>
          </a:p>
        </p:txBody>
      </p:sp>
      <p:sp>
        <p:nvSpPr>
          <p:cNvPr id="16" name="">
            <a:extLst xmlns:a="http://schemas.openxmlformats.org/drawingml/2006/main">
              <a:ext uri="{FF2B5EF4-FFF2-40B4-BE49-F238E27FC236}">
                <a16:creationId xmlns:a16="http://schemas.microsoft.com/office/drawing/2014/main" id="{5C32F182-319E-4285-8465-A64E5757AA9B}"/>
              </a:ext>
            </a:extLst>
          </p:cNvPr>
          <p:cNvSpPr>
            <a:spLocks xmlns:a="http://schemas.openxmlformats.org/drawingml/2006/main" noGrp="1"/>
          </p:cNvSpPr>
          <p:nvPr/>
        </p:nvSpPr>
        <p:spPr>
          <a:xfrm xmlns:a="http://schemas.openxmlformats.org/drawingml/2006/main">
            <a:off x="933450" y="47529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7" name="Test không tham gia lựa chọn">
            <a:extLst xmlns:a="http://schemas.openxmlformats.org/drawingml/2006/main">
              <a:ext uri="{FF2B5EF4-FFF2-40B4-BE49-F238E27FC236}">
                <a16:creationId xmlns:a16="http://schemas.microsoft.com/office/drawing/2014/main" id="{CDD083AC-719C-4130-AA9E-133B606FE8A7}"/>
              </a:ext>
            </a:extLst>
          </p:cNvPr>
          <p:cNvSpPr>
            <a:spLocks xmlns:a="http://schemas.openxmlformats.org/drawingml/2006/main" noGrp="1"/>
          </p:cNvSpPr>
          <p:nvPr/>
        </p:nvSpPr>
        <p:spPr>
          <a:xfrm xmlns:a="http://schemas.openxmlformats.org/drawingml/2006/main">
            <a:off x="1190625" y="46577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Test không tham gia lựa chọn</a:t>
            </a:r>
          </a:p>
        </p:txBody>
      </p:sp>
      <p:sp>
        <p:nvSpPr>
          <p:cNvPr id="18" name="">
            <a:extLst xmlns:a="http://schemas.openxmlformats.org/drawingml/2006/main">
              <a:ext uri="{FF2B5EF4-FFF2-40B4-BE49-F238E27FC236}">
                <a16:creationId xmlns:a16="http://schemas.microsoft.com/office/drawing/2014/main" id="{29138CEA-28C8-43CB-937C-7072FD884A9E}"/>
              </a:ext>
            </a:extLst>
          </p:cNvPr>
          <p:cNvSpPr>
            <a:spLocks xmlns:a="http://schemas.openxmlformats.org/drawingml/2006/main" noGrp="1"/>
          </p:cNvSpPr>
          <p:nvPr/>
        </p:nvSpPr>
        <p:spPr>
          <a:xfrm xmlns:a="http://schemas.openxmlformats.org/drawingml/2006/main">
            <a:off x="933450" y="52101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9" name="Dữ liệu tương lai không được lọt vào feature">
            <a:extLst xmlns:a="http://schemas.openxmlformats.org/drawingml/2006/main">
              <a:ext uri="{FF2B5EF4-FFF2-40B4-BE49-F238E27FC236}">
                <a16:creationId xmlns:a16="http://schemas.microsoft.com/office/drawing/2014/main" id="{41629AC5-DC18-42AC-BFCE-560A24202705}"/>
              </a:ext>
            </a:extLst>
          </p:cNvPr>
          <p:cNvSpPr>
            <a:spLocks xmlns:a="http://schemas.openxmlformats.org/drawingml/2006/main" noGrp="1"/>
          </p:cNvSpPr>
          <p:nvPr/>
        </p:nvSpPr>
        <p:spPr>
          <a:xfrm xmlns:a="http://schemas.openxmlformats.org/drawingml/2006/main">
            <a:off x="1190625" y="5114925"/>
            <a:ext cx="10020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a:solidFill>
                  <a:srgbClr val="163B3B"/>
                </a:solidFill>
                <a:latin typeface="Arial"/>
                <a:ea typeface="Arial"/>
                <a:cs typeface="Arial"/>
              </a:defRPr>
            </a:defPPr>
          </a:lstStyle>
          <a:p xmlns:a="http://schemas.openxmlformats.org/drawingml/2006/main">
            <a:pPr>
              <a:defRPr sz="1650">
                <a:solidFill>
                  <a:srgbClr val="163B3B"/>
                </a:solidFill>
                <a:latin typeface="Arial"/>
                <a:ea typeface="Arial"/>
                <a:cs typeface="Arial"/>
              </a:defRPr>
            </a:pPr>
            <a:r>
              <a:rPr sz="1650">
                <a:solidFill>
                  <a:srgbClr val="163B3B"/>
                </a:solidFill>
                <a:latin typeface="Arial"/>
                <a:ea typeface="Arial"/>
                <a:cs typeface="Arial"/>
              </a:rPr>
              <a:t>Dữ liệu tương lai không được lọt vào feature</a:t>
            </a:r>
          </a:p>
        </p:txBody>
      </p:sp>
    </p:spTree>
    <p:extLst>
      <p:ext uri="{BB962C8B-B14F-4D97-AF65-F5344CB8AC3E}">
        <p14:creationId xmlns:p14="http://schemas.microsoft.com/office/powerpoint/2010/main" val="1607383177"/>
      </p:ext>
    </p:extLst>
  </p:cSld>
</p:sld>
</file>

<file path=ppt/slides/slide15.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BB4956D8-5987-44E9-8E62-E1DA4706401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BC3C3D3B-B4EB-4444-B741-F93F50E7C2D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Đánh giá phải khớp mục tiêu và mất cân bằng</a:t>
            </a:r>
          </a:p>
        </p:txBody>
      </p:sp>
      <p:sp>
        <p:nvSpPr>
          <p:cNvPr id="3" name="">
            <a:extLst xmlns:a="http://schemas.openxmlformats.org/drawingml/2006/main">
              <a:ext uri="{FF2B5EF4-FFF2-40B4-BE49-F238E27FC236}">
                <a16:creationId xmlns:a16="http://schemas.microsoft.com/office/drawing/2014/main" id="{FD2FCB69-931C-446C-9013-DCD43CA2356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80 giây">
            <a:extLst xmlns:a="http://schemas.openxmlformats.org/drawingml/2006/main">
              <a:ext uri="{FF2B5EF4-FFF2-40B4-BE49-F238E27FC236}">
                <a16:creationId xmlns:a16="http://schemas.microsoft.com/office/drawing/2014/main" id="{AA8FCD4C-3B51-440F-9169-4D44CBCAC0C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80 giây</a:t>
            </a:r>
          </a:p>
        </p:txBody>
      </p:sp>
      <p:sp>
        <p:nvSpPr>
          <p:cNvPr id="5" name="15 / 32">
            <a:extLst xmlns:a="http://schemas.openxmlformats.org/drawingml/2006/main">
              <a:ext uri="{FF2B5EF4-FFF2-40B4-BE49-F238E27FC236}">
                <a16:creationId xmlns:a16="http://schemas.microsoft.com/office/drawing/2014/main" id="{66F8C07D-A373-449E-897E-030068D9E6AB}"/>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15 / 32</a:t>
            </a:r>
          </a:p>
        </p:txBody>
      </p:sp>
      <p:graphicFrame>
        <p:nvGraphicFramePr>
          <p:cNvPr id="6" name="">
            <a:extLst xmlns:a="http://schemas.openxmlformats.org/drawingml/2006/main">
              <a:ext uri="{FF2B5EF4-FFF2-40B4-BE49-F238E27FC236}">
                <a16:creationId xmlns:a16="http://schemas.microsoft.com/office/drawing/2014/main" id="{006B39C6-2575-45D7-A99F-DCDDA33DFCF2}"/>
              </a:ext>
            </a:extLst>
          </p:cNvPr>
          <p:cNvGraphicFramePr/>
          <p:nvPr/>
        </p:nvGraphicFramePr>
        <p:xfrm>
          <a:off xmlns:a="http://schemas.openxmlformats.org/drawingml/2006/main" x="609600" y="1866900"/>
          <a:ext xmlns:a="http://schemas.openxmlformats.org/drawingml/2006/main" cx="10972800" cy="2895600"/>
        </p:xfrm>
        <a:graphic xmlns:a="http://schemas.openxmlformats.org/drawingml/2006/main">
          <a:graphicData uri="http://schemas.openxmlformats.org/drawingml/2006/table">
            <a:tbl>
              <a:tblPr firstRow="0" bandRow="0"/>
              <a:tblGrid>
                <a:gridCol w="2714625"/>
                <a:gridCol w="3476625"/>
                <a:gridCol w="4781550"/>
              </a:tblGrid>
              <a:tr h="723900">
                <a:tc>
                  <a:txBody>
                    <a:bodyPr/>
                    <a:lstStyle/>
                    <a:p>
                      <a:r>
                        <a:rPr sz="1800" b="1">
                          <a:solidFill>
                            <a:srgbClr val="FFFFFF"/>
                          </a:solidFill>
                          <a:latin typeface="Arial"/>
                          <a:ea typeface="Arial"/>
                          <a:cs typeface="Arial"/>
                        </a:rPr>
                        <a:t>Mục tiêu</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00" b="1">
                          <a:solidFill>
                            <a:srgbClr val="FFFFFF"/>
                          </a:solidFill>
                          <a:latin typeface="Arial"/>
                          <a:ea typeface="Arial"/>
                          <a:cs typeface="Arial"/>
                        </a:rPr>
                        <a:t>Chỉ số chính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00" b="1">
                          <a:solidFill>
                            <a:srgbClr val="FFFFFF"/>
                          </a:solidFill>
                          <a:latin typeface="Arial"/>
                          <a:ea typeface="Arial"/>
                          <a:cs typeface="Arial"/>
                        </a:rPr>
                        <a:t>Đọc như thế nào</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23900">
                <a:tc>
                  <a:txBody>
                    <a:bodyPr/>
                    <a:lstStyle/>
                    <a:p>
                      <a:r>
                        <a:rPr sz="1800">
                          <a:solidFill>
                            <a:srgbClr val="163B3B"/>
                          </a:solidFill>
                          <a:latin typeface="Arial"/>
                          <a:ea typeface="Arial"/>
                          <a:cs typeface="Arial"/>
                        </a:rPr>
                        <a:t>Tốc độ (liên tục)</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MAE / RMSE</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Độ lệch theo km/h</a:t>
                      </a:r>
                    </a:p>
                  </a:txBody>
                  <a:tcPr marL="114300" marR="95250" marT="85725" marB="76200" anchor="ctr">
                    <a:lnR w="7620">
                      <a:solidFill>
                        <a:srgbClr val="D7E1D9"/>
                      </a:solidFill>
                    </a:lnR>
                    <a:lnB w="7620">
                      <a:solidFill>
                        <a:srgbClr val="D7E1D9"/>
                      </a:solidFill>
                    </a:lnB>
                    <a:solidFill>
                      <a:srgbClr val="F7F6F0"/>
                    </a:solidFill>
                  </a:tcPr>
                </a:tc>
              </a:tr>
              <a:tr h="723900">
                <a:tc>
                  <a:txBody>
                    <a:bodyPr/>
                    <a:lstStyle/>
                    <a:p>
                      <a:r>
                        <a:rPr sz="1800">
                          <a:solidFill>
                            <a:srgbClr val="163B3B"/>
                          </a:solidFill>
                          <a:latin typeface="Arial"/>
                          <a:ea typeface="Arial"/>
                          <a:cs typeface="Arial"/>
                        </a:rPr>
                        <a:t>Nhãn hiếm</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Precision / Recall / F1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Trade-off tại ngưỡng</a:t>
                      </a:r>
                    </a:p>
                  </a:txBody>
                  <a:tcPr marL="114300" marR="95250" marT="85725" marB="76200" anchor="ctr">
                    <a:lnR w="7620">
                      <a:solidFill>
                        <a:srgbClr val="D7E1D9"/>
                      </a:solidFill>
                    </a:lnR>
                    <a:lnB w="7620">
                      <a:solidFill>
                        <a:srgbClr val="D7E1D9"/>
                      </a:solidFill>
                    </a:lnB>
                    <a:solidFill>
                      <a:srgbClr val="F7F6F0"/>
                    </a:solidFill>
                  </a:tcPr>
                </a:tc>
              </a:tr>
              <a:tr h="723900">
                <a:tc>
                  <a:txBody>
                    <a:bodyPr/>
                    <a:lstStyle/>
                    <a:p>
                      <a:r>
                        <a:rPr sz="1800">
                          <a:solidFill>
                            <a:srgbClr val="163B3B"/>
                          </a:solidFill>
                          <a:latin typeface="Arial"/>
                          <a:ea typeface="Arial"/>
                          <a:cs typeface="Arial"/>
                        </a:rPr>
                        <a:t>Xếp hạng</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Average Precision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00">
                          <a:solidFill>
                            <a:srgbClr val="163B3B"/>
                          </a:solidFill>
                          <a:latin typeface="Arial"/>
                          <a:ea typeface="Arial"/>
                          <a:cs typeface="Arial"/>
                        </a:rPr>
                        <a:t>Chất lượng qua ngưỡng</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D46CB403-4E16-48A9-940F-CDE11ECC34D9}"/>
              </a:ext>
            </a:extLst>
          </p:cNvPr>
          <p:cNvSpPr>
            <a:spLocks xmlns:a="http://schemas.openxmlformats.org/drawingml/2006/main" noGrp="1"/>
          </p:cNvSpPr>
          <p:nvPr/>
        </p:nvSpPr>
        <p:spPr>
          <a:xfrm xmlns:a="http://schemas.openxmlformats.org/drawingml/2006/main">
            <a:off x="609600" y="521970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Baseline, split và đơn vị phải khớp giữa các">
            <a:extLst xmlns:a="http://schemas.openxmlformats.org/drawingml/2006/main">
              <a:ext uri="{FF2B5EF4-FFF2-40B4-BE49-F238E27FC236}">
                <a16:creationId xmlns:a16="http://schemas.microsoft.com/office/drawing/2014/main" id="{742B5E3B-2AA6-48E4-BA51-BE97C6BF4132}"/>
              </a:ext>
            </a:extLst>
          </p:cNvPr>
          <p:cNvSpPr>
            <a:spLocks xmlns:a="http://schemas.openxmlformats.org/drawingml/2006/main" noGrp="1"/>
          </p:cNvSpPr>
          <p:nvPr/>
        </p:nvSpPr>
        <p:spPr>
          <a:xfrm xmlns:a="http://schemas.openxmlformats.org/drawingml/2006/main">
            <a:off x="609600" y="53530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Baseline, split và đơn vị phải khớp giữa các mô hình.</a:t>
            </a:r>
          </a:p>
        </p:txBody>
      </p:sp>
    </p:spTree>
    <p:extLst>
      <p:ext uri="{BB962C8B-B14F-4D97-AF65-F5344CB8AC3E}">
        <p14:creationId xmlns:p14="http://schemas.microsoft.com/office/powerpoint/2010/main" val="126188799"/>
      </p:ext>
    </p:extLst>
  </p:cSld>
</p:sld>
</file>

<file path=ppt/slides/slide1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2">
            <a:extLst xmlns:a="http://schemas.openxmlformats.org/drawingml/2006/main">
              <a:ext uri="{FF2B5EF4-FFF2-40B4-BE49-F238E27FC236}">
                <a16:creationId xmlns:a16="http://schemas.microsoft.com/office/drawing/2014/main" id="{161A23F7-C415-4D91-AB69-9D3C40B2882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2</a:t>
            </a:r>
          </a:p>
        </p:txBody>
      </p:sp>
      <p:sp>
        <p:nvSpPr>
          <p:cNvPr id="2" name="slide-title">
            <a:extLst xmlns:a="http://schemas.openxmlformats.org/drawingml/2006/main">
              <a:ext uri="{FF2B5EF4-FFF2-40B4-BE49-F238E27FC236}">
                <a16:creationId xmlns:a16="http://schemas.microsoft.com/office/drawing/2014/main" id="{30618DFB-7F1C-4FB3-ADC6-E126B4260314}"/>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GNN, Knowledge Graph và RAG dùng graph khác nhau</a:t>
            </a:r>
          </a:p>
        </p:txBody>
      </p:sp>
      <p:sp>
        <p:nvSpPr>
          <p:cNvPr id="3" name="">
            <a:extLst xmlns:a="http://schemas.openxmlformats.org/drawingml/2006/main">
              <a:ext uri="{FF2B5EF4-FFF2-40B4-BE49-F238E27FC236}">
                <a16:creationId xmlns:a16="http://schemas.microsoft.com/office/drawing/2014/main" id="{DD7DF892-C786-4556-BC75-DFDE49CCB4C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2 · Mô hình và đánh giá  ·  70 giây">
            <a:extLst xmlns:a="http://schemas.openxmlformats.org/drawingml/2006/main">
              <a:ext uri="{FF2B5EF4-FFF2-40B4-BE49-F238E27FC236}">
                <a16:creationId xmlns:a16="http://schemas.microsoft.com/office/drawing/2014/main" id="{88B47574-1528-4003-A792-C50F1C039B2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2 · Mô hình và đánh giá  ·  70 giây</a:t>
            </a:r>
          </a:p>
        </p:txBody>
      </p:sp>
      <p:sp>
        <p:nvSpPr>
          <p:cNvPr id="5" name="16 / 32">
            <a:extLst xmlns:a="http://schemas.openxmlformats.org/drawingml/2006/main">
              <a:ext uri="{FF2B5EF4-FFF2-40B4-BE49-F238E27FC236}">
                <a16:creationId xmlns:a16="http://schemas.microsoft.com/office/drawing/2014/main" id="{5BF96873-2B69-43FE-B541-E27737B62C4E}"/>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16 / 32</a:t>
            </a:r>
          </a:p>
        </p:txBody>
      </p:sp>
      <p:graphicFrame>
        <p:nvGraphicFramePr>
          <p:cNvPr id="6" name="">
            <a:extLst xmlns:a="http://schemas.openxmlformats.org/drawingml/2006/main">
              <a:ext uri="{FF2B5EF4-FFF2-40B4-BE49-F238E27FC236}">
                <a16:creationId xmlns:a16="http://schemas.microsoft.com/office/drawing/2014/main" id="{A0C35034-BFB9-44C0-805D-AC8DC48C942F}"/>
              </a:ext>
            </a:extLst>
          </p:cNvPr>
          <p:cNvGraphicFramePr/>
          <p:nvPr/>
        </p:nvGraphicFramePr>
        <p:xfrm>
          <a:off xmlns:a="http://schemas.openxmlformats.org/drawingml/2006/main" x="609600" y="1924050"/>
          <a:ext xmlns:a="http://schemas.openxmlformats.org/drawingml/2006/main" cx="10972800" cy="2857500"/>
        </p:xfrm>
        <a:graphic xmlns:a="http://schemas.openxmlformats.org/drawingml/2006/main">
          <a:graphicData uri="http://schemas.openxmlformats.org/drawingml/2006/table">
            <a:tbl>
              <a:tblPr firstRow="0" bandRow="0"/>
              <a:tblGrid>
                <a:gridCol w="2714625"/>
                <a:gridCol w="4381500"/>
                <a:gridCol w="3876675"/>
              </a:tblGrid>
              <a:tr h="714375">
                <a:tc>
                  <a:txBody>
                    <a:bodyPr/>
                    <a:lstStyle/>
                    <a:p>
                      <a:r>
                        <a:rPr sz="1725" b="1">
                          <a:solidFill>
                            <a:srgbClr val="FFFFFF"/>
                          </a:solidFill>
                          <a:latin typeface="Arial"/>
                          <a:ea typeface="Arial"/>
                          <a:cs typeface="Arial"/>
                        </a:rPr>
                        <a:t>Hướng</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Graph dùng để</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Đầu ra</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4375">
                <a:tc>
                  <a:txBody>
                    <a:bodyPr/>
                    <a:lstStyle/>
                    <a:p>
                      <a:r>
                        <a:rPr sz="1725">
                          <a:solidFill>
                            <a:srgbClr val="163B3B"/>
                          </a:solidFill>
                          <a:latin typeface="Arial"/>
                          <a:ea typeface="Arial"/>
                          <a:cs typeface="Arial"/>
                        </a:rPr>
                        <a:t>GNN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Truyền tin giữa nút có feature</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Dự đoán nhãn/giá trị</a:t>
                      </a:r>
                    </a:p>
                  </a:txBody>
                  <a:tcPr marL="114300" marR="95250" marT="85725" marB="76200" anchor="ctr">
                    <a:lnR w="7620">
                      <a:solidFill>
                        <a:srgbClr val="D7E1D9"/>
                      </a:solidFill>
                    </a:lnR>
                    <a:lnB w="7620">
                      <a:solidFill>
                        <a:srgbClr val="D7E1D9"/>
                      </a:solidFill>
                    </a:lnB>
                    <a:solidFill>
                      <a:srgbClr val="F7F6F0"/>
                    </a:solidFill>
                  </a:tcPr>
                </a:tc>
              </a:tr>
              <a:tr h="714375">
                <a:tc>
                  <a:txBody>
                    <a:bodyPr/>
                    <a:lstStyle/>
                    <a:p>
                      <a:r>
                        <a:rPr sz="1725">
                          <a:solidFill>
                            <a:srgbClr val="163B3B"/>
                          </a:solidFill>
                          <a:latin typeface="Arial"/>
                          <a:ea typeface="Arial"/>
                          <a:cs typeface="Arial"/>
                        </a:rPr>
                        <a:t>Knowledge Graph</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Lưu sự kiện theo bộ ba quan hệ</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Truy vấn tri thức</a:t>
                      </a:r>
                    </a:p>
                  </a:txBody>
                  <a:tcPr marL="114300" marR="95250" marT="85725" marB="76200" anchor="ctr">
                    <a:lnR w="7620">
                      <a:solidFill>
                        <a:srgbClr val="D7E1D9"/>
                      </a:solidFill>
                    </a:lnR>
                    <a:lnB w="7620">
                      <a:solidFill>
                        <a:srgbClr val="D7E1D9"/>
                      </a:solidFill>
                    </a:lnB>
                    <a:solidFill>
                      <a:srgbClr val="F7F6F0"/>
                    </a:solidFill>
                  </a:tcPr>
                </a:tc>
              </a:tr>
              <a:tr h="714375">
                <a:tc>
                  <a:txBody>
                    <a:bodyPr/>
                    <a:lstStyle/>
                    <a:p>
                      <a:r>
                        <a:rPr sz="1725">
                          <a:solidFill>
                            <a:srgbClr val="163B3B"/>
                          </a:solidFill>
                          <a:latin typeface="Arial"/>
                          <a:ea typeface="Arial"/>
                          <a:cs typeface="Arial"/>
                        </a:rPr>
                        <a:t>RAG + graph</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Lấy ngữ cảnh có cấu trúc và văn bản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Câu trả lời có căn cứ</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CFF2AD91-722B-41A3-A22C-1FF9409FBB88}"/>
              </a:ext>
            </a:extLst>
          </p:cNvPr>
          <p:cNvSpPr>
            <a:spLocks xmlns:a="http://schemas.openxmlformats.org/drawingml/2006/main" noGrp="1"/>
          </p:cNvSpPr>
          <p:nvPr/>
        </p:nvSpPr>
        <p:spPr>
          <a:xfrm xmlns:a="http://schemas.openxmlformats.org/drawingml/2006/main">
            <a:off x="609600" y="5162550"/>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8" name="Có thể kết hợp, nhưng là những vai trò khác ">
            <a:extLst xmlns:a="http://schemas.openxmlformats.org/drawingml/2006/main">
              <a:ext uri="{FF2B5EF4-FFF2-40B4-BE49-F238E27FC236}">
                <a16:creationId xmlns:a16="http://schemas.microsoft.com/office/drawing/2014/main" id="{4C9C3183-2CCE-4DD7-A0C8-460C6D85D096}"/>
              </a:ext>
            </a:extLst>
          </p:cNvPr>
          <p:cNvSpPr>
            <a:spLocks xmlns:a="http://schemas.openxmlformats.org/drawingml/2006/main" noGrp="1"/>
          </p:cNvSpPr>
          <p:nvPr/>
        </p:nvSpPr>
        <p:spPr>
          <a:xfrm xmlns:a="http://schemas.openxmlformats.org/drawingml/2006/main">
            <a:off x="609600" y="52959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Có thể kết hợp, nhưng là những vai trò khác nhau.</a:t>
            </a:r>
          </a:p>
        </p:txBody>
      </p:sp>
    </p:spTree>
    <p:extLst>
      <p:ext uri="{BB962C8B-B14F-4D97-AF65-F5344CB8AC3E}">
        <p14:creationId xmlns:p14="http://schemas.microsoft.com/office/powerpoint/2010/main" val="306483168"/>
      </p:ext>
    </p:extLst>
  </p:cSld>
</p:sld>
</file>

<file path=ppt/slides/slide17.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9" name="NGƯỜI 3  /  DEMO THỰC NGHIỆM">
            <a:extLst xmlns:a="http://schemas.openxmlformats.org/drawingml/2006/main">
              <a:ext uri="{FF2B5EF4-FFF2-40B4-BE49-F238E27FC236}">
                <a16:creationId xmlns:a16="http://schemas.microsoft.com/office/drawing/2014/main" id="{33472D4B-A27B-49B1-BE3E-C5175AFFFDD8}"/>
              </a:ext>
            </a:extLst>
          </p:cNvPr>
          <p:cNvSpPr>
            <a:spLocks xmlns:a="http://schemas.openxmlformats.org/drawingml/2006/main" noGrp="1"/>
          </p:cNvSpPr>
          <p:nvPr/>
        </p:nvSpPr>
        <p:spPr>
          <a:xfrm xmlns:a="http://schemas.openxmlformats.org/drawingml/2006/main">
            <a:off x="609600" y="514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A6D6C6"/>
                </a:solidFill>
                <a:latin typeface="Arial"/>
                <a:ea typeface="Arial"/>
                <a:cs typeface="Arial"/>
              </a:defRPr>
            </a:defPPr>
          </a:lstStyle>
          <a:p xmlns:a="http://schemas.openxmlformats.org/drawingml/2006/main">
            <a:pPr>
              <a:defRPr sz="1350" b="1">
                <a:solidFill>
                  <a:srgbClr val="A6D6C6"/>
                </a:solidFill>
                <a:latin typeface="Arial"/>
                <a:ea typeface="Arial"/>
                <a:cs typeface="Arial"/>
              </a:defRPr>
            </a:pPr>
            <a:r>
              <a:rPr sz="1350" b="1">
                <a:solidFill>
                  <a:srgbClr val="A6D6C6"/>
                </a:solidFill>
                <a:latin typeface="Arial"/>
                <a:ea typeface="Arial"/>
                <a:cs typeface="Arial"/>
              </a:rPr>
              <a:t>NGƯỜI 3  /  DEMO THỰC NGHIỆM</a:t>
            </a:r>
          </a:p>
        </p:txBody>
      </p:sp>
      <p:sp>
        <p:nvSpPr>
          <p:cNvPr id="2" name="Demo 1 · Dự báo tốc độ trên mạng cảm biến">
            <a:extLst xmlns:a="http://schemas.openxmlformats.org/drawingml/2006/main">
              <a:ext uri="{FF2B5EF4-FFF2-40B4-BE49-F238E27FC236}">
                <a16:creationId xmlns:a16="http://schemas.microsoft.com/office/drawing/2014/main" id="{6AF4127F-E1E7-458C-92CF-CB3ED1E06FC1}"/>
              </a:ext>
            </a:extLst>
          </p:cNvPr>
          <p:cNvSpPr>
            <a:spLocks xmlns:a="http://schemas.openxmlformats.org/drawingml/2006/main" noGrp="1"/>
          </p:cNvSpPr>
          <p:nvPr/>
        </p:nvSpPr>
        <p:spPr>
          <a:xfrm xmlns:a="http://schemas.openxmlformats.org/drawingml/2006/main">
            <a:off x="609600" y="1457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Demo 1 · Dự báo tốc độ trên mạng cảm biến</a:t>
            </a:r>
          </a:p>
        </p:txBody>
      </p:sp>
      <p:sp>
        <p:nvSpPr>
          <p:cNvPr id="3" name="">
            <a:extLst xmlns:a="http://schemas.openxmlformats.org/drawingml/2006/main">
              <a:ext uri="{FF2B5EF4-FFF2-40B4-BE49-F238E27FC236}">
                <a16:creationId xmlns:a16="http://schemas.microsoft.com/office/drawing/2014/main" id="{F2941859-AA93-4732-B356-46C1845BC320}"/>
              </a:ext>
            </a:extLst>
          </p:cNvPr>
          <p:cNvSpPr>
            <a:spLocks xmlns:a="http://schemas.openxmlformats.org/drawingml/2006/main" noGrp="1"/>
          </p:cNvSpPr>
          <p:nvPr/>
        </p:nvSpPr>
        <p:spPr>
          <a:xfrm xmlns:a="http://schemas.openxmlformats.org/drawingml/2006/main">
            <a:off x="609600" y="3305175"/>
            <a:ext cx="10953750" cy="2857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4" name="Một nút cảm biến, một mạng lân cận, một mốc ">
            <a:extLst xmlns:a="http://schemas.openxmlformats.org/drawingml/2006/main">
              <a:ext uri="{FF2B5EF4-FFF2-40B4-BE49-F238E27FC236}">
                <a16:creationId xmlns:a16="http://schemas.microsoft.com/office/drawing/2014/main" id="{8B4C24D4-00ED-4489-95E3-430127FB1AF9}"/>
              </a:ext>
            </a:extLst>
          </p:cNvPr>
          <p:cNvSpPr>
            <a:spLocks xmlns:a="http://schemas.openxmlformats.org/drawingml/2006/main" noGrp="1"/>
          </p:cNvSpPr>
          <p:nvPr/>
        </p:nvSpPr>
        <p:spPr>
          <a:xfrm xmlns:a="http://schemas.openxmlformats.org/drawingml/2006/main">
            <a:off x="609600" y="3714750"/>
            <a:ext cx="1023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E1EEE9"/>
                </a:solidFill>
                <a:latin typeface="Arial"/>
                <a:ea typeface="Arial"/>
                <a:cs typeface="Arial"/>
              </a:defRPr>
            </a:defPPr>
          </a:lstStyle>
          <a:p xmlns:a="http://schemas.openxmlformats.org/drawingml/2006/main">
            <a:pPr>
              <a:defRPr sz="2625">
                <a:solidFill>
                  <a:srgbClr val="E1EEE9"/>
                </a:solidFill>
                <a:latin typeface="Arial"/>
                <a:ea typeface="Arial"/>
                <a:cs typeface="Arial"/>
              </a:defRPr>
            </a:pPr>
            <a:r>
              <a:rPr sz="2625">
                <a:solidFill>
                  <a:srgbClr val="E1EEE9"/>
                </a:solidFill>
                <a:latin typeface="Arial"/>
                <a:ea typeface="Arial"/>
                <a:cs typeface="Arial"/>
              </a:rPr>
              <a:t>Một nút cảm biến, một mạng lân cận, một mốc dự báo</a:t>
            </a:r>
          </a:p>
        </p:txBody>
      </p:sp>
      <p:sp>
        <p:nvSpPr>
          <p:cNvPr id="5" name="DỮ LIỆU LỊCH SỬ  ·  METR-LA  ·  HỒI QUY">
            <a:extLst xmlns:a="http://schemas.openxmlformats.org/drawingml/2006/main">
              <a:ext uri="{FF2B5EF4-FFF2-40B4-BE49-F238E27FC236}">
                <a16:creationId xmlns:a16="http://schemas.microsoft.com/office/drawing/2014/main" id="{117A043B-8441-4101-A374-1C8B4ADD1C16}"/>
              </a:ext>
            </a:extLst>
          </p:cNvPr>
          <p:cNvSpPr>
            <a:spLocks xmlns:a="http://schemas.openxmlformats.org/drawingml/2006/main" noGrp="1"/>
          </p:cNvSpPr>
          <p:nvPr/>
        </p:nvSpPr>
        <p:spPr>
          <a:xfrm xmlns:a="http://schemas.openxmlformats.org/drawingml/2006/main">
            <a:off x="6096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6D6C6"/>
                </a:solidFill>
                <a:latin typeface="Arial"/>
                <a:ea typeface="Arial"/>
                <a:cs typeface="Arial"/>
              </a:defRPr>
            </a:defPPr>
          </a:lstStyle>
          <a:p xmlns:a="http://schemas.openxmlformats.org/drawingml/2006/main">
            <a:pPr>
              <a:defRPr sz="1575" b="1">
                <a:solidFill>
                  <a:srgbClr val="A6D6C6"/>
                </a:solidFill>
                <a:latin typeface="Arial"/>
                <a:ea typeface="Arial"/>
                <a:cs typeface="Arial"/>
              </a:defRPr>
            </a:pPr>
            <a:r>
              <a:rPr sz="1575" b="1">
                <a:solidFill>
                  <a:srgbClr val="A6D6C6"/>
                </a:solidFill>
                <a:latin typeface="Arial"/>
                <a:ea typeface="Arial"/>
                <a:cs typeface="Arial"/>
              </a:rPr>
              <a:t>DỮ LIỆU LỊCH SỬ  ·  METR-LA  ·  HỒI QUY</a:t>
            </a:r>
          </a:p>
        </p:txBody>
      </p:sp>
      <p:sp>
        <p:nvSpPr>
          <p:cNvPr id="6" name="">
            <a:extLst xmlns:a="http://schemas.openxmlformats.org/drawingml/2006/main">
              <a:ext uri="{FF2B5EF4-FFF2-40B4-BE49-F238E27FC236}">
                <a16:creationId xmlns:a16="http://schemas.microsoft.com/office/drawing/2014/main" id="{09FA4C00-D43F-4998-BD59-BE36A908BDE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7" name="Người 3 · Demo giao thông  ·  40 giây">
            <a:extLst xmlns:a="http://schemas.openxmlformats.org/drawingml/2006/main">
              <a:ext uri="{FF2B5EF4-FFF2-40B4-BE49-F238E27FC236}">
                <a16:creationId xmlns:a16="http://schemas.microsoft.com/office/drawing/2014/main" id="{9933B3F0-A069-49A1-A5CD-74BC3A0D7130}"/>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40 giây</a:t>
            </a:r>
          </a:p>
        </p:txBody>
      </p:sp>
      <p:sp>
        <p:nvSpPr>
          <p:cNvPr id="8" name="17 / 32">
            <a:extLst xmlns:a="http://schemas.openxmlformats.org/drawingml/2006/main">
              <a:ext uri="{FF2B5EF4-FFF2-40B4-BE49-F238E27FC236}">
                <a16:creationId xmlns:a16="http://schemas.microsoft.com/office/drawing/2014/main" id="{3AD88398-33FB-40AA-94A4-D97E35319EA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17 / 32</a:t>
            </a:r>
          </a:p>
        </p:txBody>
      </p:sp>
    </p:spTree>
    <p:extLst>
      <p:ext uri="{BB962C8B-B14F-4D97-AF65-F5344CB8AC3E}">
        <p14:creationId xmlns:p14="http://schemas.microsoft.com/office/powerpoint/2010/main" val="1563238323"/>
      </p:ext>
    </p:extLst>
  </p:cSld>
</p:sld>
</file>

<file path=ppt/slides/slide1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E5375947-0F8F-4F50-8501-BC362B96DB1F}"/>
              </a:ext>
            </a:extLst>
          </p:cNvPr>
          <p:cNvCxnSpPr>
            <a:stCxn xmlns:a="http://schemas.openxmlformats.org/drawingml/2006/main" id="9" idx="5"/>
            <a:endCxn xmlns:a="http://schemas.openxmlformats.org/drawingml/2006/main" id="11" idx="1"/>
          </p:cNvCxnSpPr>
          <p:nvPr/>
        </p:nvCxnSpPr>
        <p:spPr>
          <a:xfrm xmlns:a="http://schemas.openxmlformats.org/drawingml/2006/main">
            <a:off x="3516287" y="3285782"/>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CF0004BB-81F3-47E8-8323-172F61590922}"/>
              </a:ext>
            </a:extLst>
          </p:cNvPr>
          <p:cNvCxnSpPr>
            <a:stCxn xmlns:a="http://schemas.openxmlformats.org/drawingml/2006/main" id="9" idx="7"/>
            <a:endCxn xmlns:a="http://schemas.openxmlformats.org/drawingml/2006/main" id="10" idx="3"/>
          </p:cNvCxnSpPr>
          <p:nvPr/>
        </p:nvCxnSpPr>
        <p:spPr>
          <a:xfrm xmlns:a="http://schemas.openxmlformats.org/drawingml/2006/main" flipV="1">
            <a:off x="3516287" y="2533307"/>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46F84449-40B2-4BBA-B5E9-8F3C6CEC601B}"/>
              </a:ext>
            </a:extLst>
          </p:cNvPr>
          <p:cNvCxnSpPr>
            <a:stCxn xmlns:a="http://schemas.openxmlformats.org/drawingml/2006/main" id="8" idx="7"/>
            <a:endCxn xmlns:a="http://schemas.openxmlformats.org/drawingml/2006/main" id="9" idx="3"/>
          </p:cNvCxnSpPr>
          <p:nvPr/>
        </p:nvCxnSpPr>
        <p:spPr>
          <a:xfrm xmlns:a="http://schemas.openxmlformats.org/drawingml/2006/main" flipV="1">
            <a:off x="2425198" y="3285782"/>
            <a:ext cx="814407"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CFA55283-3D52-4561-AC51-90AD2370BFF0}"/>
              </a:ext>
            </a:extLst>
          </p:cNvPr>
          <p:cNvCxnSpPr>
            <a:stCxn xmlns:a="http://schemas.openxmlformats.org/drawingml/2006/main" id="7" idx="5"/>
            <a:endCxn xmlns:a="http://schemas.openxmlformats.org/drawingml/2006/main" id="9" idx="1"/>
          </p:cNvCxnSpPr>
          <p:nvPr/>
        </p:nvCxnSpPr>
        <p:spPr>
          <a:xfrm xmlns:a="http://schemas.openxmlformats.org/drawingml/2006/main">
            <a:off x="2425198" y="2533307"/>
            <a:ext cx="814407"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F51280B4-2ED3-44B4-B204-611FC9FDDACB}"/>
              </a:ext>
            </a:extLst>
          </p:cNvPr>
          <p:cNvCxnSpPr>
            <a:stCxn xmlns:a="http://schemas.openxmlformats.org/drawingml/2006/main" id="6" idx="5"/>
            <a:endCxn xmlns:a="http://schemas.openxmlformats.org/drawingml/2006/main" id="8" idx="1"/>
          </p:cNvCxnSpPr>
          <p:nvPr/>
        </p:nvCxnSpPr>
        <p:spPr>
          <a:xfrm xmlns:a="http://schemas.openxmlformats.org/drawingml/2006/main">
            <a:off x="1409357" y="3285782"/>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8C1345A1-4DAC-4CAF-BBC0-B5EC63C8CD3E}"/>
              </a:ext>
            </a:extLst>
          </p:cNvPr>
          <p:cNvCxnSpPr>
            <a:stCxn xmlns:a="http://schemas.openxmlformats.org/drawingml/2006/main" id="6" idx="7"/>
            <a:endCxn xmlns:a="http://schemas.openxmlformats.org/drawingml/2006/main" id="7" idx="3"/>
          </p:cNvCxnSpPr>
          <p:nvPr/>
        </p:nvCxnSpPr>
        <p:spPr>
          <a:xfrm xmlns:a="http://schemas.openxmlformats.org/drawingml/2006/main" flipV="1">
            <a:off x="1409357" y="2533307"/>
            <a:ext cx="739159" cy="475793"/>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3" name="DEEP GRAPH  /  NGƯỜI 3">
            <a:extLst xmlns:a="http://schemas.openxmlformats.org/drawingml/2006/main">
              <a:ext uri="{FF2B5EF4-FFF2-40B4-BE49-F238E27FC236}">
                <a16:creationId xmlns:a16="http://schemas.microsoft.com/office/drawing/2014/main" id="{B2651719-FA4C-44DF-930E-1F2BC40DB264}"/>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4745D0DD-F670-425B-A38D-7536E7D782D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METR-LA là mạng 207 cảm biến ở Los Angeles</a:t>
            </a:r>
          </a:p>
        </p:txBody>
      </p:sp>
      <p:sp>
        <p:nvSpPr>
          <p:cNvPr id="3" name="">
            <a:extLst xmlns:a="http://schemas.openxmlformats.org/drawingml/2006/main">
              <a:ext uri="{FF2B5EF4-FFF2-40B4-BE49-F238E27FC236}">
                <a16:creationId xmlns:a16="http://schemas.microsoft.com/office/drawing/2014/main" id="{FF746522-B4E8-40B9-8A7A-B9E6D7B5B76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5 giây">
            <a:extLst xmlns:a="http://schemas.openxmlformats.org/drawingml/2006/main">
              <a:ext uri="{FF2B5EF4-FFF2-40B4-BE49-F238E27FC236}">
                <a16:creationId xmlns:a16="http://schemas.microsoft.com/office/drawing/2014/main" id="{7CEEE131-2B36-4B13-96F5-993AF9D0E1E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55 giây</a:t>
            </a:r>
          </a:p>
        </p:txBody>
      </p:sp>
      <p:sp>
        <p:nvSpPr>
          <p:cNvPr id="5" name="18 / 32">
            <a:extLst xmlns:a="http://schemas.openxmlformats.org/drawingml/2006/main">
              <a:ext uri="{FF2B5EF4-FFF2-40B4-BE49-F238E27FC236}">
                <a16:creationId xmlns:a16="http://schemas.microsoft.com/office/drawing/2014/main" id="{0A7CBB5D-C5DC-4F50-9A2C-03F89B02C13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18 / 32</a:t>
            </a:r>
          </a:p>
        </p:txBody>
      </p:sp>
      <p:sp>
        <p:nvSpPr>
          <p:cNvPr id="6" name="">
            <a:extLst xmlns:a="http://schemas.openxmlformats.org/drawingml/2006/main">
              <a:ext uri="{FF2B5EF4-FFF2-40B4-BE49-F238E27FC236}">
                <a16:creationId xmlns:a16="http://schemas.microsoft.com/office/drawing/2014/main" id="{30CF8944-B0C2-401D-81D6-F52A84A376E5}"/>
              </a:ext>
            </a:extLst>
          </p:cNvPr>
          <p:cNvSpPr>
            <a:spLocks xmlns:a="http://schemas.openxmlformats.org/drawingml/2006/main" noGrp="1"/>
          </p:cNvSpPr>
          <p:nvPr/>
        </p:nvSpPr>
        <p:spPr>
          <a:xfrm xmlns:a="http://schemas.openxmlformats.org/drawingml/2006/main">
            <a:off x="1075373" y="2951798"/>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DE1FCDE-6261-4416-B1E3-9978DC76F67C}"/>
              </a:ext>
            </a:extLst>
          </p:cNvPr>
          <p:cNvSpPr>
            <a:spLocks xmlns:a="http://schemas.openxmlformats.org/drawingml/2006/main" noGrp="1"/>
          </p:cNvSpPr>
          <p:nvPr/>
        </p:nvSpPr>
        <p:spPr>
          <a:xfrm xmlns:a="http://schemas.openxmlformats.org/drawingml/2006/main">
            <a:off x="2091214" y="2199323"/>
            <a:ext cx="391287" cy="391287"/>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45D6C0-2785-4366-B3B0-1E28A43A8EB6}"/>
              </a:ext>
            </a:extLst>
          </p:cNvPr>
          <p:cNvSpPr>
            <a:spLocks xmlns:a="http://schemas.openxmlformats.org/drawingml/2006/main" noGrp="1"/>
          </p:cNvSpPr>
          <p:nvPr/>
        </p:nvSpPr>
        <p:spPr>
          <a:xfrm xmlns:a="http://schemas.openxmlformats.org/drawingml/2006/main">
            <a:off x="2091214" y="3704273"/>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87C1A0A-A935-48B8-872C-4ED4B83F27D4}"/>
              </a:ext>
            </a:extLst>
          </p:cNvPr>
          <p:cNvSpPr>
            <a:spLocks xmlns:a="http://schemas.openxmlformats.org/drawingml/2006/main" noGrp="1"/>
          </p:cNvSpPr>
          <p:nvPr/>
        </p:nvSpPr>
        <p:spPr>
          <a:xfrm xmlns:a="http://schemas.openxmlformats.org/drawingml/2006/main">
            <a:off x="3182303" y="2951798"/>
            <a:ext cx="391287" cy="391287"/>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EA1ED8E-C4D9-403A-A8E4-28289D7DD3A8}"/>
              </a:ext>
            </a:extLst>
          </p:cNvPr>
          <p:cNvSpPr>
            <a:spLocks xmlns:a="http://schemas.openxmlformats.org/drawingml/2006/main" noGrp="1"/>
          </p:cNvSpPr>
          <p:nvPr/>
        </p:nvSpPr>
        <p:spPr>
          <a:xfrm xmlns:a="http://schemas.openxmlformats.org/drawingml/2006/main">
            <a:off x="4198144" y="2199323"/>
            <a:ext cx="391287" cy="391287"/>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F52DD13-D4C1-4E3F-AD25-EBFA0388F189}"/>
              </a:ext>
            </a:extLst>
          </p:cNvPr>
          <p:cNvSpPr>
            <a:spLocks xmlns:a="http://schemas.openxmlformats.org/drawingml/2006/main" noGrp="1"/>
          </p:cNvSpPr>
          <p:nvPr/>
        </p:nvSpPr>
        <p:spPr>
          <a:xfrm xmlns:a="http://schemas.openxmlformats.org/drawingml/2006/main">
            <a:off x="4198144" y="3704273"/>
            <a:ext cx="391287" cy="391287"/>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4836AC20-D56E-4253-9451-B8EBA96B3CE4}"/>
              </a:ext>
            </a:extLst>
          </p:cNvPr>
          <p:cNvSpPr>
            <a:spLocks xmlns:a="http://schemas.openxmlformats.org/drawingml/2006/main" noGrp="1"/>
          </p:cNvSpPr>
          <p:nvPr/>
        </p:nvSpPr>
        <p:spPr>
          <a:xfrm xmlns:a="http://schemas.openxmlformats.org/drawingml/2006/main">
            <a:off x="1075373" y="3042095"/>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5322D2D9-1936-40BD-8F26-2E935F0B2C21}"/>
              </a:ext>
            </a:extLst>
          </p:cNvPr>
          <p:cNvSpPr>
            <a:spLocks xmlns:a="http://schemas.openxmlformats.org/drawingml/2006/main" noGrp="1"/>
          </p:cNvSpPr>
          <p:nvPr/>
        </p:nvSpPr>
        <p:spPr>
          <a:xfrm xmlns:a="http://schemas.openxmlformats.org/drawingml/2006/main">
            <a:off x="2091214" y="228962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03ECDCAE-E163-43B7-AD5F-9BD05078366C}"/>
              </a:ext>
            </a:extLst>
          </p:cNvPr>
          <p:cNvSpPr>
            <a:spLocks xmlns:a="http://schemas.openxmlformats.org/drawingml/2006/main" noGrp="1"/>
          </p:cNvSpPr>
          <p:nvPr/>
        </p:nvSpPr>
        <p:spPr>
          <a:xfrm xmlns:a="http://schemas.openxmlformats.org/drawingml/2006/main">
            <a:off x="2091214" y="379457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5A7607DB-7298-4BBE-A777-5D204924DA08}"/>
              </a:ext>
            </a:extLst>
          </p:cNvPr>
          <p:cNvSpPr>
            <a:spLocks xmlns:a="http://schemas.openxmlformats.org/drawingml/2006/main" noGrp="1"/>
          </p:cNvSpPr>
          <p:nvPr/>
        </p:nvSpPr>
        <p:spPr>
          <a:xfrm xmlns:a="http://schemas.openxmlformats.org/drawingml/2006/main">
            <a:off x="3182303" y="3042095"/>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475E838A-8610-4AB6-8788-257F62809DA9}"/>
              </a:ext>
            </a:extLst>
          </p:cNvPr>
          <p:cNvSpPr>
            <a:spLocks xmlns:a="http://schemas.openxmlformats.org/drawingml/2006/main" noGrp="1"/>
          </p:cNvSpPr>
          <p:nvPr/>
        </p:nvSpPr>
        <p:spPr>
          <a:xfrm xmlns:a="http://schemas.openxmlformats.org/drawingml/2006/main">
            <a:off x="4198144" y="228962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B97396CC-196A-446A-BA87-469813852D82}"/>
              </a:ext>
            </a:extLst>
          </p:cNvPr>
          <p:cNvSpPr>
            <a:spLocks xmlns:a="http://schemas.openxmlformats.org/drawingml/2006/main" noGrp="1"/>
          </p:cNvSpPr>
          <p:nvPr/>
        </p:nvSpPr>
        <p:spPr>
          <a:xfrm xmlns:a="http://schemas.openxmlformats.org/drawingml/2006/main">
            <a:off x="4198144" y="3794570"/>
            <a:ext cx="391287" cy="1881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126" b="1">
                <a:solidFill>
                  <a:srgbClr val="FFFFFF"/>
                </a:solidFill>
                <a:latin typeface="Arial"/>
                <a:ea typeface="Arial"/>
                <a:cs typeface="Arial"/>
              </a:defRPr>
            </a:defPPr>
          </a:lstStyle>
          <a:p xmlns:a="http://schemas.openxmlformats.org/drawingml/2006/main">
            <a:pPr algn="ctr">
              <a:defRPr sz="1126" b="1">
                <a:solidFill>
                  <a:srgbClr val="FFFFFF"/>
                </a:solidFill>
                <a:latin typeface="Arial"/>
                <a:ea typeface="Arial"/>
                <a:cs typeface="Arial"/>
              </a:defRPr>
            </a:pPr>
            <a:r>
              <a:rPr sz="1126" b="1">
                <a:solidFill>
                  <a:srgbClr val="FFFFFF"/>
                </a:solidFill>
                <a:latin typeface="Arial"/>
                <a:ea typeface="Arial"/>
                <a:cs typeface="Arial"/>
              </a:rPr>
              <a:t>F</a:t>
            </a:r>
          </a:p>
        </p:txBody>
      </p:sp>
      <p:sp>
        <p:nvSpPr>
          <p:cNvPr id="24" name="">
            <a:extLst xmlns:a="http://schemas.openxmlformats.org/drawingml/2006/main">
              <a:ext uri="{FF2B5EF4-FFF2-40B4-BE49-F238E27FC236}">
                <a16:creationId xmlns:a16="http://schemas.microsoft.com/office/drawing/2014/main" id="{63E46901-B299-47D2-BEE1-3696AFD8DC5B}"/>
              </a:ext>
            </a:extLst>
          </p:cNvPr>
          <p:cNvSpPr>
            <a:spLocks xmlns:a="http://schemas.openxmlformats.org/drawingml/2006/main" noGrp="1"/>
          </p:cNvSpPr>
          <p:nvPr/>
        </p:nvSpPr>
        <p:spPr>
          <a:xfrm xmlns:a="http://schemas.openxmlformats.org/drawingml/2006/main">
            <a:off x="5905500" y="20574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5" name="207 cảm biến tốc độ">
            <a:extLst xmlns:a="http://schemas.openxmlformats.org/drawingml/2006/main">
              <a:ext uri="{FF2B5EF4-FFF2-40B4-BE49-F238E27FC236}">
                <a16:creationId xmlns:a16="http://schemas.microsoft.com/office/drawing/2014/main" id="{B9E1DF87-8D6E-4DB2-9507-B338047C227E}"/>
              </a:ext>
            </a:extLst>
          </p:cNvPr>
          <p:cNvSpPr>
            <a:spLocks xmlns:a="http://schemas.openxmlformats.org/drawingml/2006/main" noGrp="1"/>
          </p:cNvSpPr>
          <p:nvPr/>
        </p:nvSpPr>
        <p:spPr>
          <a:xfrm xmlns:a="http://schemas.openxmlformats.org/drawingml/2006/main">
            <a:off x="6162675" y="19621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207 cảm biến tốc độ</a:t>
            </a:r>
          </a:p>
        </p:txBody>
      </p:sp>
      <p:sp>
        <p:nvSpPr>
          <p:cNvPr id="26" name="">
            <a:extLst xmlns:a="http://schemas.openxmlformats.org/drawingml/2006/main">
              <a:ext uri="{FF2B5EF4-FFF2-40B4-BE49-F238E27FC236}">
                <a16:creationId xmlns:a16="http://schemas.microsoft.com/office/drawing/2014/main" id="{4B6E1AE4-B501-4ABD-A9C1-5524EB111A26}"/>
              </a:ext>
            </a:extLst>
          </p:cNvPr>
          <p:cNvSpPr>
            <a:spLocks xmlns:a="http://schemas.openxmlformats.org/drawingml/2006/main" noGrp="1"/>
          </p:cNvSpPr>
          <p:nvPr/>
        </p:nvSpPr>
        <p:spPr>
          <a:xfrm xmlns:a="http://schemas.openxmlformats.org/drawingml/2006/main">
            <a:off x="5905500" y="2895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7" name="34.272 mốc, cách nhau 5 phút">
            <a:extLst xmlns:a="http://schemas.openxmlformats.org/drawingml/2006/main">
              <a:ext uri="{FF2B5EF4-FFF2-40B4-BE49-F238E27FC236}">
                <a16:creationId xmlns:a16="http://schemas.microsoft.com/office/drawing/2014/main" id="{75A69B0B-0F4D-4F42-92C1-3A18638FF1C2}"/>
              </a:ext>
            </a:extLst>
          </p:cNvPr>
          <p:cNvSpPr>
            <a:spLocks xmlns:a="http://schemas.openxmlformats.org/drawingml/2006/main" noGrp="1"/>
          </p:cNvSpPr>
          <p:nvPr/>
        </p:nvSpPr>
        <p:spPr>
          <a:xfrm xmlns:a="http://schemas.openxmlformats.org/drawingml/2006/main">
            <a:off x="6162675" y="28003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34.272 mốc, cách nhau 5 phút</a:t>
            </a:r>
          </a:p>
        </p:txBody>
      </p:sp>
      <p:sp>
        <p:nvSpPr>
          <p:cNvPr id="28" name="">
            <a:extLst xmlns:a="http://schemas.openxmlformats.org/drawingml/2006/main">
              <a:ext uri="{FF2B5EF4-FFF2-40B4-BE49-F238E27FC236}">
                <a16:creationId xmlns:a16="http://schemas.microsoft.com/office/drawing/2014/main" id="{F3477892-9C89-4C3F-91FD-5EACF8CF8F44}"/>
              </a:ext>
            </a:extLst>
          </p:cNvPr>
          <p:cNvSpPr>
            <a:spLocks xmlns:a="http://schemas.openxmlformats.org/drawingml/2006/main" noGrp="1"/>
          </p:cNvSpPr>
          <p:nvPr/>
        </p:nvSpPr>
        <p:spPr>
          <a:xfrm xmlns:a="http://schemas.openxmlformats.org/drawingml/2006/main">
            <a:off x="5905500" y="37338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Đầu vào 12 mốc; dự báo trực tiếp +15 phút">
            <a:extLst xmlns:a="http://schemas.openxmlformats.org/drawingml/2006/main">
              <a:ext uri="{FF2B5EF4-FFF2-40B4-BE49-F238E27FC236}">
                <a16:creationId xmlns:a16="http://schemas.microsoft.com/office/drawing/2014/main" id="{10E8FFF9-DE6F-4B60-BF2F-44EC3BCCF1E6}"/>
              </a:ext>
            </a:extLst>
          </p:cNvPr>
          <p:cNvSpPr>
            <a:spLocks xmlns:a="http://schemas.openxmlformats.org/drawingml/2006/main" noGrp="1"/>
          </p:cNvSpPr>
          <p:nvPr/>
        </p:nvSpPr>
        <p:spPr>
          <a:xfrm xmlns:a="http://schemas.openxmlformats.org/drawingml/2006/main">
            <a:off x="6162675" y="36385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Đầu vào 12 mốc; dự báo trực tiếp +15 phút</a:t>
            </a:r>
          </a:p>
        </p:txBody>
      </p:sp>
      <p:sp>
        <p:nvSpPr>
          <p:cNvPr id="30" name="">
            <a:extLst xmlns:a="http://schemas.openxmlformats.org/drawingml/2006/main">
              <a:ext uri="{FF2B5EF4-FFF2-40B4-BE49-F238E27FC236}">
                <a16:creationId xmlns:a16="http://schemas.microsoft.com/office/drawing/2014/main" id="{5439FCC5-C9C3-421D-B05E-EB4DF07F99F3}"/>
              </a:ext>
            </a:extLst>
          </p:cNvPr>
          <p:cNvSpPr>
            <a:spLocks xmlns:a="http://schemas.openxmlformats.org/drawingml/2006/main" noGrp="1"/>
          </p:cNvSpPr>
          <p:nvPr/>
        </p:nvSpPr>
        <p:spPr>
          <a:xfrm xmlns:a="http://schemas.openxmlformats.org/drawingml/2006/main">
            <a:off x="5905500" y="45720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Cạnh từ graph khoảng cách giữa cảm biến">
            <a:extLst xmlns:a="http://schemas.openxmlformats.org/drawingml/2006/main">
              <a:ext uri="{FF2B5EF4-FFF2-40B4-BE49-F238E27FC236}">
                <a16:creationId xmlns:a16="http://schemas.microsoft.com/office/drawing/2014/main" id="{6096BA69-0F5B-4B29-98D3-C131DFD17DE5}"/>
              </a:ext>
            </a:extLst>
          </p:cNvPr>
          <p:cNvSpPr>
            <a:spLocks xmlns:a="http://schemas.openxmlformats.org/drawingml/2006/main" noGrp="1"/>
          </p:cNvSpPr>
          <p:nvPr/>
        </p:nvSpPr>
        <p:spPr>
          <a:xfrm xmlns:a="http://schemas.openxmlformats.org/drawingml/2006/main">
            <a:off x="6162675" y="4476750"/>
            <a:ext cx="5210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Cạnh từ graph khoảng cách giữa cảm biến</a:t>
            </a:r>
          </a:p>
        </p:txBody>
      </p:sp>
      <p:sp>
        <p:nvSpPr>
          <p:cNvPr id="32" name="Los Angeles · tháng 3–6/2012 · không phải dữ">
            <a:extLst xmlns:a="http://schemas.openxmlformats.org/drawingml/2006/main">
              <a:ext uri="{FF2B5EF4-FFF2-40B4-BE49-F238E27FC236}">
                <a16:creationId xmlns:a16="http://schemas.microsoft.com/office/drawing/2014/main" id="{2DEBE9CE-3F99-4688-B575-61A9C9BA93EE}"/>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Los Angeles · tháng 3–6/2012 · không phải dữ liệu thời gian thực.</a:t>
            </a:r>
          </a:p>
        </p:txBody>
      </p:sp>
    </p:spTree>
    <p:extLst>
      <p:ext uri="{BB962C8B-B14F-4D97-AF65-F5344CB8AC3E}">
        <p14:creationId xmlns:p14="http://schemas.microsoft.com/office/powerpoint/2010/main" val="775160770"/>
      </p:ext>
    </p:extLst>
  </p:cSld>
</p:sld>
</file>

<file path=ppt/slides/slide1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3">
            <a:extLst xmlns:a="http://schemas.openxmlformats.org/drawingml/2006/main">
              <a:ext uri="{FF2B5EF4-FFF2-40B4-BE49-F238E27FC236}">
                <a16:creationId xmlns:a16="http://schemas.microsoft.com/office/drawing/2014/main" id="{BF71F2AD-AF68-433B-8425-381425CDB74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56B97C3C-7AE8-4945-ACEA-4821EB5442C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Ba phương pháp được so trên cùng tập test</a:t>
            </a:r>
          </a:p>
        </p:txBody>
      </p:sp>
      <p:sp>
        <p:nvSpPr>
          <p:cNvPr id="3" name="">
            <a:extLst xmlns:a="http://schemas.openxmlformats.org/drawingml/2006/main">
              <a:ext uri="{FF2B5EF4-FFF2-40B4-BE49-F238E27FC236}">
                <a16:creationId xmlns:a16="http://schemas.microsoft.com/office/drawing/2014/main" id="{E9AE79C9-B7C2-409E-B706-5389690E0D5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5 giây">
            <a:extLst xmlns:a="http://schemas.openxmlformats.org/drawingml/2006/main">
              <a:ext uri="{FF2B5EF4-FFF2-40B4-BE49-F238E27FC236}">
                <a16:creationId xmlns:a16="http://schemas.microsoft.com/office/drawing/2014/main" id="{275E6857-9A77-4A9B-9C67-B58477FBA3B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55 giây</a:t>
            </a:r>
          </a:p>
        </p:txBody>
      </p:sp>
      <p:sp>
        <p:nvSpPr>
          <p:cNvPr id="5" name="19 / 32">
            <a:extLst xmlns:a="http://schemas.openxmlformats.org/drawingml/2006/main">
              <a:ext uri="{FF2B5EF4-FFF2-40B4-BE49-F238E27FC236}">
                <a16:creationId xmlns:a16="http://schemas.microsoft.com/office/drawing/2014/main" id="{2D0C132E-CA7D-4639-AF89-DEE1D5BF3A2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19 / 32</a:t>
            </a:r>
          </a:p>
        </p:txBody>
      </p:sp>
      <p:graphicFrame>
        <p:nvGraphicFramePr>
          <p:cNvPr id="6" name="Chart">
            <a:extLst xmlns:a="http://schemas.openxmlformats.org/drawingml/2006/main">
              <a:ext uri="{FF2B5EF4-FFF2-40B4-BE49-F238E27FC236}">
                <a16:creationId xmlns:a16="http://schemas.microsoft.com/office/drawing/2014/main" id="{D7C82AE8-03C3-47E4-ACBB-5933D1F5EA82}"/>
              </a:ext>
            </a:extLst>
          </p:cNvPr>
          <p:cNvGraphicFramePr/>
          <p:nvPr/>
        </p:nvGraphicFramePr>
        <p:xfrm>
          <a:off xmlns:a="http://schemas.openxmlformats.org/drawingml/2006/main" x="609600" y="1743075"/>
          <a:ext xmlns:a="http://schemas.openxmlformats.org/drawingml/2006/main" cx="6572250" cy="3571875"/>
        </p:xfrm>
        <a:graphic xmlns:a="http://schemas.openxmlformats.org/drawingml/2006/main">
          <a:graphicData uri="http://schemas.openxmlformats.org/drawingml/2006/chart">
            <c:chart xmlns:r="http://schemas.openxmlformats.org/officeDocument/2006/relationships" xmlns:c="http://schemas.openxmlformats.org/drawingml/2006/chart" r:id="Rc434663ca8b64c80"/>
          </a:graphicData>
        </a:graphic>
      </p:graphicFrame>
      <p:graphicFrame>
        <p:nvGraphicFramePr>
          <p:cNvPr id="7" name="">
            <a:extLst xmlns:a="http://schemas.openxmlformats.org/drawingml/2006/main">
              <a:ext uri="{FF2B5EF4-FFF2-40B4-BE49-F238E27FC236}">
                <a16:creationId xmlns:a16="http://schemas.microsoft.com/office/drawing/2014/main" id="{ED168F39-5B4D-4CDA-A9A0-CAFDF04DE9C1}"/>
              </a:ext>
            </a:extLst>
          </p:cNvPr>
          <p:cNvGraphicFramePr/>
          <p:nvPr/>
        </p:nvGraphicFramePr>
        <p:xfrm>
          <a:off xmlns:a="http://schemas.openxmlformats.org/drawingml/2006/main" x="7524750" y="2076450"/>
          <a:ext xmlns:a="http://schemas.openxmlformats.org/drawingml/2006/main" cx="4057650" cy="2428875"/>
        </p:xfrm>
        <a:graphic xmlns:a="http://schemas.openxmlformats.org/drawingml/2006/main">
          <a:graphicData uri="http://schemas.openxmlformats.org/drawingml/2006/table">
            <a:tbl>
              <a:tblPr firstRow="0" bandRow="0"/>
              <a:tblGrid>
                <a:gridCol w="2000250"/>
                <a:gridCol w="1104900"/>
                <a:gridCol w="952500"/>
              </a:tblGrid>
              <a:tr h="607219">
                <a:tc>
                  <a:txBody>
                    <a:bodyPr/>
                    <a:lstStyle/>
                    <a:p>
                      <a:r>
                        <a:rPr sz="1425" b="1">
                          <a:solidFill>
                            <a:srgbClr val="FFFFFF"/>
                          </a:solidFill>
                          <a:latin typeface="Arial"/>
                          <a:ea typeface="Arial"/>
                          <a:cs typeface="Arial"/>
                        </a:rPr>
                        <a:t>Phương pháp</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425" b="1">
                          <a:solidFill>
                            <a:srgbClr val="FFFFFF"/>
                          </a:solidFill>
                          <a:latin typeface="Arial"/>
                          <a:ea typeface="Arial"/>
                          <a:cs typeface="Arial"/>
                        </a:rPr>
                        <a:t>MAE km/h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425" b="1">
                          <a:solidFill>
                            <a:srgbClr val="FFFFFF"/>
                          </a:solidFill>
                          <a:latin typeface="Arial"/>
                          <a:ea typeface="Arial"/>
                          <a:cs typeface="Arial"/>
                        </a:rPr>
                        <a:t>RMSE km/h</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607219">
                <a:tc>
                  <a:txBody>
                    <a:bodyPr/>
                    <a:lstStyle/>
                    <a:p>
                      <a:r>
                        <a:rPr sz="1425">
                          <a:solidFill>
                            <a:srgbClr val="163B3B"/>
                          </a:solidFill>
                          <a:latin typeface="Arial"/>
                          <a:ea typeface="Arial"/>
                          <a:cs typeface="Arial"/>
                        </a:rPr>
                        <a:t>Giữ nguyên tốc độ</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5,629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10,324</a:t>
                      </a:r>
                    </a:p>
                  </a:txBody>
                  <a:tcPr marL="114300" marR="95250" marT="85725" marB="76200" anchor="ctr">
                    <a:lnR w="7620">
                      <a:solidFill>
                        <a:srgbClr val="D7E1D9"/>
                      </a:solidFill>
                    </a:lnR>
                    <a:lnB w="7620">
                      <a:solidFill>
                        <a:srgbClr val="D7E1D9"/>
                      </a:solidFill>
                    </a:lnB>
                    <a:solidFill>
                      <a:srgbClr val="F7F6F0"/>
                    </a:solidFill>
                  </a:tcPr>
                </a:tc>
              </a:tr>
              <a:tr h="607219">
                <a:tc>
                  <a:txBody>
                    <a:bodyPr/>
                    <a:lstStyle/>
                    <a:p>
                      <a:r>
                        <a:rPr sz="1425">
                          <a:solidFill>
                            <a:srgbClr val="163B3B"/>
                          </a:solidFill>
                          <a:latin typeface="Arial"/>
                          <a:ea typeface="Arial"/>
                          <a:cs typeface="Arial"/>
                        </a:rPr>
                        <a:t>GRU</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4,875 ± 0,002</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9,613</a:t>
                      </a:r>
                    </a:p>
                  </a:txBody>
                  <a:tcPr marL="114300" marR="95250" marT="85725" marB="76200" anchor="ctr">
                    <a:lnR w="7620">
                      <a:solidFill>
                        <a:srgbClr val="D7E1D9"/>
                      </a:solidFill>
                    </a:lnR>
                    <a:lnB w="7620">
                      <a:solidFill>
                        <a:srgbClr val="D7E1D9"/>
                      </a:solidFill>
                    </a:lnB>
                    <a:solidFill>
                      <a:srgbClr val="F7F6F0"/>
                    </a:solidFill>
                  </a:tcPr>
                </a:tc>
              </a:tr>
              <a:tr h="607219">
                <a:tc>
                  <a:txBody>
                    <a:bodyPr/>
                    <a:lstStyle/>
                    <a:p>
                      <a:r>
                        <a:rPr sz="1425">
                          <a:solidFill>
                            <a:srgbClr val="163B3B"/>
                          </a:solidFill>
                          <a:latin typeface="Arial"/>
                          <a:ea typeface="Arial"/>
                          <a:cs typeface="Arial"/>
                        </a:rPr>
                        <a:t>GCN + GRU</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4,844 ± 0,009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425">
                          <a:solidFill>
                            <a:srgbClr val="163B3B"/>
                          </a:solidFill>
                          <a:latin typeface="Arial"/>
                          <a:ea typeface="Arial"/>
                          <a:cs typeface="Arial"/>
                        </a:rPr>
                        <a:t>9,449</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Ba seed mỗi mạng. ± là SD qua seed; test v2 ">
            <a:extLst xmlns:a="http://schemas.openxmlformats.org/drawingml/2006/main">
              <a:ext uri="{FF2B5EF4-FFF2-40B4-BE49-F238E27FC236}">
                <a16:creationId xmlns:a16="http://schemas.microsoft.com/office/drawing/2014/main" id="{19AA8AF6-5EA6-4784-9571-B412E67549B0}"/>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Ba seed mỗi mạng. ± là SD qua seed; test v2 đã từng được xem trong v1.</a:t>
            </a:r>
          </a:p>
        </p:txBody>
      </p:sp>
    </p:spTree>
    <p:extLst>
      <p:ext uri="{BB962C8B-B14F-4D97-AF65-F5344CB8AC3E}">
        <p14:creationId xmlns:p14="http://schemas.microsoft.com/office/powerpoint/2010/main" val="1141629805"/>
      </p:ext>
    </p:extLst>
  </p:cSld>
</p:sld>
</file>

<file path=ppt/slides/slide2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3160E15D-A4FD-464B-9020-A07970EB8BC6}"/>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C790C850-7DB2-4CF7-A6D2-61C34C0C3F54}"/>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Ca phục hồi · nhìn dự báo trước khi mở đáp án</a:t>
            </a:r>
          </a:p>
        </p:txBody>
      </p:sp>
      <p:sp>
        <p:nvSpPr>
          <p:cNvPr id="3" name="">
            <a:extLst xmlns:a="http://schemas.openxmlformats.org/drawingml/2006/main">
              <a:ext uri="{FF2B5EF4-FFF2-40B4-BE49-F238E27FC236}">
                <a16:creationId xmlns:a16="http://schemas.microsoft.com/office/drawing/2014/main" id="{766FB3BB-B722-4C0E-B24F-8A67118C07CD}"/>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5 giây">
            <a:extLst xmlns:a="http://schemas.openxmlformats.org/drawingml/2006/main">
              <a:ext uri="{FF2B5EF4-FFF2-40B4-BE49-F238E27FC236}">
                <a16:creationId xmlns:a16="http://schemas.microsoft.com/office/drawing/2014/main" id="{6CEB5218-27CF-4381-8A9E-2496A45578F8}"/>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45 giây</a:t>
            </a:r>
          </a:p>
        </p:txBody>
      </p:sp>
      <p:sp>
        <p:nvSpPr>
          <p:cNvPr id="5" name="20 / 32">
            <a:extLst xmlns:a="http://schemas.openxmlformats.org/drawingml/2006/main">
              <a:ext uri="{FF2B5EF4-FFF2-40B4-BE49-F238E27FC236}">
                <a16:creationId xmlns:a16="http://schemas.microsoft.com/office/drawing/2014/main" id="{A0C7A172-9C45-41C7-8EC4-A58725F43E02}"/>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20 / 32</a:t>
            </a:r>
          </a:p>
        </p:txBody>
      </p:sp>
      <p:pic>
        <p:nvPicPr>
          <p:cNvPr id="6" name="">
            <a:extLst xmlns:a="http://schemas.openxmlformats.org/drawingml/2006/main">
              <a:ext uri="{FF2B5EF4-FFF2-40B4-BE49-F238E27FC236}">
                <a16:creationId xmlns:a16="http://schemas.microsoft.com/office/drawing/2014/main" id="{0AEE8963-AB1E-488D-AE67-3E4548F208D4}"/>
              </a:ext>
            </a:extLst>
          </p:cNvPr>
          <p:cNvPicPr>
            <a:picLocks xmlns:a="http://schemas.openxmlformats.org/drawingml/2006/main" noChangeAspect="1"/>
          </p:cNvPicPr>
          <p:nvPr/>
        </p:nvPicPr>
        <p:blipFill>
          <a:blip xmlns:r="http://schemas.openxmlformats.org/officeDocument/2006/relationships" xmlns:a="http://schemas.openxmlformats.org/drawingml/2006/main" r:embed="R8d9094767a9844ca"/>
          <a:stretch xmlns:a="http://schemas.openxmlformats.org/drawingml/2006/main"/>
        </p:blipFill>
        <p:spPr>
          <a:xfrm xmlns:a="http://schemas.openxmlformats.org/drawingml/2006/main">
            <a:off x="1401859" y="1657350"/>
            <a:ext cx="4759131" cy="3905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242FD5-B3CF-437C-B1B2-6DEBE546A563}"/>
              </a:ext>
            </a:extLst>
          </p:cNvPr>
          <p:cNvSpPr>
            <a:spLocks xmlns:a="http://schemas.openxmlformats.org/drawingml/2006/main" noGrp="1"/>
          </p:cNvSpPr>
          <p:nvPr/>
        </p:nvSpPr>
        <p:spPr>
          <a:xfrm xmlns:a="http://schemas.openxmlformats.org/drawingml/2006/main">
            <a:off x="7381875"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Tốc độ hiện tại: 14,5 km/h">
            <a:extLst xmlns:a="http://schemas.openxmlformats.org/drawingml/2006/main">
              <a:ext uri="{FF2B5EF4-FFF2-40B4-BE49-F238E27FC236}">
                <a16:creationId xmlns:a16="http://schemas.microsoft.com/office/drawing/2014/main" id="{DEF6FF14-1D88-428D-8785-DB561F9DDC3D}"/>
              </a:ext>
            </a:extLst>
          </p:cNvPr>
          <p:cNvSpPr>
            <a:spLocks xmlns:a="http://schemas.openxmlformats.org/drawingml/2006/main" noGrp="1"/>
          </p:cNvSpPr>
          <p:nvPr/>
        </p:nvSpPr>
        <p:spPr>
          <a:xfrm xmlns:a="http://schemas.openxmlformats.org/drawingml/2006/main">
            <a:off x="7639050" y="18669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Tốc độ hiện tại: 14,5 km/h</a:t>
            </a:r>
          </a:p>
        </p:txBody>
      </p:sp>
      <p:sp>
        <p:nvSpPr>
          <p:cNvPr id="9" name="">
            <a:extLst xmlns:a="http://schemas.openxmlformats.org/drawingml/2006/main">
              <a:ext uri="{FF2B5EF4-FFF2-40B4-BE49-F238E27FC236}">
                <a16:creationId xmlns:a16="http://schemas.microsoft.com/office/drawing/2014/main" id="{C8A5BFDD-A627-496E-9BDF-5D401C78B06E}"/>
              </a:ext>
            </a:extLst>
          </p:cNvPr>
          <p:cNvSpPr>
            <a:spLocks xmlns:a="http://schemas.openxmlformats.org/drawingml/2006/main" noGrp="1"/>
          </p:cNvSpPr>
          <p:nvPr/>
        </p:nvSpPr>
        <p:spPr>
          <a:xfrm xmlns:a="http://schemas.openxmlformats.org/drawingml/2006/main">
            <a:off x="7381875" y="27813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GRU: 20,9 km/h">
            <a:extLst xmlns:a="http://schemas.openxmlformats.org/drawingml/2006/main">
              <a:ext uri="{FF2B5EF4-FFF2-40B4-BE49-F238E27FC236}">
                <a16:creationId xmlns:a16="http://schemas.microsoft.com/office/drawing/2014/main" id="{602EE050-395C-4319-9132-111A250B6053}"/>
              </a:ext>
            </a:extLst>
          </p:cNvPr>
          <p:cNvSpPr>
            <a:spLocks xmlns:a="http://schemas.openxmlformats.org/drawingml/2006/main" noGrp="1"/>
          </p:cNvSpPr>
          <p:nvPr/>
        </p:nvSpPr>
        <p:spPr>
          <a:xfrm xmlns:a="http://schemas.openxmlformats.org/drawingml/2006/main">
            <a:off x="7639050" y="26860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GRU: 20,9 km/h</a:t>
            </a:r>
          </a:p>
        </p:txBody>
      </p:sp>
      <p:sp>
        <p:nvSpPr>
          <p:cNvPr id="11" name="">
            <a:extLst xmlns:a="http://schemas.openxmlformats.org/drawingml/2006/main">
              <a:ext uri="{FF2B5EF4-FFF2-40B4-BE49-F238E27FC236}">
                <a16:creationId xmlns:a16="http://schemas.microsoft.com/office/drawing/2014/main" id="{4D83ED9B-DFDF-46D7-9234-4CA0E14996F9}"/>
              </a:ext>
            </a:extLst>
          </p:cNvPr>
          <p:cNvSpPr>
            <a:spLocks xmlns:a="http://schemas.openxmlformats.org/drawingml/2006/main" noGrp="1"/>
          </p:cNvSpPr>
          <p:nvPr/>
        </p:nvSpPr>
        <p:spPr>
          <a:xfrm xmlns:a="http://schemas.openxmlformats.org/drawingml/2006/main">
            <a:off x="7381875" y="3600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GCN + GRU: 21,3 km/h">
            <a:extLst xmlns:a="http://schemas.openxmlformats.org/drawingml/2006/main">
              <a:ext uri="{FF2B5EF4-FFF2-40B4-BE49-F238E27FC236}">
                <a16:creationId xmlns:a16="http://schemas.microsoft.com/office/drawing/2014/main" id="{3BF1BF81-2C7E-47E8-A61E-54907692D58D}"/>
              </a:ext>
            </a:extLst>
          </p:cNvPr>
          <p:cNvSpPr>
            <a:spLocks xmlns:a="http://schemas.openxmlformats.org/drawingml/2006/main" noGrp="1"/>
          </p:cNvSpPr>
          <p:nvPr/>
        </p:nvSpPr>
        <p:spPr>
          <a:xfrm xmlns:a="http://schemas.openxmlformats.org/drawingml/2006/main">
            <a:off x="7639050" y="35052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GCN + GRU: 21,3 km/h</a:t>
            </a:r>
          </a:p>
        </p:txBody>
      </p:sp>
      <p:sp>
        <p:nvSpPr>
          <p:cNvPr id="13" name="">
            <a:extLst xmlns:a="http://schemas.openxmlformats.org/drawingml/2006/main">
              <a:ext uri="{FF2B5EF4-FFF2-40B4-BE49-F238E27FC236}">
                <a16:creationId xmlns:a16="http://schemas.microsoft.com/office/drawing/2014/main" id="{7F1F2D29-2BC3-4D62-94C3-3561E6884ABB}"/>
              </a:ext>
            </a:extLst>
          </p:cNvPr>
          <p:cNvSpPr>
            <a:spLocks xmlns:a="http://schemas.openxmlformats.org/drawingml/2006/main" noGrp="1"/>
          </p:cNvSpPr>
          <p:nvPr/>
        </p:nvSpPr>
        <p:spPr>
          <a:xfrm xmlns:a="http://schemas.openxmlformats.org/drawingml/2006/main">
            <a:off x="7381875" y="4419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Thực tế +15 phút: 24,7 km/h">
            <a:extLst xmlns:a="http://schemas.openxmlformats.org/drawingml/2006/main">
              <a:ext uri="{FF2B5EF4-FFF2-40B4-BE49-F238E27FC236}">
                <a16:creationId xmlns:a16="http://schemas.microsoft.com/office/drawing/2014/main" id="{59DB69F1-CA37-4543-B970-5F039EDB8CC2}"/>
              </a:ext>
            </a:extLst>
          </p:cNvPr>
          <p:cNvSpPr>
            <a:spLocks xmlns:a="http://schemas.openxmlformats.org/drawingml/2006/main" noGrp="1"/>
          </p:cNvSpPr>
          <p:nvPr/>
        </p:nvSpPr>
        <p:spPr>
          <a:xfrm xmlns:a="http://schemas.openxmlformats.org/drawingml/2006/main">
            <a:off x="7639050" y="432435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a:solidFill>
                  <a:srgbClr val="163B3B"/>
                </a:solidFill>
                <a:latin typeface="Arial"/>
                <a:ea typeface="Arial"/>
                <a:cs typeface="Arial"/>
              </a:defRPr>
            </a:defPPr>
          </a:lstStyle>
          <a:p xmlns:a="http://schemas.openxmlformats.org/drawingml/2006/main">
            <a:pPr>
              <a:defRPr sz="1875">
                <a:solidFill>
                  <a:srgbClr val="163B3B"/>
                </a:solidFill>
                <a:latin typeface="Arial"/>
                <a:ea typeface="Arial"/>
                <a:cs typeface="Arial"/>
              </a:defRPr>
            </a:pPr>
            <a:r>
              <a:rPr sz="1875">
                <a:solidFill>
                  <a:srgbClr val="163B3B"/>
                </a:solidFill>
                <a:latin typeface="Arial"/>
                <a:ea typeface="Arial"/>
                <a:cs typeface="Arial"/>
              </a:rPr>
              <a:t>Thực tế +15 phút: 24,7 km/h</a:t>
            </a:r>
          </a:p>
        </p:txBody>
      </p:sp>
      <p:sp>
        <p:nvSpPr>
          <p:cNvPr id="15" name="Cảm biến 717458 · 06/06/2012 18:35">
            <a:extLst xmlns:a="http://schemas.openxmlformats.org/drawingml/2006/main">
              <a:ext uri="{FF2B5EF4-FFF2-40B4-BE49-F238E27FC236}">
                <a16:creationId xmlns:a16="http://schemas.microsoft.com/office/drawing/2014/main" id="{89516AA7-E639-4D4C-95FA-24A095F61CF0}"/>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Cảm biến 717458 · 06/06/2012 18:35</a:t>
            </a:r>
          </a:p>
        </p:txBody>
      </p:sp>
    </p:spTree>
    <p:extLst>
      <p:ext uri="{BB962C8B-B14F-4D97-AF65-F5344CB8AC3E}">
        <p14:creationId xmlns:p14="http://schemas.microsoft.com/office/powerpoint/2010/main" val="371028984"/>
      </p:ext>
    </p:extLst>
  </p:cSld>
</p:sld>
</file>

<file path=ppt/slides/slide2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CC97BAE4-4F91-4B87-B29F-7AAD85FB1021}"/>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BE1BC750-7EA8-4489-B526-CF33B9333130}"/>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Dữ liệu cũ được báo riêng với dự báo</a:t>
            </a:r>
          </a:p>
        </p:txBody>
      </p:sp>
      <p:sp>
        <p:nvSpPr>
          <p:cNvPr id="3" name="">
            <a:extLst xmlns:a="http://schemas.openxmlformats.org/drawingml/2006/main">
              <a:ext uri="{FF2B5EF4-FFF2-40B4-BE49-F238E27FC236}">
                <a16:creationId xmlns:a16="http://schemas.microsoft.com/office/drawing/2014/main" id="{4EC81DE9-75A7-4617-B0DB-1030E44EB6E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50 giây">
            <a:extLst xmlns:a="http://schemas.openxmlformats.org/drawingml/2006/main">
              <a:ext uri="{FF2B5EF4-FFF2-40B4-BE49-F238E27FC236}">
                <a16:creationId xmlns:a16="http://schemas.microsoft.com/office/drawing/2014/main" id="{A62E796A-0CEB-42BC-B62D-A1D9EEFB1471}"/>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50 giây</a:t>
            </a:r>
          </a:p>
        </p:txBody>
      </p:sp>
      <p:sp>
        <p:nvSpPr>
          <p:cNvPr id="5" name="21 / 32">
            <a:extLst xmlns:a="http://schemas.openxmlformats.org/drawingml/2006/main">
              <a:ext uri="{FF2B5EF4-FFF2-40B4-BE49-F238E27FC236}">
                <a16:creationId xmlns:a16="http://schemas.microsoft.com/office/drawing/2014/main" id="{CA9C01EF-5834-433C-94AE-F89ACDB99240}"/>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21 / 32</a:t>
            </a:r>
          </a:p>
        </p:txBody>
      </p:sp>
      <p:pic>
        <p:nvPicPr>
          <p:cNvPr id="6" name="">
            <a:extLst xmlns:a="http://schemas.openxmlformats.org/drawingml/2006/main">
              <a:ext uri="{FF2B5EF4-FFF2-40B4-BE49-F238E27FC236}">
                <a16:creationId xmlns:a16="http://schemas.microsoft.com/office/drawing/2014/main" id="{9418FA43-9CD7-4084-A3AF-58FF2AAA6051}"/>
              </a:ext>
            </a:extLst>
          </p:cNvPr>
          <p:cNvPicPr>
            <a:picLocks xmlns:a="http://schemas.openxmlformats.org/drawingml/2006/main" noChangeAspect="1"/>
          </p:cNvPicPr>
          <p:nvPr/>
        </p:nvPicPr>
        <p:blipFill>
          <a:blip xmlns:r="http://schemas.openxmlformats.org/officeDocument/2006/relationships" xmlns:a="http://schemas.openxmlformats.org/drawingml/2006/main" r:embed="R199cd4d91eee488b"/>
          <a:stretch xmlns:a="http://schemas.openxmlformats.org/drawingml/2006/main"/>
        </p:blipFill>
        <p:spPr>
          <a:xfrm xmlns:a="http://schemas.openxmlformats.org/drawingml/2006/main">
            <a:off x="1264200" y="1685925"/>
            <a:ext cx="4805849" cy="4095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6D720E9-6106-4691-ADAA-2586D4B83DD9}"/>
              </a:ext>
            </a:extLst>
          </p:cNvPr>
          <p:cNvSpPr>
            <a:spLocks xmlns:a="http://schemas.openxmlformats.org/drawingml/2006/main" noGrp="1"/>
          </p:cNvSpPr>
          <p:nvPr/>
        </p:nvSpPr>
        <p:spPr>
          <a:xfrm xmlns:a="http://schemas.openxmlformats.org/drawingml/2006/main">
            <a:off x="7124700" y="19431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Lần đo thật cuối: 04:00">
            <a:extLst xmlns:a="http://schemas.openxmlformats.org/drawingml/2006/main">
              <a:ext uri="{FF2B5EF4-FFF2-40B4-BE49-F238E27FC236}">
                <a16:creationId xmlns:a16="http://schemas.microsoft.com/office/drawing/2014/main" id="{B479F3E2-D37F-4070-A4B9-8CB3E252CBDE}"/>
              </a:ext>
            </a:extLst>
          </p:cNvPr>
          <p:cNvSpPr>
            <a:spLocks xmlns:a="http://schemas.openxmlformats.org/drawingml/2006/main" noGrp="1"/>
          </p:cNvSpPr>
          <p:nvPr/>
        </p:nvSpPr>
        <p:spPr>
          <a:xfrm xmlns:a="http://schemas.openxmlformats.org/drawingml/2006/main">
            <a:off x="7381875" y="18478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Lần đo thật cuối: 04:00</a:t>
            </a:r>
          </a:p>
        </p:txBody>
      </p:sp>
      <p:sp>
        <p:nvSpPr>
          <p:cNvPr id="9" name="">
            <a:extLst xmlns:a="http://schemas.openxmlformats.org/drawingml/2006/main">
              <a:ext uri="{FF2B5EF4-FFF2-40B4-BE49-F238E27FC236}">
                <a16:creationId xmlns:a16="http://schemas.microsoft.com/office/drawing/2014/main" id="{656BFD2E-39AD-418D-B17C-5914759CDD20}"/>
              </a:ext>
            </a:extLst>
          </p:cNvPr>
          <p:cNvSpPr>
            <a:spLocks xmlns:a="http://schemas.openxmlformats.org/drawingml/2006/main" noGrp="1"/>
          </p:cNvSpPr>
          <p:nvPr/>
        </p:nvSpPr>
        <p:spPr>
          <a:xfrm xmlns:a="http://schemas.openxmlformats.org/drawingml/2006/main">
            <a:off x="7124700" y="27146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12/12 mốc đầu vào của nút bị thiếu">
            <a:extLst xmlns:a="http://schemas.openxmlformats.org/drawingml/2006/main">
              <a:ext uri="{FF2B5EF4-FFF2-40B4-BE49-F238E27FC236}">
                <a16:creationId xmlns:a16="http://schemas.microsoft.com/office/drawing/2014/main" id="{BB4795CD-9F58-4BF6-BE79-9ACB058563D4}"/>
              </a:ext>
            </a:extLst>
          </p:cNvPr>
          <p:cNvSpPr>
            <a:spLocks xmlns:a="http://schemas.openxmlformats.org/drawingml/2006/main" noGrp="1"/>
          </p:cNvSpPr>
          <p:nvPr/>
        </p:nvSpPr>
        <p:spPr>
          <a:xfrm xmlns:a="http://schemas.openxmlformats.org/drawingml/2006/main">
            <a:off x="7381875" y="261937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12/12 mốc đầu vào của nút bị thiếu</a:t>
            </a:r>
          </a:p>
        </p:txBody>
      </p:sp>
      <p:sp>
        <p:nvSpPr>
          <p:cNvPr id="11" name="">
            <a:extLst xmlns:a="http://schemas.openxmlformats.org/drawingml/2006/main">
              <a:ext uri="{FF2B5EF4-FFF2-40B4-BE49-F238E27FC236}">
                <a16:creationId xmlns:a16="http://schemas.microsoft.com/office/drawing/2014/main" id="{8EC2F394-42DD-4613-8361-3122C33EEDB2}"/>
              </a:ext>
            </a:extLst>
          </p:cNvPr>
          <p:cNvSpPr>
            <a:spLocks xmlns:a="http://schemas.openxmlformats.org/drawingml/2006/main" noGrp="1"/>
          </p:cNvSpPr>
          <p:nvPr/>
        </p:nvSpPr>
        <p:spPr>
          <a:xfrm xmlns:a="http://schemas.openxmlformats.org/drawingml/2006/main">
            <a:off x="7124700" y="34861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10/10 hàng xóm thiếu ở mốc hiện tại">
            <a:extLst xmlns:a="http://schemas.openxmlformats.org/drawingml/2006/main">
              <a:ext uri="{FF2B5EF4-FFF2-40B4-BE49-F238E27FC236}">
                <a16:creationId xmlns:a16="http://schemas.microsoft.com/office/drawing/2014/main" id="{9EB8136D-39E0-4BD1-89A0-EC6CA35852C7}"/>
              </a:ext>
            </a:extLst>
          </p:cNvPr>
          <p:cNvSpPr>
            <a:spLocks xmlns:a="http://schemas.openxmlformats.org/drawingml/2006/main" noGrp="1"/>
          </p:cNvSpPr>
          <p:nvPr/>
        </p:nvSpPr>
        <p:spPr>
          <a:xfrm xmlns:a="http://schemas.openxmlformats.org/drawingml/2006/main">
            <a:off x="7381875" y="339090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10/10 hàng xóm thiếu ở mốc hiện tại</a:t>
            </a:r>
          </a:p>
        </p:txBody>
      </p:sp>
      <p:sp>
        <p:nvSpPr>
          <p:cNvPr id="13" name="">
            <a:extLst xmlns:a="http://schemas.openxmlformats.org/drawingml/2006/main">
              <a:ext uri="{FF2B5EF4-FFF2-40B4-BE49-F238E27FC236}">
                <a16:creationId xmlns:a16="http://schemas.microsoft.com/office/drawing/2014/main" id="{DB4406DF-6267-4C71-9077-8F803D5E5C36}"/>
              </a:ext>
            </a:extLst>
          </p:cNvPr>
          <p:cNvSpPr>
            <a:spLocks xmlns:a="http://schemas.openxmlformats.org/drawingml/2006/main" noGrp="1"/>
          </p:cNvSpPr>
          <p:nvPr/>
        </p:nvSpPr>
        <p:spPr>
          <a:xfrm xmlns:a="http://schemas.openxmlformats.org/drawingml/2006/main">
            <a:off x="7124700" y="42576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Giá trị bù không phải quan sát mới">
            <a:extLst xmlns:a="http://schemas.openxmlformats.org/drawingml/2006/main">
              <a:ext uri="{FF2B5EF4-FFF2-40B4-BE49-F238E27FC236}">
                <a16:creationId xmlns:a16="http://schemas.microsoft.com/office/drawing/2014/main" id="{CA8BB26B-FB61-4FE5-A08F-82AB9BB4C27B}"/>
              </a:ext>
            </a:extLst>
          </p:cNvPr>
          <p:cNvSpPr>
            <a:spLocks xmlns:a="http://schemas.openxmlformats.org/drawingml/2006/main" noGrp="1"/>
          </p:cNvSpPr>
          <p:nvPr/>
        </p:nvSpPr>
        <p:spPr>
          <a:xfrm xmlns:a="http://schemas.openxmlformats.org/drawingml/2006/main">
            <a:off x="7381875" y="41624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3B3B"/>
                </a:solidFill>
                <a:latin typeface="Arial"/>
                <a:ea typeface="Arial"/>
                <a:cs typeface="Arial"/>
              </a:defRPr>
            </a:defPPr>
          </a:lstStyle>
          <a:p xmlns:a="http://schemas.openxmlformats.org/drawingml/2006/main">
            <a:pPr>
              <a:defRPr sz="1800">
                <a:solidFill>
                  <a:srgbClr val="163B3B"/>
                </a:solidFill>
                <a:latin typeface="Arial"/>
                <a:ea typeface="Arial"/>
                <a:cs typeface="Arial"/>
              </a:defRPr>
            </a:pPr>
            <a:r>
              <a:rPr sz="1800">
                <a:solidFill>
                  <a:srgbClr val="163B3B"/>
                </a:solidFill>
                <a:latin typeface="Arial"/>
                <a:ea typeface="Arial"/>
                <a:cs typeface="Arial"/>
              </a:rPr>
              <a:t>Giá trị bù không phải quan sát mới</a:t>
            </a:r>
          </a:p>
        </p:txBody>
      </p:sp>
      <p:sp>
        <p:nvSpPr>
          <p:cNvPr id="15" name="Cảnh báo chất lượng đầu vào; chưa phải xác s">
            <a:extLst xmlns:a="http://schemas.openxmlformats.org/drawingml/2006/main">
              <a:ext uri="{FF2B5EF4-FFF2-40B4-BE49-F238E27FC236}">
                <a16:creationId xmlns:a16="http://schemas.microsoft.com/office/drawing/2014/main" id="{7AEA5892-C386-40C2-83DE-D6D8D11E46F3}"/>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Cảnh báo chất lượng đầu vào; chưa phải xác suất mô hình dự báo sai.</a:t>
            </a:r>
          </a:p>
        </p:txBody>
      </p:sp>
    </p:spTree>
    <p:extLst>
      <p:ext uri="{BB962C8B-B14F-4D97-AF65-F5344CB8AC3E}">
        <p14:creationId xmlns:p14="http://schemas.microsoft.com/office/powerpoint/2010/main" val="1415164171"/>
      </p:ext>
    </p:extLst>
  </p:cSld>
</p:sld>
</file>

<file path=ppt/slides/slide2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0723627C-2DD2-4DCA-81E6-18C8CA019709}"/>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ED9529B7-0188-4383-8C8D-8D5A84914D6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Ca khó · tốc độ giảm mạnh ngoài dự báo</a:t>
            </a:r>
          </a:p>
        </p:txBody>
      </p:sp>
      <p:sp>
        <p:nvSpPr>
          <p:cNvPr id="3" name="">
            <a:extLst xmlns:a="http://schemas.openxmlformats.org/drawingml/2006/main">
              <a:ext uri="{FF2B5EF4-FFF2-40B4-BE49-F238E27FC236}">
                <a16:creationId xmlns:a16="http://schemas.microsoft.com/office/drawing/2014/main" id="{C8876D86-A571-4B80-AE55-8B941BE2F44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0 giây">
            <a:extLst xmlns:a="http://schemas.openxmlformats.org/drawingml/2006/main">
              <a:ext uri="{FF2B5EF4-FFF2-40B4-BE49-F238E27FC236}">
                <a16:creationId xmlns:a16="http://schemas.microsoft.com/office/drawing/2014/main" id="{E8B8FEF5-6730-4550-9B61-130269787F7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40 giây</a:t>
            </a:r>
          </a:p>
        </p:txBody>
      </p:sp>
      <p:sp>
        <p:nvSpPr>
          <p:cNvPr id="5" name="22 / 32">
            <a:extLst xmlns:a="http://schemas.openxmlformats.org/drawingml/2006/main">
              <a:ext uri="{FF2B5EF4-FFF2-40B4-BE49-F238E27FC236}">
                <a16:creationId xmlns:a16="http://schemas.microsoft.com/office/drawing/2014/main" id="{16ADC21C-9DB9-429F-903B-A993E8362E0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22 / 32</a:t>
            </a:r>
          </a:p>
        </p:txBody>
      </p:sp>
      <p:pic>
        <p:nvPicPr>
          <p:cNvPr id="6" name="">
            <a:extLst xmlns:a="http://schemas.openxmlformats.org/drawingml/2006/main">
              <a:ext uri="{FF2B5EF4-FFF2-40B4-BE49-F238E27FC236}">
                <a16:creationId xmlns:a16="http://schemas.microsoft.com/office/drawing/2014/main" id="{7E6EB788-23A1-4807-9974-CE062C22963D}"/>
              </a:ext>
            </a:extLst>
          </p:cNvPr>
          <p:cNvPicPr>
            <a:picLocks xmlns:a="http://schemas.openxmlformats.org/drawingml/2006/main" noChangeAspect="1"/>
          </p:cNvPicPr>
          <p:nvPr/>
        </p:nvPicPr>
        <p:blipFill>
          <a:blip xmlns:r="http://schemas.openxmlformats.org/officeDocument/2006/relationships" xmlns:a="http://schemas.openxmlformats.org/drawingml/2006/main" r:embed="R98d3055d88a64cc6"/>
          <a:stretch xmlns:a="http://schemas.openxmlformats.org/drawingml/2006/main"/>
        </p:blipFill>
        <p:spPr>
          <a:xfrm xmlns:a="http://schemas.openxmlformats.org/drawingml/2006/main">
            <a:off x="609600" y="2172020"/>
            <a:ext cx="7620000" cy="290448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70152E5-DC76-480A-B97B-18873CB5F862}"/>
              </a:ext>
            </a:extLst>
          </p:cNvPr>
          <p:cNvSpPr>
            <a:spLocks xmlns:a="http://schemas.openxmlformats.org/drawingml/2006/main" noGrp="1"/>
          </p:cNvSpPr>
          <p:nvPr/>
        </p:nvSpPr>
        <p:spPr>
          <a:xfrm xmlns:a="http://schemas.openxmlformats.org/drawingml/2006/main">
            <a:off x="8496300" y="19240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Đầu vào gần nhất: 94,1 km/h">
            <a:extLst xmlns:a="http://schemas.openxmlformats.org/drawingml/2006/main">
              <a:ext uri="{FF2B5EF4-FFF2-40B4-BE49-F238E27FC236}">
                <a16:creationId xmlns:a16="http://schemas.microsoft.com/office/drawing/2014/main" id="{3E12A1B1-7060-411C-9A3E-D40413673F30}"/>
              </a:ext>
            </a:extLst>
          </p:cNvPr>
          <p:cNvSpPr>
            <a:spLocks xmlns:a="http://schemas.openxmlformats.org/drawingml/2006/main" noGrp="1"/>
          </p:cNvSpPr>
          <p:nvPr/>
        </p:nvSpPr>
        <p:spPr>
          <a:xfrm xmlns:a="http://schemas.openxmlformats.org/drawingml/2006/main">
            <a:off x="8753475" y="182880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Đầu vào gần nhất: 94,1 km/h</a:t>
            </a:r>
          </a:p>
        </p:txBody>
      </p:sp>
      <p:sp>
        <p:nvSpPr>
          <p:cNvPr id="9" name="">
            <a:extLst xmlns:a="http://schemas.openxmlformats.org/drawingml/2006/main">
              <a:ext uri="{FF2B5EF4-FFF2-40B4-BE49-F238E27FC236}">
                <a16:creationId xmlns:a16="http://schemas.microsoft.com/office/drawing/2014/main" id="{5BE784F3-AAE8-4412-B78A-4B1901C78F15}"/>
              </a:ext>
            </a:extLst>
          </p:cNvPr>
          <p:cNvSpPr>
            <a:spLocks xmlns:a="http://schemas.openxmlformats.org/drawingml/2006/main" noGrp="1"/>
          </p:cNvSpPr>
          <p:nvPr/>
        </p:nvSpPr>
        <p:spPr>
          <a:xfrm xmlns:a="http://schemas.openxmlformats.org/drawingml/2006/main">
            <a:off x="8496300" y="271462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GCN + GRU dự báo: 97,8 km/h">
            <a:extLst xmlns:a="http://schemas.openxmlformats.org/drawingml/2006/main">
              <a:ext uri="{FF2B5EF4-FFF2-40B4-BE49-F238E27FC236}">
                <a16:creationId xmlns:a16="http://schemas.microsoft.com/office/drawing/2014/main" id="{04DEB508-95C5-4398-BCB3-A46EAF7185C9}"/>
              </a:ext>
            </a:extLst>
          </p:cNvPr>
          <p:cNvSpPr>
            <a:spLocks xmlns:a="http://schemas.openxmlformats.org/drawingml/2006/main" noGrp="1"/>
          </p:cNvSpPr>
          <p:nvPr/>
        </p:nvSpPr>
        <p:spPr>
          <a:xfrm xmlns:a="http://schemas.openxmlformats.org/drawingml/2006/main">
            <a:off x="8753475" y="261937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GCN + GRU dự báo: 97,8 km/h</a:t>
            </a:r>
          </a:p>
        </p:txBody>
      </p:sp>
      <p:sp>
        <p:nvSpPr>
          <p:cNvPr id="11" name="">
            <a:extLst xmlns:a="http://schemas.openxmlformats.org/drawingml/2006/main">
              <a:ext uri="{FF2B5EF4-FFF2-40B4-BE49-F238E27FC236}">
                <a16:creationId xmlns:a16="http://schemas.microsoft.com/office/drawing/2014/main" id="{4FAC621B-9832-4558-94D1-E996BBB86D00}"/>
              </a:ext>
            </a:extLst>
          </p:cNvPr>
          <p:cNvSpPr>
            <a:spLocks xmlns:a="http://schemas.openxmlformats.org/drawingml/2006/main" noGrp="1"/>
          </p:cNvSpPr>
          <p:nvPr/>
        </p:nvSpPr>
        <p:spPr>
          <a:xfrm xmlns:a="http://schemas.openxmlformats.org/drawingml/2006/main">
            <a:off x="8496300" y="35052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Thực tế +15 phút: 42,8 km/h">
            <a:extLst xmlns:a="http://schemas.openxmlformats.org/drawingml/2006/main">
              <a:ext uri="{FF2B5EF4-FFF2-40B4-BE49-F238E27FC236}">
                <a16:creationId xmlns:a16="http://schemas.microsoft.com/office/drawing/2014/main" id="{C4727CAA-D074-466E-BB19-1E399E088B89}"/>
              </a:ext>
            </a:extLst>
          </p:cNvPr>
          <p:cNvSpPr>
            <a:spLocks xmlns:a="http://schemas.openxmlformats.org/drawingml/2006/main" noGrp="1"/>
          </p:cNvSpPr>
          <p:nvPr/>
        </p:nvSpPr>
        <p:spPr>
          <a:xfrm xmlns:a="http://schemas.openxmlformats.org/drawingml/2006/main">
            <a:off x="8753475" y="3409950"/>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Thực tế +15 phút: 42,8 km/h</a:t>
            </a:r>
          </a:p>
        </p:txBody>
      </p:sp>
      <p:sp>
        <p:nvSpPr>
          <p:cNvPr id="13" name="">
            <a:extLst xmlns:a="http://schemas.openxmlformats.org/drawingml/2006/main">
              <a:ext uri="{FF2B5EF4-FFF2-40B4-BE49-F238E27FC236}">
                <a16:creationId xmlns:a16="http://schemas.microsoft.com/office/drawing/2014/main" id="{0774AB2B-3674-431B-91C7-5A30483E2028}"/>
              </a:ext>
            </a:extLst>
          </p:cNvPr>
          <p:cNvSpPr>
            <a:spLocks xmlns:a="http://schemas.openxmlformats.org/drawingml/2006/main" noGrp="1"/>
          </p:cNvSpPr>
          <p:nvPr/>
        </p:nvSpPr>
        <p:spPr>
          <a:xfrm xmlns:a="http://schemas.openxmlformats.org/drawingml/2006/main">
            <a:off x="8496300" y="42957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4" name="Sai số tại ví dụ: 55,0 km/h">
            <a:extLst xmlns:a="http://schemas.openxmlformats.org/drawingml/2006/main">
              <a:ext uri="{FF2B5EF4-FFF2-40B4-BE49-F238E27FC236}">
                <a16:creationId xmlns:a16="http://schemas.microsoft.com/office/drawing/2014/main" id="{9A0C5AE8-2885-4244-8BB0-4B81BA22CB63}"/>
              </a:ext>
            </a:extLst>
          </p:cNvPr>
          <p:cNvSpPr>
            <a:spLocks xmlns:a="http://schemas.openxmlformats.org/drawingml/2006/main" noGrp="1"/>
          </p:cNvSpPr>
          <p:nvPr/>
        </p:nvSpPr>
        <p:spPr>
          <a:xfrm xmlns:a="http://schemas.openxmlformats.org/drawingml/2006/main">
            <a:off x="8753475" y="4200525"/>
            <a:ext cx="27622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Sai số tại ví dụ: 55,0 km/h</a:t>
            </a:r>
          </a:p>
        </p:txBody>
      </p:sp>
      <p:sp>
        <p:nvSpPr>
          <p:cNvPr id="15" name="Không có nhãn sự cố để kết luận nguyên nhân.">
            <a:extLst xmlns:a="http://schemas.openxmlformats.org/drawingml/2006/main">
              <a:ext uri="{FF2B5EF4-FFF2-40B4-BE49-F238E27FC236}">
                <a16:creationId xmlns:a16="http://schemas.microsoft.com/office/drawing/2014/main" id="{920A4461-B0D1-4130-8F18-86DA55737D6B}"/>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Không có nhãn sự cố để kết luận nguyên nhân.</a:t>
            </a:r>
          </a:p>
        </p:txBody>
      </p:sp>
    </p:spTree>
    <p:extLst>
      <p:ext uri="{BB962C8B-B14F-4D97-AF65-F5344CB8AC3E}">
        <p14:creationId xmlns:p14="http://schemas.microsoft.com/office/powerpoint/2010/main" val="599919554"/>
      </p:ext>
    </p:extLst>
  </p:cSld>
</p:sld>
</file>

<file path=ppt/slides/slide23.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3">
            <a:extLst xmlns:a="http://schemas.openxmlformats.org/drawingml/2006/main">
              <a:ext uri="{FF2B5EF4-FFF2-40B4-BE49-F238E27FC236}">
                <a16:creationId xmlns:a16="http://schemas.microsoft.com/office/drawing/2014/main" id="{A10A3503-EA4A-4C89-87D3-E4E703BF5A13}"/>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150EFF19-D4DC-4638-A3D9-E18F58964B76}"/>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Live demo traffic · 4 phút</a:t>
            </a:r>
          </a:p>
        </p:txBody>
      </p:sp>
      <p:sp>
        <p:nvSpPr>
          <p:cNvPr id="3" name="">
            <a:extLst xmlns:a="http://schemas.openxmlformats.org/drawingml/2006/main">
              <a:ext uri="{FF2B5EF4-FFF2-40B4-BE49-F238E27FC236}">
                <a16:creationId xmlns:a16="http://schemas.microsoft.com/office/drawing/2014/main" id="{273C46EB-342E-4831-88F7-20F3F9EB207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240 giây">
            <a:extLst xmlns:a="http://schemas.openxmlformats.org/drawingml/2006/main">
              <a:ext uri="{FF2B5EF4-FFF2-40B4-BE49-F238E27FC236}">
                <a16:creationId xmlns:a16="http://schemas.microsoft.com/office/drawing/2014/main" id="{591BED72-54AA-48C8-94F2-851452E97DC2}"/>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240 giây</a:t>
            </a:r>
          </a:p>
        </p:txBody>
      </p:sp>
      <p:sp>
        <p:nvSpPr>
          <p:cNvPr id="5" name="23 / 32">
            <a:extLst xmlns:a="http://schemas.openxmlformats.org/drawingml/2006/main">
              <a:ext uri="{FF2B5EF4-FFF2-40B4-BE49-F238E27FC236}">
                <a16:creationId xmlns:a16="http://schemas.microsoft.com/office/drawing/2014/main" id="{ED95554B-A66D-4441-9286-722FCE57DB5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23 / 32</a:t>
            </a:r>
          </a:p>
        </p:txBody>
      </p:sp>
      <p:sp>
        <p:nvSpPr>
          <p:cNvPr id="6" name="">
            <a:extLst xmlns:a="http://schemas.openxmlformats.org/drawingml/2006/main">
              <a:ext uri="{FF2B5EF4-FFF2-40B4-BE49-F238E27FC236}">
                <a16:creationId xmlns:a16="http://schemas.microsoft.com/office/drawing/2014/main" id="{4185885E-4776-4930-8F42-638C8D28D624}"/>
              </a:ext>
            </a:extLst>
          </p:cNvPr>
          <p:cNvSpPr>
            <a:spLocks xmlns:a="http://schemas.openxmlformats.org/drawingml/2006/main" noGrp="1"/>
          </p:cNvSpPr>
          <p:nvPr/>
        </p:nvSpPr>
        <p:spPr>
          <a:xfrm xmlns:a="http://schemas.openxmlformats.org/drawingml/2006/main">
            <a:off x="781050" y="196215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0:00–0:55 · Phục hồi tốc độ: hỏi lớp trước k">
            <a:extLst xmlns:a="http://schemas.openxmlformats.org/drawingml/2006/main">
              <a:ext uri="{FF2B5EF4-FFF2-40B4-BE49-F238E27FC236}">
                <a16:creationId xmlns:a16="http://schemas.microsoft.com/office/drawing/2014/main" id="{F41A9BB7-818D-48BF-8447-A55ED73A2A00}"/>
              </a:ext>
            </a:extLst>
          </p:cNvPr>
          <p:cNvSpPr>
            <a:spLocks xmlns:a="http://schemas.openxmlformats.org/drawingml/2006/main" noGrp="1"/>
          </p:cNvSpPr>
          <p:nvPr/>
        </p:nvSpPr>
        <p:spPr>
          <a:xfrm xmlns:a="http://schemas.openxmlformats.org/drawingml/2006/main">
            <a:off x="1038225" y="186690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0:00–0:55 · Phục hồi tốc độ: hỏi lớp trước khi mở đáp án</a:t>
            </a:r>
          </a:p>
        </p:txBody>
      </p:sp>
      <p:sp>
        <p:nvSpPr>
          <p:cNvPr id="8" name="">
            <a:extLst xmlns:a="http://schemas.openxmlformats.org/drawingml/2006/main">
              <a:ext uri="{FF2B5EF4-FFF2-40B4-BE49-F238E27FC236}">
                <a16:creationId xmlns:a16="http://schemas.microsoft.com/office/drawing/2014/main" id="{9A1B38CC-5A6B-4CC9-B246-DDD3407759A0}"/>
              </a:ext>
            </a:extLst>
          </p:cNvPr>
          <p:cNvSpPr>
            <a:spLocks xmlns:a="http://schemas.openxmlformats.org/drawingml/2006/main" noGrp="1"/>
          </p:cNvSpPr>
          <p:nvPr/>
        </p:nvSpPr>
        <p:spPr>
          <a:xfrm xmlns:a="http://schemas.openxmlformats.org/drawingml/2006/main">
            <a:off x="781050" y="27813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0:55–1:50 · Ca khó: đọc tín hiệu hàng xóm và">
            <a:extLst xmlns:a="http://schemas.openxmlformats.org/drawingml/2006/main">
              <a:ext uri="{FF2B5EF4-FFF2-40B4-BE49-F238E27FC236}">
                <a16:creationId xmlns:a16="http://schemas.microsoft.com/office/drawing/2014/main" id="{0595E57F-8004-4D0F-86C4-B08F16E6C47F}"/>
              </a:ext>
            </a:extLst>
          </p:cNvPr>
          <p:cNvSpPr>
            <a:spLocks xmlns:a="http://schemas.openxmlformats.org/drawingml/2006/main" noGrp="1"/>
          </p:cNvSpPr>
          <p:nvPr/>
        </p:nvSpPr>
        <p:spPr>
          <a:xfrm xmlns:a="http://schemas.openxmlformats.org/drawingml/2006/main">
            <a:off x="1038225" y="268605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0:55–1:50 · Ca khó: đọc tín hiệu hàng xóm và sai số 55 km/h</a:t>
            </a:r>
          </a:p>
        </p:txBody>
      </p:sp>
      <p:sp>
        <p:nvSpPr>
          <p:cNvPr id="10" name="">
            <a:extLst xmlns:a="http://schemas.openxmlformats.org/drawingml/2006/main">
              <a:ext uri="{FF2B5EF4-FFF2-40B4-BE49-F238E27FC236}">
                <a16:creationId xmlns:a16="http://schemas.microsoft.com/office/drawing/2014/main" id="{DCB27D88-F348-4FCA-97DD-D25ED483C6BD}"/>
              </a:ext>
            </a:extLst>
          </p:cNvPr>
          <p:cNvSpPr>
            <a:spLocks xmlns:a="http://schemas.openxmlformats.org/drawingml/2006/main" noGrp="1"/>
          </p:cNvSpPr>
          <p:nvPr/>
        </p:nvSpPr>
        <p:spPr>
          <a:xfrm xmlns:a="http://schemas.openxmlformats.org/drawingml/2006/main">
            <a:off x="781050" y="36004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1:50–3:10 · Dữ liệu quá cũ: mốc đo, thiếu mẫ">
            <a:extLst xmlns:a="http://schemas.openxmlformats.org/drawingml/2006/main">
              <a:ext uri="{FF2B5EF4-FFF2-40B4-BE49-F238E27FC236}">
                <a16:creationId xmlns:a16="http://schemas.microsoft.com/office/drawing/2014/main" id="{98DC1F07-8EEE-4FB1-8252-1D91F6B4B198}"/>
              </a:ext>
            </a:extLst>
          </p:cNvPr>
          <p:cNvSpPr>
            <a:spLocks xmlns:a="http://schemas.openxmlformats.org/drawingml/2006/main" noGrp="1"/>
          </p:cNvSpPr>
          <p:nvPr/>
        </p:nvSpPr>
        <p:spPr>
          <a:xfrm xmlns:a="http://schemas.openxmlformats.org/drawingml/2006/main">
            <a:off x="1038225" y="350520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1:50–3:10 · Dữ liệu quá cũ: mốc đo, thiếu mẫu, cảnh báo</a:t>
            </a:r>
          </a:p>
        </p:txBody>
      </p:sp>
      <p:sp>
        <p:nvSpPr>
          <p:cNvPr id="12" name="">
            <a:extLst xmlns:a="http://schemas.openxmlformats.org/drawingml/2006/main">
              <a:ext uri="{FF2B5EF4-FFF2-40B4-BE49-F238E27FC236}">
                <a16:creationId xmlns:a16="http://schemas.microsoft.com/office/drawing/2014/main" id="{71E4548C-16DD-46CF-9C85-767D6FC1F58D}"/>
              </a:ext>
            </a:extLst>
          </p:cNvPr>
          <p:cNvSpPr>
            <a:spLocks xmlns:a="http://schemas.openxmlformats.org/drawingml/2006/main" noGrp="1"/>
          </p:cNvSpPr>
          <p:nvPr/>
        </p:nvSpPr>
        <p:spPr>
          <a:xfrm xmlns:a="http://schemas.openxmlformats.org/drawingml/2006/main">
            <a:off x="781050" y="44196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3:10–4:00 · So sánh GRU / GCN+GRU và chốt gi">
            <a:extLst xmlns:a="http://schemas.openxmlformats.org/drawingml/2006/main">
              <a:ext uri="{FF2B5EF4-FFF2-40B4-BE49-F238E27FC236}">
                <a16:creationId xmlns:a16="http://schemas.microsoft.com/office/drawing/2014/main" id="{D4B10C4A-E4F5-4658-8B3B-71358A3395E1}"/>
              </a:ext>
            </a:extLst>
          </p:cNvPr>
          <p:cNvSpPr>
            <a:spLocks xmlns:a="http://schemas.openxmlformats.org/drawingml/2006/main" noGrp="1"/>
          </p:cNvSpPr>
          <p:nvPr/>
        </p:nvSpPr>
        <p:spPr>
          <a:xfrm xmlns:a="http://schemas.openxmlformats.org/drawingml/2006/main">
            <a:off x="1038225" y="4324350"/>
            <a:ext cx="103060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63B3B"/>
                </a:solidFill>
                <a:latin typeface="Arial"/>
                <a:ea typeface="Arial"/>
                <a:cs typeface="Arial"/>
              </a:defRPr>
            </a:defPPr>
          </a:lstStyle>
          <a:p xmlns:a="http://schemas.openxmlformats.org/drawingml/2006/main">
            <a:pPr>
              <a:defRPr sz="1950">
                <a:solidFill>
                  <a:srgbClr val="163B3B"/>
                </a:solidFill>
                <a:latin typeface="Arial"/>
                <a:ea typeface="Arial"/>
                <a:cs typeface="Arial"/>
              </a:defRPr>
            </a:pPr>
            <a:r>
              <a:rPr sz="1950">
                <a:solidFill>
                  <a:srgbClr val="163B3B"/>
                </a:solidFill>
                <a:latin typeface="Arial"/>
                <a:ea typeface="Arial"/>
                <a:cs typeface="Arial"/>
              </a:rPr>
              <a:t>3:10–4:00 · So sánh GRU / GCN+GRU và chốt giới hạn</a:t>
            </a:r>
          </a:p>
        </p:txBody>
      </p:sp>
      <p:sp>
        <p:nvSpPr>
          <p:cNvPr id="14" name="">
            <a:extLst xmlns:a="http://schemas.openxmlformats.org/drawingml/2006/main">
              <a:ext uri="{FF2B5EF4-FFF2-40B4-BE49-F238E27FC236}">
                <a16:creationId xmlns:a16="http://schemas.microsoft.com/office/drawing/2014/main" id="{DDC18090-54E6-4936-80B7-6DB1461C6E8F}"/>
              </a:ext>
            </a:extLst>
          </p:cNvPr>
          <p:cNvSpPr>
            <a:spLocks xmlns:a="http://schemas.openxmlformats.org/drawingml/2006/main" noGrp="1"/>
          </p:cNvSpPr>
          <p:nvPr/>
        </p:nvSpPr>
        <p:spPr>
          <a:xfrm xmlns:a="http://schemas.openxmlformats.org/drawingml/2006/main">
            <a:off x="609600" y="5400675"/>
            <a:ext cx="109728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15" name="Tổng thời gian live: 4 phút. Ẩn đáp án cho t">
            <a:extLst xmlns:a="http://schemas.openxmlformats.org/drawingml/2006/main">
              <a:ext uri="{FF2B5EF4-FFF2-40B4-BE49-F238E27FC236}">
                <a16:creationId xmlns:a16="http://schemas.microsoft.com/office/drawing/2014/main" id="{B39B36D4-AB04-4BEB-AF50-8CCC1BD9819E}"/>
              </a:ext>
            </a:extLst>
          </p:cNvPr>
          <p:cNvSpPr>
            <a:spLocks xmlns:a="http://schemas.openxmlformats.org/drawingml/2006/main" noGrp="1"/>
          </p:cNvSpPr>
          <p:nvPr/>
        </p:nvSpPr>
        <p:spPr>
          <a:xfrm xmlns:a="http://schemas.openxmlformats.org/drawingml/2006/main">
            <a:off x="609600" y="55340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Tổng thời gian live: 4 phút. Ẩn đáp án cho tới khi lớp dự đoán.</a:t>
            </a:r>
          </a:p>
        </p:txBody>
      </p:sp>
    </p:spTree>
    <p:extLst>
      <p:ext uri="{BB962C8B-B14F-4D97-AF65-F5344CB8AC3E}">
        <p14:creationId xmlns:p14="http://schemas.microsoft.com/office/powerpoint/2010/main" val="1355301454"/>
      </p:ext>
    </p:extLst>
  </p:cSld>
</p:sld>
</file>

<file path=ppt/slides/slide24.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DEEP GRAPH  /  NGƯỜI 3">
            <a:extLst xmlns:a="http://schemas.openxmlformats.org/drawingml/2006/main">
              <a:ext uri="{FF2B5EF4-FFF2-40B4-BE49-F238E27FC236}">
                <a16:creationId xmlns:a16="http://schemas.microsoft.com/office/drawing/2014/main" id="{66E69D16-89B3-4CC1-A57D-E83431419C1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3</a:t>
            </a:r>
          </a:p>
        </p:txBody>
      </p:sp>
      <p:sp>
        <p:nvSpPr>
          <p:cNvPr id="2" name="slide-title">
            <a:extLst xmlns:a="http://schemas.openxmlformats.org/drawingml/2006/main">
              <a:ext uri="{FF2B5EF4-FFF2-40B4-BE49-F238E27FC236}">
                <a16:creationId xmlns:a16="http://schemas.microsoft.com/office/drawing/2014/main" id="{F3BFB86D-404F-4DCB-825C-D0937B6D1D87}"/>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Graph cải thiện nhẹ, nhưng lỗi lớn vẫn còn</a:t>
            </a:r>
          </a:p>
        </p:txBody>
      </p:sp>
      <p:sp>
        <p:nvSpPr>
          <p:cNvPr id="3" name="">
            <a:extLst xmlns:a="http://schemas.openxmlformats.org/drawingml/2006/main">
              <a:ext uri="{FF2B5EF4-FFF2-40B4-BE49-F238E27FC236}">
                <a16:creationId xmlns:a16="http://schemas.microsoft.com/office/drawing/2014/main" id="{FDDE90AD-680F-442F-869A-28E7BAFF46FB}"/>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3 · Demo giao thông  ·  45 giây">
            <a:extLst xmlns:a="http://schemas.openxmlformats.org/drawingml/2006/main">
              <a:ext uri="{FF2B5EF4-FFF2-40B4-BE49-F238E27FC236}">
                <a16:creationId xmlns:a16="http://schemas.microsoft.com/office/drawing/2014/main" id="{6BFBD5E7-6A19-462B-906B-1BE1AC319387}"/>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3 · Demo giao thông  ·  45 giây</a:t>
            </a:r>
          </a:p>
        </p:txBody>
      </p:sp>
      <p:sp>
        <p:nvSpPr>
          <p:cNvPr id="5" name="24 / 32">
            <a:extLst xmlns:a="http://schemas.openxmlformats.org/drawingml/2006/main">
              <a:ext uri="{FF2B5EF4-FFF2-40B4-BE49-F238E27FC236}">
                <a16:creationId xmlns:a16="http://schemas.microsoft.com/office/drawing/2014/main" id="{884DA321-C2D5-4BB8-B44F-9DD434534B26}"/>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24 / 32</a:t>
            </a:r>
          </a:p>
        </p:txBody>
      </p:sp>
      <p:sp>
        <p:nvSpPr>
          <p:cNvPr id="6" name="">
            <a:extLst xmlns:a="http://schemas.openxmlformats.org/drawingml/2006/main">
              <a:ext uri="{FF2B5EF4-FFF2-40B4-BE49-F238E27FC236}">
                <a16:creationId xmlns:a16="http://schemas.microsoft.com/office/drawing/2014/main" id="{AB0A8C7A-3888-4F2F-86D5-A5EDA5E4C2C9}"/>
              </a:ext>
            </a:extLst>
          </p:cNvPr>
          <p:cNvSpPr>
            <a:spLocks xmlns:a="http://schemas.openxmlformats.org/drawingml/2006/main" noGrp="1"/>
          </p:cNvSpPr>
          <p:nvPr/>
        </p:nvSpPr>
        <p:spPr>
          <a:xfrm xmlns:a="http://schemas.openxmlformats.org/drawingml/2006/main">
            <a:off x="819150" y="20193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MAE toàn tập không bảo đảm tốt ở tốc độ thấp">
            <a:extLst xmlns:a="http://schemas.openxmlformats.org/drawingml/2006/main">
              <a:ext uri="{FF2B5EF4-FFF2-40B4-BE49-F238E27FC236}">
                <a16:creationId xmlns:a16="http://schemas.microsoft.com/office/drawing/2014/main" id="{BCBF0ADE-2A8D-482F-B40A-08C2E51B80B0}"/>
              </a:ext>
            </a:extLst>
          </p:cNvPr>
          <p:cNvSpPr>
            <a:spLocks xmlns:a="http://schemas.openxmlformats.org/drawingml/2006/main" noGrp="1"/>
          </p:cNvSpPr>
          <p:nvPr/>
        </p:nvSpPr>
        <p:spPr>
          <a:xfrm xmlns:a="http://schemas.openxmlformats.org/drawingml/2006/main">
            <a:off x="1076325" y="19240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MAE toàn tập không bảo đảm tốt ở tốc độ thấp</a:t>
            </a:r>
          </a:p>
        </p:txBody>
      </p:sp>
      <p:sp>
        <p:nvSpPr>
          <p:cNvPr id="8" name="">
            <a:extLst xmlns:a="http://schemas.openxmlformats.org/drawingml/2006/main">
              <a:ext uri="{FF2B5EF4-FFF2-40B4-BE49-F238E27FC236}">
                <a16:creationId xmlns:a16="http://schemas.microsoft.com/office/drawing/2014/main" id="{5B6A6EB8-0E07-43EA-99FD-0F46E74B57FC}"/>
              </a:ext>
            </a:extLst>
          </p:cNvPr>
          <p:cNvSpPr>
            <a:spLocks xmlns:a="http://schemas.openxmlformats.org/drawingml/2006/main" noGrp="1"/>
          </p:cNvSpPr>
          <p:nvPr/>
        </p:nvSpPr>
        <p:spPr>
          <a:xfrm xmlns:a="http://schemas.openxmlformats.org/drawingml/2006/main">
            <a:off x="819150" y="2857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Cảnh báo dữ liệu cũ không phải độ tin cậy">
            <a:extLst xmlns:a="http://schemas.openxmlformats.org/drawingml/2006/main">
              <a:ext uri="{FF2B5EF4-FFF2-40B4-BE49-F238E27FC236}">
                <a16:creationId xmlns:a16="http://schemas.microsoft.com/office/drawing/2014/main" id="{F5BFF8AB-6B4F-43D6-98A0-5E3FF5D8F138}"/>
              </a:ext>
            </a:extLst>
          </p:cNvPr>
          <p:cNvSpPr>
            <a:spLocks xmlns:a="http://schemas.openxmlformats.org/drawingml/2006/main" noGrp="1"/>
          </p:cNvSpPr>
          <p:nvPr/>
        </p:nvSpPr>
        <p:spPr>
          <a:xfrm xmlns:a="http://schemas.openxmlformats.org/drawingml/2006/main">
            <a:off x="1076325" y="27622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Cảnh báo dữ liệu cũ không phải độ tin cậy</a:t>
            </a:r>
          </a:p>
        </p:txBody>
      </p:sp>
      <p:sp>
        <p:nvSpPr>
          <p:cNvPr id="10" name="">
            <a:extLst xmlns:a="http://schemas.openxmlformats.org/drawingml/2006/main">
              <a:ext uri="{FF2B5EF4-FFF2-40B4-BE49-F238E27FC236}">
                <a16:creationId xmlns:a16="http://schemas.microsoft.com/office/drawing/2014/main" id="{8C4A44F4-A6ED-4286-BDA4-445D4770FEAD}"/>
              </a:ext>
            </a:extLst>
          </p:cNvPr>
          <p:cNvSpPr>
            <a:spLocks xmlns:a="http://schemas.openxmlformats.org/drawingml/2006/main" noGrp="1"/>
          </p:cNvSpPr>
          <p:nvPr/>
        </p:nvSpPr>
        <p:spPr>
          <a:xfrm xmlns:a="http://schemas.openxmlformats.org/drawingml/2006/main">
            <a:off x="819150" y="36957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Một tình huống tốt không chứng minh hiệu quả">
            <a:extLst xmlns:a="http://schemas.openxmlformats.org/drawingml/2006/main">
              <a:ext uri="{FF2B5EF4-FFF2-40B4-BE49-F238E27FC236}">
                <a16:creationId xmlns:a16="http://schemas.microsoft.com/office/drawing/2014/main" id="{62893A81-CD8F-44B6-9E9D-48F40BF7C420}"/>
              </a:ext>
            </a:extLst>
          </p:cNvPr>
          <p:cNvSpPr>
            <a:spLocks xmlns:a="http://schemas.openxmlformats.org/drawingml/2006/main" noGrp="1"/>
          </p:cNvSpPr>
          <p:nvPr/>
        </p:nvSpPr>
        <p:spPr>
          <a:xfrm xmlns:a="http://schemas.openxmlformats.org/drawingml/2006/main">
            <a:off x="1076325" y="36004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Một tình huống tốt không chứng minh hiệu quả vận hành</a:t>
            </a:r>
          </a:p>
        </p:txBody>
      </p:sp>
      <p:sp>
        <p:nvSpPr>
          <p:cNvPr id="12" name="">
            <a:extLst xmlns:a="http://schemas.openxmlformats.org/drawingml/2006/main">
              <a:ext uri="{FF2B5EF4-FFF2-40B4-BE49-F238E27FC236}">
                <a16:creationId xmlns:a16="http://schemas.microsoft.com/office/drawing/2014/main" id="{3B331E2A-0A0D-4948-B32F-BF5BF593E190}"/>
              </a:ext>
            </a:extLst>
          </p:cNvPr>
          <p:cNvSpPr>
            <a:spLocks xmlns:a="http://schemas.openxmlformats.org/drawingml/2006/main" noGrp="1"/>
          </p:cNvSpPr>
          <p:nvPr/>
        </p:nvSpPr>
        <p:spPr>
          <a:xfrm xmlns:a="http://schemas.openxmlformats.org/drawingml/2006/main">
            <a:off x="819150" y="45339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Cần kiểm chứng bằng dữ liệu mới và bối cảnh ">
            <a:extLst xmlns:a="http://schemas.openxmlformats.org/drawingml/2006/main">
              <a:ext uri="{FF2B5EF4-FFF2-40B4-BE49-F238E27FC236}">
                <a16:creationId xmlns:a16="http://schemas.microsoft.com/office/drawing/2014/main" id="{91430BF1-F64F-48A2-A6F3-FC5F900621C3}"/>
              </a:ext>
            </a:extLst>
          </p:cNvPr>
          <p:cNvSpPr>
            <a:spLocks xmlns:a="http://schemas.openxmlformats.org/drawingml/2006/main" noGrp="1"/>
          </p:cNvSpPr>
          <p:nvPr/>
        </p:nvSpPr>
        <p:spPr>
          <a:xfrm xmlns:a="http://schemas.openxmlformats.org/drawingml/2006/main">
            <a:off x="1076325" y="4438650"/>
            <a:ext cx="100679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Cần kiểm chứng bằng dữ liệu mới và bối cảnh Việt Nam</a:t>
            </a:r>
          </a:p>
        </p:txBody>
      </p:sp>
    </p:spTree>
    <p:extLst>
      <p:ext uri="{BB962C8B-B14F-4D97-AF65-F5344CB8AC3E}">
        <p14:creationId xmlns:p14="http://schemas.microsoft.com/office/powerpoint/2010/main" val="1877185592"/>
      </p:ext>
    </p:extLst>
  </p:cSld>
</p:sld>
</file>

<file path=ppt/slides/slide25.xml><?xml version="1.0" encoding="utf-8"?>
<p:sld xmlns:p="http://schemas.openxmlformats.org/presentationml/2006/main">
  <p:cSld>
    <p:bg>
      <p:bgPr>
        <a:solidFill xmlns:a="http://schemas.openxmlformats.org/drawingml/2006/main">
          <a:srgbClr val="163B3B"/>
        </a:solidFill>
      </p:bgPr>
    </p:bg>
    <p:spTree>
      <p:nvGrpSpPr>
        <p:cNvPr id="1" name=""/>
        <p:cNvGrpSpPr/>
        <p:nvPr/>
      </p:nvGrpSpPr>
      <p:grpSpPr>
        <a:xfrm xmlns:a="http://schemas.openxmlformats.org/drawingml/2006/main"/>
      </p:grpSpPr>
      <p:sp>
        <p:nvSpPr>
          <p:cNvPr id="9" name="NGƯỜI 4  /  DEMO THỰC NGHIỆM">
            <a:extLst xmlns:a="http://schemas.openxmlformats.org/drawingml/2006/main">
              <a:ext uri="{FF2B5EF4-FFF2-40B4-BE49-F238E27FC236}">
                <a16:creationId xmlns:a16="http://schemas.microsoft.com/office/drawing/2014/main" id="{9F5AF524-A244-401D-B0C3-43ADADC73FA9}"/>
              </a:ext>
            </a:extLst>
          </p:cNvPr>
          <p:cNvSpPr>
            <a:spLocks xmlns:a="http://schemas.openxmlformats.org/drawingml/2006/main" noGrp="1"/>
          </p:cNvSpPr>
          <p:nvPr/>
        </p:nvSpPr>
        <p:spPr>
          <a:xfrm xmlns:a="http://schemas.openxmlformats.org/drawingml/2006/main">
            <a:off x="609600" y="5143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A6D6C6"/>
                </a:solidFill>
                <a:latin typeface="Arial"/>
                <a:ea typeface="Arial"/>
                <a:cs typeface="Arial"/>
              </a:defRPr>
            </a:defPPr>
          </a:lstStyle>
          <a:p xmlns:a="http://schemas.openxmlformats.org/drawingml/2006/main">
            <a:pPr>
              <a:defRPr sz="1350" b="1">
                <a:solidFill>
                  <a:srgbClr val="A6D6C6"/>
                </a:solidFill>
                <a:latin typeface="Arial"/>
                <a:ea typeface="Arial"/>
                <a:cs typeface="Arial"/>
              </a:defRPr>
            </a:pPr>
            <a:r>
              <a:rPr sz="1350" b="1">
                <a:solidFill>
                  <a:srgbClr val="A6D6C6"/>
                </a:solidFill>
                <a:latin typeface="Arial"/>
                <a:ea typeface="Arial"/>
                <a:cs typeface="Arial"/>
              </a:rPr>
              <a:t>NGƯỜI 4  /  DEMO THỰC NGHIỆM</a:t>
            </a:r>
          </a:p>
        </p:txBody>
      </p:sp>
      <p:sp>
        <p:nvSpPr>
          <p:cNvPr id="2" name="Demo 2 · Sàng lọc giao dịch Bitcoin đáng ngờ">
            <a:extLst xmlns:a="http://schemas.openxmlformats.org/drawingml/2006/main">
              <a:ext uri="{FF2B5EF4-FFF2-40B4-BE49-F238E27FC236}">
                <a16:creationId xmlns:a16="http://schemas.microsoft.com/office/drawing/2014/main" id="{A40BE669-7437-4A85-BC64-1A1B2903536A}"/>
              </a:ext>
            </a:extLst>
          </p:cNvPr>
          <p:cNvSpPr>
            <a:spLocks xmlns:a="http://schemas.openxmlformats.org/drawingml/2006/main" noGrp="1"/>
          </p:cNvSpPr>
          <p:nvPr/>
        </p:nvSpPr>
        <p:spPr>
          <a:xfrm xmlns:a="http://schemas.openxmlformats.org/drawingml/2006/main">
            <a:off x="609600" y="1457325"/>
            <a:ext cx="10572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FFFFF"/>
                </a:solidFill>
                <a:latin typeface="Arial"/>
                <a:ea typeface="Arial"/>
                <a:cs typeface="Arial"/>
              </a:defRPr>
            </a:defPPr>
          </a:lstStyle>
          <a:p xmlns:a="http://schemas.openxmlformats.org/drawingml/2006/main">
            <a:pPr>
              <a:defRPr sz="4275" b="1">
                <a:solidFill>
                  <a:srgbClr val="FFFFFF"/>
                </a:solidFill>
                <a:latin typeface="Arial"/>
                <a:ea typeface="Arial"/>
                <a:cs typeface="Arial"/>
              </a:defRPr>
            </a:pPr>
            <a:r>
              <a:rPr sz="4275" b="1">
                <a:solidFill>
                  <a:srgbClr val="FFFFFF"/>
                </a:solidFill>
                <a:latin typeface="Arial"/>
                <a:ea typeface="Arial"/>
                <a:cs typeface="Arial"/>
              </a:rPr>
              <a:t>Demo 2 · Sàng lọc giao dịch Bitcoin đáng ngờ</a:t>
            </a:r>
          </a:p>
        </p:txBody>
      </p:sp>
      <p:sp>
        <p:nvSpPr>
          <p:cNvPr id="3" name="">
            <a:extLst xmlns:a="http://schemas.openxmlformats.org/drawingml/2006/main">
              <a:ext uri="{FF2B5EF4-FFF2-40B4-BE49-F238E27FC236}">
                <a16:creationId xmlns:a16="http://schemas.microsoft.com/office/drawing/2014/main" id="{6443D40A-84F1-40E0-A8A4-39D246D8ADCB}"/>
              </a:ext>
            </a:extLst>
          </p:cNvPr>
          <p:cNvSpPr>
            <a:spLocks xmlns:a="http://schemas.openxmlformats.org/drawingml/2006/main" noGrp="1"/>
          </p:cNvSpPr>
          <p:nvPr/>
        </p:nvSpPr>
        <p:spPr>
          <a:xfrm xmlns:a="http://schemas.openxmlformats.org/drawingml/2006/main">
            <a:off x="609600" y="3305175"/>
            <a:ext cx="10953750" cy="28575"/>
          </a:xfrm>
          <a:prstGeom xmlns:a="http://schemas.openxmlformats.org/drawingml/2006/main" prst="rect">
            <a:avLst/>
          </a:prstGeom>
          <a:solidFill xmlns:a="http://schemas.openxmlformats.org/drawingml/2006/main">
            <a:srgbClr val="087E73"/>
          </a:solidFill>
          <a:ln xmlns:a="http://schemas.openxmlformats.org/drawingml/2006/main" w="0">
            <a:noFill/>
          </a:ln>
        </p:spPr>
      </p:sp>
      <p:sp>
        <p:nvSpPr>
          <p:cNvPr id="4" name="Điểm cảnh báo là tín hiệu rà soát, không phả">
            <a:extLst xmlns:a="http://schemas.openxmlformats.org/drawingml/2006/main">
              <a:ext uri="{FF2B5EF4-FFF2-40B4-BE49-F238E27FC236}">
                <a16:creationId xmlns:a16="http://schemas.microsoft.com/office/drawing/2014/main" id="{6F9E6DD9-674B-4710-8DEE-E2C8F92436FA}"/>
              </a:ext>
            </a:extLst>
          </p:cNvPr>
          <p:cNvSpPr>
            <a:spLocks xmlns:a="http://schemas.openxmlformats.org/drawingml/2006/main" noGrp="1"/>
          </p:cNvSpPr>
          <p:nvPr/>
        </p:nvSpPr>
        <p:spPr>
          <a:xfrm xmlns:a="http://schemas.openxmlformats.org/drawingml/2006/main">
            <a:off x="609600" y="3714750"/>
            <a:ext cx="10239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a:solidFill>
                  <a:srgbClr val="E1EEE9"/>
                </a:solidFill>
                <a:latin typeface="Arial"/>
                <a:ea typeface="Arial"/>
                <a:cs typeface="Arial"/>
              </a:defRPr>
            </a:defPPr>
          </a:lstStyle>
          <a:p xmlns:a="http://schemas.openxmlformats.org/drawingml/2006/main">
            <a:pPr>
              <a:defRPr sz="2625">
                <a:solidFill>
                  <a:srgbClr val="E1EEE9"/>
                </a:solidFill>
                <a:latin typeface="Arial"/>
                <a:ea typeface="Arial"/>
                <a:cs typeface="Arial"/>
              </a:defRPr>
            </a:pPr>
            <a:r>
              <a:rPr sz="2625">
                <a:solidFill>
                  <a:srgbClr val="E1EEE9"/>
                </a:solidFill>
                <a:latin typeface="Arial"/>
                <a:ea typeface="Arial"/>
                <a:cs typeface="Arial"/>
              </a:rPr>
              <a:t>Điểm cảnh báo là tín hiệu rà soát, không phải kết luận vi phạm</a:t>
            </a:r>
          </a:p>
        </p:txBody>
      </p:sp>
      <p:sp>
        <p:nvSpPr>
          <p:cNvPr id="5" name="ELLIPTIC  ·  PHÂN LOẠI GIAO DỊCH  ·  NHÃN MẤ">
            <a:extLst xmlns:a="http://schemas.openxmlformats.org/drawingml/2006/main">
              <a:ext uri="{FF2B5EF4-FFF2-40B4-BE49-F238E27FC236}">
                <a16:creationId xmlns:a16="http://schemas.microsoft.com/office/drawing/2014/main" id="{3F27E300-4AC2-464B-9049-D594E7616D0A}"/>
              </a:ext>
            </a:extLst>
          </p:cNvPr>
          <p:cNvSpPr>
            <a:spLocks xmlns:a="http://schemas.openxmlformats.org/drawingml/2006/main" noGrp="1"/>
          </p:cNvSpPr>
          <p:nvPr/>
        </p:nvSpPr>
        <p:spPr>
          <a:xfrm xmlns:a="http://schemas.openxmlformats.org/drawingml/2006/main">
            <a:off x="609600" y="5257800"/>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A6D6C6"/>
                </a:solidFill>
                <a:latin typeface="Arial"/>
                <a:ea typeface="Arial"/>
                <a:cs typeface="Arial"/>
              </a:defRPr>
            </a:defPPr>
          </a:lstStyle>
          <a:p xmlns:a="http://schemas.openxmlformats.org/drawingml/2006/main">
            <a:pPr>
              <a:defRPr sz="1575" b="1">
                <a:solidFill>
                  <a:srgbClr val="A6D6C6"/>
                </a:solidFill>
                <a:latin typeface="Arial"/>
                <a:ea typeface="Arial"/>
                <a:cs typeface="Arial"/>
              </a:defRPr>
            </a:pPr>
            <a:r>
              <a:rPr sz="1575" b="1">
                <a:solidFill>
                  <a:srgbClr val="A6D6C6"/>
                </a:solidFill>
                <a:latin typeface="Arial"/>
                <a:ea typeface="Arial"/>
                <a:cs typeface="Arial"/>
              </a:rPr>
              <a:t>ELLIPTIC  ·  PHÂN LOẠI GIAO DỊCH  ·  NHÃN MẤT CÂN BẰNG</a:t>
            </a:r>
          </a:p>
        </p:txBody>
      </p:sp>
      <p:sp>
        <p:nvSpPr>
          <p:cNvPr id="6" name="">
            <a:extLst xmlns:a="http://schemas.openxmlformats.org/drawingml/2006/main">
              <a:ext uri="{FF2B5EF4-FFF2-40B4-BE49-F238E27FC236}">
                <a16:creationId xmlns:a16="http://schemas.microsoft.com/office/drawing/2014/main" id="{B0EC2DFE-D0B9-4D62-896C-8B0786CA6E03}"/>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7" name="Người 4 · Demo Bitcoin  ·  40 giây">
            <a:extLst xmlns:a="http://schemas.openxmlformats.org/drawingml/2006/main">
              <a:ext uri="{FF2B5EF4-FFF2-40B4-BE49-F238E27FC236}">
                <a16:creationId xmlns:a16="http://schemas.microsoft.com/office/drawing/2014/main" id="{CE91AE0E-E64C-4456-AB93-90EC299E3F6F}"/>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40 giây</a:t>
            </a:r>
          </a:p>
        </p:txBody>
      </p:sp>
      <p:sp>
        <p:nvSpPr>
          <p:cNvPr id="8" name="25 / 32">
            <a:extLst xmlns:a="http://schemas.openxmlformats.org/drawingml/2006/main">
              <a:ext uri="{FF2B5EF4-FFF2-40B4-BE49-F238E27FC236}">
                <a16:creationId xmlns:a16="http://schemas.microsoft.com/office/drawing/2014/main" id="{BBE768F0-FBFC-4ECB-A33B-31F2E28EF16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25 / 32</a:t>
            </a:r>
          </a:p>
        </p:txBody>
      </p:sp>
    </p:spTree>
    <p:extLst>
      <p:ext uri="{BB962C8B-B14F-4D97-AF65-F5344CB8AC3E}">
        <p14:creationId xmlns:p14="http://schemas.microsoft.com/office/powerpoint/2010/main" val="498319940"/>
      </p:ext>
    </p:extLst>
  </p:cSld>
</p:sld>
</file>

<file path=ppt/slides/slide26.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64A0D794-E8E3-48D6-BD57-494585388EDA}"/>
              </a:ext>
            </a:extLst>
          </p:cNvPr>
          <p:cNvCxnSpPr>
            <a:stCxn xmlns:a="http://schemas.openxmlformats.org/drawingml/2006/main" id="9" idx="5"/>
            <a:endCxn xmlns:a="http://schemas.openxmlformats.org/drawingml/2006/main" id="11" idx="1"/>
          </p:cNvCxnSpPr>
          <p:nvPr/>
        </p:nvCxnSpPr>
        <p:spPr>
          <a:xfrm xmlns:a="http://schemas.openxmlformats.org/drawingml/2006/main">
            <a:off x="2908760" y="30859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6" name="">
            <a:extLst xmlns:a="http://schemas.openxmlformats.org/drawingml/2006/main">
              <a:ext uri="{FF2B5EF4-FFF2-40B4-BE49-F238E27FC236}">
                <a16:creationId xmlns:a16="http://schemas.microsoft.com/office/drawing/2014/main" id="{084BD914-6960-42CB-B6E6-84494DBEAAFC}"/>
              </a:ext>
            </a:extLst>
          </p:cNvPr>
          <p:cNvCxnSpPr>
            <a:stCxn xmlns:a="http://schemas.openxmlformats.org/drawingml/2006/main" id="9" idx="7"/>
            <a:endCxn xmlns:a="http://schemas.openxmlformats.org/drawingml/2006/main" id="10" idx="3"/>
          </p:cNvCxnSpPr>
          <p:nvPr/>
        </p:nvCxnSpPr>
        <p:spPr>
          <a:xfrm xmlns:a="http://schemas.openxmlformats.org/drawingml/2006/main" flipV="1">
            <a:off x="2908760" y="24382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5" name="">
            <a:extLst xmlns:a="http://schemas.openxmlformats.org/drawingml/2006/main">
              <a:ext uri="{FF2B5EF4-FFF2-40B4-BE49-F238E27FC236}">
                <a16:creationId xmlns:a16="http://schemas.microsoft.com/office/drawing/2014/main" id="{6AD32FB4-A056-4798-BE09-4734F5C3F0F4}"/>
              </a:ext>
            </a:extLst>
          </p:cNvPr>
          <p:cNvCxnSpPr>
            <a:stCxn xmlns:a="http://schemas.openxmlformats.org/drawingml/2006/main" id="8" idx="7"/>
            <a:endCxn xmlns:a="http://schemas.openxmlformats.org/drawingml/2006/main" id="9" idx="3"/>
          </p:cNvCxnSpPr>
          <p:nvPr/>
        </p:nvCxnSpPr>
        <p:spPr>
          <a:xfrm xmlns:a="http://schemas.openxmlformats.org/drawingml/2006/main" flipV="1">
            <a:off x="1969595" y="3085925"/>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4" name="">
            <a:extLst xmlns:a="http://schemas.openxmlformats.org/drawingml/2006/main">
              <a:ext uri="{FF2B5EF4-FFF2-40B4-BE49-F238E27FC236}">
                <a16:creationId xmlns:a16="http://schemas.microsoft.com/office/drawing/2014/main" id="{6B8BCC40-489F-4A7D-8107-7D09E15075E2}"/>
              </a:ext>
            </a:extLst>
          </p:cNvPr>
          <p:cNvCxnSpPr>
            <a:stCxn xmlns:a="http://schemas.openxmlformats.org/drawingml/2006/main" id="7" idx="5"/>
            <a:endCxn xmlns:a="http://schemas.openxmlformats.org/drawingml/2006/main" id="9" idx="1"/>
          </p:cNvCxnSpPr>
          <p:nvPr/>
        </p:nvCxnSpPr>
        <p:spPr>
          <a:xfrm xmlns:a="http://schemas.openxmlformats.org/drawingml/2006/main">
            <a:off x="1969595" y="2438225"/>
            <a:ext cx="70100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3" name="">
            <a:extLst xmlns:a="http://schemas.openxmlformats.org/drawingml/2006/main">
              <a:ext uri="{FF2B5EF4-FFF2-40B4-BE49-F238E27FC236}">
                <a16:creationId xmlns:a16="http://schemas.microsoft.com/office/drawing/2014/main" id="{F4C79D6E-0F2A-4B9B-86EA-56D7CB339542}"/>
              </a:ext>
            </a:extLst>
          </p:cNvPr>
          <p:cNvCxnSpPr>
            <a:stCxn xmlns:a="http://schemas.openxmlformats.org/drawingml/2006/main" id="6" idx="5"/>
            <a:endCxn xmlns:a="http://schemas.openxmlformats.org/drawingml/2006/main" id="8" idx="1"/>
          </p:cNvCxnSpPr>
          <p:nvPr/>
        </p:nvCxnSpPr>
        <p:spPr>
          <a:xfrm xmlns:a="http://schemas.openxmlformats.org/drawingml/2006/main">
            <a:off x="1095200" y="30859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cxnSp>
        <p:nvCxnSpPr>
          <p:cNvPr id="12" name="">
            <a:extLst xmlns:a="http://schemas.openxmlformats.org/drawingml/2006/main">
              <a:ext uri="{FF2B5EF4-FFF2-40B4-BE49-F238E27FC236}">
                <a16:creationId xmlns:a16="http://schemas.microsoft.com/office/drawing/2014/main" id="{427F169D-9129-4808-805C-38E5493DA01F}"/>
              </a:ext>
            </a:extLst>
          </p:cNvPr>
          <p:cNvCxnSpPr>
            <a:stCxn xmlns:a="http://schemas.openxmlformats.org/drawingml/2006/main" id="6" idx="7"/>
            <a:endCxn xmlns:a="http://schemas.openxmlformats.org/drawingml/2006/main" id="7" idx="3"/>
          </p:cNvCxnSpPr>
          <p:nvPr/>
        </p:nvCxnSpPr>
        <p:spPr>
          <a:xfrm xmlns:a="http://schemas.openxmlformats.org/drawingml/2006/main" flipV="1">
            <a:off x="1095200" y="2438225"/>
            <a:ext cx="636239" cy="409544"/>
          </a:xfrm>
          <a:prstGeom xmlns:a="http://schemas.openxmlformats.org/drawingml/2006/main" prst="straightConnector1">
            <a:avLst/>
          </a:prstGeom>
          <a:ln xmlns:a="http://schemas.openxmlformats.org/drawingml/2006/main" w="19050">
            <a:solidFill>
              <a:srgbClr val="D7E1D9"/>
            </a:solidFill>
            <a:tailEnd type="triangle" w="med" len="med"/>
          </a:ln>
        </p:spPr>
      </p:cxnSp>
      <p:sp>
        <p:nvSpPr>
          <p:cNvPr id="35" name="DEEP GRAPH  /  NGƯỜI 4">
            <a:extLst xmlns:a="http://schemas.openxmlformats.org/drawingml/2006/main">
              <a:ext uri="{FF2B5EF4-FFF2-40B4-BE49-F238E27FC236}">
                <a16:creationId xmlns:a16="http://schemas.microsoft.com/office/drawing/2014/main" id="{E37B3E2D-E1C7-43A5-BAC1-2005F44DADC7}"/>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BFD5C49D-0172-4470-8D36-2E9B409BDFF9}"/>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Elliptic biểu diễn dòng tiền thành graph thời gian</a:t>
            </a:r>
          </a:p>
        </p:txBody>
      </p:sp>
      <p:sp>
        <p:nvSpPr>
          <p:cNvPr id="3" name="">
            <a:extLst xmlns:a="http://schemas.openxmlformats.org/drawingml/2006/main">
              <a:ext uri="{FF2B5EF4-FFF2-40B4-BE49-F238E27FC236}">
                <a16:creationId xmlns:a16="http://schemas.microsoft.com/office/drawing/2014/main" id="{866B4CCF-8535-4AE9-A12F-5F9DAEF51AC7}"/>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50 giây">
            <a:extLst xmlns:a="http://schemas.openxmlformats.org/drawingml/2006/main">
              <a:ext uri="{FF2B5EF4-FFF2-40B4-BE49-F238E27FC236}">
                <a16:creationId xmlns:a16="http://schemas.microsoft.com/office/drawing/2014/main" id="{0E3323D6-E940-4422-98B5-2FBA7D020EEB}"/>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50 giây</a:t>
            </a:r>
          </a:p>
        </p:txBody>
      </p:sp>
      <p:sp>
        <p:nvSpPr>
          <p:cNvPr id="5" name="26 / 32">
            <a:extLst xmlns:a="http://schemas.openxmlformats.org/drawingml/2006/main">
              <a:ext uri="{FF2B5EF4-FFF2-40B4-BE49-F238E27FC236}">
                <a16:creationId xmlns:a16="http://schemas.microsoft.com/office/drawing/2014/main" id="{3DA1DCC5-1587-41A3-A0D0-C24D53478DDF}"/>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26 / 32</a:t>
            </a:r>
          </a:p>
        </p:txBody>
      </p:sp>
      <p:sp>
        <p:nvSpPr>
          <p:cNvPr id="6" name="">
            <a:extLst xmlns:a="http://schemas.openxmlformats.org/drawingml/2006/main">
              <a:ext uri="{FF2B5EF4-FFF2-40B4-BE49-F238E27FC236}">
                <a16:creationId xmlns:a16="http://schemas.microsoft.com/office/drawing/2014/main" id="{B2F63039-952A-4F9F-9406-59EEA5279528}"/>
              </a:ext>
            </a:extLst>
          </p:cNvPr>
          <p:cNvSpPr>
            <a:spLocks xmlns:a="http://schemas.openxmlformats.org/drawingml/2006/main" noGrp="1"/>
          </p:cNvSpPr>
          <p:nvPr/>
        </p:nvSpPr>
        <p:spPr>
          <a:xfrm xmlns:a="http://schemas.openxmlformats.org/drawingml/2006/main">
            <a:off x="807720" y="27984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A213341-6240-4BD2-86B9-BD8ACA797F5E}"/>
              </a:ext>
            </a:extLst>
          </p:cNvPr>
          <p:cNvSpPr>
            <a:spLocks xmlns:a="http://schemas.openxmlformats.org/drawingml/2006/main" noGrp="1"/>
          </p:cNvSpPr>
          <p:nvPr/>
        </p:nvSpPr>
        <p:spPr>
          <a:xfrm xmlns:a="http://schemas.openxmlformats.org/drawingml/2006/main">
            <a:off x="1682115" y="2150745"/>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62FE946-802C-4ACC-98F8-1180C97601B8}"/>
              </a:ext>
            </a:extLst>
          </p:cNvPr>
          <p:cNvSpPr>
            <a:spLocks xmlns:a="http://schemas.openxmlformats.org/drawingml/2006/main" noGrp="1"/>
          </p:cNvSpPr>
          <p:nvPr/>
        </p:nvSpPr>
        <p:spPr>
          <a:xfrm xmlns:a="http://schemas.openxmlformats.org/drawingml/2006/main">
            <a:off x="1682115" y="34461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FBBD075-F1B7-4D17-B131-88A78490241B}"/>
              </a:ext>
            </a:extLst>
          </p:cNvPr>
          <p:cNvSpPr>
            <a:spLocks xmlns:a="http://schemas.openxmlformats.org/drawingml/2006/main" noGrp="1"/>
          </p:cNvSpPr>
          <p:nvPr/>
        </p:nvSpPr>
        <p:spPr>
          <a:xfrm xmlns:a="http://schemas.openxmlformats.org/drawingml/2006/main">
            <a:off x="2621280" y="2798445"/>
            <a:ext cx="336804" cy="336804"/>
          </a:xfrm>
          <a:prstGeom xmlns:a="http://schemas.openxmlformats.org/drawingml/2006/main" prst="ellipse">
            <a:avLst/>
          </a:prstGeom>
          <a:solidFill xmlns:a="http://schemas.openxmlformats.org/drawingml/2006/main">
            <a:srgbClr val="CE704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A91C8F3-62B3-40CE-AD8F-E18A64A687C2}"/>
              </a:ext>
            </a:extLst>
          </p:cNvPr>
          <p:cNvSpPr>
            <a:spLocks xmlns:a="http://schemas.openxmlformats.org/drawingml/2006/main" noGrp="1"/>
          </p:cNvSpPr>
          <p:nvPr/>
        </p:nvSpPr>
        <p:spPr>
          <a:xfrm xmlns:a="http://schemas.openxmlformats.org/drawingml/2006/main">
            <a:off x="3495675" y="2150745"/>
            <a:ext cx="336804" cy="336804"/>
          </a:xfrm>
          <a:prstGeom xmlns:a="http://schemas.openxmlformats.org/drawingml/2006/main" prst="ellipse">
            <a:avLst/>
          </a:prstGeom>
          <a:solidFill xmlns:a="http://schemas.openxmlformats.org/drawingml/2006/main">
            <a:srgbClr val="5C8E83"/>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E3B1968-D486-4276-83DA-B961B01B337A}"/>
              </a:ext>
            </a:extLst>
          </p:cNvPr>
          <p:cNvSpPr>
            <a:spLocks xmlns:a="http://schemas.openxmlformats.org/drawingml/2006/main" noGrp="1"/>
          </p:cNvSpPr>
          <p:nvPr/>
        </p:nvSpPr>
        <p:spPr>
          <a:xfrm xmlns:a="http://schemas.openxmlformats.org/drawingml/2006/main">
            <a:off x="3495675" y="3446145"/>
            <a:ext cx="336804" cy="336804"/>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18" name="A">
            <a:extLst xmlns:a="http://schemas.openxmlformats.org/drawingml/2006/main">
              <a:ext uri="{FF2B5EF4-FFF2-40B4-BE49-F238E27FC236}">
                <a16:creationId xmlns:a16="http://schemas.microsoft.com/office/drawing/2014/main" id="{CC35B008-21F2-42C3-8516-17CD1A98BBEF}"/>
              </a:ext>
            </a:extLst>
          </p:cNvPr>
          <p:cNvSpPr>
            <a:spLocks xmlns:a="http://schemas.openxmlformats.org/drawingml/2006/main" noGrp="1"/>
          </p:cNvSpPr>
          <p:nvPr/>
        </p:nvSpPr>
        <p:spPr>
          <a:xfrm xmlns:a="http://schemas.openxmlformats.org/drawingml/2006/main">
            <a:off x="807720" y="28761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A</a:t>
            </a:r>
          </a:p>
        </p:txBody>
      </p:sp>
      <p:sp>
        <p:nvSpPr>
          <p:cNvPr id="19" name="B">
            <a:extLst xmlns:a="http://schemas.openxmlformats.org/drawingml/2006/main">
              <a:ext uri="{FF2B5EF4-FFF2-40B4-BE49-F238E27FC236}">
                <a16:creationId xmlns:a16="http://schemas.microsoft.com/office/drawing/2014/main" id="{650C8C63-D6ED-4B7B-9F14-740C0A8F564A}"/>
              </a:ext>
            </a:extLst>
          </p:cNvPr>
          <p:cNvSpPr>
            <a:spLocks xmlns:a="http://schemas.openxmlformats.org/drawingml/2006/main" noGrp="1"/>
          </p:cNvSpPr>
          <p:nvPr/>
        </p:nvSpPr>
        <p:spPr>
          <a:xfrm xmlns:a="http://schemas.openxmlformats.org/drawingml/2006/main">
            <a:off x="1682115" y="22284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B</a:t>
            </a:r>
          </a:p>
        </p:txBody>
      </p:sp>
      <p:sp>
        <p:nvSpPr>
          <p:cNvPr id="20" name="C">
            <a:extLst xmlns:a="http://schemas.openxmlformats.org/drawingml/2006/main">
              <a:ext uri="{FF2B5EF4-FFF2-40B4-BE49-F238E27FC236}">
                <a16:creationId xmlns:a16="http://schemas.microsoft.com/office/drawing/2014/main" id="{2B179D06-9BF9-4026-8F2E-DF723C2EAB4E}"/>
              </a:ext>
            </a:extLst>
          </p:cNvPr>
          <p:cNvSpPr>
            <a:spLocks xmlns:a="http://schemas.openxmlformats.org/drawingml/2006/main" noGrp="1"/>
          </p:cNvSpPr>
          <p:nvPr/>
        </p:nvSpPr>
        <p:spPr>
          <a:xfrm xmlns:a="http://schemas.openxmlformats.org/drawingml/2006/main">
            <a:off x="1682115" y="35238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C</a:t>
            </a:r>
          </a:p>
        </p:txBody>
      </p:sp>
      <p:sp>
        <p:nvSpPr>
          <p:cNvPr id="21" name="D">
            <a:extLst xmlns:a="http://schemas.openxmlformats.org/drawingml/2006/main">
              <a:ext uri="{FF2B5EF4-FFF2-40B4-BE49-F238E27FC236}">
                <a16:creationId xmlns:a16="http://schemas.microsoft.com/office/drawing/2014/main" id="{3365FA1A-2DF7-491F-AC3B-6ED7F5B92ACA}"/>
              </a:ext>
            </a:extLst>
          </p:cNvPr>
          <p:cNvSpPr>
            <a:spLocks xmlns:a="http://schemas.openxmlformats.org/drawingml/2006/main" noGrp="1"/>
          </p:cNvSpPr>
          <p:nvPr/>
        </p:nvSpPr>
        <p:spPr>
          <a:xfrm xmlns:a="http://schemas.openxmlformats.org/drawingml/2006/main">
            <a:off x="2621280" y="28761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D</a:t>
            </a:r>
          </a:p>
        </p:txBody>
      </p:sp>
      <p:sp>
        <p:nvSpPr>
          <p:cNvPr id="22" name="E">
            <a:extLst xmlns:a="http://schemas.openxmlformats.org/drawingml/2006/main">
              <a:ext uri="{FF2B5EF4-FFF2-40B4-BE49-F238E27FC236}">
                <a16:creationId xmlns:a16="http://schemas.microsoft.com/office/drawing/2014/main" id="{B1F6D177-DF7B-4ABB-A6A1-411E06FA32CF}"/>
              </a:ext>
            </a:extLst>
          </p:cNvPr>
          <p:cNvSpPr>
            <a:spLocks xmlns:a="http://schemas.openxmlformats.org/drawingml/2006/main" noGrp="1"/>
          </p:cNvSpPr>
          <p:nvPr/>
        </p:nvSpPr>
        <p:spPr>
          <a:xfrm xmlns:a="http://schemas.openxmlformats.org/drawingml/2006/main">
            <a:off x="3495675" y="22284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E</a:t>
            </a:r>
          </a:p>
        </p:txBody>
      </p:sp>
      <p:sp>
        <p:nvSpPr>
          <p:cNvPr id="23" name="F">
            <a:extLst xmlns:a="http://schemas.openxmlformats.org/drawingml/2006/main">
              <a:ext uri="{FF2B5EF4-FFF2-40B4-BE49-F238E27FC236}">
                <a16:creationId xmlns:a16="http://schemas.microsoft.com/office/drawing/2014/main" id="{AC2C31B6-61F1-471D-B612-B7856773D1A4}"/>
              </a:ext>
            </a:extLst>
          </p:cNvPr>
          <p:cNvSpPr>
            <a:spLocks xmlns:a="http://schemas.openxmlformats.org/drawingml/2006/main" noGrp="1"/>
          </p:cNvSpPr>
          <p:nvPr/>
        </p:nvSpPr>
        <p:spPr>
          <a:xfrm xmlns:a="http://schemas.openxmlformats.org/drawingml/2006/main">
            <a:off x="3495675" y="3523869"/>
            <a:ext cx="336804"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969" b="1">
                <a:solidFill>
                  <a:srgbClr val="FFFFFF"/>
                </a:solidFill>
                <a:latin typeface="Arial"/>
                <a:ea typeface="Arial"/>
                <a:cs typeface="Arial"/>
              </a:defRPr>
            </a:defPPr>
          </a:lstStyle>
          <a:p xmlns:a="http://schemas.openxmlformats.org/drawingml/2006/main">
            <a:pPr algn="ctr">
              <a:defRPr sz="969" b="1">
                <a:solidFill>
                  <a:srgbClr val="FFFFFF"/>
                </a:solidFill>
                <a:latin typeface="Arial"/>
                <a:ea typeface="Arial"/>
                <a:cs typeface="Arial"/>
              </a:defRPr>
            </a:pPr>
            <a:r>
              <a:rPr sz="969" b="1">
                <a:solidFill>
                  <a:srgbClr val="FFFFFF"/>
                </a:solidFill>
                <a:latin typeface="Arial"/>
                <a:ea typeface="Arial"/>
                <a:cs typeface="Arial"/>
              </a:rPr>
              <a:t>F</a:t>
            </a:r>
          </a:p>
        </p:txBody>
      </p:sp>
      <p:sp>
        <p:nvSpPr>
          <p:cNvPr id="24" name="49">
            <a:extLst xmlns:a="http://schemas.openxmlformats.org/drawingml/2006/main">
              <a:ext uri="{FF2B5EF4-FFF2-40B4-BE49-F238E27FC236}">
                <a16:creationId xmlns:a16="http://schemas.microsoft.com/office/drawing/2014/main" id="{44712D11-1648-4F29-ADD6-4F3AF1125724}"/>
              </a:ext>
            </a:extLst>
          </p:cNvPr>
          <p:cNvSpPr>
            <a:spLocks xmlns:a="http://schemas.openxmlformats.org/drawingml/2006/main" noGrp="1"/>
          </p:cNvSpPr>
          <p:nvPr/>
        </p:nvSpPr>
        <p:spPr>
          <a:xfrm xmlns:a="http://schemas.openxmlformats.org/drawingml/2006/main">
            <a:off x="5715000" y="2000250"/>
            <a:ext cx="228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6000" b="1">
                <a:solidFill>
                  <a:srgbClr val="087E73"/>
                </a:solidFill>
                <a:latin typeface="Arial"/>
                <a:ea typeface="Arial"/>
                <a:cs typeface="Arial"/>
              </a:defRPr>
            </a:defPPr>
          </a:lstStyle>
          <a:p xmlns:a="http://schemas.openxmlformats.org/drawingml/2006/main">
            <a:pPr algn="ctr">
              <a:defRPr sz="6000" b="1">
                <a:solidFill>
                  <a:srgbClr val="087E73"/>
                </a:solidFill>
                <a:latin typeface="Arial"/>
                <a:ea typeface="Arial"/>
                <a:cs typeface="Arial"/>
              </a:defRPr>
            </a:pPr>
            <a:r>
              <a:rPr sz="6000" b="1">
                <a:solidFill>
                  <a:srgbClr val="087E73"/>
                </a:solidFill>
                <a:latin typeface="Arial"/>
                <a:ea typeface="Arial"/>
                <a:cs typeface="Arial"/>
              </a:rPr>
              <a:t>49</a:t>
            </a:r>
          </a:p>
        </p:txBody>
      </p:sp>
      <p:sp>
        <p:nvSpPr>
          <p:cNvPr id="25" name="LÁT CẮT">
            <a:extLst xmlns:a="http://schemas.openxmlformats.org/drawingml/2006/main">
              <a:ext uri="{FF2B5EF4-FFF2-40B4-BE49-F238E27FC236}">
                <a16:creationId xmlns:a16="http://schemas.microsoft.com/office/drawing/2014/main" id="{B6D262E3-9242-4CD7-AB26-B2ADA2821901}"/>
              </a:ext>
            </a:extLst>
          </p:cNvPr>
          <p:cNvSpPr>
            <a:spLocks xmlns:a="http://schemas.openxmlformats.org/drawingml/2006/main" noGrp="1"/>
          </p:cNvSpPr>
          <p:nvPr/>
        </p:nvSpPr>
        <p:spPr>
          <a:xfrm xmlns:a="http://schemas.openxmlformats.org/drawingml/2006/main">
            <a:off x="5715000" y="29241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1">
                <a:solidFill>
                  <a:srgbClr val="657B79"/>
                </a:solidFill>
                <a:latin typeface="Arial"/>
                <a:ea typeface="Arial"/>
                <a:cs typeface="Arial"/>
              </a:defRPr>
            </a:defPPr>
          </a:lstStyle>
          <a:p xmlns:a="http://schemas.openxmlformats.org/drawingml/2006/main">
            <a:pPr algn="ctr">
              <a:defRPr sz="1725" b="1">
                <a:solidFill>
                  <a:srgbClr val="657B79"/>
                </a:solidFill>
                <a:latin typeface="Arial"/>
                <a:ea typeface="Arial"/>
                <a:cs typeface="Arial"/>
              </a:defRPr>
            </a:pPr>
            <a:r>
              <a:rPr sz="1725" b="1">
                <a:solidFill>
                  <a:srgbClr val="657B79"/>
                </a:solidFill>
                <a:latin typeface="Arial"/>
                <a:ea typeface="Arial"/>
                <a:cs typeface="Arial"/>
              </a:rPr>
              <a:t>LÁT CẮT</a:t>
            </a:r>
          </a:p>
        </p:txBody>
      </p:sp>
      <p:sp>
        <p:nvSpPr>
          <p:cNvPr id="26" name="">
            <a:extLst xmlns:a="http://schemas.openxmlformats.org/drawingml/2006/main">
              <a:ext uri="{FF2B5EF4-FFF2-40B4-BE49-F238E27FC236}">
                <a16:creationId xmlns:a16="http://schemas.microsoft.com/office/drawing/2014/main" id="{6A24DC1B-B378-4894-98A2-D1FB36E5246B}"/>
              </a:ext>
            </a:extLst>
          </p:cNvPr>
          <p:cNvSpPr>
            <a:spLocks xmlns:a="http://schemas.openxmlformats.org/drawingml/2006/main" noGrp="1"/>
          </p:cNvSpPr>
          <p:nvPr/>
        </p:nvSpPr>
        <p:spPr>
          <a:xfrm xmlns:a="http://schemas.openxmlformats.org/drawingml/2006/main">
            <a:off x="8143875" y="195262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27" name="203.769 giao dịch · nút">
            <a:extLst xmlns:a="http://schemas.openxmlformats.org/drawingml/2006/main">
              <a:ext uri="{FF2B5EF4-FFF2-40B4-BE49-F238E27FC236}">
                <a16:creationId xmlns:a16="http://schemas.microsoft.com/office/drawing/2014/main" id="{2501B22F-FE29-4082-BC3B-462D1D9BDF34}"/>
              </a:ext>
            </a:extLst>
          </p:cNvPr>
          <p:cNvSpPr>
            <a:spLocks xmlns:a="http://schemas.openxmlformats.org/drawingml/2006/main" noGrp="1"/>
          </p:cNvSpPr>
          <p:nvPr/>
        </p:nvSpPr>
        <p:spPr>
          <a:xfrm xmlns:a="http://schemas.openxmlformats.org/drawingml/2006/main">
            <a:off x="8401050" y="185737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203.769 giao dịch · nút</a:t>
            </a:r>
          </a:p>
        </p:txBody>
      </p:sp>
      <p:sp>
        <p:nvSpPr>
          <p:cNvPr id="28" name="">
            <a:extLst xmlns:a="http://schemas.openxmlformats.org/drawingml/2006/main">
              <a:ext uri="{FF2B5EF4-FFF2-40B4-BE49-F238E27FC236}">
                <a16:creationId xmlns:a16="http://schemas.microsoft.com/office/drawing/2014/main" id="{CB9617E3-7960-485B-8492-E1C9646FFDAD}"/>
              </a:ext>
            </a:extLst>
          </p:cNvPr>
          <p:cNvSpPr>
            <a:spLocks xmlns:a="http://schemas.openxmlformats.org/drawingml/2006/main" noGrp="1"/>
          </p:cNvSpPr>
          <p:nvPr/>
        </p:nvSpPr>
        <p:spPr>
          <a:xfrm xmlns:a="http://schemas.openxmlformats.org/drawingml/2006/main">
            <a:off x="8143875" y="28194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29" name="234.355 liên kết dòng tiền · cạnh">
            <a:extLst xmlns:a="http://schemas.openxmlformats.org/drawingml/2006/main">
              <a:ext uri="{FF2B5EF4-FFF2-40B4-BE49-F238E27FC236}">
                <a16:creationId xmlns:a16="http://schemas.microsoft.com/office/drawing/2014/main" id="{F7E9D716-6658-41D7-B187-A62538AE0FA5}"/>
              </a:ext>
            </a:extLst>
          </p:cNvPr>
          <p:cNvSpPr>
            <a:spLocks xmlns:a="http://schemas.openxmlformats.org/drawingml/2006/main" noGrp="1"/>
          </p:cNvSpPr>
          <p:nvPr/>
        </p:nvSpPr>
        <p:spPr>
          <a:xfrm xmlns:a="http://schemas.openxmlformats.org/drawingml/2006/main">
            <a:off x="8401050" y="2724150"/>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234.355 liên kết dòng tiền · cạnh</a:t>
            </a:r>
          </a:p>
        </p:txBody>
      </p:sp>
      <p:sp>
        <p:nvSpPr>
          <p:cNvPr id="30" name="">
            <a:extLst xmlns:a="http://schemas.openxmlformats.org/drawingml/2006/main">
              <a:ext uri="{FF2B5EF4-FFF2-40B4-BE49-F238E27FC236}">
                <a16:creationId xmlns:a16="http://schemas.microsoft.com/office/drawing/2014/main" id="{0E634284-4F5D-4905-BE54-A174EB491B02}"/>
              </a:ext>
            </a:extLst>
          </p:cNvPr>
          <p:cNvSpPr>
            <a:spLocks xmlns:a="http://schemas.openxmlformats.org/drawingml/2006/main" noGrp="1"/>
          </p:cNvSpPr>
          <p:nvPr/>
        </p:nvSpPr>
        <p:spPr>
          <a:xfrm xmlns:a="http://schemas.openxmlformats.org/drawingml/2006/main">
            <a:off x="8143875" y="36861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1" name="49 lát cắt thời gian">
            <a:extLst xmlns:a="http://schemas.openxmlformats.org/drawingml/2006/main">
              <a:ext uri="{FF2B5EF4-FFF2-40B4-BE49-F238E27FC236}">
                <a16:creationId xmlns:a16="http://schemas.microsoft.com/office/drawing/2014/main" id="{11CAC470-FD9D-4A32-983A-43A4BE7F463C}"/>
              </a:ext>
            </a:extLst>
          </p:cNvPr>
          <p:cNvSpPr>
            <a:spLocks xmlns:a="http://schemas.openxmlformats.org/drawingml/2006/main" noGrp="1"/>
          </p:cNvSpPr>
          <p:nvPr/>
        </p:nvSpPr>
        <p:spPr>
          <a:xfrm xmlns:a="http://schemas.openxmlformats.org/drawingml/2006/main">
            <a:off x="8401050" y="3590925"/>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49 lát cắt thời gian</a:t>
            </a:r>
          </a:p>
        </p:txBody>
      </p:sp>
      <p:sp>
        <p:nvSpPr>
          <p:cNvPr id="32" name="">
            <a:extLst xmlns:a="http://schemas.openxmlformats.org/drawingml/2006/main">
              <a:ext uri="{FF2B5EF4-FFF2-40B4-BE49-F238E27FC236}">
                <a16:creationId xmlns:a16="http://schemas.microsoft.com/office/drawing/2014/main" id="{3FE54F43-8758-4665-AD17-813469C80DB7}"/>
              </a:ext>
            </a:extLst>
          </p:cNvPr>
          <p:cNvSpPr>
            <a:spLocks xmlns:a="http://schemas.openxmlformats.org/drawingml/2006/main" noGrp="1"/>
          </p:cNvSpPr>
          <p:nvPr/>
        </p:nvSpPr>
        <p:spPr>
          <a:xfrm xmlns:a="http://schemas.openxmlformats.org/drawingml/2006/main">
            <a:off x="8143875" y="455295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33" name="Chỉ 46.564 giao dịch có nhãn; 157.205 là unk">
            <a:extLst xmlns:a="http://schemas.openxmlformats.org/drawingml/2006/main">
              <a:ext uri="{FF2B5EF4-FFF2-40B4-BE49-F238E27FC236}">
                <a16:creationId xmlns:a16="http://schemas.microsoft.com/office/drawing/2014/main" id="{13D1F77B-BADF-4E5A-85F6-4D2E9C1E645A}"/>
              </a:ext>
            </a:extLst>
          </p:cNvPr>
          <p:cNvSpPr>
            <a:spLocks xmlns:a="http://schemas.openxmlformats.org/drawingml/2006/main" noGrp="1"/>
          </p:cNvSpPr>
          <p:nvPr/>
        </p:nvSpPr>
        <p:spPr>
          <a:xfrm xmlns:a="http://schemas.openxmlformats.org/drawingml/2006/main">
            <a:off x="8401050" y="4457700"/>
            <a:ext cx="30670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Chỉ 46.564 giao dịch có nhãn; 157.205 là unknown</a:t>
            </a:r>
          </a:p>
        </p:txBody>
      </p:sp>
      <p:sp>
        <p:nvSpPr>
          <p:cNvPr id="34" name="Nhãn trong benchmark, không phải phán quyết ">
            <a:extLst xmlns:a="http://schemas.openxmlformats.org/drawingml/2006/main">
              <a:ext uri="{FF2B5EF4-FFF2-40B4-BE49-F238E27FC236}">
                <a16:creationId xmlns:a16="http://schemas.microsoft.com/office/drawing/2014/main" id="{E9723017-144B-468C-AA37-6CF6A7AAD4AA}"/>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Nhãn trong benchmark, không phải phán quyết ngoài đời.</a:t>
            </a:r>
          </a:p>
        </p:txBody>
      </p:sp>
    </p:spTree>
    <p:extLst>
      <p:ext uri="{BB962C8B-B14F-4D97-AF65-F5344CB8AC3E}">
        <p14:creationId xmlns:p14="http://schemas.microsoft.com/office/powerpoint/2010/main" val="1146752107"/>
      </p:ext>
    </p:extLst>
  </p:cSld>
</p:sld>
</file>

<file path=ppt/slides/slide27.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9" name="DEEP GRAPH  /  NGƯỜI 4">
            <a:extLst xmlns:a="http://schemas.openxmlformats.org/drawingml/2006/main">
              <a:ext uri="{FF2B5EF4-FFF2-40B4-BE49-F238E27FC236}">
                <a16:creationId xmlns:a16="http://schemas.microsoft.com/office/drawing/2014/main" id="{B5CF3FCA-E2B3-4DC3-8E8C-7FC493D4C418}"/>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945E570D-6D6B-443E-8874-5762377DF26C}"/>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Random Forest hiện có F1 cao hơn GCN</a:t>
            </a:r>
          </a:p>
        </p:txBody>
      </p:sp>
      <p:sp>
        <p:nvSpPr>
          <p:cNvPr id="3" name="">
            <a:extLst xmlns:a="http://schemas.openxmlformats.org/drawingml/2006/main">
              <a:ext uri="{FF2B5EF4-FFF2-40B4-BE49-F238E27FC236}">
                <a16:creationId xmlns:a16="http://schemas.microsoft.com/office/drawing/2014/main" id="{ACDDCEFA-57F5-497A-89A7-15C90DA6DB16}"/>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60 giây">
            <a:extLst xmlns:a="http://schemas.openxmlformats.org/drawingml/2006/main">
              <a:ext uri="{FF2B5EF4-FFF2-40B4-BE49-F238E27FC236}">
                <a16:creationId xmlns:a16="http://schemas.microsoft.com/office/drawing/2014/main" id="{957FFA82-BD17-495E-9C57-C9119BE69DE0}"/>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60 giây</a:t>
            </a:r>
          </a:p>
        </p:txBody>
      </p:sp>
      <p:sp>
        <p:nvSpPr>
          <p:cNvPr id="5" name="27 / 32">
            <a:extLst xmlns:a="http://schemas.openxmlformats.org/drawingml/2006/main">
              <a:ext uri="{FF2B5EF4-FFF2-40B4-BE49-F238E27FC236}">
                <a16:creationId xmlns:a16="http://schemas.microsoft.com/office/drawing/2014/main" id="{7B7EC27A-F274-4686-93F7-DFA97B69AE24}"/>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27 / 32</a:t>
            </a:r>
          </a:p>
        </p:txBody>
      </p:sp>
      <p:graphicFrame>
        <p:nvGraphicFramePr>
          <p:cNvPr id="6" name="Chart">
            <a:extLst xmlns:a="http://schemas.openxmlformats.org/drawingml/2006/main">
              <a:ext uri="{FF2B5EF4-FFF2-40B4-BE49-F238E27FC236}">
                <a16:creationId xmlns:a16="http://schemas.microsoft.com/office/drawing/2014/main" id="{B729BAE8-EC2D-4FF3-9428-E97CAAA5342B}"/>
              </a:ext>
            </a:extLst>
          </p:cNvPr>
          <p:cNvGraphicFramePr/>
          <p:nvPr/>
        </p:nvGraphicFramePr>
        <p:xfrm>
          <a:off xmlns:a="http://schemas.openxmlformats.org/drawingml/2006/main" x="609600" y="1743075"/>
          <a:ext xmlns:a="http://schemas.openxmlformats.org/drawingml/2006/main" cx="6572250" cy="3571875"/>
        </p:xfrm>
        <a:graphic xmlns:a="http://schemas.openxmlformats.org/drawingml/2006/main">
          <a:graphicData uri="http://schemas.openxmlformats.org/drawingml/2006/chart">
            <c:chart xmlns:r="http://schemas.openxmlformats.org/officeDocument/2006/relationships" xmlns:c="http://schemas.openxmlformats.org/drawingml/2006/chart" r:id="Rc016813a7be44e83"/>
          </a:graphicData>
        </a:graphic>
      </p:graphicFrame>
      <p:graphicFrame>
        <p:nvGraphicFramePr>
          <p:cNvPr id="7" name="">
            <a:extLst xmlns:a="http://schemas.openxmlformats.org/drawingml/2006/main">
              <a:ext uri="{FF2B5EF4-FFF2-40B4-BE49-F238E27FC236}">
                <a16:creationId xmlns:a16="http://schemas.microsoft.com/office/drawing/2014/main" id="{B9949BDF-0073-4774-8A24-48BB3B0135FD}"/>
              </a:ext>
            </a:extLst>
          </p:cNvPr>
          <p:cNvGraphicFramePr/>
          <p:nvPr/>
        </p:nvGraphicFramePr>
        <p:xfrm>
          <a:off xmlns:a="http://schemas.openxmlformats.org/drawingml/2006/main" x="7524750" y="1952625"/>
          <a:ext xmlns:a="http://schemas.openxmlformats.org/drawingml/2006/main" cx="4057650" cy="2905125"/>
        </p:xfrm>
        <a:graphic xmlns:a="http://schemas.openxmlformats.org/drawingml/2006/main">
          <a:graphicData uri="http://schemas.openxmlformats.org/drawingml/2006/table">
            <a:tbl>
              <a:tblPr firstRow="0" bandRow="0"/>
              <a:tblGrid>
                <a:gridCol w="2000250"/>
                <a:gridCol w="1104900"/>
                <a:gridCol w="952500"/>
              </a:tblGrid>
              <a:tr h="581025">
                <a:tc>
                  <a:txBody>
                    <a:bodyPr/>
                    <a:lstStyle/>
                    <a:p>
                      <a:r>
                        <a:rPr sz="1350" b="1">
                          <a:solidFill>
                            <a:srgbClr val="FFFFFF"/>
                          </a:solidFill>
                          <a:latin typeface="Arial"/>
                          <a:ea typeface="Arial"/>
                          <a:cs typeface="Arial"/>
                        </a:rPr>
                        <a:t>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350" b="1">
                          <a:solidFill>
                            <a:srgbClr val="FFFFFF"/>
                          </a:solidFill>
                          <a:latin typeface="Arial"/>
                          <a:ea typeface="Arial"/>
                          <a:cs typeface="Arial"/>
                        </a:rPr>
                        <a:t>F1 illicit</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350" b="1">
                          <a:solidFill>
                            <a:srgbClr val="FFFFFF"/>
                          </a:solidFill>
                          <a:latin typeface="Arial"/>
                          <a:ea typeface="Arial"/>
                          <a:cs typeface="Arial"/>
                        </a:rPr>
                        <a:t>AP</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581025">
                <a:tc>
                  <a:txBody>
                    <a:bodyPr/>
                    <a:lstStyle/>
                    <a:p>
                      <a:r>
                        <a:rPr sz="1350">
                          <a:solidFill>
                            <a:srgbClr val="163B3B"/>
                          </a:solidFill>
                          <a:latin typeface="Arial"/>
                          <a:ea typeface="Arial"/>
                          <a:cs typeface="Arial"/>
                        </a:rPr>
                        <a:t>RF local</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77,0% ± 1,6</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78,2%</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RF all</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79,3% ± 1,1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78,9%</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MLP</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64,5% ± 2,3</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78,8%</a:t>
                      </a:r>
                    </a:p>
                  </a:txBody>
                  <a:tcPr marL="114300" marR="95250" marT="85725" marB="76200" anchor="ctr">
                    <a:lnR w="7620">
                      <a:solidFill>
                        <a:srgbClr val="D7E1D9"/>
                      </a:solidFill>
                    </a:lnR>
                    <a:lnB w="7620">
                      <a:solidFill>
                        <a:srgbClr val="D7E1D9"/>
                      </a:solidFill>
                    </a:lnB>
                    <a:solidFill>
                      <a:srgbClr val="F7F6F0"/>
                    </a:solidFill>
                  </a:tcPr>
                </a:tc>
              </a:tr>
              <a:tr h="581025">
                <a:tc>
                  <a:txBody>
                    <a:bodyPr/>
                    <a:lstStyle/>
                    <a:p>
                      <a:r>
                        <a:rPr sz="1350">
                          <a:solidFill>
                            <a:srgbClr val="163B3B"/>
                          </a:solidFill>
                          <a:latin typeface="Arial"/>
                          <a:ea typeface="Arial"/>
                          <a:cs typeface="Arial"/>
                        </a:rPr>
                        <a:t>GCN</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61,3% ± 0,8</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350">
                          <a:solidFill>
                            <a:srgbClr val="163B3B"/>
                          </a:solidFill>
                          <a:latin typeface="Arial"/>
                          <a:ea typeface="Arial"/>
                          <a:cs typeface="Arial"/>
                        </a:rPr>
                        <a:t>78,0%</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RF all dùng thêm 72 feature tổng hợp hàng xó">
            <a:extLst xmlns:a="http://schemas.openxmlformats.org/drawingml/2006/main">
              <a:ext uri="{FF2B5EF4-FFF2-40B4-BE49-F238E27FC236}">
                <a16:creationId xmlns:a16="http://schemas.microsoft.com/office/drawing/2014/main" id="{15B4ADB0-4081-4E84-98CD-C1076AC1DF78}"/>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RF all dùng thêm 72 feature tổng hợp hàng xóm; GCN dùng graph. Ba seed.</a:t>
            </a:r>
          </a:p>
        </p:txBody>
      </p:sp>
    </p:spTree>
    <p:extLst>
      <p:ext uri="{BB962C8B-B14F-4D97-AF65-F5344CB8AC3E}">
        <p14:creationId xmlns:p14="http://schemas.microsoft.com/office/powerpoint/2010/main" val="550877426"/>
      </p:ext>
    </p:extLst>
  </p:cSld>
</p:sld>
</file>

<file path=ppt/slides/slide28.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8" name="DEEP GRAPH  /  NGƯỜI 4">
            <a:extLst xmlns:a="http://schemas.openxmlformats.org/drawingml/2006/main">
              <a:ext uri="{FF2B5EF4-FFF2-40B4-BE49-F238E27FC236}">
                <a16:creationId xmlns:a16="http://schemas.microsoft.com/office/drawing/2014/main" id="{E8BB6586-FD7F-4F0A-875C-C43D4C618860}"/>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60F6657A-9C2C-4D11-9575-C45E98AFB1D3}"/>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Demo Bitcoin · đọc graph và điểm mô hình</a:t>
            </a:r>
          </a:p>
        </p:txBody>
      </p:sp>
      <p:sp>
        <p:nvSpPr>
          <p:cNvPr id="3" name="">
            <a:extLst xmlns:a="http://schemas.openxmlformats.org/drawingml/2006/main">
              <a:ext uri="{FF2B5EF4-FFF2-40B4-BE49-F238E27FC236}">
                <a16:creationId xmlns:a16="http://schemas.microsoft.com/office/drawing/2014/main" id="{B4E003A5-0A7E-4D77-A3B1-67B24A9E3CD9}"/>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40 giây">
            <a:extLst xmlns:a="http://schemas.openxmlformats.org/drawingml/2006/main">
              <a:ext uri="{FF2B5EF4-FFF2-40B4-BE49-F238E27FC236}">
                <a16:creationId xmlns:a16="http://schemas.microsoft.com/office/drawing/2014/main" id="{A1507239-3A69-41F1-8B7C-6B775473F3A4}"/>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40 giây</a:t>
            </a:r>
          </a:p>
        </p:txBody>
      </p:sp>
      <p:sp>
        <p:nvSpPr>
          <p:cNvPr id="5" name="28 / 32">
            <a:extLst xmlns:a="http://schemas.openxmlformats.org/drawingml/2006/main">
              <a:ext uri="{FF2B5EF4-FFF2-40B4-BE49-F238E27FC236}">
                <a16:creationId xmlns:a16="http://schemas.microsoft.com/office/drawing/2014/main" id="{125DB47E-71A4-497C-9F26-EB05AA0128E8}"/>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28 / 32</a:t>
            </a:r>
          </a:p>
        </p:txBody>
      </p:sp>
      <p:pic>
        <p:nvPicPr>
          <p:cNvPr id="6" name="">
            <a:extLst xmlns:a="http://schemas.openxmlformats.org/drawingml/2006/main">
              <a:ext uri="{FF2B5EF4-FFF2-40B4-BE49-F238E27FC236}">
                <a16:creationId xmlns:a16="http://schemas.microsoft.com/office/drawing/2014/main" id="{854F0C72-0EA7-4C18-8C9C-DE7EEF0B0CA0}"/>
              </a:ext>
            </a:extLst>
          </p:cNvPr>
          <p:cNvPicPr>
            <a:picLocks xmlns:a="http://schemas.openxmlformats.org/drawingml/2006/main" noChangeAspect="1"/>
          </p:cNvPicPr>
          <p:nvPr/>
        </p:nvPicPr>
        <p:blipFill>
          <a:blip xmlns:r="http://schemas.openxmlformats.org/officeDocument/2006/relationships" xmlns:a="http://schemas.openxmlformats.org/drawingml/2006/main" r:embed="Rbf5235bc58054be3"/>
          <a:stretch xmlns:a="http://schemas.openxmlformats.org/drawingml/2006/main"/>
        </p:blipFill>
        <p:spPr>
          <a:xfrm xmlns:a="http://schemas.openxmlformats.org/drawingml/2006/main">
            <a:off x="2209062" y="1695450"/>
            <a:ext cx="7773877" cy="3857625"/>
          </a:xfrm>
          <a:prstGeom xmlns:a="http://schemas.openxmlformats.org/drawingml/2006/main" prst="rect">
            <a:avLst/>
          </a:prstGeom>
        </p:spPr>
      </p:pic>
      <p:sp>
        <p:nvSpPr>
          <p:cNvPr id="7" name="Chọn lát cắt và mã giao dịch   ·   So sánh R">
            <a:extLst xmlns:a="http://schemas.openxmlformats.org/drawingml/2006/main">
              <a:ext uri="{FF2B5EF4-FFF2-40B4-BE49-F238E27FC236}">
                <a16:creationId xmlns:a16="http://schemas.microsoft.com/office/drawing/2014/main" id="{BC1067ED-99F2-4BC4-AFBF-2DC6B8AEA0EE}"/>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Chọn lát cắt và mã giao dịch   ·   So sánh RF local, RF all, MLP, GCN   ·   Ngưỡng cảnh báo chọn bằng validation   ·   Graph hiển thị là ngữ cảnh quanh giao dịch</a:t>
            </a:r>
          </a:p>
        </p:txBody>
      </p:sp>
    </p:spTree>
    <p:extLst>
      <p:ext uri="{BB962C8B-B14F-4D97-AF65-F5344CB8AC3E}">
        <p14:creationId xmlns:p14="http://schemas.microsoft.com/office/powerpoint/2010/main" val="815815847"/>
      </p:ext>
    </p:extLst>
  </p:cSld>
</p:sld>
</file>

<file path=ppt/slides/slide29.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DEEP GRAPH  /  NGƯỜI 4">
            <a:extLst xmlns:a="http://schemas.openxmlformats.org/drawingml/2006/main">
              <a:ext uri="{FF2B5EF4-FFF2-40B4-BE49-F238E27FC236}">
                <a16:creationId xmlns:a16="http://schemas.microsoft.com/office/drawing/2014/main" id="{1EA552FA-B71E-4EC8-97FB-E85071C27DE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30601700-D3EA-475C-A812-6BA846364231}"/>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Live demo Bitcoin · phát hiện đúng</a:t>
            </a:r>
          </a:p>
        </p:txBody>
      </p:sp>
      <p:sp>
        <p:nvSpPr>
          <p:cNvPr id="3" name="">
            <a:extLst xmlns:a="http://schemas.openxmlformats.org/drawingml/2006/main">
              <a:ext uri="{FF2B5EF4-FFF2-40B4-BE49-F238E27FC236}">
                <a16:creationId xmlns:a16="http://schemas.microsoft.com/office/drawing/2014/main" id="{1DDFEC09-1D13-463E-AE1F-1BC6321D4ED1}"/>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100 giây">
            <a:extLst xmlns:a="http://schemas.openxmlformats.org/drawingml/2006/main">
              <a:ext uri="{FF2B5EF4-FFF2-40B4-BE49-F238E27FC236}">
                <a16:creationId xmlns:a16="http://schemas.microsoft.com/office/drawing/2014/main" id="{8AC02A05-126B-41A7-9039-F149FD682AAA}"/>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100 giây</a:t>
            </a:r>
          </a:p>
        </p:txBody>
      </p:sp>
      <p:sp>
        <p:nvSpPr>
          <p:cNvPr id="5" name="29 / 32">
            <a:extLst xmlns:a="http://schemas.openxmlformats.org/drawingml/2006/main">
              <a:ext uri="{FF2B5EF4-FFF2-40B4-BE49-F238E27FC236}">
                <a16:creationId xmlns:a16="http://schemas.microsoft.com/office/drawing/2014/main" id="{20AFAB01-6239-4E78-AB5E-73B804922635}"/>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29 / 32</a:t>
            </a:r>
          </a:p>
        </p:txBody>
      </p:sp>
      <p:sp>
        <p:nvSpPr>
          <p:cNvPr id="6" name="Giao dịch 69756172 · lát cắt 35">
            <a:extLst xmlns:a="http://schemas.openxmlformats.org/drawingml/2006/main">
              <a:ext uri="{FF2B5EF4-FFF2-40B4-BE49-F238E27FC236}">
                <a16:creationId xmlns:a16="http://schemas.microsoft.com/office/drawing/2014/main" id="{026C7318-138B-48FD-8D73-7A7262CDEE7F}"/>
              </a:ext>
            </a:extLst>
          </p:cNvPr>
          <p:cNvSpPr>
            <a:spLocks xmlns:a="http://schemas.openxmlformats.org/drawingml/2006/main" noGrp="1"/>
          </p:cNvSpPr>
          <p:nvPr/>
        </p:nvSpPr>
        <p:spPr>
          <a:xfrm xmlns:a="http://schemas.openxmlformats.org/drawingml/2006/main">
            <a:off x="704850" y="1819275"/>
            <a:ext cx="1045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087E73"/>
                </a:solidFill>
                <a:latin typeface="Arial"/>
                <a:ea typeface="Arial"/>
                <a:cs typeface="Arial"/>
              </a:defRPr>
            </a:defPPr>
          </a:lstStyle>
          <a:p xmlns:a="http://schemas.openxmlformats.org/drawingml/2006/main">
            <a:pPr>
              <a:defRPr sz="2250" b="1">
                <a:solidFill>
                  <a:srgbClr val="087E73"/>
                </a:solidFill>
                <a:latin typeface="Arial"/>
                <a:ea typeface="Arial"/>
                <a:cs typeface="Arial"/>
              </a:defRPr>
            </a:pPr>
            <a:r>
              <a:rPr sz="2250" b="1">
                <a:solidFill>
                  <a:srgbClr val="087E73"/>
                </a:solidFill>
                <a:latin typeface="Arial"/>
                <a:ea typeface="Arial"/>
                <a:cs typeface="Arial"/>
              </a:rPr>
              <a:t>Giao dịch 69756172 · lát cắt 35</a:t>
            </a:r>
          </a:p>
        </p:txBody>
      </p:sp>
      <p:graphicFrame>
        <p:nvGraphicFramePr>
          <p:cNvPr id="7" name="">
            <a:extLst xmlns:a="http://schemas.openxmlformats.org/drawingml/2006/main">
              <a:ext uri="{FF2B5EF4-FFF2-40B4-BE49-F238E27FC236}">
                <a16:creationId xmlns:a16="http://schemas.microsoft.com/office/drawing/2014/main" id="{DB2D14AA-7488-45B5-83D9-1AF0AE6FFE2B}"/>
              </a:ext>
            </a:extLst>
          </p:cNvPr>
          <p:cNvGraphicFramePr/>
          <p:nvPr/>
        </p:nvGraphicFramePr>
        <p:xfrm>
          <a:off xmlns:a="http://schemas.openxmlformats.org/drawingml/2006/main" x="704850" y="2609850"/>
          <a:ext xmlns:a="http://schemas.openxmlformats.org/drawingml/2006/main" cx="10668000" cy="1438275"/>
        </p:xfrm>
        <a:graphic xmlns:a="http://schemas.openxmlformats.org/drawingml/2006/main">
          <a:graphicData uri="http://schemas.openxmlformats.org/drawingml/2006/table">
            <a:tbl>
              <a:tblPr firstRow="0" bandRow="0"/>
              <a:tblGrid>
                <a:gridCol w="3619500"/>
                <a:gridCol w="3333750"/>
                <a:gridCol w="3714750"/>
              </a:tblGrid>
              <a:tr h="719138">
                <a:tc>
                  <a:txBody>
                    <a:bodyPr/>
                    <a:lstStyle/>
                    <a:p>
                      <a:r>
                        <a:rPr sz="1875" b="1">
                          <a:solidFill>
                            <a:srgbClr val="FFFFFF"/>
                          </a:solidFill>
                          <a:latin typeface="Arial"/>
                          <a:ea typeface="Arial"/>
                          <a:cs typeface="Arial"/>
                        </a:rPr>
                        <a:t>Đầu ra mô hình</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Ngưỡng</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Nhãn tham chiếu</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9138">
                <a:tc>
                  <a:txBody>
                    <a:bodyPr/>
                    <a:lstStyle/>
                    <a:p>
                      <a:r>
                        <a:rPr sz="1875">
                          <a:solidFill>
                            <a:srgbClr val="163B3B"/>
                          </a:solidFill>
                          <a:latin typeface="Arial"/>
                          <a:ea typeface="Arial"/>
                          <a:cs typeface="Arial"/>
                        </a:rPr>
                        <a:t>GCN 0,9972</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~0,7079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Illicit</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
            <a:extLst xmlns:a="http://schemas.openxmlformats.org/drawingml/2006/main">
              <a:ext uri="{FF2B5EF4-FFF2-40B4-BE49-F238E27FC236}">
                <a16:creationId xmlns:a16="http://schemas.microsoft.com/office/drawing/2014/main" id="{8901148D-0137-416D-909F-FDFC7AAED22D}"/>
              </a:ext>
            </a:extLst>
          </p:cNvPr>
          <p:cNvSpPr>
            <a:spLocks xmlns:a="http://schemas.openxmlformats.org/drawingml/2006/main" noGrp="1"/>
          </p:cNvSpPr>
          <p:nvPr/>
        </p:nvSpPr>
        <p:spPr>
          <a:xfrm xmlns:a="http://schemas.openxmlformats.org/drawingml/2006/main">
            <a:off x="704850" y="4543425"/>
            <a:ext cx="106680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9" name="Hỏi lớp dự đoán trước khi hiện nhãn.">
            <a:extLst xmlns:a="http://schemas.openxmlformats.org/drawingml/2006/main">
              <a:ext uri="{FF2B5EF4-FFF2-40B4-BE49-F238E27FC236}">
                <a16:creationId xmlns:a16="http://schemas.microsoft.com/office/drawing/2014/main" id="{C5D1E0B5-8F5A-42FE-9688-E2D0538766A1}"/>
              </a:ext>
            </a:extLst>
          </p:cNvPr>
          <p:cNvSpPr>
            <a:spLocks xmlns:a="http://schemas.openxmlformats.org/drawingml/2006/main" noGrp="1"/>
          </p:cNvSpPr>
          <p:nvPr/>
        </p:nvSpPr>
        <p:spPr>
          <a:xfrm xmlns:a="http://schemas.openxmlformats.org/drawingml/2006/main">
            <a:off x="704850" y="4676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Hỏi lớp dự đoán trước khi hiện nhãn.</a:t>
            </a:r>
          </a:p>
        </p:txBody>
      </p:sp>
    </p:spTree>
    <p:extLst>
      <p:ext uri="{BB962C8B-B14F-4D97-AF65-F5344CB8AC3E}">
        <p14:creationId xmlns:p14="http://schemas.microsoft.com/office/powerpoint/2010/main" val="1343724672"/>
      </p:ext>
    </p:extLst>
  </p:cSld>
</p:sld>
</file>

<file path=ppt/slides/slide30.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0" name="DEEP GRAPH  /  NGƯỜI 4">
            <a:extLst xmlns:a="http://schemas.openxmlformats.org/drawingml/2006/main">
              <a:ext uri="{FF2B5EF4-FFF2-40B4-BE49-F238E27FC236}">
                <a16:creationId xmlns:a16="http://schemas.microsoft.com/office/drawing/2014/main" id="{F4537B6E-394C-4A9C-9E38-29147731F89F}"/>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1317FF83-D6A4-4C68-B436-80829A0C704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Cảnh báo nhầm · ngưỡng không xóa hết sai số</a:t>
            </a:r>
          </a:p>
        </p:txBody>
      </p:sp>
      <p:sp>
        <p:nvSpPr>
          <p:cNvPr id="3" name="">
            <a:extLst xmlns:a="http://schemas.openxmlformats.org/drawingml/2006/main">
              <a:ext uri="{FF2B5EF4-FFF2-40B4-BE49-F238E27FC236}">
                <a16:creationId xmlns:a16="http://schemas.microsoft.com/office/drawing/2014/main" id="{0BC418D7-36B5-4D40-9F5F-30B8CBCB5F0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80 giây">
            <a:extLst xmlns:a="http://schemas.openxmlformats.org/drawingml/2006/main">
              <a:ext uri="{FF2B5EF4-FFF2-40B4-BE49-F238E27FC236}">
                <a16:creationId xmlns:a16="http://schemas.microsoft.com/office/drawing/2014/main" id="{491AC3FB-5015-42AF-8BC3-F6007E64D5E7}"/>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80 giây</a:t>
            </a:r>
          </a:p>
        </p:txBody>
      </p:sp>
      <p:sp>
        <p:nvSpPr>
          <p:cNvPr id="5" name="30 / 32">
            <a:extLst xmlns:a="http://schemas.openxmlformats.org/drawingml/2006/main">
              <a:ext uri="{FF2B5EF4-FFF2-40B4-BE49-F238E27FC236}">
                <a16:creationId xmlns:a16="http://schemas.microsoft.com/office/drawing/2014/main" id="{487938B0-E719-4871-9CE7-E0E57949FF5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30 / 32</a:t>
            </a:r>
          </a:p>
        </p:txBody>
      </p:sp>
      <p:sp>
        <p:nvSpPr>
          <p:cNvPr id="6" name="Giao dịch 201433814 · lát cắt 36">
            <a:extLst xmlns:a="http://schemas.openxmlformats.org/drawingml/2006/main">
              <a:ext uri="{FF2B5EF4-FFF2-40B4-BE49-F238E27FC236}">
                <a16:creationId xmlns:a16="http://schemas.microsoft.com/office/drawing/2014/main" id="{F6205B3B-7742-474A-9A33-5BAAFF36B99E}"/>
              </a:ext>
            </a:extLst>
          </p:cNvPr>
          <p:cNvSpPr>
            <a:spLocks xmlns:a="http://schemas.openxmlformats.org/drawingml/2006/main" noGrp="1"/>
          </p:cNvSpPr>
          <p:nvPr/>
        </p:nvSpPr>
        <p:spPr>
          <a:xfrm xmlns:a="http://schemas.openxmlformats.org/drawingml/2006/main">
            <a:off x="704850" y="1819275"/>
            <a:ext cx="104584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CE704C"/>
                </a:solidFill>
                <a:latin typeface="Arial"/>
                <a:ea typeface="Arial"/>
                <a:cs typeface="Arial"/>
              </a:defRPr>
            </a:defPPr>
          </a:lstStyle>
          <a:p xmlns:a="http://schemas.openxmlformats.org/drawingml/2006/main">
            <a:pPr>
              <a:defRPr sz="2250" b="1">
                <a:solidFill>
                  <a:srgbClr val="CE704C"/>
                </a:solidFill>
                <a:latin typeface="Arial"/>
                <a:ea typeface="Arial"/>
                <a:cs typeface="Arial"/>
              </a:defRPr>
            </a:pPr>
            <a:r>
              <a:rPr sz="2250" b="1">
                <a:solidFill>
                  <a:srgbClr val="CE704C"/>
                </a:solidFill>
                <a:latin typeface="Arial"/>
                <a:ea typeface="Arial"/>
                <a:cs typeface="Arial"/>
              </a:rPr>
              <a:t>Giao dịch 201433814 · lát cắt 36</a:t>
            </a:r>
          </a:p>
        </p:txBody>
      </p:sp>
      <p:graphicFrame>
        <p:nvGraphicFramePr>
          <p:cNvPr id="7" name="">
            <a:extLst xmlns:a="http://schemas.openxmlformats.org/drawingml/2006/main">
              <a:ext uri="{FF2B5EF4-FFF2-40B4-BE49-F238E27FC236}">
                <a16:creationId xmlns:a16="http://schemas.microsoft.com/office/drawing/2014/main" id="{03FDD571-6A89-4202-87BD-A22A36F2FB29}"/>
              </a:ext>
            </a:extLst>
          </p:cNvPr>
          <p:cNvGraphicFramePr/>
          <p:nvPr/>
        </p:nvGraphicFramePr>
        <p:xfrm>
          <a:off xmlns:a="http://schemas.openxmlformats.org/drawingml/2006/main" x="704850" y="2609850"/>
          <a:ext xmlns:a="http://schemas.openxmlformats.org/drawingml/2006/main" cx="10668000" cy="1438275"/>
        </p:xfrm>
        <a:graphic xmlns:a="http://schemas.openxmlformats.org/drawingml/2006/main">
          <a:graphicData uri="http://schemas.openxmlformats.org/drawingml/2006/table">
            <a:tbl>
              <a:tblPr firstRow="0" bandRow="0"/>
              <a:tblGrid>
                <a:gridCol w="2381250"/>
                <a:gridCol w="2381250"/>
                <a:gridCol w="2952750"/>
                <a:gridCol w="2952750"/>
              </a:tblGrid>
              <a:tr h="719138">
                <a:tc>
                  <a:txBody>
                    <a:bodyPr/>
                    <a:lstStyle/>
                    <a:p>
                      <a:r>
                        <a:rPr sz="1875" b="1">
                          <a:solidFill>
                            <a:srgbClr val="FFFFFF"/>
                          </a:solidFill>
                          <a:latin typeface="Arial"/>
                          <a:ea typeface="Arial"/>
                          <a:cs typeface="Arial"/>
                        </a:rPr>
                        <a:t>Điểm GCN</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Ngưỡng</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Nhãn tham chiếu</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875" b="1">
                          <a:solidFill>
                            <a:srgbClr val="FFFFFF"/>
                          </a:solidFill>
                          <a:latin typeface="Arial"/>
                          <a:ea typeface="Arial"/>
                          <a:cs typeface="Arial"/>
                        </a:rPr>
                        <a:t>Diễn giải</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19138">
                <a:tc>
                  <a:txBody>
                    <a:bodyPr/>
                    <a:lstStyle/>
                    <a:p>
                      <a:r>
                        <a:rPr sz="1875">
                          <a:solidFill>
                            <a:srgbClr val="163B3B"/>
                          </a:solidFill>
                          <a:latin typeface="Arial"/>
                          <a:ea typeface="Arial"/>
                          <a:cs typeface="Arial"/>
                        </a:rPr>
                        <a:t>0,8350</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~0,7079</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Licit</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875">
                          <a:solidFill>
                            <a:srgbClr val="163B3B"/>
                          </a:solidFill>
                          <a:latin typeface="Arial"/>
                          <a:ea typeface="Arial"/>
                          <a:cs typeface="Arial"/>
                        </a:rPr>
                        <a:t>Cảnh báo nhầm</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8" name="">
            <a:extLst xmlns:a="http://schemas.openxmlformats.org/drawingml/2006/main">
              <a:ext uri="{FF2B5EF4-FFF2-40B4-BE49-F238E27FC236}">
                <a16:creationId xmlns:a16="http://schemas.microsoft.com/office/drawing/2014/main" id="{3A95009D-0413-4F76-8044-25A13D92D0F9}"/>
              </a:ext>
            </a:extLst>
          </p:cNvPr>
          <p:cNvSpPr>
            <a:spLocks xmlns:a="http://schemas.openxmlformats.org/drawingml/2006/main" noGrp="1"/>
          </p:cNvSpPr>
          <p:nvPr/>
        </p:nvSpPr>
        <p:spPr>
          <a:xfrm xmlns:a="http://schemas.openxmlformats.org/drawingml/2006/main">
            <a:off x="704850" y="4543425"/>
            <a:ext cx="10668000" cy="19050"/>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9" name="Một điểm trên ngưỡng vẫn có thể là false pos">
            <a:extLst xmlns:a="http://schemas.openxmlformats.org/drawingml/2006/main">
              <a:ext uri="{FF2B5EF4-FFF2-40B4-BE49-F238E27FC236}">
                <a16:creationId xmlns:a16="http://schemas.microsoft.com/office/drawing/2014/main" id="{464BBA45-0850-40FA-946C-A5A699511968}"/>
              </a:ext>
            </a:extLst>
          </p:cNvPr>
          <p:cNvSpPr>
            <a:spLocks xmlns:a="http://schemas.openxmlformats.org/drawingml/2006/main" noGrp="1"/>
          </p:cNvSpPr>
          <p:nvPr/>
        </p:nvSpPr>
        <p:spPr>
          <a:xfrm xmlns:a="http://schemas.openxmlformats.org/drawingml/2006/main">
            <a:off x="704850" y="46767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087E73"/>
                </a:solidFill>
                <a:latin typeface="Arial"/>
                <a:ea typeface="Arial"/>
                <a:cs typeface="Arial"/>
              </a:defRPr>
            </a:defPPr>
          </a:lstStyle>
          <a:p xmlns:a="http://schemas.openxmlformats.org/drawingml/2006/main">
            <a:pPr>
              <a:defRPr sz="1950" b="1">
                <a:solidFill>
                  <a:srgbClr val="087E73"/>
                </a:solidFill>
                <a:latin typeface="Arial"/>
                <a:ea typeface="Arial"/>
                <a:cs typeface="Arial"/>
              </a:defRPr>
            </a:pPr>
            <a:r>
              <a:rPr sz="1950" b="1">
                <a:solidFill>
                  <a:srgbClr val="087E73"/>
                </a:solidFill>
                <a:latin typeface="Arial"/>
                <a:ea typeface="Arial"/>
                <a:cs typeface="Arial"/>
              </a:rPr>
              <a:t>Một điểm trên ngưỡng vẫn có thể là false positive.</a:t>
            </a:r>
          </a:p>
        </p:txBody>
      </p:sp>
    </p:spTree>
    <p:extLst>
      <p:ext uri="{BB962C8B-B14F-4D97-AF65-F5344CB8AC3E}">
        <p14:creationId xmlns:p14="http://schemas.microsoft.com/office/powerpoint/2010/main" val="1025822906"/>
      </p:ext>
    </p:extLst>
  </p:cSld>
</p:sld>
</file>

<file path=ppt/slides/slide31.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4" name="DEEP GRAPH  /  NGƯỜI 4">
            <a:extLst xmlns:a="http://schemas.openxmlformats.org/drawingml/2006/main">
              <a:ext uri="{FF2B5EF4-FFF2-40B4-BE49-F238E27FC236}">
                <a16:creationId xmlns:a16="http://schemas.microsoft.com/office/drawing/2014/main" id="{B265AE67-0153-4172-B0F8-C5697AE159B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9358905B-E331-4815-9642-43176515BB85}"/>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Bỏ sót và unknown nhắc ta đọc nhãn cẩn thận</a:t>
            </a:r>
          </a:p>
        </p:txBody>
      </p:sp>
      <p:sp>
        <p:nvSpPr>
          <p:cNvPr id="3" name="">
            <a:extLst xmlns:a="http://schemas.openxmlformats.org/drawingml/2006/main">
              <a:ext uri="{FF2B5EF4-FFF2-40B4-BE49-F238E27FC236}">
                <a16:creationId xmlns:a16="http://schemas.microsoft.com/office/drawing/2014/main" id="{0EC91A33-D9CE-44F6-B69B-B1D160BE14D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155 giây">
            <a:extLst xmlns:a="http://schemas.openxmlformats.org/drawingml/2006/main">
              <a:ext uri="{FF2B5EF4-FFF2-40B4-BE49-F238E27FC236}">
                <a16:creationId xmlns:a16="http://schemas.microsoft.com/office/drawing/2014/main" id="{56305AE9-46D3-4F66-B828-8AFA95FE70B5}"/>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155 giây</a:t>
            </a:r>
          </a:p>
        </p:txBody>
      </p:sp>
      <p:sp>
        <p:nvSpPr>
          <p:cNvPr id="5" name="31 / 32">
            <a:extLst xmlns:a="http://schemas.openxmlformats.org/drawingml/2006/main">
              <a:ext uri="{FF2B5EF4-FFF2-40B4-BE49-F238E27FC236}">
                <a16:creationId xmlns:a16="http://schemas.microsoft.com/office/drawing/2014/main" id="{AAD697BB-F974-4268-834F-7A16C6E85197}"/>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31 / 32</a:t>
            </a:r>
          </a:p>
        </p:txBody>
      </p:sp>
      <p:graphicFrame>
        <p:nvGraphicFramePr>
          <p:cNvPr id="6" name="">
            <a:extLst xmlns:a="http://schemas.openxmlformats.org/drawingml/2006/main">
              <a:ext uri="{FF2B5EF4-FFF2-40B4-BE49-F238E27FC236}">
                <a16:creationId xmlns:a16="http://schemas.microsoft.com/office/drawing/2014/main" id="{EBC91787-EEB2-40EF-9664-D3C483C21138}"/>
              </a:ext>
            </a:extLst>
          </p:cNvPr>
          <p:cNvGraphicFramePr/>
          <p:nvPr/>
        </p:nvGraphicFramePr>
        <p:xfrm>
          <a:off xmlns:a="http://schemas.openxmlformats.org/drawingml/2006/main" x="609600" y="1924050"/>
          <a:ext xmlns:a="http://schemas.openxmlformats.org/drawingml/2006/main" cx="10972800" cy="2181225"/>
        </p:xfrm>
        <a:graphic xmlns:a="http://schemas.openxmlformats.org/drawingml/2006/main">
          <a:graphicData uri="http://schemas.openxmlformats.org/drawingml/2006/table">
            <a:tbl>
              <a:tblPr firstRow="0" bandRow="0"/>
              <a:tblGrid>
                <a:gridCol w="3333750"/>
                <a:gridCol w="2095500"/>
                <a:gridCol w="2476500"/>
                <a:gridCol w="3067050"/>
              </a:tblGrid>
              <a:tr h="727075">
                <a:tc>
                  <a:txBody>
                    <a:bodyPr/>
                    <a:lstStyle/>
                    <a:p>
                      <a:r>
                        <a:rPr sz="1725" b="1">
                          <a:solidFill>
                            <a:srgbClr val="FFFFFF"/>
                          </a:solidFill>
                          <a:latin typeface="Arial"/>
                          <a:ea typeface="Arial"/>
                          <a:cs typeface="Arial"/>
                        </a:rPr>
                        <a:t>Trường hợp</a:t>
                      </a:r>
                    </a:p>
                  </a:txBody>
                  <a:tcPr marL="114300" marR="95250" marT="85725" marB="76200" anchor="ctr">
                    <a:lnL w="7620">
                      <a:solidFill>
                        <a:srgbClr val="D7E1D9"/>
                      </a:solidFill>
                    </a:lnL>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Điểm GCN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Nhãn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c>
                  <a:txBody>
                    <a:bodyPr/>
                    <a:lstStyle/>
                    <a:p>
                      <a:r>
                        <a:rPr sz="1725" b="1">
                          <a:solidFill>
                            <a:srgbClr val="FFFFFF"/>
                          </a:solidFill>
                          <a:latin typeface="Arial"/>
                          <a:ea typeface="Arial"/>
                          <a:cs typeface="Arial"/>
                        </a:rPr>
                        <a:t>Kết luận</a:t>
                      </a:r>
                    </a:p>
                  </a:txBody>
                  <a:tcPr marL="114300" marR="95250" marT="85725" marB="76200" anchor="ctr">
                    <a:lnR w="7620">
                      <a:solidFill>
                        <a:srgbClr val="D7E1D9"/>
                      </a:solidFill>
                    </a:lnR>
                    <a:lnT w="7620">
                      <a:solidFill>
                        <a:srgbClr val="D7E1D9"/>
                      </a:solidFill>
                    </a:lnT>
                    <a:lnB w="7620">
                      <a:solidFill>
                        <a:srgbClr val="D7E1D9"/>
                      </a:solidFill>
                    </a:lnB>
                    <a:solidFill>
                      <a:srgbClr val="163B3B"/>
                    </a:solidFill>
                  </a:tcPr>
                </a:tc>
              </a:tr>
              <a:tr h="727075">
                <a:tc>
                  <a:txBody>
                    <a:bodyPr/>
                    <a:lstStyle/>
                    <a:p>
                      <a:r>
                        <a:rPr sz="1725">
                          <a:solidFill>
                            <a:srgbClr val="163B3B"/>
                          </a:solidFill>
                          <a:latin typeface="Arial"/>
                          <a:ea typeface="Arial"/>
                          <a:cs typeface="Arial"/>
                        </a:rPr>
                        <a:t>67673076 · lát cắt 35</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0,3591</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Illicit</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Bỏ sót / FN</a:t>
                      </a:r>
                    </a:p>
                  </a:txBody>
                  <a:tcPr marL="114300" marR="95250" marT="85725" marB="76200" anchor="ctr">
                    <a:lnR w="7620">
                      <a:solidFill>
                        <a:srgbClr val="D7E1D9"/>
                      </a:solidFill>
                    </a:lnR>
                    <a:lnB w="7620">
                      <a:solidFill>
                        <a:srgbClr val="D7E1D9"/>
                      </a:solidFill>
                    </a:lnB>
                    <a:solidFill>
                      <a:srgbClr val="F7F6F0"/>
                    </a:solidFill>
                  </a:tcPr>
                </a:tc>
              </a:tr>
              <a:tr h="727075">
                <a:tc>
                  <a:txBody>
                    <a:bodyPr/>
                    <a:lstStyle/>
                    <a:p>
                      <a:r>
                        <a:rPr sz="1725">
                          <a:solidFill>
                            <a:srgbClr val="163B3B"/>
                          </a:solidFill>
                          <a:latin typeface="Arial"/>
                          <a:ea typeface="Arial"/>
                          <a:cs typeface="Arial"/>
                        </a:rPr>
                        <a:t>56460695 · lát cắt 35</a:t>
                      </a:r>
                    </a:p>
                  </a:txBody>
                  <a:tcPr marL="114300" marR="95250" marT="85725" marB="76200" anchor="ctr">
                    <a:lnL w="7620">
                      <a:solidFill>
                        <a:srgbClr val="D7E1D9"/>
                      </a:solidFill>
                    </a:lnL>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0,9616</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Unknown</a:t>
                      </a:r>
                    </a:p>
                  </a:txBody>
                  <a:tcPr marL="114300" marR="95250" marT="85725" marB="76200" anchor="ctr">
                    <a:lnR w="7620">
                      <a:solidFill>
                        <a:srgbClr val="D7E1D9"/>
                      </a:solidFill>
                    </a:lnR>
                    <a:lnB w="7620">
                      <a:solidFill>
                        <a:srgbClr val="D7E1D9"/>
                      </a:solidFill>
                    </a:lnB>
                    <a:solidFill>
                      <a:srgbClr val="F7F6F0"/>
                    </a:solidFill>
                  </a:tcPr>
                </a:tc>
                <a:tc>
                  <a:txBody>
                    <a:bodyPr/>
                    <a:lstStyle/>
                    <a:p>
                      <a:r>
                        <a:rPr sz="1725">
                          <a:solidFill>
                            <a:srgbClr val="163B3B"/>
                          </a:solidFill>
                          <a:latin typeface="Arial"/>
                          <a:ea typeface="Arial"/>
                          <a:cs typeface="Arial"/>
                        </a:rPr>
                        <a:t>Chưa thể xác nhận</a:t>
                      </a:r>
                    </a:p>
                  </a:txBody>
                  <a:tcPr marL="114300" marR="95250" marT="85725" marB="76200" anchor="ctr">
                    <a:lnR w="7620">
                      <a:solidFill>
                        <a:srgbClr val="D7E1D9"/>
                      </a:solidFill>
                    </a:lnR>
                    <a:lnB w="7620">
                      <a:solidFill>
                        <a:srgbClr val="D7E1D9"/>
                      </a:solidFill>
                    </a:lnB>
                    <a:solidFill>
                      <a:srgbClr val="F7F6F0"/>
                    </a:solidFill>
                  </a:tcPr>
                </a:tc>
              </a:tr>
            </a:tbl>
          </a:graphicData>
        </a:graphic>
      </p:graphicFrame>
      <p:sp>
        <p:nvSpPr>
          <p:cNvPr id="7" name="">
            <a:extLst xmlns:a="http://schemas.openxmlformats.org/drawingml/2006/main">
              <a:ext uri="{FF2B5EF4-FFF2-40B4-BE49-F238E27FC236}">
                <a16:creationId xmlns:a16="http://schemas.microsoft.com/office/drawing/2014/main" id="{80798EB0-93C5-4135-8907-D2982DC94615}"/>
              </a:ext>
            </a:extLst>
          </p:cNvPr>
          <p:cNvSpPr>
            <a:spLocks xmlns:a="http://schemas.openxmlformats.org/drawingml/2006/main" noGrp="1"/>
          </p:cNvSpPr>
          <p:nvPr/>
        </p:nvSpPr>
        <p:spPr>
          <a:xfrm xmlns:a="http://schemas.openxmlformats.org/drawingml/2006/main">
            <a:off x="885825" y="4533900"/>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8" name="Unknown không được xem là licit">
            <a:extLst xmlns:a="http://schemas.openxmlformats.org/drawingml/2006/main">
              <a:ext uri="{FF2B5EF4-FFF2-40B4-BE49-F238E27FC236}">
                <a16:creationId xmlns:a16="http://schemas.microsoft.com/office/drawing/2014/main" id="{83A13C09-4B48-40AF-AAA9-088E95FE4B58}"/>
              </a:ext>
            </a:extLst>
          </p:cNvPr>
          <p:cNvSpPr>
            <a:spLocks xmlns:a="http://schemas.openxmlformats.org/drawingml/2006/main" noGrp="1"/>
          </p:cNvSpPr>
          <p:nvPr/>
        </p:nvSpPr>
        <p:spPr>
          <a:xfrm xmlns:a="http://schemas.openxmlformats.org/drawingml/2006/main">
            <a:off x="1143000" y="44386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Unknown không được xem là licit</a:t>
            </a:r>
          </a:p>
        </p:txBody>
      </p:sp>
      <p:sp>
        <p:nvSpPr>
          <p:cNvPr id="9" name="">
            <a:extLst xmlns:a="http://schemas.openxmlformats.org/drawingml/2006/main">
              <a:ext uri="{FF2B5EF4-FFF2-40B4-BE49-F238E27FC236}">
                <a16:creationId xmlns:a16="http://schemas.microsoft.com/office/drawing/2014/main" id="{C824766A-AB22-41A1-9B77-46AC10B324B6}"/>
              </a:ext>
            </a:extLst>
          </p:cNvPr>
          <p:cNvSpPr>
            <a:spLocks xmlns:a="http://schemas.openxmlformats.org/drawingml/2006/main" noGrp="1"/>
          </p:cNvSpPr>
          <p:nvPr/>
        </p:nvSpPr>
        <p:spPr>
          <a:xfrm xmlns:a="http://schemas.openxmlformats.org/drawingml/2006/main">
            <a:off x="885825" y="50292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0" name="Threshold thấp hơn thường tăng Recall và tăn">
            <a:extLst xmlns:a="http://schemas.openxmlformats.org/drawingml/2006/main">
              <a:ext uri="{FF2B5EF4-FFF2-40B4-BE49-F238E27FC236}">
                <a16:creationId xmlns:a16="http://schemas.microsoft.com/office/drawing/2014/main" id="{290BCCEA-963D-4556-A8B3-1EE6A9E44744}"/>
              </a:ext>
            </a:extLst>
          </p:cNvPr>
          <p:cNvSpPr>
            <a:spLocks xmlns:a="http://schemas.openxmlformats.org/drawingml/2006/main" noGrp="1"/>
          </p:cNvSpPr>
          <p:nvPr/>
        </p:nvSpPr>
        <p:spPr>
          <a:xfrm xmlns:a="http://schemas.openxmlformats.org/drawingml/2006/main">
            <a:off x="1143000" y="49339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Threshold thấp hơn thường tăng Recall và tăng cảnh báo nhầm</a:t>
            </a:r>
          </a:p>
        </p:txBody>
      </p:sp>
      <p:sp>
        <p:nvSpPr>
          <p:cNvPr id="11" name="">
            <a:extLst xmlns:a="http://schemas.openxmlformats.org/drawingml/2006/main">
              <a:ext uri="{FF2B5EF4-FFF2-40B4-BE49-F238E27FC236}">
                <a16:creationId xmlns:a16="http://schemas.microsoft.com/office/drawing/2014/main" id="{25072116-5016-446B-9B72-0D4CE55DC7C9}"/>
              </a:ext>
            </a:extLst>
          </p:cNvPr>
          <p:cNvSpPr>
            <a:spLocks xmlns:a="http://schemas.openxmlformats.org/drawingml/2006/main" noGrp="1"/>
          </p:cNvSpPr>
          <p:nvPr/>
        </p:nvSpPr>
        <p:spPr>
          <a:xfrm xmlns:a="http://schemas.openxmlformats.org/drawingml/2006/main">
            <a:off x="885825" y="5524500"/>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2" name="Có người rà soát trước khi hành động">
            <a:extLst xmlns:a="http://schemas.openxmlformats.org/drawingml/2006/main">
              <a:ext uri="{FF2B5EF4-FFF2-40B4-BE49-F238E27FC236}">
                <a16:creationId xmlns:a16="http://schemas.microsoft.com/office/drawing/2014/main" id="{AB35BB4E-3C89-4181-A9E4-393E4335AF28}"/>
              </a:ext>
            </a:extLst>
          </p:cNvPr>
          <p:cNvSpPr>
            <a:spLocks xmlns:a="http://schemas.openxmlformats.org/drawingml/2006/main" noGrp="1"/>
          </p:cNvSpPr>
          <p:nvPr/>
        </p:nvSpPr>
        <p:spPr>
          <a:xfrm xmlns:a="http://schemas.openxmlformats.org/drawingml/2006/main">
            <a:off x="1143000" y="5429250"/>
            <a:ext cx="10115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a:solidFill>
                  <a:srgbClr val="163B3B"/>
                </a:solidFill>
                <a:latin typeface="Arial"/>
                <a:ea typeface="Arial"/>
                <a:cs typeface="Arial"/>
              </a:defRPr>
            </a:defPPr>
          </a:lstStyle>
          <a:p xmlns:a="http://schemas.openxmlformats.org/drawingml/2006/main">
            <a:pPr>
              <a:defRPr sz="1725">
                <a:solidFill>
                  <a:srgbClr val="163B3B"/>
                </a:solidFill>
                <a:latin typeface="Arial"/>
                <a:ea typeface="Arial"/>
                <a:cs typeface="Arial"/>
              </a:defRPr>
            </a:pPr>
            <a:r>
              <a:rPr sz="1725">
                <a:solidFill>
                  <a:srgbClr val="163B3B"/>
                </a:solidFill>
                <a:latin typeface="Arial"/>
                <a:ea typeface="Arial"/>
                <a:cs typeface="Arial"/>
              </a:rPr>
              <a:t>Có người rà soát trước khi hành động</a:t>
            </a:r>
          </a:p>
        </p:txBody>
      </p:sp>
      <p:sp>
        <p:nvSpPr>
          <p:cNvPr id="13" name="Điểm mô hình chưa được hiệu chỉnh thành xác ">
            <a:extLst xmlns:a="http://schemas.openxmlformats.org/drawingml/2006/main">
              <a:ext uri="{FF2B5EF4-FFF2-40B4-BE49-F238E27FC236}">
                <a16:creationId xmlns:a16="http://schemas.microsoft.com/office/drawing/2014/main" id="{1EAE881B-1105-4B6F-B12D-41114404CB33}"/>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Điểm mô hình chưa được hiệu chỉnh thành xác suất.</a:t>
            </a:r>
          </a:p>
        </p:txBody>
      </p:sp>
    </p:spTree>
    <p:extLst>
      <p:ext uri="{BB962C8B-B14F-4D97-AF65-F5344CB8AC3E}">
        <p14:creationId xmlns:p14="http://schemas.microsoft.com/office/powerpoint/2010/main" val="183286735"/>
      </p:ext>
    </p:extLst>
  </p:cSld>
</p:sld>
</file>

<file path=ppt/slides/slide32.xml><?xml version="1.0" encoding="utf-8"?>
<p:sld xmlns:p="http://schemas.openxmlformats.org/presentationml/2006/main">
  <p:cSld>
    <p:bg>
      <p:bgPr>
        <a:solidFill xmlns:a="http://schemas.openxmlformats.org/drawingml/2006/main">
          <a:srgbClr val="F7F6F0"/>
        </a:solidFill>
      </p:bgPr>
    </p:bg>
    <p:spTree>
      <p:nvGrpSpPr>
        <p:cNvPr id="1" name=""/>
        <p:cNvGrpSpPr/>
        <p:nvPr/>
      </p:nvGrpSpPr>
      <p:grpSpPr>
        <a:xfrm xmlns:a="http://schemas.openxmlformats.org/drawingml/2006/main"/>
      </p:grpSpPr>
      <p:sp>
        <p:nvSpPr>
          <p:cNvPr id="16" name="DEEP GRAPH  /  NGƯỜI 4">
            <a:extLst xmlns:a="http://schemas.openxmlformats.org/drawingml/2006/main">
              <a:ext uri="{FF2B5EF4-FFF2-40B4-BE49-F238E27FC236}">
                <a16:creationId xmlns:a16="http://schemas.microsoft.com/office/drawing/2014/main" id="{520C5B0F-24D4-4406-97EA-00F38D636DFD}"/>
              </a:ext>
            </a:extLst>
          </p:cNvPr>
          <p:cNvSpPr>
            <a:spLocks xmlns:a="http://schemas.openxmlformats.org/drawingml/2006/main" noGrp="1"/>
          </p:cNvSpPr>
          <p:nvPr/>
        </p:nvSpPr>
        <p:spPr>
          <a:xfrm xmlns:a="http://schemas.openxmlformats.org/drawingml/2006/main">
            <a:off x="609600" y="219075"/>
            <a:ext cx="619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1">
                <a:solidFill>
                  <a:srgbClr val="087E73"/>
                </a:solidFill>
                <a:latin typeface="Arial"/>
                <a:ea typeface="Arial"/>
                <a:cs typeface="Arial"/>
              </a:defRPr>
            </a:defPPr>
          </a:lstStyle>
          <a:p xmlns:a="http://schemas.openxmlformats.org/drawingml/2006/main">
            <a:pPr>
              <a:defRPr sz="1125" b="1">
                <a:solidFill>
                  <a:srgbClr val="087E73"/>
                </a:solidFill>
                <a:latin typeface="Arial"/>
                <a:ea typeface="Arial"/>
                <a:cs typeface="Arial"/>
              </a:defRPr>
            </a:pPr>
            <a:r>
              <a:rPr sz="1125" b="1">
                <a:solidFill>
                  <a:srgbClr val="087E73"/>
                </a:solidFill>
                <a:latin typeface="Arial"/>
                <a:ea typeface="Arial"/>
                <a:cs typeface="Arial"/>
              </a:rPr>
              <a:t>DEEP GRAPH  /  NGƯỜI 4</a:t>
            </a:r>
          </a:p>
        </p:txBody>
      </p:sp>
      <p:sp>
        <p:nvSpPr>
          <p:cNvPr id="2" name="slide-title">
            <a:extLst xmlns:a="http://schemas.openxmlformats.org/drawingml/2006/main">
              <a:ext uri="{FF2B5EF4-FFF2-40B4-BE49-F238E27FC236}">
                <a16:creationId xmlns:a16="http://schemas.microsoft.com/office/drawing/2014/main" id="{145249D7-4B68-4AEA-ACA2-E319CFC9A9FF}"/>
              </a:ext>
            </a:extLst>
          </p:cNvPr>
          <p:cNvSpPr>
            <a:spLocks xmlns:a="http://schemas.openxmlformats.org/drawingml/2006/main" noGrp="1"/>
          </p:cNvSpPr>
          <p:nvPr/>
        </p:nvSpPr>
        <p:spPr>
          <a:xfrm xmlns:a="http://schemas.openxmlformats.org/drawingml/2006/main">
            <a:off x="609600" y="523875"/>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163B3B"/>
                </a:solidFill>
                <a:latin typeface="Arial"/>
                <a:ea typeface="Arial"/>
                <a:cs typeface="Arial"/>
              </a:defRPr>
            </a:defPPr>
          </a:lstStyle>
          <a:p xmlns:a="http://schemas.openxmlformats.org/drawingml/2006/main">
            <a:pPr>
              <a:defRPr sz="3225" b="1">
                <a:solidFill>
                  <a:srgbClr val="163B3B"/>
                </a:solidFill>
                <a:latin typeface="Arial"/>
                <a:ea typeface="Arial"/>
                <a:cs typeface="Arial"/>
              </a:defRPr>
            </a:pPr>
            <a:r>
              <a:rPr sz="3225" b="1">
                <a:solidFill>
                  <a:srgbClr val="163B3B"/>
                </a:solidFill>
                <a:latin typeface="Arial"/>
                <a:ea typeface="Arial"/>
                <a:cs typeface="Arial"/>
              </a:rPr>
              <a:t>Hai miền dữ liệu · một nguyên tắc làm khoa học</a:t>
            </a:r>
          </a:p>
        </p:txBody>
      </p:sp>
      <p:sp>
        <p:nvSpPr>
          <p:cNvPr id="3" name="">
            <a:extLst xmlns:a="http://schemas.openxmlformats.org/drawingml/2006/main">
              <a:ext uri="{FF2B5EF4-FFF2-40B4-BE49-F238E27FC236}">
                <a16:creationId xmlns:a16="http://schemas.microsoft.com/office/drawing/2014/main" id="{1521E86B-9384-419D-89F2-38003F40B20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D7E1D9"/>
          </a:solidFill>
          <a:ln xmlns:a="http://schemas.openxmlformats.org/drawingml/2006/main" w="0">
            <a:noFill/>
          </a:ln>
        </p:spPr>
      </p:sp>
      <p:sp>
        <p:nvSpPr>
          <p:cNvPr id="4" name="Người 4 · Demo Bitcoin  ·  45 giây">
            <a:extLst xmlns:a="http://schemas.openxmlformats.org/drawingml/2006/main">
              <a:ext uri="{FF2B5EF4-FFF2-40B4-BE49-F238E27FC236}">
                <a16:creationId xmlns:a16="http://schemas.microsoft.com/office/drawing/2014/main" id="{F32602D2-EE86-4932-9D6B-7A21CA0B533D}"/>
              </a:ext>
            </a:extLst>
          </p:cNvPr>
          <p:cNvSpPr>
            <a:spLocks xmlns:a="http://schemas.openxmlformats.org/drawingml/2006/main" noGrp="1"/>
          </p:cNvSpPr>
          <p:nvPr/>
        </p:nvSpPr>
        <p:spPr>
          <a:xfrm xmlns:a="http://schemas.openxmlformats.org/drawingml/2006/main">
            <a:off x="609600" y="64960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a:solidFill>
                  <a:srgbClr val="657B79"/>
                </a:solidFill>
                <a:latin typeface="Arial"/>
                <a:ea typeface="Arial"/>
                <a:cs typeface="Arial"/>
              </a:defRPr>
            </a:defPPr>
          </a:lstStyle>
          <a:p xmlns:a="http://schemas.openxmlformats.org/drawingml/2006/main">
            <a:pPr>
              <a:defRPr sz="1125">
                <a:solidFill>
                  <a:srgbClr val="657B79"/>
                </a:solidFill>
                <a:latin typeface="Arial"/>
                <a:ea typeface="Arial"/>
                <a:cs typeface="Arial"/>
              </a:defRPr>
            </a:pPr>
            <a:r>
              <a:rPr sz="1125">
                <a:solidFill>
                  <a:srgbClr val="657B79"/>
                </a:solidFill>
                <a:latin typeface="Arial"/>
                <a:ea typeface="Arial"/>
                <a:cs typeface="Arial"/>
              </a:rPr>
              <a:t>Người 4 · Demo Bitcoin  ·  45 giây</a:t>
            </a:r>
          </a:p>
        </p:txBody>
      </p:sp>
      <p:sp>
        <p:nvSpPr>
          <p:cNvPr id="5" name="32 / 32">
            <a:extLst xmlns:a="http://schemas.openxmlformats.org/drawingml/2006/main">
              <a:ext uri="{FF2B5EF4-FFF2-40B4-BE49-F238E27FC236}">
                <a16:creationId xmlns:a16="http://schemas.microsoft.com/office/drawing/2014/main" id="{83BC6C89-4AC6-4290-AB94-9B500F48FAF9}"/>
              </a:ext>
            </a:extLst>
          </p:cNvPr>
          <p:cNvSpPr>
            <a:spLocks xmlns:a="http://schemas.openxmlformats.org/drawingml/2006/main" noGrp="1"/>
          </p:cNvSpPr>
          <p:nvPr/>
        </p:nvSpPr>
        <p:spPr>
          <a:xfrm xmlns:a="http://schemas.openxmlformats.org/drawingml/2006/main">
            <a:off x="10648950" y="6496050"/>
            <a:ext cx="933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a:solidFill>
                  <a:srgbClr val="657B79"/>
                </a:solidFill>
                <a:latin typeface="Arial"/>
                <a:ea typeface="Arial"/>
                <a:cs typeface="Arial"/>
              </a:defRPr>
            </a:defPPr>
          </a:lstStyle>
          <a:p xmlns:a="http://schemas.openxmlformats.org/drawingml/2006/main">
            <a:pPr algn="r">
              <a:defRPr sz="1125">
                <a:solidFill>
                  <a:srgbClr val="657B79"/>
                </a:solidFill>
                <a:latin typeface="Arial"/>
                <a:ea typeface="Arial"/>
                <a:cs typeface="Arial"/>
              </a:defRPr>
            </a:pPr>
            <a:r>
              <a:rPr sz="1125">
                <a:solidFill>
                  <a:srgbClr val="657B79"/>
                </a:solidFill>
                <a:latin typeface="Arial"/>
                <a:ea typeface="Arial"/>
                <a:cs typeface="Arial"/>
              </a:rPr>
              <a:t>32 / 32</a:t>
            </a:r>
          </a:p>
        </p:txBody>
      </p:sp>
      <p:sp>
        <p:nvSpPr>
          <p:cNvPr id="6" name="">
            <a:extLst xmlns:a="http://schemas.openxmlformats.org/drawingml/2006/main">
              <a:ext uri="{FF2B5EF4-FFF2-40B4-BE49-F238E27FC236}">
                <a16:creationId xmlns:a16="http://schemas.microsoft.com/office/drawing/2014/main" id="{3C847092-0042-4C62-B398-6D85D27AF2A6}"/>
              </a:ext>
            </a:extLst>
          </p:cNvPr>
          <p:cNvSpPr>
            <a:spLocks xmlns:a="http://schemas.openxmlformats.org/drawingml/2006/main" noGrp="1"/>
          </p:cNvSpPr>
          <p:nvPr/>
        </p:nvSpPr>
        <p:spPr>
          <a:xfrm xmlns:a="http://schemas.openxmlformats.org/drawingml/2006/main">
            <a:off x="838200" y="1933575"/>
            <a:ext cx="104775" cy="104775"/>
          </a:xfrm>
          <a:prstGeom xmlns:a="http://schemas.openxmlformats.org/drawingml/2006/main" prst="ellipse">
            <a:avLst/>
          </a:prstGeom>
          <a:solidFill xmlns:a="http://schemas.openxmlformats.org/drawingml/2006/main">
            <a:srgbClr val="087E73"/>
          </a:solidFill>
          <a:ln xmlns:a="http://schemas.openxmlformats.org/drawingml/2006/main" w="0">
            <a:noFill/>
          </a:ln>
        </p:spPr>
      </p:sp>
      <p:sp>
        <p:nvSpPr>
          <p:cNvPr id="7" name="Định nghĩa đúng nút, cạnh và thời điểm">
            <a:extLst xmlns:a="http://schemas.openxmlformats.org/drawingml/2006/main">
              <a:ext uri="{FF2B5EF4-FFF2-40B4-BE49-F238E27FC236}">
                <a16:creationId xmlns:a16="http://schemas.microsoft.com/office/drawing/2014/main" id="{74F9611D-3FAB-43A3-B438-5CB4451EFDFE}"/>
              </a:ext>
            </a:extLst>
          </p:cNvPr>
          <p:cNvSpPr>
            <a:spLocks xmlns:a="http://schemas.openxmlformats.org/drawingml/2006/main" noGrp="1"/>
          </p:cNvSpPr>
          <p:nvPr/>
        </p:nvSpPr>
        <p:spPr>
          <a:xfrm xmlns:a="http://schemas.openxmlformats.org/drawingml/2006/main">
            <a:off x="1095375" y="18383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Định nghĩa đúng nút, cạnh và thời điểm</a:t>
            </a:r>
          </a:p>
        </p:txBody>
      </p:sp>
      <p:sp>
        <p:nvSpPr>
          <p:cNvPr id="8" name="">
            <a:extLst xmlns:a="http://schemas.openxmlformats.org/drawingml/2006/main">
              <a:ext uri="{FF2B5EF4-FFF2-40B4-BE49-F238E27FC236}">
                <a16:creationId xmlns:a16="http://schemas.microsoft.com/office/drawing/2014/main" id="{F8C4537F-C921-4CA9-8661-72B8E407F769}"/>
              </a:ext>
            </a:extLst>
          </p:cNvPr>
          <p:cNvSpPr>
            <a:spLocks xmlns:a="http://schemas.openxmlformats.org/drawingml/2006/main" noGrp="1"/>
          </p:cNvSpPr>
          <p:nvPr/>
        </p:nvSpPr>
        <p:spPr>
          <a:xfrm xmlns:a="http://schemas.openxmlformats.org/drawingml/2006/main">
            <a:off x="838200" y="26574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9" name="Đặt baseline cùng giao thức">
            <a:extLst xmlns:a="http://schemas.openxmlformats.org/drawingml/2006/main">
              <a:ext uri="{FF2B5EF4-FFF2-40B4-BE49-F238E27FC236}">
                <a16:creationId xmlns:a16="http://schemas.microsoft.com/office/drawing/2014/main" id="{04773DD9-CB12-4921-BD36-B00F37F2EDC8}"/>
              </a:ext>
            </a:extLst>
          </p:cNvPr>
          <p:cNvSpPr>
            <a:spLocks xmlns:a="http://schemas.openxmlformats.org/drawingml/2006/main" noGrp="1"/>
          </p:cNvSpPr>
          <p:nvPr/>
        </p:nvSpPr>
        <p:spPr>
          <a:xfrm xmlns:a="http://schemas.openxmlformats.org/drawingml/2006/main">
            <a:off x="1095375" y="25622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Đặt baseline cùng giao thức</a:t>
            </a:r>
          </a:p>
        </p:txBody>
      </p:sp>
      <p:sp>
        <p:nvSpPr>
          <p:cNvPr id="10" name="">
            <a:extLst xmlns:a="http://schemas.openxmlformats.org/drawingml/2006/main">
              <a:ext uri="{FF2B5EF4-FFF2-40B4-BE49-F238E27FC236}">
                <a16:creationId xmlns:a16="http://schemas.microsoft.com/office/drawing/2014/main" id="{D9B72E6E-E45C-4AC3-95CF-D412EAC1AD0B}"/>
              </a:ext>
            </a:extLst>
          </p:cNvPr>
          <p:cNvSpPr>
            <a:spLocks xmlns:a="http://schemas.openxmlformats.org/drawingml/2006/main" noGrp="1"/>
          </p:cNvSpPr>
          <p:nvPr/>
        </p:nvSpPr>
        <p:spPr>
          <a:xfrm xmlns:a="http://schemas.openxmlformats.org/drawingml/2006/main">
            <a:off x="838200" y="33813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1" name="Đọc cả tình huống tốt và sai">
            <a:extLst xmlns:a="http://schemas.openxmlformats.org/drawingml/2006/main">
              <a:ext uri="{FF2B5EF4-FFF2-40B4-BE49-F238E27FC236}">
                <a16:creationId xmlns:a16="http://schemas.microsoft.com/office/drawing/2014/main" id="{33E19022-4488-4D9B-A5A7-C322EBA18C18}"/>
              </a:ext>
            </a:extLst>
          </p:cNvPr>
          <p:cNvSpPr>
            <a:spLocks xmlns:a="http://schemas.openxmlformats.org/drawingml/2006/main" noGrp="1"/>
          </p:cNvSpPr>
          <p:nvPr/>
        </p:nvSpPr>
        <p:spPr>
          <a:xfrm xmlns:a="http://schemas.openxmlformats.org/drawingml/2006/main">
            <a:off x="1095375" y="32861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Đọc cả tình huống tốt và sai</a:t>
            </a:r>
          </a:p>
        </p:txBody>
      </p:sp>
      <p:sp>
        <p:nvSpPr>
          <p:cNvPr id="12" name="">
            <a:extLst xmlns:a="http://schemas.openxmlformats.org/drawingml/2006/main">
              <a:ext uri="{FF2B5EF4-FFF2-40B4-BE49-F238E27FC236}">
                <a16:creationId xmlns:a16="http://schemas.microsoft.com/office/drawing/2014/main" id="{ED792CF1-D83F-4DBA-BF12-5734D8DC950B}"/>
              </a:ext>
            </a:extLst>
          </p:cNvPr>
          <p:cNvSpPr>
            <a:spLocks xmlns:a="http://schemas.openxmlformats.org/drawingml/2006/main" noGrp="1"/>
          </p:cNvSpPr>
          <p:nvPr/>
        </p:nvSpPr>
        <p:spPr>
          <a:xfrm xmlns:a="http://schemas.openxmlformats.org/drawingml/2006/main">
            <a:off x="838200" y="4105275"/>
            <a:ext cx="104775" cy="104775"/>
          </a:xfrm>
          <a:prstGeom xmlns:a="http://schemas.openxmlformats.org/drawingml/2006/main" prst="ellipse">
            <a:avLst/>
          </a:prstGeom>
          <a:solidFill xmlns:a="http://schemas.openxmlformats.org/drawingml/2006/main">
            <a:srgbClr val="BE7B2F"/>
          </a:solidFill>
          <a:ln xmlns:a="http://schemas.openxmlformats.org/drawingml/2006/main" w="0">
            <a:noFill/>
          </a:ln>
        </p:spPr>
      </p:sp>
      <p:sp>
        <p:nvSpPr>
          <p:cNvPr id="13" name="Graph có ích khi được kiểm chứng">
            <a:extLst xmlns:a="http://schemas.openxmlformats.org/drawingml/2006/main">
              <a:ext uri="{FF2B5EF4-FFF2-40B4-BE49-F238E27FC236}">
                <a16:creationId xmlns:a16="http://schemas.microsoft.com/office/drawing/2014/main" id="{3D72ED53-FEB4-4875-A412-AA7C326A7A4D}"/>
              </a:ext>
            </a:extLst>
          </p:cNvPr>
          <p:cNvSpPr>
            <a:spLocks xmlns:a="http://schemas.openxmlformats.org/drawingml/2006/main" noGrp="1"/>
          </p:cNvSpPr>
          <p:nvPr/>
        </p:nvSpPr>
        <p:spPr>
          <a:xfrm xmlns:a="http://schemas.openxmlformats.org/drawingml/2006/main">
            <a:off x="1095375" y="4010025"/>
            <a:ext cx="1021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a:solidFill>
                  <a:srgbClr val="163B3B"/>
                </a:solidFill>
                <a:latin typeface="Arial"/>
                <a:ea typeface="Arial"/>
                <a:cs typeface="Arial"/>
              </a:defRPr>
            </a:defPPr>
          </a:lstStyle>
          <a:p xmlns:a="http://schemas.openxmlformats.org/drawingml/2006/main">
            <a:pPr>
              <a:defRPr sz="2025">
                <a:solidFill>
                  <a:srgbClr val="163B3B"/>
                </a:solidFill>
                <a:latin typeface="Arial"/>
                <a:ea typeface="Arial"/>
                <a:cs typeface="Arial"/>
              </a:defRPr>
            </a:pPr>
            <a:r>
              <a:rPr sz="2025">
                <a:solidFill>
                  <a:srgbClr val="163B3B"/>
                </a:solidFill>
                <a:latin typeface="Arial"/>
                <a:ea typeface="Arial"/>
                <a:cs typeface="Arial"/>
              </a:rPr>
              <a:t>Graph có ích khi được kiểm chứng</a:t>
            </a:r>
          </a:p>
        </p:txBody>
      </p:sp>
      <p:sp>
        <p:nvSpPr>
          <p:cNvPr id="14" name="Cảm ơn thầy và các bạn · Hỏi đáp">
            <a:extLst xmlns:a="http://schemas.openxmlformats.org/drawingml/2006/main">
              <a:ext uri="{FF2B5EF4-FFF2-40B4-BE49-F238E27FC236}">
                <a16:creationId xmlns:a16="http://schemas.microsoft.com/office/drawing/2014/main" id="{C00BA5A6-B170-4366-8DEA-5E1162D489CA}"/>
              </a:ext>
            </a:extLst>
          </p:cNvPr>
          <p:cNvSpPr>
            <a:spLocks xmlns:a="http://schemas.openxmlformats.org/drawingml/2006/main" noGrp="1"/>
          </p:cNvSpPr>
          <p:nvPr/>
        </p:nvSpPr>
        <p:spPr>
          <a:xfrm xmlns:a="http://schemas.openxmlformats.org/drawingml/2006/main">
            <a:off x="704850" y="5048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087E73"/>
                </a:solidFill>
                <a:latin typeface="Arial"/>
                <a:ea typeface="Arial"/>
                <a:cs typeface="Arial"/>
              </a:defRPr>
            </a:defPPr>
          </a:lstStyle>
          <a:p xmlns:a="http://schemas.openxmlformats.org/drawingml/2006/main">
            <a:pPr>
              <a:defRPr sz="2400" b="1">
                <a:solidFill>
                  <a:srgbClr val="087E73"/>
                </a:solidFill>
                <a:latin typeface="Arial"/>
                <a:ea typeface="Arial"/>
                <a:cs typeface="Arial"/>
              </a:defRPr>
            </a:pPr>
            <a:r>
              <a:rPr sz="2400" b="1">
                <a:solidFill>
                  <a:srgbClr val="087E73"/>
                </a:solidFill>
                <a:latin typeface="Arial"/>
                <a:ea typeface="Arial"/>
                <a:cs typeface="Arial"/>
              </a:rPr>
              <a:t>Cảm ơn thầy và các bạn · Hỏi đáp</a:t>
            </a:r>
          </a:p>
        </p:txBody>
      </p:sp>
      <p:sp>
        <p:nvSpPr>
          <p:cNvPr id="15" name="Cùng một nguyên tắc: định nghĩa quan hệ, so ">
            <a:extLst xmlns:a="http://schemas.openxmlformats.org/drawingml/2006/main">
              <a:ext uri="{FF2B5EF4-FFF2-40B4-BE49-F238E27FC236}">
                <a16:creationId xmlns:a16="http://schemas.microsoft.com/office/drawing/2014/main" id="{0E86B1B3-F5B2-4265-802A-790BCD0998F1}"/>
              </a:ext>
            </a:extLst>
          </p:cNvPr>
          <p:cNvSpPr>
            <a:spLocks xmlns:a="http://schemas.openxmlformats.org/drawingml/2006/main" noGrp="1"/>
          </p:cNvSpPr>
          <p:nvPr/>
        </p:nvSpPr>
        <p:spPr>
          <a:xfrm xmlns:a="http://schemas.openxmlformats.org/drawingml/2006/main">
            <a:off x="609600" y="6115050"/>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657B79"/>
                </a:solidFill>
                <a:latin typeface="Arial"/>
                <a:ea typeface="Arial"/>
                <a:cs typeface="Arial"/>
              </a:defRPr>
            </a:defPPr>
          </a:lstStyle>
          <a:p xmlns:a="http://schemas.openxmlformats.org/drawingml/2006/main">
            <a:pPr>
              <a:defRPr sz="1200">
                <a:solidFill>
                  <a:srgbClr val="657B79"/>
                </a:solidFill>
                <a:latin typeface="Arial"/>
                <a:ea typeface="Arial"/>
                <a:cs typeface="Arial"/>
              </a:defRPr>
            </a:pPr>
            <a:r>
              <a:rPr sz="1200">
                <a:solidFill>
                  <a:srgbClr val="657B79"/>
                </a:solidFill>
                <a:latin typeface="Arial"/>
                <a:ea typeface="Arial"/>
                <a:cs typeface="Arial"/>
              </a:rPr>
              <a:t>Cùng một nguyên tắc: định nghĩa quan hệ, so baseline, kiểm tra dữ liệu và nêu giới hạn.</a:t>
            </a:r>
          </a:p>
        </p:txBody>
      </p:sp>
    </p:spTree>
    <p:extLst>
      <p:ext uri="{BB962C8B-B14F-4D97-AF65-F5344CB8AC3E}">
        <p14:creationId xmlns:p14="http://schemas.microsoft.com/office/powerpoint/2010/main" val="1579057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2026-10-15T04:14:57.7500000Z</dcterms:created>
  <dcterms:modified xsi:type="dcterms:W3CDTF">2026-10-15T04:14:57.7500000Z</dcterms:modified>
</coreProperties>
</file>