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92ee11be364664" /><Relationship Type="http://schemas.openxmlformats.org/officeDocument/2006/relationships/extended-properties" Target="/docProps/app.xml" Id="R3dd96e3a6d6b4371" /><Relationship Type="http://schemas.openxmlformats.org/officeDocument/2006/relationships/officeDocument" Target="/ppt/presentation.xml" Id="Rf36671bd2fe24267" /></Relationships>
</file>

<file path=ppt/presentation.xml><?xml version="1.0" encoding="utf-8"?>
<p:presentation xmlns:p="http://schemas.openxmlformats.org/presentationml/2006/main">
  <p:sldMasterIdLst>
    <p:sldMasterId xmlns:r="http://schemas.openxmlformats.org/officeDocument/2006/relationships" id="2147483648" r:id="Rbee86553c37f4e1c"/>
  </p:sldMasterIdLst>
  <p:notesMasterIdLst>
    <p:notesMasterId xmlns:r="http://schemas.openxmlformats.org/officeDocument/2006/relationships" r:id="R4a016b73bc204490"/>
  </p:notesMasterIdLst>
  <p:sldIdLst>
    <p:sldId xmlns:r="http://schemas.openxmlformats.org/officeDocument/2006/relationships" id="256" r:id="R13973336f2d74747"/>
    <p:sldId xmlns:r="http://schemas.openxmlformats.org/officeDocument/2006/relationships" id="257" r:id="R342c0209249f4e43"/>
    <p:sldId xmlns:r="http://schemas.openxmlformats.org/officeDocument/2006/relationships" id="258" r:id="Ra49c41d1c66545e9"/>
    <p:sldId xmlns:r="http://schemas.openxmlformats.org/officeDocument/2006/relationships" id="259" r:id="Rce55d1bc2a1d4808"/>
    <p:sldId xmlns:r="http://schemas.openxmlformats.org/officeDocument/2006/relationships" id="260" r:id="Rd22c7e39f38443dd"/>
    <p:sldId xmlns:r="http://schemas.openxmlformats.org/officeDocument/2006/relationships" id="261" r:id="R3549a94d1015420e"/>
    <p:sldId xmlns:r="http://schemas.openxmlformats.org/officeDocument/2006/relationships" id="262" r:id="R4fe41a4a81174eba"/>
    <p:sldId xmlns:r="http://schemas.openxmlformats.org/officeDocument/2006/relationships" id="263" r:id="R0022d552512247c9"/>
    <p:sldId xmlns:r="http://schemas.openxmlformats.org/officeDocument/2006/relationships" id="264" r:id="Rb4cff87dd399438f"/>
    <p:sldId xmlns:r="http://schemas.openxmlformats.org/officeDocument/2006/relationships" id="265" r:id="R14d533e354b74257"/>
    <p:sldId xmlns:r="http://schemas.openxmlformats.org/officeDocument/2006/relationships" id="266" r:id="R2cc4dcba58754019"/>
    <p:sldId xmlns:r="http://schemas.openxmlformats.org/officeDocument/2006/relationships" id="267" r:id="R9bc34d514eb54702"/>
    <p:sldId xmlns:r="http://schemas.openxmlformats.org/officeDocument/2006/relationships" id="268" r:id="R461c67196bf84fd6"/>
    <p:sldId xmlns:r="http://schemas.openxmlformats.org/officeDocument/2006/relationships" id="269" r:id="R5201d22fabdc4baf"/>
    <p:sldId xmlns:r="http://schemas.openxmlformats.org/officeDocument/2006/relationships" id="270" r:id="R12a86d26fcd947d7"/>
    <p:sldId xmlns:r="http://schemas.openxmlformats.org/officeDocument/2006/relationships" id="271" r:id="Rb8ac869d4a7f41ef"/>
    <p:sldId xmlns:r="http://schemas.openxmlformats.org/officeDocument/2006/relationships" id="272" r:id="R4448bcb5266d47da"/>
    <p:sldId xmlns:r="http://schemas.openxmlformats.org/officeDocument/2006/relationships" id="273" r:id="Rddbe7f37318c4973"/>
    <p:sldId xmlns:r="http://schemas.openxmlformats.org/officeDocument/2006/relationships" id="274" r:id="Re70832e201484bf4"/>
    <p:sldId xmlns:r="http://schemas.openxmlformats.org/officeDocument/2006/relationships" id="275" r:id="R686444e8c9a94122"/>
    <p:sldId xmlns:r="http://schemas.openxmlformats.org/officeDocument/2006/relationships" id="276" r:id="R9075dc0878e1463b"/>
    <p:sldId xmlns:r="http://schemas.openxmlformats.org/officeDocument/2006/relationships" id="277" r:id="R124c23256914478f"/>
    <p:sldId xmlns:r="http://schemas.openxmlformats.org/officeDocument/2006/relationships" id="278" r:id="Rdb5ccd2b13cf4ac9"/>
    <p:sldId xmlns:r="http://schemas.openxmlformats.org/officeDocument/2006/relationships" id="279" r:id="Ra8c5560148c44e55"/>
    <p:sldId xmlns:r="http://schemas.openxmlformats.org/officeDocument/2006/relationships" id="280" r:id="Rafeb305aa26c49da"/>
    <p:sldId xmlns:r="http://schemas.openxmlformats.org/officeDocument/2006/relationships" id="281" r:id="Rc791908d7d814b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43d288860042b7" /><Relationship Type="http://schemas.openxmlformats.org/officeDocument/2006/relationships/slideMaster" Target="/ppt/slideMasters/slideMaster1.xml" Id="Rbee86553c37f4e1c" /><Relationship Type="http://schemas.openxmlformats.org/officeDocument/2006/relationships/notesMaster" Target="/ppt/notesMasters/notesMaster1.xml" Id="R4a016b73bc204490" /><Relationship Type="http://schemas.openxmlformats.org/officeDocument/2006/relationships/presProps" Target="/ppt/presProps.xml" Id="R7a2b9e0d95e94e0d" /><Relationship Type="http://schemas.openxmlformats.org/officeDocument/2006/relationships/tableStyles" Target="/ppt/tableStyles.xml" Id="R16225d83d6e846c7" /><Relationship Type="http://schemas.openxmlformats.org/officeDocument/2006/relationships/slide" Target="/ppt/slides/slide1.xml" Id="R13973336f2d74747" /><Relationship Type="http://schemas.openxmlformats.org/officeDocument/2006/relationships/slide" Target="/ppt/slides/slide2.xml" Id="R342c0209249f4e43" /><Relationship Type="http://schemas.openxmlformats.org/officeDocument/2006/relationships/slide" Target="/ppt/slides/slide3.xml" Id="Ra49c41d1c66545e9" /><Relationship Type="http://schemas.openxmlformats.org/officeDocument/2006/relationships/slide" Target="/ppt/slides/slide4.xml" Id="Rce55d1bc2a1d4808" /><Relationship Type="http://schemas.openxmlformats.org/officeDocument/2006/relationships/slide" Target="/ppt/slides/slide5.xml" Id="Rd22c7e39f38443dd" /><Relationship Type="http://schemas.openxmlformats.org/officeDocument/2006/relationships/slide" Target="/ppt/slides/slide6.xml" Id="R3549a94d1015420e" /><Relationship Type="http://schemas.openxmlformats.org/officeDocument/2006/relationships/slide" Target="/ppt/slides/slide7.xml" Id="R4fe41a4a81174eba" /><Relationship Type="http://schemas.openxmlformats.org/officeDocument/2006/relationships/slide" Target="/ppt/slides/slide8.xml" Id="R0022d552512247c9" /><Relationship Type="http://schemas.openxmlformats.org/officeDocument/2006/relationships/slide" Target="/ppt/slides/slide9.xml" Id="Rb4cff87dd399438f" /><Relationship Type="http://schemas.openxmlformats.org/officeDocument/2006/relationships/slide" Target="/ppt/slides/slide10.xml" Id="R14d533e354b74257" /><Relationship Type="http://schemas.openxmlformats.org/officeDocument/2006/relationships/slide" Target="/ppt/slides/slide11.xml" Id="R2cc4dcba58754019" /><Relationship Type="http://schemas.openxmlformats.org/officeDocument/2006/relationships/slide" Target="/ppt/slides/slide12.xml" Id="R9bc34d514eb54702" /><Relationship Type="http://schemas.openxmlformats.org/officeDocument/2006/relationships/slide" Target="/ppt/slides/slide13.xml" Id="R461c67196bf84fd6" /><Relationship Type="http://schemas.openxmlformats.org/officeDocument/2006/relationships/slide" Target="/ppt/slides/slide14.xml" Id="R5201d22fabdc4baf" /><Relationship Type="http://schemas.openxmlformats.org/officeDocument/2006/relationships/slide" Target="/ppt/slides/slide15.xml" Id="R12a86d26fcd947d7" /><Relationship Type="http://schemas.openxmlformats.org/officeDocument/2006/relationships/slide" Target="/ppt/slides/slide16.xml" Id="Rb8ac869d4a7f41ef" /><Relationship Type="http://schemas.openxmlformats.org/officeDocument/2006/relationships/slide" Target="/ppt/slides/slide17.xml" Id="R4448bcb5266d47da" /><Relationship Type="http://schemas.openxmlformats.org/officeDocument/2006/relationships/slide" Target="/ppt/slides/slide18.xml" Id="Rddbe7f37318c4973" /><Relationship Type="http://schemas.openxmlformats.org/officeDocument/2006/relationships/slide" Target="/ppt/slides/slide19.xml" Id="Re70832e201484bf4" /><Relationship Type="http://schemas.openxmlformats.org/officeDocument/2006/relationships/slide" Target="/ppt/slides/slide20.xml" Id="R686444e8c9a94122" /><Relationship Type="http://schemas.openxmlformats.org/officeDocument/2006/relationships/slide" Target="/ppt/slides/slide21.xml" Id="R9075dc0878e1463b" /><Relationship Type="http://schemas.openxmlformats.org/officeDocument/2006/relationships/slide" Target="/ppt/slides/slide22.xml" Id="R124c23256914478f" /><Relationship Type="http://schemas.openxmlformats.org/officeDocument/2006/relationships/slide" Target="/ppt/slides/slide23.xml" Id="Rdb5ccd2b13cf4ac9" /><Relationship Type="http://schemas.openxmlformats.org/officeDocument/2006/relationships/slide" Target="/ppt/slides/slide24.xml" Id="Ra8c5560148c44e55" /><Relationship Type="http://schemas.openxmlformats.org/officeDocument/2006/relationships/slide" Target="/ppt/slides/slide25.xml" Id="Rafeb305aa26c49da" /><Relationship Type="http://schemas.openxmlformats.org/officeDocument/2006/relationships/slide" Target="/ppt/slides/slide26.xml" Id="Rc791908d7d81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2e691f22dc4f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281252364443a9" /><Relationship Type="http://schemas.openxmlformats.org/officeDocument/2006/relationships/notesMaster" Target="/ppt/notesMasters/notesMaster1.xml" Id="R478a01c6e4e141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2e779e6314795" /><Relationship Type="http://schemas.openxmlformats.org/officeDocument/2006/relationships/notesMaster" Target="/ppt/notesMasters/notesMaster1.xml" Id="Rc975622b8fd84c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3029d15df142c0" /><Relationship Type="http://schemas.openxmlformats.org/officeDocument/2006/relationships/notesMaster" Target="/ppt/notesMasters/notesMaster1.xml" Id="R04b5784da41a46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d817aceef7494f" /><Relationship Type="http://schemas.openxmlformats.org/officeDocument/2006/relationships/notesMaster" Target="/ppt/notesMasters/notesMaster1.xml" Id="R2897590b806c47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50bcba5a6e432e" /><Relationship Type="http://schemas.openxmlformats.org/officeDocument/2006/relationships/notesMaster" Target="/ppt/notesMasters/notesMaster1.xml" Id="Rac6ceaac503d48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18d856bf124977" /><Relationship Type="http://schemas.openxmlformats.org/officeDocument/2006/relationships/notesMaster" Target="/ppt/notesMasters/notesMaster1.xml" Id="Rfaba7e89744246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cf283efba44d39" /><Relationship Type="http://schemas.openxmlformats.org/officeDocument/2006/relationships/notesMaster" Target="/ppt/notesMasters/notesMaster1.xml" Id="Rbeaa85fa7e894c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70a4f72e3145af" /><Relationship Type="http://schemas.openxmlformats.org/officeDocument/2006/relationships/notesMaster" Target="/ppt/notesMasters/notesMaster1.xml" Id="R26306a5ac36b46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270db2d5604ee5" /><Relationship Type="http://schemas.openxmlformats.org/officeDocument/2006/relationships/notesMaster" Target="/ppt/notesMasters/notesMaster1.xml" Id="Rad376ccd92d641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5e680103d64bff" /><Relationship Type="http://schemas.openxmlformats.org/officeDocument/2006/relationships/notesMaster" Target="/ppt/notesMasters/notesMaster1.xml" Id="R1faa67e5328445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83e72670ab4eb6" /><Relationship Type="http://schemas.openxmlformats.org/officeDocument/2006/relationships/notesMaster" Target="/ppt/notesMasters/notesMaster1.xml" Id="R68b8babfd1b74f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d425d2b9e74b16" /><Relationship Type="http://schemas.openxmlformats.org/officeDocument/2006/relationships/notesMaster" Target="/ppt/notesMasters/notesMaster1.xml" Id="R4c447889a3024c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c24d21014b4bbe" /><Relationship Type="http://schemas.openxmlformats.org/officeDocument/2006/relationships/notesMaster" Target="/ppt/notesMasters/notesMaster1.xml" Id="Rdff2c87fddfe42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00ab5fb8a843ad" /><Relationship Type="http://schemas.openxmlformats.org/officeDocument/2006/relationships/notesMaster" Target="/ppt/notesMasters/notesMaster1.xml" Id="R70babb5c9dd54b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1b74bdee574a59" /><Relationship Type="http://schemas.openxmlformats.org/officeDocument/2006/relationships/notesMaster" Target="/ppt/notesMasters/notesMaster1.xml" Id="R9d531f9826eb4f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05fa705cc14db9" /><Relationship Type="http://schemas.openxmlformats.org/officeDocument/2006/relationships/notesMaster" Target="/ppt/notesMasters/notesMaster1.xml" Id="Ra80defe6452e40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a110a85a7944e5" /><Relationship Type="http://schemas.openxmlformats.org/officeDocument/2006/relationships/notesMaster" Target="/ppt/notesMasters/notesMaster1.xml" Id="R908bf5bb0e0f4a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27d44a9604475e" /><Relationship Type="http://schemas.openxmlformats.org/officeDocument/2006/relationships/notesMaster" Target="/ppt/notesMasters/notesMaster1.xml" Id="R6f623fe521f14d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5fb4d318f34d34" /><Relationship Type="http://schemas.openxmlformats.org/officeDocument/2006/relationships/notesMaster" Target="/ppt/notesMasters/notesMaster1.xml" Id="R1cbafc7139d94d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205998b19a40c9" /><Relationship Type="http://schemas.openxmlformats.org/officeDocument/2006/relationships/notesMaster" Target="/ppt/notesMasters/notesMaster1.xml" Id="R0a62c7b3103746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653dd9f69d444b" /><Relationship Type="http://schemas.openxmlformats.org/officeDocument/2006/relationships/notesMaster" Target="/ppt/notesMasters/notesMaster1.xml" Id="Rf69cc695b13442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b90d0c60d54c2f" /><Relationship Type="http://schemas.openxmlformats.org/officeDocument/2006/relationships/notesMaster" Target="/ppt/notesMasters/notesMaster1.xml" Id="R812038585b964d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305b4d741b4d30" /><Relationship Type="http://schemas.openxmlformats.org/officeDocument/2006/relationships/notesMaster" Target="/ppt/notesMasters/notesMaster1.xml" Id="R8d1e7d6b675f45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d8e3b624180498c" /><Relationship Type="http://schemas.openxmlformats.org/officeDocument/2006/relationships/notesMaster" Target="/ppt/notesMasters/notesMaster1.xml" Id="R6db08490bc454c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bb408fb20f4931" /><Relationship Type="http://schemas.openxmlformats.org/officeDocument/2006/relationships/notesMaster" Target="/ppt/notesMasters/notesMaster1.xml" Id="R81166504be414a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f3ccd617004dc1" /><Relationship Type="http://schemas.openxmlformats.org/officeDocument/2006/relationships/notesMaster" Target="/ppt/notesMasters/notesMaster1.xml" Id="R8ea2f33b292143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1/26 · 50 GIÂY · 0:00–0:50</a:t>
            </a:r>
          </a:p>
          <a:p xmlns:a="http://schemas.openxmlformats.org/drawingml/2006/main">
            <a:r>
              <a:t/>
            </a:r>
          </a:p>
          <a:p xmlns:a="http://schemas.openxmlformats.org/drawingml/2006/main">
            <a:r>
              <a:t>LỜI NÓI GỢI Ý</a:t>
            </a:r>
          </a:p>
          <a:p xmlns:a="http://schemas.openxmlformats.org/drawingml/2006/main">
            <a:r>
              <a:t>Trong phần này, em trình bày một hệ thống hỗ trợ sàng lọc giao dịch Bitcoin bằng Deep Graph. Điểm cần kiểm chứng là thông tin từ các giao dịch có liên kết có giúp phân loại tốt hơn hay không. Nhóm đã huấn luyện mô hình, so sánh với đối chứng và xây dựng demo trên dữ liệu lịch sử. Em sẽ trình bày cả kết quả đúng lẫn cảnh báo nhầm, vì đó là điều quyết định một công cụ sàng lọc có hữu ích hay không.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2/26 · 65 GIÂY · 0:50–1:55</a:t>
            </a:r>
          </a:p>
          <a:p xmlns:a="http://schemas.openxmlformats.org/drawingml/2006/main">
            <a:r>
              <a:t/>
            </a:r>
          </a:p>
          <a:p xmlns:a="http://schemas.openxmlformats.org/drawingml/2006/main">
            <a:r>
              <a:t>LỜI NÓI GỢI Ý</a:t>
            </a:r>
          </a:p>
          <a:p xmlns:a="http://schemas.openxmlformats.org/drawingml/2006/main">
            <a:r>
              <a:t>Hãy hình dung người phân tích đang xem một giao dịch. Nếu chỉ nhìn những con số của giao dịch ấy, họ có thể bỏ qua thông tin nằm trong mạng xung quanh. Demo cho phép mở các liên kết để quan sát ngữ cảnh, rồi xem điểm của nhiều mô hình. Điểm cao chỉ khiến hệ thống phát cảnh báo theo ngưỡng đã đặt. Kết quả này hỗ trợ kiểm tra tiếp, không tự xác nhận một hành vi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3/26 · 65 GIÂY · 1:55–3:00</a:t>
            </a:r>
          </a:p>
          <a:p xmlns:a="http://schemas.openxmlformats.org/drawingml/2006/main">
            <a:r>
              <a:t/>
            </a:r>
          </a:p>
          <a:p xmlns:a="http://schemas.openxmlformats.org/drawingml/2006/main">
            <a:r>
              <a:t>LỜI NÓI GỢI Ý</a:t>
            </a:r>
          </a:p>
          <a:p xmlns:a="http://schemas.openxmlformats.org/drawingml/2006/main">
            <a:r>
              <a:t>Câu hỏi của nhóm là bổ sung quan hệ giữa các giao dịch có giúp ích trong thực nghiệm này không. Để kiểm tra, MLP và GCN nhận cùng 93 đặc trưng local. Hai mô hình có cùng lớp học và nhánh skip, nhưng GCN thêm phép tổng hợp hàng xóm. Nhóm còn dùng Random Forest để tránh việc chỉ so sánh các mạng neural với nhau rồi bỏ qua một mô hình truyền thống mạnh.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4/26 · 65 GIÂY · 3:00–4:05</a:t>
            </a:r>
          </a:p>
          <a:p xmlns:a="http://schemas.openxmlformats.org/drawingml/2006/main">
            <a:r>
              <a:t/>
            </a:r>
          </a:p>
          <a:p xmlns:a="http://schemas.openxmlformats.org/drawingml/2006/main">
            <a:r>
              <a:t>LỜI NÓI GỢI Ý</a:t>
            </a:r>
          </a:p>
          <a:p xmlns:a="http://schemas.openxmlformats.org/drawingml/2006/main">
            <a:r>
              <a:t>Mỗi nút ở đây là một giao dịch, không phải một người hay tài khoản ngân hàng. Một cạnh có hướng thể hiện dòng Bitcoin từ giao dịch này sang giao dịch khác. Khi nói một bước kết nối, em đang nói đến những giao dịch nối trực tiếp với nút đang xét. Hai bước kết nối mở thêm hàng xóm của chúng. Trên giao diện, mũi tên giữ hướng của dữ liệu gốc.</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5/26 · 65 GIÂY · 4:05–5:10</a:t>
            </a:r>
          </a:p>
          <a:p xmlns:a="http://schemas.openxmlformats.org/drawingml/2006/main">
            <a:r>
              <a:t/>
            </a:r>
          </a:p>
          <a:p xmlns:a="http://schemas.openxmlformats.org/drawingml/2006/main">
            <a:r>
              <a:t>LỜI NÓI GỢI Ý</a:t>
            </a:r>
          </a:p>
          <a:p xmlns:a="http://schemas.openxmlformats.org/drawingml/2006/main">
            <a:r>
              <a:t>Nhóm tải bộ Elliptic gốc từ nguồn công bố, sau đó kiểm tra số lượng, mã giao dịch và các liên kết. Dữ liệu gồm hơn hai trăm nghìn giao dịch, chia thành 49 lát cắt. Trong bộ này, không có cạnh nối giữa các lát cắt khác nhau. Vì vậy ta có thể học trên các lát cắt trước, kiểm tra trên những lát cắt sau. Đây là dữ liệu lịch sử phục vụ thực nghiệm, không phải luồng giao dịch đang diễn ra.</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Kết quả kiểm tra trực tiếp trong results/data_summary.json;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6/26 · 75 GIÂY · 5:10–6:25</a:t>
            </a:r>
          </a:p>
          <a:p xmlns:a="http://schemas.openxmlformats.org/drawingml/2006/main">
            <a:r>
              <a:t/>
            </a:r>
          </a:p>
          <a:p xmlns:a="http://schemas.openxmlformats.org/drawingml/2006/main">
            <a:r>
              <a:t>LỜI NÓI GỢI Ý</a:t>
            </a:r>
          </a:p>
          <a:p xmlns:a="http://schemas.openxmlformats.org/drawingml/2006/main">
            <a:r>
              <a:t>Ta cần phân biệt ba trạng thái nhãn. Illicit và licit là hai nhóm tham chiếu dùng để học và chấm điểm. Unknown nghĩa là chưa có nhãn, nên nhóm không gán chúng thành licit. Các nút unknown vẫn có đặc trưng và liên kết, vì thế có thể tham gia truyền tin trong graph. Nhưng loss huấn luyện và các chỉ số đánh giá chỉ tính trên những nút đã có nhãn. Đó là lý do số nút test lớn hơn số mẫu được chấm điểm.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đếm từ elliptic_txs_classes.csv;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7/26 · 75 GIÂY · 6:25–7:40</a:t>
            </a:r>
          </a:p>
          <a:p xmlns:a="http://schemas.openxmlformats.org/drawingml/2006/main">
            <a:r>
              <a:t/>
            </a:r>
          </a:p>
          <a:p xmlns:a="http://schemas.openxmlformats.org/drawingml/2006/main">
            <a:r>
              <a:t>LỜI NÓI GỢI Ý</a:t>
            </a:r>
          </a:p>
          <a:p xmlns:a="http://schemas.openxmlformats.org/drawingml/2006/main">
            <a:r>
              <a:t>File gốc có mã giao dịch, timestep và các giá trị đặc trưng. Sau khi tách mã và timestep, nhóm còn 165 cột số: 93 local và 72 tổng hợp hàng xóm. MLP, GCN và RF local dùng 93 cột đầu. RF all dùng cả 165 cột. Các giá trị đã được bên cung cấp xử lý và ẩn danh, nên nhóm không tự gắn một cột bất kỳ thành số tiền hoặc phí cụ thể. Scaler của nhóm chỉ học từ các nút thuộc train. Với GCN và MLP, nhóm thêm QuantileTransformer: học phân bố từng cột từ train, chuyển theo phân vị sang thang đo gần chuẩn rồi giữ nguyên phép biến đổi cho validation/test. RF dùng đặc trưng như bản đầu. Bước này không nhìn nhãn và không fit trên test.</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tra trực tiếp cấu trúc CSV; prepare_data.py;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8/26 · 80 GIÂY · 7:40–9:00</a:t>
            </a:r>
          </a:p>
          <a:p xmlns:a="http://schemas.openxmlformats.org/drawingml/2006/main">
            <a:r>
              <a:t/>
            </a:r>
          </a:p>
          <a:p xmlns:a="http://schemas.openxmlformats.org/drawingml/2006/main">
            <a:r>
              <a:t>LỜI NÓI GỢI Ý</a:t>
            </a:r>
          </a:p>
          <a:p xmlns:a="http://schemas.openxmlformats.org/drawingml/2006/main">
            <a:r>
              <a:t>Nhóm dùng lát cắt 1 đến 29 để học trọng số, 30 đến 34 để chọn checkpoint và ngưỡng, còn 35 đến 49 để kiểm tra cuối. Test có 67.504 nút nhưng chỉ 16.670 nút có nhãn. Cách chia này giúp tránh việc trộn giao dịch ở tương lai vào quá trình chọn mô hình. Trong từng tập, unknown vẫn là ngữ cảnh. Kết quả chỉ phản ánh một lần chia thời gian, nên nhóm chưa coi đó là bằng chứng tổng quát cho mọi giai đoạn.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9/26 · 80 GIÂY · 9:00–10:20</a:t>
            </a:r>
          </a:p>
          <a:p xmlns:a="http://schemas.openxmlformats.org/drawingml/2006/main">
            <a:r>
              <a:t/>
            </a:r>
          </a:p>
          <a:p xmlns:a="http://schemas.openxmlformats.org/drawingml/2006/main">
            <a:r>
              <a:t>LỜI NÓI GỢI Ý</a:t>
            </a:r>
          </a:p>
          <a:p xmlns:a="http://schemas.openxmlformats.org/drawingml/2006/main">
            <a:r>
              <a:t>GCN trong demo dùng graph đối xứng: nếu dữ liệu có cạnh từ A đến B, phép tổng hợp cho phép cả hai nút trao đổi thông tin. Nhóm thêm self-loop để nút giữ thông tin của chính mình, rồi chuẩn hóa theo bậc để nút có nhiều hàng xóm không làm tổng giá trị phình quá lớn. Đây là một lựa chọn đơn giản hóa. Nó làm mất hướng trong phần học, dù giao diện vẫn hiển thị mũi tên gốc. Nhóm ghi rõ hạn chế này.</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10/26 · 80 GIÂY · 10:20–11:40</a:t>
            </a:r>
          </a:p>
          <a:p xmlns:a="http://schemas.openxmlformats.org/drawingml/2006/main">
            <a:r>
              <a:t/>
            </a:r>
          </a:p>
          <a:p xmlns:a="http://schemas.openxmlformats.org/drawingml/2006/main">
            <a:r>
              <a:t>LỜI NÓI GỢI Ý</a:t>
            </a:r>
          </a:p>
          <a:p xmlns:a="http://schemas.openxmlformats.org/drawingml/2006/main">
            <a:r>
              <a:t>MLP nhận vector của một nút và biến đổi qua các lớp học. GCN giữ cấu trúc tương tự nhưng có thêm phép tổng hợp theo quan hệ của graph. Cả hai đều có nhánh skip đưa trực tiếp đặc trưng của nút tới đầu ra. Khi thay ma trận quan hệ bằng ma trận đồng nhất, kiến trúc GCN này trở thành đối chứng MLP. Vì vậy khác biệt chính mà nhóm kiểm tra là việc trộn thông tin hàng xóm.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https://arxiv.org/abs/1609.02907; train.py, lớp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11/26 · 85 GIÂY · 11:40–13:05</a:t>
            </a:r>
          </a:p>
          <a:p xmlns:a="http://schemas.openxmlformats.org/drawingml/2006/main">
            <a:r>
              <a:t/>
            </a:r>
          </a:p>
          <a:p xmlns:a="http://schemas.openxmlformats.org/drawingml/2006/main">
            <a:r>
              <a:t>LỜI NÓI GỢI Ý</a:t>
            </a:r>
          </a:p>
          <a:p xmlns:a="http://schemas.openxmlformats.org/drawingml/2006/main">
            <a:r>
              <a:t>Luồng xử lý gồm tổng hợp đặc trưng hàng xóm, lớp tuyến tính và ReLU, sau đó tổng hợp lần nữa và tính đầu ra. Nhánh skip bổ sung đặc trưng gốc của nút. Dropout chỉ hoạt động khi huấn luyện. Khi trình diễn, mô hình ở chế độ eval nên không bỏ ngẫu nhiên các giá trị. Sigmoid tạo một điểm từ 0 đến 1, nhưng do mô hình chưa được hiệu chỉnh xác suất, em gọi đây là điểm mô hình thay vì xác suất chắc chắn giao dịch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12/26 · 85 GIÂY · 13:05–14:30</a:t>
            </a:r>
          </a:p>
          <a:p xmlns:a="http://schemas.openxmlformats.org/drawingml/2006/main">
            <a:r>
              <a:t/>
            </a:r>
          </a:p>
          <a:p xmlns:a="http://schemas.openxmlformats.org/drawingml/2006/main">
            <a:r>
              <a:t>LỜI NÓI GỢI Ý</a:t>
            </a:r>
          </a:p>
          <a:p xmlns:a="http://schemas.openxmlformats.org/drawingml/2006/main">
            <a:r>
              <a:t>Nhóm tăng ngân sách tối đa lên 1500 epoch và patience 150. Checkpoint được chọn bằng AP validation. Cấu hình cuối có hidden 64, dropout 0.2, learning rate 0.003 và trọng số dương khoảng 2.33. Đặc trưng neural được chuẩn hóa bằng scaler học trên train. Nhóm còn dùng chuẩn hóa theo phân vị, học từ train, để chuyển từng đặc trưng sang thang đo gần phân bố chuẩn. MLP dùng cùng các thiết lập đó để đối chứng việc thêm phép truyền tin.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optimize_gcn.py; optimization/selection.json;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13/26 · 85 GIÂY · 14:30–15:55</a:t>
            </a:r>
          </a:p>
          <a:p xmlns:a="http://schemas.openxmlformats.org/drawingml/2006/main">
            <a:r>
              <a:t/>
            </a:r>
          </a:p>
          <a:p xmlns:a="http://schemas.openxmlformats.org/drawingml/2006/main">
            <a:r>
              <a:t>LỜI NÓI GỢI Ý</a:t>
            </a:r>
          </a:p>
          <a:p xmlns:a="http://schemas.openxmlformats.org/drawingml/2006/main">
            <a:r>
              <a:t>Giả sử có mười cảnh báo, trong đó tám cảnh báo đúng, thì Precision là tám phần mười. Nếu tập có hai mươi giao dịch illicit mà ta chỉ tìm được tám, Recall là tám phần hai mươi. F1 kết hợp hai chỉ số này. AP đánh giá khả năng xếp hạng mẫu illicit trên nhiều ngưỡng. Nhóm không dùng Accuracy làm kết luận chính vì một mô hình luôn đoán licit vẫn có thể trông tốt khi lớp licit chiếm đa số.</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14/26 · 75 GIÂY · 15:55–17:10</a:t>
            </a:r>
          </a:p>
          <a:p xmlns:a="http://schemas.openxmlformats.org/drawingml/2006/main">
            <a:r>
              <a:t/>
            </a:r>
          </a:p>
          <a:p xmlns:a="http://schemas.openxmlformats.org/drawingml/2006/main">
            <a:r>
              <a:t>LỜI NÓI GỢI Ý</a:t>
            </a:r>
          </a:p>
          <a:p xmlns:a="http://schemas.openxmlformats.org/drawingml/2006/main">
            <a:r>
              <a:t>Một điểm chỉ trở thành quyết định sau khi so với ngưỡng. Khi hạ ngưỡng, nhiều giao dịch được cảnh báo hơn: ta có thể tìm thêm illicit nhưng cũng tăng cảnh báo nhầm. Ngưỡng dùng trong báo cáo được chọn bằng F1 trên validation. Trong demo, thanh kéo cho phép quan sát đánh đổi trên test. Đây là hoạt động minh họa, không phải cách nhóm chọn lại ngưỡng để làm đẹp kết quả báo cáo.</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15/26 · 80 GIÂY · 17:10–18:30</a:t>
            </a:r>
          </a:p>
          <a:p xmlns:a="http://schemas.openxmlformats.org/drawingml/2006/main">
            <a:r>
              <a:t/>
            </a:r>
          </a:p>
          <a:p xmlns:a="http://schemas.openxmlformats.org/drawingml/2006/main">
            <a:r>
              <a:t>LỜI NÓI GỢI Ý</a:t>
            </a:r>
          </a:p>
          <a:p xmlns:a="http://schemas.openxmlformats.org/drawingml/2006/main">
            <a:r>
              <a:t>Bảng cuối gồm bốn mô hình, mỗi mô hình ba seed. RF local dùng 93 đặc trưng; RF all thêm 72 đặc trưng tổng hợp hàng xóm. MLP và GCN đều có 6174 tham số, dùng cùng đầu vào và thiết lập huấn luyện cuối. Nhóm chọn thiết lập neural bằng validation của GCN rồi áp dụng cho MLP để đối chứng. Đây chưa phải kết quả tối ưu riêng cho MLP. Tất cả dùng chung cách chia thời gian. SD qua ba seed không phải khoảng tin cậy.</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16/26 · 90 GIÂY · 18:30–20:00</a:t>
            </a:r>
          </a:p>
          <a:p xmlns:a="http://schemas.openxmlformats.org/drawingml/2006/main">
            <a:r>
              <a:t/>
            </a:r>
          </a:p>
          <a:p xmlns:a="http://schemas.openxmlformats.org/drawingml/2006/main">
            <a:r>
              <a:t>LỜI NÓI GỢI Ý</a:t>
            </a:r>
          </a:p>
          <a:p xmlns:a="http://schemas.openxmlformats.org/drawingml/2006/main">
            <a:r>
              <a:t>Bản đầu GCN chỉ đạt 36,5% F1. Sau các đối chứng và tối ưu trên validation, GCN đạt 61,3%. RF local đạt 77,0%, RF all đạt 79,3%, còn MLP với thiết lập neural tương ứng đạt 64,5%. GCN chưa có F1 trung bình cao hơn MLP trên lần chia này. Các số là trung bình ba seed.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17/26 · 85 GIÂY · 20:00–21:25</a:t>
            </a:r>
          </a:p>
          <a:p xmlns:a="http://schemas.openxmlformats.org/drawingml/2006/main">
            <a:r>
              <a:t/>
            </a:r>
          </a:p>
          <a:p xmlns:a="http://schemas.openxmlformats.org/drawingml/2006/main">
            <a:r>
              <a:t>LỜI NÓI GỢI Ý</a:t>
            </a:r>
          </a:p>
          <a:p xmlns:a="http://schemas.openxmlformats.org/drawingml/2006/main">
            <a:r>
              <a:t>GCN có Precision 52,1%, Recall 74,5% và AP 78,0%. RF all có Precision 88,7%, Recall 71,7% và AP 78,9%. Precision phản ánh tỷ lệ cảnh báo đúng, Recall phản ánh tỷ lệ illicit được tìm ra. AP kiểm tra khả năng xếp hạng qua nhiều ngưỡng. Vì thế nhóm đọc cả ba khía cạnh, không lấy một ví dụ đẹp để thay kết quả toàn tập. AP của hai mô hình khá gần, trong khi F1 chênh lệch lớn. Điều này cho thấy cần phân biệt chất lượng xếp hạng với hiệu quả tại ngưỡng đã chọn. Nhóm giữ nguyên ngưỡng từ validation, không chọn lại bằng test.</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18/26 · 80 GIÂY · 21:25–22:45</a:t>
            </a:r>
          </a:p>
          <a:p xmlns:a="http://schemas.openxmlformats.org/drawingml/2006/main">
            <a:r>
              <a:t/>
            </a:r>
          </a:p>
          <a:p xmlns:a="http://schemas.openxmlformats.org/drawingml/2006/main">
            <a:r>
              <a:t>LỜI NÓI GỢI Ý</a:t>
            </a:r>
          </a:p>
          <a:p xmlns:a="http://schemas.openxmlformats.org/drawingml/2006/main">
            <a:r>
              <a:t>Kết quả validation cao hơn test ở nhiều mô hình. Tỷ lệ illicit trong những nút có nhãn cũng đổi từ khoảng 16,8% xuống 6,5%. Đó là một khác biệt đo được giữa hai giai đoạn. Nó có thể góp phần làm Precision thay đổi, nhưng nhóm chưa có thí nghiệm để quy toàn bộ suy giảm cho một nguyên nhân. Đây là minh họa cho việc ngưỡng phù hợp ở giai đoạn trước không bảo đảm hoạt động giống hệt ở giai đoạn sau.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19/26 · 70 GIÂY · 22:45–23:55</a:t>
            </a:r>
          </a:p>
          <a:p xmlns:a="http://schemas.openxmlformats.org/drawingml/2006/main">
            <a:r>
              <a:t/>
            </a:r>
          </a:p>
          <a:p xmlns:a="http://schemas.openxmlformats.org/drawingml/2006/main">
            <a:r>
              <a:t>LỜI NÓI GỢI Ý</a:t>
            </a:r>
          </a:p>
          <a:p xmlns:a="http://schemas.openxmlformats.org/drawingml/2006/main">
            <a:r>
              <a:t>Nguyên nhân có bằng chứng rõ nhất là ngân sách học. Cả ba seed cũ chọn checkpoint epoch 179, sát giới hạn 180. Ở seed 0, giữ kiến trúc và tăng ngân sách cùng patience nâng AP validation từ 74,8% lên 86,1%. Nhóm còn thử giảm trọng số lớp, chặn giá trị lớn và chuẩn hóa theo phân vị. Sau năm cấu hình thăm dò, ứng viên tốt nhất được chạy đủ ba seed. Nhóm chọn bằng AP validation trung bình và dừng ứng viên còn lại khi cận trên toán học của nó cũng không thể vượt kết quả này. Cách đối xứng hóa graph và nhiễu hàng xóm vẫn là các giả thuyết cần thí nghiệm riêng, chưa được coi là nguyên nhân đã chứng minh.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optimization/report.json; optimization/audit.json; optimize_gcn.py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20/26 · 75 GIÂY · 23:55–25:10</a:t>
            </a:r>
          </a:p>
          <a:p xmlns:a="http://schemas.openxmlformats.org/drawingml/2006/main">
            <a:r>
              <a:t/>
            </a:r>
          </a:p>
          <a:p xmlns:a="http://schemas.openxmlformats.org/drawingml/2006/main">
            <a:r>
              <a:t>LỜI NÓI GỢI Ý</a:t>
            </a:r>
          </a:p>
          <a:p xmlns:a="http://schemas.openxmlformats.org/drawingml/2006/main">
            <a:r>
              <a:t>Giao dịch 69756172 ở lát cắt 35 có điểm GCN 0.9972, so với ngưỡng validation 0.7079. Nhãn tham chiếu là illicit. Đây là một trường hợp phát hiện đúng. Em so sánh thêm với các mô hình trên giao diện nhưng không suy rộng từ một giao dịch ra toàn bộ dataset. Các trường hợp được chọn sau đánh giá để minh họa. Hình mạng cung cấp ngữ cảnh, chưa phải giải thích nhân quả.</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21/26 · 70 GIÂY · 25:10–26:20</a:t>
            </a:r>
          </a:p>
          <a:p xmlns:a="http://schemas.openxmlformats.org/drawingml/2006/main">
            <a:r>
              <a:t/>
            </a:r>
          </a:p>
          <a:p xmlns:a="http://schemas.openxmlformats.org/drawingml/2006/main">
            <a:r>
              <a:t>LỜI NÓI GỢI Ý</a:t>
            </a:r>
          </a:p>
          <a:p xmlns:a="http://schemas.openxmlformats.org/drawingml/2006/main">
            <a:r>
              <a:t>Giao dịch 201433814 ở lát cắt 36 có điểm GCN 0.8350, so với ngưỡng validation 0.7079. Nhãn tham chiếu là licit. Đây là một cảnh báo nhầm. Điểm cao không bảo đảm dự đoán đúng. Khi đánh giá công cụ sàng lọc, số cảnh báo nhầm cũng quan trọng như số illicit tìm thấy. Các trường hợp được chọn sau đánh giá để minh họa. Hình mạng cung cấp ngữ cảnh, chưa phải giải thích nhân quả.</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22/26 · 420 GIÂY · 26:20–33:20</a:t>
            </a:r>
          </a:p>
          <a:p xmlns:a="http://schemas.openxmlformats.org/drawingml/2006/main">
            <a:r>
              <a:t/>
            </a:r>
          </a:p>
          <a:p xmlns:a="http://schemas.openxmlformats.org/drawingml/2006/main">
            <a:r>
              <a:t>LỜI NÓI GỢI Ý</a:t>
            </a:r>
          </a:p>
          <a:p xmlns:a="http://schemas.openxmlformats.org/drawingml/2006/main">
            <a:r>
              <a:t>Em chuyển sang giao diện demo. Trước hết em chọn Phát hiện đúng, giải thích mỗi nút là giao dịch và mỗi mũi tên là dòng Bitcoin. Em mở một rồi hai bước kết nối. Tiếp theo em đối chiếu nhãn, chuyển sang Cảnh báo nhầm và Bỏ sót. Sau đó em đổi ngưỡng để cả lớp quan sát số phát hiện đúng, cảnh báo nhầm và bỏ sót. Cuối cùng, em chọn Chưa có nhãn để nhấn mạnh rằng mô hình có thể cho điểm nhưng ta chưa thể xác nhận đúng hay sai.</a:t>
            </a:r>
          </a:p>
          <a:p xmlns:a="http://schemas.openxmlformats.org/drawingml/2006/main">
            <a:r>
              <a:t/>
            </a:r>
          </a:p>
          <a:p xmlns:a="http://schemas.openxmlformats.org/drawingml/2006/main">
            <a:r>
              <a:t>THAO TÁC</a:t>
            </a:r>
          </a:p>
          <a:p xmlns:a="http://schemas.openxmlformats.org/drawingml/2006/main">
            <a:r>
              <a:t>Thực hiện kịch bản 7 phút trong tài liệu. Dùng năm nút tình huống. Sau khi kéo ngưỡng, bấm Dùng ngưỡng chọn trên validation. Tránh dành thời gian đọc toàn bộ ID.</a:t>
            </a:r>
          </a:p>
          <a:p xmlns:a="http://schemas.openxmlformats.org/drawingml/2006/main">
            <a:r>
              <a:t/>
            </a:r>
          </a:p>
          <a:p xmlns:a="http://schemas.openxmlformats.org/drawingml/2006/main">
            <a:r>
              <a:t>NGUỒN</a:t>
            </a:r>
          </a:p>
          <a:p xmlns:a="http://schemas.openxmlformats.org/drawingml/2006/main">
            <a:r>
              <a:t>https://elliptic-transaction-lab.pinkwand512.chatgpt.site; site/dist/app.mjs; 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23/26 · 80 GIÂY · 33:20–34:40</a:t>
            </a:r>
          </a:p>
          <a:p xmlns:a="http://schemas.openxmlformats.org/drawingml/2006/main">
            <a:r>
              <a:t/>
            </a:r>
          </a:p>
          <a:p xmlns:a="http://schemas.openxmlformats.org/drawingml/2006/main">
            <a:r>
              <a:t>LỜI NÓI GỢI Ý</a:t>
            </a:r>
          </a:p>
          <a:p xmlns:a="http://schemas.openxmlformats.org/drawingml/2006/main">
            <a:r>
              <a:t>Nhóm huấn luyện bằng Python trước buổi học. Khi mở một lát cắt, trình duyệt tải đặc trưng đã chuẩn hóa, cạnh và trọng số để tính GCN, MLP. Random Forest sử dụng kết quả đã tính trước. Graph trên màn hình giới hạn số nút để dễ đọc, nhưng GCN luôn suy luận trên toàn bộ lát cắt. Nhóm đã kiểm tra tính nhất quán giữa JavaScript và PyTorch trên tất cả nút test. Bản local dùng đúng bộ tài nguyên nên vẫn trình diễn được khi mất mạng.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qa/inference-parity.json; site/dist/inference.mjs; export_demo.py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24/26 · 80 GIÂY · 34:40–36:00</a:t>
            </a:r>
          </a:p>
          <a:p xmlns:a="http://schemas.openxmlformats.org/drawingml/2006/main">
            <a:r>
              <a:t/>
            </a:r>
          </a:p>
          <a:p xmlns:a="http://schemas.openxmlformats.org/drawingml/2006/main">
            <a:r>
              <a:t>LỜI NÓI GỢI Ý</a:t>
            </a:r>
          </a:p>
          <a:p xmlns:a="http://schemas.openxmlformats.org/drawingml/2006/main">
            <a:r>
              <a:t>Có ba giới hạn cần nhớ khi trả lời. Thứ nhất, đây là phân loại snapshot lịch sử: graph có thể bao gồm giao dịch xuất hiện sau nút đang xét trong cùng lát cắt, nên chưa phải phát hiện ngay lúc giao dịch mới đến. Thứ hai, các đặc trưng ẩn danh và nhiều nút chưa có nhãn làm hạn chế diễn giải. Thứ ba, nhóm mới đánh giá một lần chia thời gian và một cấu hình GCN gọn. Hình mạng giúp quan sát quan hệ, chưa phải công cụ giải thích nhân quả của mô hình.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25/26 · 55 GIÂY · 36:00–36:55</a:t>
            </a:r>
          </a:p>
          <a:p xmlns:a="http://schemas.openxmlformats.org/drawingml/2006/main">
            <a:r>
              <a:t/>
            </a:r>
          </a:p>
          <a:p xmlns:a="http://schemas.openxmlformats.org/drawingml/2006/main">
            <a:r>
              <a:t>LỜI NÓI GỢI Ý</a:t>
            </a:r>
          </a:p>
          <a:p xmlns:a="http://schemas.openxmlformats.org/drawingml/2006/main">
            <a:r>
              <a:t>Ngày đầu, người demo tập giải thích bài toán, node, edge, feature và nhãn bằng lời của mình. Ngày hai, tập đọc bảng kết quả và giải thích Precision, Recall, ngưỡng. Ngày ba, thực hiện kịch bản bảy phút và luyện các tình huống thầy hỏi. Mục tiêu không phải học thuộc code. Mục tiêu là mở một giao dịch bất kỳ và nói được mô hình đang nhận gì, tính trên mạng nào, đưa ra gì và giới hạn của kết luận nằm ở đâu.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26/26 · 65 GIÂY · 36:55–38:00</a:t>
            </a:r>
          </a:p>
          <a:p xmlns:a="http://schemas.openxmlformats.org/drawingml/2006/main">
            <a:r>
              <a:t/>
            </a:r>
          </a:p>
          <a:p xmlns:a="http://schemas.openxmlformats.org/drawingml/2006/main">
            <a:r>
              <a:t>LỜI NÓI GỢI Ý</a:t>
            </a:r>
          </a:p>
          <a:p xmlns:a="http://schemas.openxmlformats.org/drawingml/2006/main">
            <a:r>
              <a:t>Nhóm tăng ngân sách học, cải thiện xử lý đặc trưng và chọn cấu hình bằng validation. GCN tăng từ 36,5% lên 61,3% F1. Đối chứng MLP cùng thiết lập đạt 64,5%. RF all có F1 cao nhất. RF all đã có 72 đặc trưng tổng hợp hàng xóm, còn GCN học cách kết hợp đặc trưng theo graph. Kết quả giúp nhóm lựa chọn mô hình dựa trên bằng chứng và hiểu giá trị của thông tin quan hệ. Tập test từng được xem ở bản đầu. Bản cải tiến chọn cấu hình, checkpoint và ngưỡng bằng validation, rồi đánh giá lại test cũ. Nhóm chưa có một tập mới hoàn toàn để xác nhận độc lập.</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9f8e0ad0f47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54940b107040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52e19556564f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fb52779b7343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f9edda1c554a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a0c87e2d934f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9EFD1-28D6-4E65-BCDF-846A6B9951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6DA4F6-0B34-4DB7-AFDC-BA988CC80E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23B25-A2DC-4199-B5B2-5B763DEB3B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801B1-7523-4283-BFA2-B6CBEA1DD2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A3C637-242E-45BF-90B4-69EA0977E5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6D85AC-B702-49D5-8923-8DBAFEAB4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96EA5F-C42D-4039-9690-3F31411F8D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1F3158-03C2-4FE4-82A1-DF1E0670BD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13DEE9-8EC4-4F68-8B87-01DB9165BD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996C25-AB25-4101-91C5-7836FED70F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452d9c43ca4749" /><Relationship Type="http://schemas.openxmlformats.org/officeDocument/2006/relationships/slideLayout" Target="/ppt/slideLayouts/slideLayout1.xml" Id="R92a38a7a0345423b" /><Relationship Type="http://schemas.openxmlformats.org/officeDocument/2006/relationships/slideLayout" Target="/ppt/slideLayouts/slideLayout2.xml" Id="R79c9a7af6ee24071" /><Relationship Type="http://schemas.openxmlformats.org/officeDocument/2006/relationships/slideLayout" Target="/ppt/slideLayouts/slideLayout3.xml" Id="R1a5859d4a03a41df" /><Relationship Type="http://schemas.openxmlformats.org/officeDocument/2006/relationships/slideLayout" Target="/ppt/slideLayouts/slideLayout4.xml" Id="Rdce5b00c728c4399" /><Relationship Type="http://schemas.openxmlformats.org/officeDocument/2006/relationships/slideLayout" Target="/ppt/slideLayouts/slideLayout5.xml" Id="R17cc24ce6dac44cb" /><Relationship Type="http://schemas.openxmlformats.org/officeDocument/2006/relationships/slideLayout" Target="/ppt/slideLayouts/slideLayout6.xml" Id="R50f5af0145a945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38a7a0345423b"/>
    <p:sldLayoutId xmlns:r="http://schemas.openxmlformats.org/officeDocument/2006/relationships" id="2147483650" r:id="R79c9a7af6ee24071"/>
    <p:sldLayoutId xmlns:r="http://schemas.openxmlformats.org/officeDocument/2006/relationships" id="2147483651" r:id="R1a5859d4a03a41df"/>
    <p:sldLayoutId xmlns:r="http://schemas.openxmlformats.org/officeDocument/2006/relationships" id="2147483652" r:id="Rdce5b00c728c4399"/>
    <p:sldLayoutId xmlns:r="http://schemas.openxmlformats.org/officeDocument/2006/relationships" id="2147483653" r:id="R17cc24ce6dac44cb"/>
    <p:sldLayoutId xmlns:r="http://schemas.openxmlformats.org/officeDocument/2006/relationships" id="2147483654" r:id="R50f5af0145a945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bf430fa70d454f" /><Relationship Type="http://schemas.openxmlformats.org/officeDocument/2006/relationships/notesSlide" Target="/ppt/notesSlides/notesSlide1.xml" Id="Rb478e1d4c9a841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6a773d971d429d" /><Relationship Type="http://schemas.openxmlformats.org/officeDocument/2006/relationships/notesSlide" Target="/ppt/notesSlides/notesSlide2.xml" Id="R508104e1adae4f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f1deca4b6147b1" /><Relationship Type="http://schemas.openxmlformats.org/officeDocument/2006/relationships/notesSlide" Target="/ppt/notesSlides/notesSlide3.xml" Id="R51c8794490ba40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4e937d78a64883" /><Relationship Type="http://schemas.openxmlformats.org/officeDocument/2006/relationships/notesSlide" Target="/ppt/notesSlides/notesSlide4.xml" Id="R996220b9170646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2abf38e0b24d9b" /><Relationship Type="http://schemas.openxmlformats.org/officeDocument/2006/relationships/notesSlide" Target="/ppt/notesSlides/notesSlide5.xml" Id="R8495423919904a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71e5e293a549b1" /><Relationship Type="http://schemas.openxmlformats.org/officeDocument/2006/relationships/chart" Target="/ppt/slides/charts/chart1.xml" Id="R002d975841db4279" /><Relationship Type="http://schemas.openxmlformats.org/officeDocument/2006/relationships/notesSlide" Target="/ppt/notesSlides/notesSlide6.xml" Id="R5c88f54218374a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b142c96b1d42bc" /><Relationship Type="http://schemas.openxmlformats.org/officeDocument/2006/relationships/notesSlide" Target="/ppt/notesSlides/notesSlide7.xml" Id="Rbdf4da17fbfc4e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2e0f9d41ae47ab" /><Relationship Type="http://schemas.openxmlformats.org/officeDocument/2006/relationships/notesSlide" Target="/ppt/notesSlides/notesSlide8.xml" Id="R5bb61785167842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40b06960424a62" /><Relationship Type="http://schemas.openxmlformats.org/officeDocument/2006/relationships/notesSlide" Target="/ppt/notesSlides/notesSlide9.xml" Id="R2455a7103f3f44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660cfd7c5b4dc2" /><Relationship Type="http://schemas.openxmlformats.org/officeDocument/2006/relationships/notesSlide" Target="/ppt/notesSlides/notesSlide10.xml" Id="R33c02ea28efa42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35b620f97143d4" /><Relationship Type="http://schemas.openxmlformats.org/officeDocument/2006/relationships/notesSlide" Target="/ppt/notesSlides/notesSlide11.xml" Id="R25dd3f8ab92440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e950b9158a496a" /><Relationship Type="http://schemas.openxmlformats.org/officeDocument/2006/relationships/notesSlide" Target="/ppt/notesSlides/notesSlide12.xml" Id="Recfaa250038148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11ae9a5e764318" /><Relationship Type="http://schemas.openxmlformats.org/officeDocument/2006/relationships/notesSlide" Target="/ppt/notesSlides/notesSlide13.xml" Id="Rd70b74cb195c4d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3d83080ecd48ef" /><Relationship Type="http://schemas.openxmlformats.org/officeDocument/2006/relationships/chart" Target="/ppt/slides/charts/chart2.xml" Id="R99c786e6ed644477" /><Relationship Type="http://schemas.openxmlformats.org/officeDocument/2006/relationships/notesSlide" Target="/ppt/notesSlides/notesSlide14.xml" Id="R690991225c7a43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aa49049a874238" /><Relationship Type="http://schemas.openxmlformats.org/officeDocument/2006/relationships/notesSlide" Target="/ppt/notesSlides/notesSlide15.xml" Id="Rf529841d81f648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449210a7464ce0" /><Relationship Type="http://schemas.openxmlformats.org/officeDocument/2006/relationships/chart" Target="/ppt/slides/charts/chart3.xml" Id="R462f330d0be44184" /><Relationship Type="http://schemas.openxmlformats.org/officeDocument/2006/relationships/notesSlide" Target="/ppt/notesSlides/notesSlide16.xml" Id="R1455707c72fe42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621f19f5c474812" /><Relationship Type="http://schemas.openxmlformats.org/officeDocument/2006/relationships/notesSlide" Target="/ppt/notesSlides/notesSlide17.xml" Id="R671529868e3946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f791fea70284598" /><Relationship Type="http://schemas.openxmlformats.org/officeDocument/2006/relationships/chart" Target="/ppt/slides/charts/chart4.xml" Id="Rd04fa04ff9234bc3" /><Relationship Type="http://schemas.openxmlformats.org/officeDocument/2006/relationships/notesSlide" Target="/ppt/notesSlides/notesSlide18.xml" Id="R534ff2dfb3bd42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acbd2ce3914cd5" /><Relationship Type="http://schemas.openxmlformats.org/officeDocument/2006/relationships/notesSlide" Target="/ppt/notesSlides/notesSlide19.xml" Id="R02a9dd898a964e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d38e104bcb74a6d" /><Relationship Type="http://schemas.openxmlformats.org/officeDocument/2006/relationships/notesSlide" Target="/ppt/notesSlides/notesSlide20.xml" Id="R42d8f93a525a4b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0e906c5c5854e78" /><Relationship Type="http://schemas.openxmlformats.org/officeDocument/2006/relationships/notesSlide" Target="/ppt/notesSlides/notesSlide21.xml" Id="Re20f36109e2041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7e705bdd3a94d8b" /><Relationship Type="http://schemas.openxmlformats.org/officeDocument/2006/relationships/image" Target="/ppt/media/image.png" Id="R44db5c0cd95c4b3c" /><Relationship Type="http://schemas.openxmlformats.org/officeDocument/2006/relationships/notesSlide" Target="/ppt/notesSlides/notesSlide22.xml" Id="R09d659056cf74c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098dd20728c4504" /><Relationship Type="http://schemas.openxmlformats.org/officeDocument/2006/relationships/notesSlide" Target="/ppt/notesSlides/notesSlide23.xml" Id="R46330360337743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ff8269a2ed14317" /><Relationship Type="http://schemas.openxmlformats.org/officeDocument/2006/relationships/notesSlide" Target="/ppt/notesSlides/notesSlide24.xml" Id="Rc3f82384b47f4a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763487ab2b94777" /><Relationship Type="http://schemas.openxmlformats.org/officeDocument/2006/relationships/notesSlide" Target="/ppt/notesSlides/notesSlide25.xml" Id="Rc273739c75f84dc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b6a5fe441bf401a" /><Relationship Type="http://schemas.openxmlformats.org/officeDocument/2006/relationships/notesSlide" Target="/ppt/notesSlides/notesSlide26.xml" Id="R531934f7e8bd4b33" /></Relationships>
</file>

<file path=ppt/slides/charts/chart1.xml><?xml version="1.0" encoding="utf-8"?>
<c:chartSpace xmlns:c="http://schemas.openxmlformats.org/drawingml/2006/chart">
  <c:lang val="en-US"/>
  <c:chart>
    <c:plotArea>
      <c:barChart>
        <c:barDir val="col"/>
        <c:grouping val="clustered"/>
        <c:varyColors val="0"/>
        <c:ser>
          <c:idx val="0"/>
          <c:order val="0"/>
          <c:tx>
            <c:v>Tỷ lệ nút</c:v>
          </c:tx>
          <c:spPr>
            <a:solidFill xmlns:a="http://schemas.openxmlformats.org/drawingml/2006/main">
              <a:srgbClr val="16796F"/>
            </a:solidFill>
          </c:spPr>
          <c:invertIfNegative val="0"/>
          <c:dPt>
            <c:idx val="0"/>
            <c:invertIfNegative val="0"/>
            <c:spPr>
              <a:solidFill xmlns:a="http://schemas.openxmlformats.org/drawingml/2006/main">
                <a:srgbClr val="C7533D"/>
              </a:solidFill>
            </c:spPr>
          </c:dPt>
          <c:dPt>
            <c:idx val="1"/>
            <c:invertIfNegative val="0"/>
            <c:spPr>
              <a:solidFill xmlns:a="http://schemas.openxmlformats.org/drawingml/2006/main">
                <a:srgbClr val="16796F"/>
              </a:solidFill>
            </c:spPr>
          </c:dPt>
          <c:dPt>
            <c:idx val="2"/>
            <c:invertIfNegative val="0"/>
            <c:spPr>
              <a:solidFill xmlns:a="http://schemas.openxmlformats.org/drawingml/2006/main">
                <a:srgbClr val="98A8A6"/>
              </a:solidFill>
            </c:spPr>
          </c:dPt>
          <c:cat>
            <c:strLit>
              <c:ptCount val="3"/>
              <c:pt idx="0">
                <c:v>Illicit</c:v>
              </c:pt>
              <c:pt idx="1">
                <c:v>Licit</c:v>
              </c:pt>
              <c:pt idx="2">
                <c:v>Unknown</c:v>
              </c:pt>
            </c:strLit>
          </c:cat>
          <c:val>
            <c:numLit>
              <c:formatCode>0%</c:formatCode>
              <c:ptCount val="3"/>
              <c:pt idx="0">
                <c:v>0.0223046685</c:v>
              </c:pt>
              <c:pt idx="1">
                <c:v>0.2062089916</c:v>
              </c:pt>
              <c:pt idx="2">
                <c:v>0.7714863399</c:v>
              </c:pt>
            </c:numLit>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Precision</c:v>
          </c:tx>
          <c:spPr>
            <a:ln xmlns:a="http://schemas.openxmlformats.org/drawingml/2006/main" w="28575">
              <a:solidFill>
                <a:srgbClr val="16796F"/>
              </a:solidFill>
            </a:ln>
          </c:spPr>
          <c:marker>
            <c:symbol val="none"/>
          </c:marker>
          <c:cat>
            <c:numLit>
              <c:formatCode>General</c:formatCode>
              <c:ptCount val="7"/>
              <c:pt idx="0">
                <c:v>0.1</c:v>
              </c:pt>
              <c:pt idx="1">
                <c:v>0.3</c:v>
              </c:pt>
              <c:pt idx="2">
                <c:v>0.5</c:v>
              </c:pt>
              <c:pt idx="3">
                <c:v>0.7</c:v>
              </c:pt>
              <c:pt idx="4">
                <c:v>0.85</c:v>
              </c:pt>
              <c:pt idx="5">
                <c:v>0.95</c:v>
              </c:pt>
              <c:pt idx="6">
                <c:v>0.99</c:v>
              </c:pt>
            </c:numLit>
          </c:cat>
          <c:val>
            <c:numLit>
              <c:formatCode>0%</c:formatCode>
              <c:ptCount val="7"/>
              <c:pt idx="0">
                <c:v>0.1804683038</c:v>
              </c:pt>
              <c:pt idx="1">
                <c:v>0.2820929477</c:v>
              </c:pt>
              <c:pt idx="2">
                <c:v>0.3889674682</c:v>
              </c:pt>
              <c:pt idx="3">
                <c:v>0.524025974</c:v>
              </c:pt>
              <c:pt idx="4">
                <c:v>0.6869037294</c:v>
              </c:pt>
              <c:pt idx="5">
                <c:v>0.8472686734</c:v>
              </c:pt>
              <c:pt idx="6">
                <c:v>0.9610027855</c:v>
              </c:pt>
            </c:numLit>
          </c:val>
          <c:smooth val="0"/>
        </c:ser>
        <c:ser>
          <c:idx val="1"/>
          <c:order val="1"/>
          <c:tx>
            <c:v>Recall</c:v>
          </c:tx>
          <c:spPr>
            <a:ln xmlns:a="http://schemas.openxmlformats.org/drawingml/2006/main" w="28575">
              <a:solidFill>
                <a:srgbClr val="C7533D"/>
              </a:solidFill>
            </a:ln>
          </c:spPr>
          <c:marker>
            <c:symbol val="none"/>
          </c:marker>
          <c:cat>
            <c:numLit>
              <c:formatCode>General</c:formatCode>
              <c:ptCount val="7"/>
              <c:pt idx="0">
                <c:v>0.1</c:v>
              </c:pt>
              <c:pt idx="1">
                <c:v>0.3</c:v>
              </c:pt>
              <c:pt idx="2">
                <c:v>0.5</c:v>
              </c:pt>
              <c:pt idx="3">
                <c:v>0.7</c:v>
              </c:pt>
              <c:pt idx="4">
                <c:v>0.85</c:v>
              </c:pt>
              <c:pt idx="5">
                <c:v>0.95</c:v>
              </c:pt>
              <c:pt idx="6">
                <c:v>0.99</c:v>
              </c:pt>
            </c:numLit>
          </c:cat>
          <c:val>
            <c:numLit>
              <c:formatCode>0%</c:formatCode>
              <c:ptCount val="7"/>
              <c:pt idx="0">
                <c:v>0.8753462604</c:v>
              </c:pt>
              <c:pt idx="1">
                <c:v>0.8014773777</c:v>
              </c:pt>
              <c:pt idx="2">
                <c:v>0.7617728532</c:v>
              </c:pt>
              <c:pt idx="3">
                <c:v>0.7451523546</c:v>
              </c:pt>
              <c:pt idx="4">
                <c:v>0.7313019391</c:v>
              </c:pt>
              <c:pt idx="5">
                <c:v>0.701754386</c:v>
              </c:pt>
              <c:pt idx="6">
                <c:v>0.6371191136</c:v>
              </c:pt>
            </c:numLit>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F1 illicit</c:v>
          </c:tx>
          <c:spPr>
            <a:solidFill xmlns:a="http://schemas.openxmlformats.org/drawingml/2006/main">
              <a:srgbClr val="16796F"/>
            </a:solidFill>
          </c:spPr>
          <c:invertIfNegative val="0"/>
          <c:dPt>
            <c:idx val="3"/>
            <c:invertIfNegative val="0"/>
            <c:spPr>
              <a:solidFill xmlns:a="http://schemas.openxmlformats.org/drawingml/2006/main">
                <a:srgbClr val="C7533D"/>
              </a:solidFill>
            </c:spPr>
          </c:dPt>
          <c:cat>
            <c:strLit>
              <c:ptCount val="4"/>
              <c:pt idx="0">
                <c:v>RF local</c:v>
              </c:pt>
              <c:pt idx="1">
                <c:v>RF all</c:v>
              </c:pt>
              <c:pt idx="2">
                <c:v>MLP</c:v>
              </c:pt>
              <c:pt idx="3">
                <c:v>GCN + skip</c:v>
              </c:pt>
            </c:strLit>
          </c:cat>
          <c:val>
            <c:numLit>
              <c:formatCode>0%</c:formatCode>
              <c:ptCount val="4"/>
              <c:pt idx="0">
                <c:v>0.7697077123</c:v>
              </c:pt>
              <c:pt idx="1">
                <c:v>0.792892386</c:v>
              </c:pt>
              <c:pt idx="2">
                <c:v>0.6451997269</c:v>
              </c:pt>
              <c:pt idx="3">
                <c:v>0.6132132971</c:v>
              </c:pt>
            </c:numLit>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Validation</c:v>
          </c:tx>
          <c:spPr>
            <a:solidFill xmlns:a="http://schemas.openxmlformats.org/drawingml/2006/main">
              <a:srgbClr val="8DB6A8"/>
            </a:solidFill>
          </c:spPr>
          <c:invertIfNegative val="0"/>
          <c:cat>
            <c:strLit>
              <c:ptCount val="3"/>
              <c:pt idx="0">
                <c:v>RF all</c:v>
              </c:pt>
              <c:pt idx="1">
                <c:v>MLP</c:v>
              </c:pt>
              <c:pt idx="2">
                <c:v>GCN + skip</c:v>
              </c:pt>
            </c:strLit>
          </c:cat>
          <c:val>
            <c:numLit>
              <c:formatCode>0%</c:formatCode>
              <c:ptCount val="3"/>
              <c:pt idx="0">
                <c:v>0.9710391823</c:v>
              </c:pt>
              <c:pt idx="1">
                <c:v>0.8975694444</c:v>
              </c:pt>
              <c:pt idx="2">
                <c:v>0.8987234043</c:v>
              </c:pt>
            </c:numLit>
          </c:val>
        </c:ser>
        <c:ser>
          <c:idx val="1"/>
          <c:order val="1"/>
          <c:tx>
            <c:v>Test</c:v>
          </c:tx>
          <c:spPr>
            <a:solidFill xmlns:a="http://schemas.openxmlformats.org/drawingml/2006/main">
              <a:srgbClr val="C7533D"/>
            </a:solidFill>
          </c:spPr>
          <c:invertIfNegative val="0"/>
          <c:cat>
            <c:strLit>
              <c:ptCount val="3"/>
              <c:pt idx="0">
                <c:v>RF all</c:v>
              </c:pt>
              <c:pt idx="1">
                <c:v>MLP</c:v>
              </c:pt>
              <c:pt idx="2">
                <c:v>GCN + skip</c:v>
              </c:pt>
            </c:strLit>
          </c:cat>
          <c:val>
            <c:numLit>
              <c:formatCode>0%</c:formatCode>
              <c:ptCount val="3"/>
              <c:pt idx="0">
                <c:v>0.7882472138</c:v>
              </c:pt>
              <c:pt idx="1">
                <c:v>0.6714165968</c:v>
              </c:pt>
              <c:pt idx="2">
                <c:v>0.6188099808</c:v>
              </c:pt>
            </c:numLit>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B2D"/>
        </a:solidFill>
      </p:bgPr>
    </p:bg>
    <p:spTree>
      <p:nvGrpSpPr>
        <p:cNvPr id="1" name=""/>
        <p:cNvGrpSpPr/>
        <p:nvPr/>
      </p:nvGrpSpPr>
      <p:grpSpPr>
        <a:xfrm xmlns:a="http://schemas.openxmlformats.org/drawingml/2006/main"/>
      </p:grpSpPr>
      <p:sp>
        <p:nvSpPr>
          <p:cNvPr id="7" name="PHÁT HIỆN&#10;GIAO DỊCH BITCOIN&#10;ĐÁNG NGỜ">
            <a:extLst xmlns:a="http://schemas.openxmlformats.org/drawingml/2006/main">
              <a:ext uri="{FF2B5EF4-FFF2-40B4-BE49-F238E27FC236}">
                <a16:creationId xmlns:a16="http://schemas.microsoft.com/office/drawing/2014/main" id="{DC832456-BD94-4164-9A06-4F9AD838B246}"/>
              </a:ext>
            </a:extLst>
          </p:cNvPr>
          <p:cNvSpPr>
            <a:spLocks xmlns:a="http://schemas.openxmlformats.org/drawingml/2006/main" noGrp="1"/>
          </p:cNvSpPr>
          <p:nvPr/>
        </p:nvSpPr>
        <p:spPr>
          <a:xfrm xmlns:a="http://schemas.openxmlformats.org/drawingml/2006/main">
            <a:off x="619125" y="1200150"/>
            <a:ext cx="885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PHÁT HIỆN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GIAO DỊCH BITCOIN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ĐÁNG NGỜ</a:t>
            </a:r>
          </a:p>
        </p:txBody>
      </p:sp>
      <p:sp>
        <p:nvSpPr>
          <p:cNvPr id="2" name="Deep Graph trên dữ liệu Elliptic">
            <a:extLst xmlns:a="http://schemas.openxmlformats.org/drawingml/2006/main">
              <a:ext uri="{FF2B5EF4-FFF2-40B4-BE49-F238E27FC236}">
                <a16:creationId xmlns:a16="http://schemas.microsoft.com/office/drawing/2014/main" id="{B59DD924-F098-4909-94FF-393A4B5F85C0}"/>
              </a:ext>
            </a:extLst>
          </p:cNvPr>
          <p:cNvSpPr>
            <a:spLocks xmlns:a="http://schemas.openxmlformats.org/drawingml/2006/main" noGrp="1"/>
          </p:cNvSpPr>
          <p:nvPr/>
        </p:nvSpPr>
        <p:spPr>
          <a:xfrm xmlns:a="http://schemas.openxmlformats.org/drawingml/2006/main">
            <a:off x="647700" y="41719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BD6CB"/>
                </a:solidFill>
                <a:latin typeface="Arial"/>
                <a:ea typeface="Arial"/>
                <a:cs typeface="Arial"/>
              </a:defRPr>
            </a:defPPr>
          </a:lstStyle>
          <a:p xmlns:a="http://schemas.openxmlformats.org/drawingml/2006/main">
            <a:pPr algn="l">
              <a:defRPr sz="2700" b="0">
                <a:solidFill>
                  <a:srgbClr val="BBD6CB"/>
                </a:solidFill>
                <a:latin typeface="Arial"/>
                <a:ea typeface="Arial"/>
                <a:cs typeface="Arial"/>
              </a:defRPr>
            </a:pPr>
            <a:r>
              <a:rPr sz="2700" b="0">
                <a:solidFill>
                  <a:srgbClr val="BBD6CB"/>
                </a:solidFill>
                <a:latin typeface="Arial"/>
                <a:ea typeface="Arial"/>
                <a:cs typeface="Arial"/>
              </a:rPr>
              <a:t>Deep Graph trên dữ liệu Elliptic</a:t>
            </a:r>
          </a:p>
        </p:txBody>
      </p:sp>
      <p:sp>
        <p:nvSpPr>
          <p:cNvPr id="3" name="Phát triển hệ thống thông minh&#10;Giảng viên: Trần Đình Quế">
            <a:extLst xmlns:a="http://schemas.openxmlformats.org/drawingml/2006/main">
              <a:ext uri="{FF2B5EF4-FFF2-40B4-BE49-F238E27FC236}">
                <a16:creationId xmlns:a16="http://schemas.microsoft.com/office/drawing/2014/main" id="{8E93CD39-EFE5-446E-846D-2E779FDC3881}"/>
              </a:ext>
            </a:extLst>
          </p:cNvPr>
          <p:cNvSpPr>
            <a:spLocks xmlns:a="http://schemas.openxmlformats.org/drawingml/2006/main" noGrp="1"/>
          </p:cNvSpPr>
          <p:nvPr/>
        </p:nvSpPr>
        <p:spPr>
          <a:xfrm xmlns:a="http://schemas.openxmlformats.org/drawingml/2006/main">
            <a:off x="666750" y="55435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BD6CB"/>
                </a:solidFill>
                <a:latin typeface="Arial"/>
                <a:ea typeface="Arial"/>
                <a:cs typeface="Arial"/>
              </a:defRPr>
            </a:defPPr>
          </a:lstStyle>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Phát triển hệ thống thông minh</a:t>
            </a:r>
          </a:p>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Giảng viên: Trần Đình Quế</a:t>
            </a:r>
          </a:p>
        </p:txBody>
      </p:sp>
      <p:sp>
        <p:nvSpPr>
          <p:cNvPr id="4" name="">
            <a:extLst xmlns:a="http://schemas.openxmlformats.org/drawingml/2006/main">
              <a:ext uri="{FF2B5EF4-FFF2-40B4-BE49-F238E27FC236}">
                <a16:creationId xmlns:a16="http://schemas.microsoft.com/office/drawing/2014/main" id="{3BE5AF38-0ADB-443C-BBC8-5E99F11A5946}"/>
              </a:ext>
            </a:extLst>
          </p:cNvPr>
          <p:cNvSpPr>
            <a:spLocks xmlns:a="http://schemas.openxmlformats.org/drawingml/2006/main" noGrp="1"/>
          </p:cNvSpPr>
          <p:nvPr/>
        </p:nvSpPr>
        <p:spPr>
          <a:xfrm xmlns:a="http://schemas.openxmlformats.org/drawingml/2006/main">
            <a:off x="10382250" y="1590675"/>
            <a:ext cx="781050" cy="78105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61D476-4EE2-4798-8FB5-9D32E43F4E26}"/>
              </a:ext>
            </a:extLst>
          </p:cNvPr>
          <p:cNvSpPr>
            <a:spLocks xmlns:a="http://schemas.openxmlformats.org/drawingml/2006/main" noGrp="1"/>
          </p:cNvSpPr>
          <p:nvPr/>
        </p:nvSpPr>
        <p:spPr>
          <a:xfrm xmlns:a="http://schemas.openxmlformats.org/drawingml/2006/main">
            <a:off x="10325100" y="2962275"/>
            <a:ext cx="285750" cy="28575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60D62B-97C6-49DE-A5CD-66AE9B16BBA3}"/>
              </a:ext>
            </a:extLst>
          </p:cNvPr>
          <p:cNvSpPr>
            <a:spLocks xmlns:a="http://schemas.openxmlformats.org/drawingml/2006/main" noGrp="1"/>
          </p:cNvSpPr>
          <p:nvPr/>
        </p:nvSpPr>
        <p:spPr>
          <a:xfrm xmlns:a="http://schemas.openxmlformats.org/drawingml/2006/main">
            <a:off x="10972800" y="3743325"/>
            <a:ext cx="457200" cy="457200"/>
          </a:xfrm>
          <a:prstGeom xmlns:a="http://schemas.openxmlformats.org/drawingml/2006/main" prst="ellipse">
            <a:avLst/>
          </a:prstGeom>
          <a:solidFill xmlns:a="http://schemas.openxmlformats.org/drawingml/2006/main">
            <a:srgbClr val="16796F"/>
          </a:solidFill>
          <a:ln xmlns:a="http://schemas.openxmlformats.org/drawingml/2006/main" w="0">
            <a:noFill/>
          </a:ln>
        </p:spPr>
      </p:sp>
    </p:spTree>
    <p:extLst>
      <p:ext uri="{BB962C8B-B14F-4D97-AF65-F5344CB8AC3E}">
        <p14:creationId xmlns:p14="http://schemas.microsoft.com/office/powerpoint/2010/main" val="1951300988"/>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4FB35A1-7E0D-435B-8CC1-5883C760A0CB}"/>
              </a:ext>
            </a:extLst>
          </p:cNvPr>
          <p:cNvCxnSpPr>
            <a:stCxn xmlns:a="http://schemas.openxmlformats.org/drawingml/2006/main" id="6" idx="5"/>
            <a:endCxn xmlns:a="http://schemas.openxmlformats.org/drawingml/2006/main" id="8" idx="1"/>
          </p:cNvCxnSpPr>
          <p:nvPr/>
        </p:nvCxnSpPr>
        <p:spPr>
          <a:xfrm xmlns:a="http://schemas.openxmlformats.org/drawingml/2006/main">
            <a:off x="4677419" y="3743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D7EFF289-D9E9-426D-BC6D-537434157420}"/>
              </a:ext>
            </a:extLst>
          </p:cNvPr>
          <p:cNvCxnSpPr>
            <a:stCxn xmlns:a="http://schemas.openxmlformats.org/drawingml/2006/main" id="6" idx="7"/>
            <a:endCxn xmlns:a="http://schemas.openxmlformats.org/drawingml/2006/main" id="7" idx="3"/>
          </p:cNvCxnSpPr>
          <p:nvPr/>
        </p:nvCxnSpPr>
        <p:spPr>
          <a:xfrm xmlns:a="http://schemas.openxmlformats.org/drawingml/2006/main" flipV="1">
            <a:off x="4677419" y="26962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D92EF951-143F-4E7C-AF7D-1208DFBD8F5B}"/>
              </a:ext>
            </a:extLst>
          </p:cNvPr>
          <p:cNvCxnSpPr>
            <a:stCxn xmlns:a="http://schemas.openxmlformats.org/drawingml/2006/main" id="5" idx="7"/>
            <a:endCxn xmlns:a="http://schemas.openxmlformats.org/drawingml/2006/main" id="6" idx="3"/>
          </p:cNvCxnSpPr>
          <p:nvPr/>
        </p:nvCxnSpPr>
        <p:spPr>
          <a:xfrm xmlns:a="http://schemas.openxmlformats.org/drawingml/2006/main" flipV="1">
            <a:off x="2739082" y="374396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8AAE5B66-FB85-4062-9B9A-EE4647896337}"/>
              </a:ext>
            </a:extLst>
          </p:cNvPr>
          <p:cNvCxnSpPr>
            <a:stCxn xmlns:a="http://schemas.openxmlformats.org/drawingml/2006/main" id="4" idx="5"/>
            <a:endCxn xmlns:a="http://schemas.openxmlformats.org/drawingml/2006/main" id="6" idx="1"/>
          </p:cNvCxnSpPr>
          <p:nvPr/>
        </p:nvCxnSpPr>
        <p:spPr>
          <a:xfrm xmlns:a="http://schemas.openxmlformats.org/drawingml/2006/main">
            <a:off x="2686694" y="259144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FDCC3823-7938-4ECC-8B06-43B9F93C185F}"/>
              </a:ext>
            </a:extLst>
          </p:cNvPr>
          <p:cNvCxnSpPr>
            <a:stCxn xmlns:a="http://schemas.openxmlformats.org/drawingml/2006/main" id="3" idx="5"/>
            <a:endCxn xmlns:a="http://schemas.openxmlformats.org/drawingml/2006/main" id="5" idx="1"/>
          </p:cNvCxnSpPr>
          <p:nvPr/>
        </p:nvCxnSpPr>
        <p:spPr>
          <a:xfrm xmlns:a="http://schemas.openxmlformats.org/drawingml/2006/main">
            <a:off x="1115069" y="374396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733C5530-D77B-4CF1-83A2-ED6DE263B5D1}"/>
              </a:ext>
            </a:extLst>
          </p:cNvPr>
          <p:cNvCxnSpPr>
            <a:stCxn xmlns:a="http://schemas.openxmlformats.org/drawingml/2006/main" id="3" idx="7"/>
            <a:endCxn xmlns:a="http://schemas.openxmlformats.org/drawingml/2006/main" id="4" idx="3"/>
          </p:cNvCxnSpPr>
          <p:nvPr/>
        </p:nvCxnSpPr>
        <p:spPr>
          <a:xfrm xmlns:a="http://schemas.openxmlformats.org/drawingml/2006/main" flipV="1">
            <a:off x="1115069" y="259144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4" name="slide-title">
            <a:extLst xmlns:a="http://schemas.openxmlformats.org/drawingml/2006/main">
              <a:ext uri="{FF2B5EF4-FFF2-40B4-BE49-F238E27FC236}">
                <a16:creationId xmlns:a16="http://schemas.microsoft.com/office/drawing/2014/main" id="{7D0CA07B-01AB-4D7B-A644-5CCE4C1D0F1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quyết định cần thêm ngữ cảnh</a:t>
            </a:r>
          </a:p>
        </p:txBody>
      </p:sp>
      <p:sp>
        <p:nvSpPr>
          <p:cNvPr id="2" name="02 / 26">
            <a:extLst xmlns:a="http://schemas.openxmlformats.org/drawingml/2006/main">
              <a:ext uri="{FF2B5EF4-FFF2-40B4-BE49-F238E27FC236}">
                <a16:creationId xmlns:a16="http://schemas.microsoft.com/office/drawing/2014/main" id="{5094AE03-3F21-4F4F-ADF0-A65441633E61}"/>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02 / 26</a:t>
            </a:r>
          </a:p>
        </p:txBody>
      </p:sp>
      <p:sp>
        <p:nvSpPr>
          <p:cNvPr id="3" name="">
            <a:extLst xmlns:a="http://schemas.openxmlformats.org/drawingml/2006/main">
              <a:ext uri="{FF2B5EF4-FFF2-40B4-BE49-F238E27FC236}">
                <a16:creationId xmlns:a16="http://schemas.microsoft.com/office/drawing/2014/main" id="{4594D83D-B9BE-46DE-B684-54404BE739EA}"/>
              </a:ext>
            </a:extLst>
          </p:cNvPr>
          <p:cNvSpPr>
            <a:spLocks xmlns:a="http://schemas.openxmlformats.org/drawingml/2006/main" noGrp="1"/>
          </p:cNvSpPr>
          <p:nvPr/>
        </p:nvSpPr>
        <p:spPr>
          <a:xfrm xmlns:a="http://schemas.openxmlformats.org/drawingml/2006/main">
            <a:off x="685800" y="3314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E31EAD-736C-4DFB-8DEC-0995EDB24D84}"/>
              </a:ext>
            </a:extLst>
          </p:cNvPr>
          <p:cNvSpPr>
            <a:spLocks xmlns:a="http://schemas.openxmlformats.org/drawingml/2006/main" noGrp="1"/>
          </p:cNvSpPr>
          <p:nvPr/>
        </p:nvSpPr>
        <p:spPr>
          <a:xfrm xmlns:a="http://schemas.openxmlformats.org/drawingml/2006/main">
            <a:off x="2257425" y="216217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63D08D-96E7-4015-AC76-3697676940ED}"/>
              </a:ext>
            </a:extLst>
          </p:cNvPr>
          <p:cNvSpPr>
            <a:spLocks xmlns:a="http://schemas.openxmlformats.org/drawingml/2006/main" noGrp="1"/>
          </p:cNvSpPr>
          <p:nvPr/>
        </p:nvSpPr>
        <p:spPr>
          <a:xfrm xmlns:a="http://schemas.openxmlformats.org/drawingml/2006/main">
            <a:off x="2309813" y="441483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05D562-B0F8-4FCA-B291-1C3F01CF8E78}"/>
              </a:ext>
            </a:extLst>
          </p:cNvPr>
          <p:cNvSpPr>
            <a:spLocks xmlns:a="http://schemas.openxmlformats.org/drawingml/2006/main" noGrp="1"/>
          </p:cNvSpPr>
          <p:nvPr/>
        </p:nvSpPr>
        <p:spPr>
          <a:xfrm xmlns:a="http://schemas.openxmlformats.org/drawingml/2006/main">
            <a:off x="4248150" y="331470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9F8051-5076-4BE9-9C8A-C3D7F22508CB}"/>
              </a:ext>
            </a:extLst>
          </p:cNvPr>
          <p:cNvSpPr>
            <a:spLocks xmlns:a="http://schemas.openxmlformats.org/drawingml/2006/main" noGrp="1"/>
          </p:cNvSpPr>
          <p:nvPr/>
        </p:nvSpPr>
        <p:spPr>
          <a:xfrm xmlns:a="http://schemas.openxmlformats.org/drawingml/2006/main">
            <a:off x="5767388" y="22669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6C2163-25A4-49DF-ABD4-E0CDA8B28420}"/>
              </a:ext>
            </a:extLst>
          </p:cNvPr>
          <p:cNvSpPr>
            <a:spLocks xmlns:a="http://schemas.openxmlformats.org/drawingml/2006/main" noGrp="1"/>
          </p:cNvSpPr>
          <p:nvPr/>
        </p:nvSpPr>
        <p:spPr>
          <a:xfrm xmlns:a="http://schemas.openxmlformats.org/drawingml/2006/main">
            <a:off x="5767388" y="4362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2A4A6F3D-8331-4051-985D-363113C26E38}"/>
              </a:ext>
            </a:extLst>
          </p:cNvPr>
          <p:cNvSpPr>
            <a:spLocks xmlns:a="http://schemas.openxmlformats.org/drawingml/2006/main" noGrp="1"/>
          </p:cNvSpPr>
          <p:nvPr/>
        </p:nvSpPr>
        <p:spPr>
          <a:xfrm xmlns:a="http://schemas.openxmlformats.org/drawingml/2006/main">
            <a:off x="68580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FA3B6C0F-46BD-4732-A129-A0C1023F9EE7}"/>
              </a:ext>
            </a:extLst>
          </p:cNvPr>
          <p:cNvSpPr>
            <a:spLocks xmlns:a="http://schemas.openxmlformats.org/drawingml/2006/main" noGrp="1"/>
          </p:cNvSpPr>
          <p:nvPr/>
        </p:nvSpPr>
        <p:spPr>
          <a:xfrm xmlns:a="http://schemas.openxmlformats.org/drawingml/2006/main">
            <a:off x="2257425" y="225647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1E71CD4C-E8F2-4047-88AC-C9AAB91ED503}"/>
              </a:ext>
            </a:extLst>
          </p:cNvPr>
          <p:cNvSpPr>
            <a:spLocks xmlns:a="http://schemas.openxmlformats.org/drawingml/2006/main" noGrp="1"/>
          </p:cNvSpPr>
          <p:nvPr/>
        </p:nvSpPr>
        <p:spPr>
          <a:xfrm xmlns:a="http://schemas.openxmlformats.org/drawingml/2006/main">
            <a:off x="2309813" y="450913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4F3FADAC-1FF3-45C1-BB6E-8A3CAE517D2C}"/>
              </a:ext>
            </a:extLst>
          </p:cNvPr>
          <p:cNvSpPr>
            <a:spLocks xmlns:a="http://schemas.openxmlformats.org/drawingml/2006/main" noGrp="1"/>
          </p:cNvSpPr>
          <p:nvPr/>
        </p:nvSpPr>
        <p:spPr>
          <a:xfrm xmlns:a="http://schemas.openxmlformats.org/drawingml/2006/main">
            <a:off x="424815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07E18FA6-FCCF-4B54-A548-80DDEEE0B22D}"/>
              </a:ext>
            </a:extLst>
          </p:cNvPr>
          <p:cNvSpPr>
            <a:spLocks xmlns:a="http://schemas.openxmlformats.org/drawingml/2006/main" noGrp="1"/>
          </p:cNvSpPr>
          <p:nvPr/>
        </p:nvSpPr>
        <p:spPr>
          <a:xfrm xmlns:a="http://schemas.openxmlformats.org/drawingml/2006/main">
            <a:off x="5767388" y="23612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80C2A652-DD50-433E-B37D-E676EF48AD6E}"/>
              </a:ext>
            </a:extLst>
          </p:cNvPr>
          <p:cNvSpPr>
            <a:spLocks xmlns:a="http://schemas.openxmlformats.org/drawingml/2006/main" noGrp="1"/>
          </p:cNvSpPr>
          <p:nvPr/>
        </p:nvSpPr>
        <p:spPr>
          <a:xfrm xmlns:a="http://schemas.openxmlformats.org/drawingml/2006/main">
            <a:off x="5767388" y="4456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Điểm mô hình">
            <a:extLst xmlns:a="http://schemas.openxmlformats.org/drawingml/2006/main">
              <a:ext uri="{FF2B5EF4-FFF2-40B4-BE49-F238E27FC236}">
                <a16:creationId xmlns:a16="http://schemas.microsoft.com/office/drawing/2014/main" id="{F66D44BA-D6E0-41CE-A3A9-3FC926F60057}"/>
              </a:ext>
            </a:extLst>
          </p:cNvPr>
          <p:cNvSpPr>
            <a:spLocks xmlns:a="http://schemas.openxmlformats.org/drawingml/2006/main" noGrp="1"/>
          </p:cNvSpPr>
          <p:nvPr/>
        </p:nvSpPr>
        <p:spPr>
          <a:xfrm xmlns:a="http://schemas.openxmlformats.org/drawingml/2006/main">
            <a:off x="7505700" y="2009775"/>
            <a:ext cx="4048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796F"/>
                </a:solidFill>
                <a:latin typeface="Arial"/>
                <a:ea typeface="Arial"/>
                <a:cs typeface="Arial"/>
              </a:defRPr>
            </a:defPPr>
          </a:lstStyle>
          <a:p xmlns:a="http://schemas.openxmlformats.org/drawingml/2006/main">
            <a:pPr algn="l">
              <a:defRPr sz="3450" b="1">
                <a:solidFill>
                  <a:srgbClr val="16796F"/>
                </a:solidFill>
                <a:latin typeface="Arial"/>
                <a:ea typeface="Arial"/>
                <a:cs typeface="Arial"/>
              </a:defRPr>
            </a:pPr>
            <a:r>
              <a:rPr sz="3450" b="1">
                <a:solidFill>
                  <a:srgbClr val="16796F"/>
                </a:solidFill>
                <a:latin typeface="Arial"/>
                <a:ea typeface="Arial"/>
                <a:cs typeface="Arial"/>
              </a:rPr>
              <a:t>Điểm mô hình</a:t>
            </a:r>
          </a:p>
        </p:txBody>
      </p:sp>
      <p:sp>
        <p:nvSpPr>
          <p:cNvPr id="22" name="Một tín hiệu&#10;để kiểm tra tiếp">
            <a:extLst xmlns:a="http://schemas.openxmlformats.org/drawingml/2006/main">
              <a:ext uri="{FF2B5EF4-FFF2-40B4-BE49-F238E27FC236}">
                <a16:creationId xmlns:a16="http://schemas.microsoft.com/office/drawing/2014/main" id="{9EA9C888-E48C-414C-987C-EFB5CDD10C45}"/>
              </a:ext>
            </a:extLst>
          </p:cNvPr>
          <p:cNvSpPr>
            <a:spLocks xmlns:a="http://schemas.openxmlformats.org/drawingml/2006/main" noGrp="1"/>
          </p:cNvSpPr>
          <p:nvPr/>
        </p:nvSpPr>
        <p:spPr>
          <a:xfrm xmlns:a="http://schemas.openxmlformats.org/drawingml/2006/main">
            <a:off x="7505700" y="3324225"/>
            <a:ext cx="40195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2D"/>
                </a:solidFill>
                <a:latin typeface="Arial"/>
                <a:ea typeface="Arial"/>
                <a:cs typeface="Arial"/>
              </a:defRPr>
            </a:defPPr>
          </a:lstStyle>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Một tín hiệu</a:t>
            </a:r>
          </a:p>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để kiểm tra tiếp</a:t>
            </a:r>
          </a:p>
        </p:txBody>
      </p:sp>
      <p:sp>
        <p:nvSpPr>
          <p:cNvPr id="23" name="Sơ đồ minh họa. Mỗi nút là một giao dịch.">
            <a:extLst xmlns:a="http://schemas.openxmlformats.org/drawingml/2006/main">
              <a:ext uri="{FF2B5EF4-FFF2-40B4-BE49-F238E27FC236}">
                <a16:creationId xmlns:a16="http://schemas.microsoft.com/office/drawing/2014/main" id="{9B269DEF-BB60-4432-BDC8-82B786FE766E}"/>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Sơ đồ minh họa. Mỗi nút là một giao dịch.</a:t>
            </a:r>
          </a:p>
        </p:txBody>
      </p:sp>
    </p:spTree>
    <p:extLst>
      <p:ext uri="{BB962C8B-B14F-4D97-AF65-F5344CB8AC3E}">
        <p14:creationId xmlns:p14="http://schemas.microsoft.com/office/powerpoint/2010/main" val="759963213"/>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CDB5963-5553-4C10-99E0-AFC21B93A40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Câu hỏi thực nghiệm</a:t>
            </a:r>
          </a:p>
        </p:txBody>
      </p:sp>
      <p:sp>
        <p:nvSpPr>
          <p:cNvPr id="2" name="03 / 26">
            <a:extLst xmlns:a="http://schemas.openxmlformats.org/drawingml/2006/main">
              <a:ext uri="{FF2B5EF4-FFF2-40B4-BE49-F238E27FC236}">
                <a16:creationId xmlns:a16="http://schemas.microsoft.com/office/drawing/2014/main" id="{A015C697-8ED2-4024-8192-14423AF0327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03 / 26</a:t>
            </a:r>
          </a:p>
        </p:txBody>
      </p:sp>
      <p:sp>
        <p:nvSpPr>
          <p:cNvPr id="3" name="Thông tin hàng xóm có giúp phân loại giao dịch?">
            <a:extLst xmlns:a="http://schemas.openxmlformats.org/drawingml/2006/main">
              <a:ext uri="{FF2B5EF4-FFF2-40B4-BE49-F238E27FC236}">
                <a16:creationId xmlns:a16="http://schemas.microsoft.com/office/drawing/2014/main" id="{C0C0EF82-75D3-4360-927D-371220C14DD5}"/>
              </a:ext>
            </a:extLst>
          </p:cNvPr>
          <p:cNvSpPr>
            <a:spLocks xmlns:a="http://schemas.openxmlformats.org/drawingml/2006/main" noGrp="1"/>
          </p:cNvSpPr>
          <p:nvPr/>
        </p:nvSpPr>
        <p:spPr>
          <a:xfrm xmlns:a="http://schemas.openxmlformats.org/drawingml/2006/main">
            <a:off x="609600" y="17621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82B2D"/>
                </a:solidFill>
                <a:latin typeface="Arial"/>
                <a:ea typeface="Arial"/>
                <a:cs typeface="Arial"/>
              </a:defRPr>
            </a:defPPr>
          </a:lstStyle>
          <a:p xmlns:a="http://schemas.openxmlformats.org/drawingml/2006/main">
            <a:pPr algn="l">
              <a:defRPr sz="4200" b="1">
                <a:solidFill>
                  <a:srgbClr val="182B2D"/>
                </a:solidFill>
                <a:latin typeface="Arial"/>
                <a:ea typeface="Arial"/>
                <a:cs typeface="Arial"/>
              </a:defRPr>
            </a:pPr>
            <a:r>
              <a:rPr sz="4200" b="1">
                <a:solidFill>
                  <a:srgbClr val="182B2D"/>
                </a:solidFill>
                <a:latin typeface="Arial"/>
                <a:ea typeface="Arial"/>
                <a:cs typeface="Arial"/>
              </a:rPr>
              <a:t>Thông tin hàng xóm có giúp phân loại giao dịch?</a:t>
            </a:r>
          </a:p>
        </p:txBody>
      </p:sp>
      <p:sp>
        <p:nvSpPr>
          <p:cNvPr id="4" name="MLP và GCN dùng cùng đặc trưng">
            <a:extLst xmlns:a="http://schemas.openxmlformats.org/drawingml/2006/main">
              <a:ext uri="{FF2B5EF4-FFF2-40B4-BE49-F238E27FC236}">
                <a16:creationId xmlns:a16="http://schemas.microsoft.com/office/drawing/2014/main" id="{387952C9-C4D1-43DF-9998-300BFADA9574}"/>
              </a:ext>
            </a:extLst>
          </p:cNvPr>
          <p:cNvSpPr>
            <a:spLocks xmlns:a="http://schemas.openxmlformats.org/drawingml/2006/main" noGrp="1"/>
          </p:cNvSpPr>
          <p:nvPr/>
        </p:nvSpPr>
        <p:spPr>
          <a:xfrm xmlns:a="http://schemas.openxmlformats.org/drawingml/2006/main">
            <a:off x="628650" y="39624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796F"/>
                </a:solidFill>
                <a:latin typeface="Arial"/>
                <a:ea typeface="Arial"/>
                <a:cs typeface="Arial"/>
              </a:defRPr>
            </a:defPPr>
          </a:lstStyle>
          <a:p xmlns:a="http://schemas.openxmlformats.org/drawingml/2006/main">
            <a:pPr algn="l">
              <a:defRPr sz="2400" b="0">
                <a:solidFill>
                  <a:srgbClr val="16796F"/>
                </a:solidFill>
                <a:latin typeface="Arial"/>
                <a:ea typeface="Arial"/>
                <a:cs typeface="Arial"/>
              </a:defRPr>
            </a:pPr>
            <a:r>
              <a:rPr sz="2400" b="0">
                <a:solidFill>
                  <a:srgbClr val="16796F"/>
                </a:solidFill>
                <a:latin typeface="Arial"/>
                <a:ea typeface="Arial"/>
                <a:cs typeface="Arial"/>
              </a:rPr>
              <a:t>MLP và GCN dùng cùng đặc trưng</a:t>
            </a:r>
          </a:p>
        </p:txBody>
      </p:sp>
      <p:sp>
        <p:nvSpPr>
          <p:cNvPr id="5" name="Random Forest là đối chứng bổ sung">
            <a:extLst xmlns:a="http://schemas.openxmlformats.org/drawingml/2006/main">
              <a:ext uri="{FF2B5EF4-FFF2-40B4-BE49-F238E27FC236}">
                <a16:creationId xmlns:a16="http://schemas.microsoft.com/office/drawing/2014/main" id="{7C5FE1A8-BDC8-433D-BB16-4F0F6323554F}"/>
              </a:ext>
            </a:extLst>
          </p:cNvPr>
          <p:cNvSpPr>
            <a:spLocks xmlns:a="http://schemas.openxmlformats.org/drawingml/2006/main" noGrp="1"/>
          </p:cNvSpPr>
          <p:nvPr/>
        </p:nvSpPr>
        <p:spPr>
          <a:xfrm xmlns:a="http://schemas.openxmlformats.org/drawingml/2006/main">
            <a:off x="628650" y="47910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Random Forest là đối chứng bổ sung</a:t>
            </a:r>
          </a:p>
        </p:txBody>
      </p:sp>
    </p:spTree>
    <p:extLst>
      <p:ext uri="{BB962C8B-B14F-4D97-AF65-F5344CB8AC3E}">
        <p14:creationId xmlns:p14="http://schemas.microsoft.com/office/powerpoint/2010/main" val="1368053264"/>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B1A0B65-79D2-4B40-8A8E-8C08108C952F}"/>
              </a:ext>
            </a:extLst>
          </p:cNvPr>
          <p:cNvCxnSpPr>
            <a:stCxn xmlns:a="http://schemas.openxmlformats.org/drawingml/2006/main" id="6" idx="5"/>
            <a:endCxn xmlns:a="http://schemas.openxmlformats.org/drawingml/2006/main" id="8" idx="1"/>
          </p:cNvCxnSpPr>
          <p:nvPr/>
        </p:nvCxnSpPr>
        <p:spPr>
          <a:xfrm xmlns:a="http://schemas.openxmlformats.org/drawingml/2006/main">
            <a:off x="4696469" y="36487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7EA86F59-8410-483A-957D-6684F5EF9ECB}"/>
              </a:ext>
            </a:extLst>
          </p:cNvPr>
          <p:cNvCxnSpPr>
            <a:stCxn xmlns:a="http://schemas.openxmlformats.org/drawingml/2006/main" id="6" idx="7"/>
            <a:endCxn xmlns:a="http://schemas.openxmlformats.org/drawingml/2006/main" id="7" idx="3"/>
          </p:cNvCxnSpPr>
          <p:nvPr/>
        </p:nvCxnSpPr>
        <p:spPr>
          <a:xfrm xmlns:a="http://schemas.openxmlformats.org/drawingml/2006/main" flipV="1">
            <a:off x="4696469" y="2600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65EEFE14-7868-4971-BC3B-25A013F6CA3B}"/>
              </a:ext>
            </a:extLst>
          </p:cNvPr>
          <p:cNvCxnSpPr>
            <a:stCxn xmlns:a="http://schemas.openxmlformats.org/drawingml/2006/main" id="5" idx="7"/>
            <a:endCxn xmlns:a="http://schemas.openxmlformats.org/drawingml/2006/main" id="6" idx="3"/>
          </p:cNvCxnSpPr>
          <p:nvPr/>
        </p:nvCxnSpPr>
        <p:spPr>
          <a:xfrm xmlns:a="http://schemas.openxmlformats.org/drawingml/2006/main" flipV="1">
            <a:off x="2758132" y="364871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D92A45D6-E68A-4E7D-BF61-15BE129DE56D}"/>
              </a:ext>
            </a:extLst>
          </p:cNvPr>
          <p:cNvCxnSpPr>
            <a:stCxn xmlns:a="http://schemas.openxmlformats.org/drawingml/2006/main" id="4" idx="5"/>
            <a:endCxn xmlns:a="http://schemas.openxmlformats.org/drawingml/2006/main" id="6" idx="1"/>
          </p:cNvCxnSpPr>
          <p:nvPr/>
        </p:nvCxnSpPr>
        <p:spPr>
          <a:xfrm xmlns:a="http://schemas.openxmlformats.org/drawingml/2006/main">
            <a:off x="2705744" y="249619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9B2AD49D-4E19-49DC-B226-7576B6B67012}"/>
              </a:ext>
            </a:extLst>
          </p:cNvPr>
          <p:cNvCxnSpPr>
            <a:stCxn xmlns:a="http://schemas.openxmlformats.org/drawingml/2006/main" id="3" idx="5"/>
            <a:endCxn xmlns:a="http://schemas.openxmlformats.org/drawingml/2006/main" id="5" idx="1"/>
          </p:cNvCxnSpPr>
          <p:nvPr/>
        </p:nvCxnSpPr>
        <p:spPr>
          <a:xfrm xmlns:a="http://schemas.openxmlformats.org/drawingml/2006/main">
            <a:off x="1134119" y="364871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4A9663BA-D666-4981-BCB1-241AE82B8FB7}"/>
              </a:ext>
            </a:extLst>
          </p:cNvPr>
          <p:cNvCxnSpPr>
            <a:stCxn xmlns:a="http://schemas.openxmlformats.org/drawingml/2006/main" id="3" idx="7"/>
            <a:endCxn xmlns:a="http://schemas.openxmlformats.org/drawingml/2006/main" id="4" idx="3"/>
          </p:cNvCxnSpPr>
          <p:nvPr/>
        </p:nvCxnSpPr>
        <p:spPr>
          <a:xfrm xmlns:a="http://schemas.openxmlformats.org/drawingml/2006/main" flipV="1">
            <a:off x="1134119" y="249619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6" name="slide-title">
            <a:extLst xmlns:a="http://schemas.openxmlformats.org/drawingml/2006/main">
              <a:ext uri="{FF2B5EF4-FFF2-40B4-BE49-F238E27FC236}">
                <a16:creationId xmlns:a16="http://schemas.microsoft.com/office/drawing/2014/main" id="{91A53146-85D8-4C98-90B6-5F6DE321A64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Nút và cạnh trong Elliptic</a:t>
            </a:r>
          </a:p>
        </p:txBody>
      </p:sp>
      <p:sp>
        <p:nvSpPr>
          <p:cNvPr id="2" name="04 / 26">
            <a:extLst xmlns:a="http://schemas.openxmlformats.org/drawingml/2006/main">
              <a:ext uri="{FF2B5EF4-FFF2-40B4-BE49-F238E27FC236}">
                <a16:creationId xmlns:a16="http://schemas.microsoft.com/office/drawing/2014/main" id="{54436968-29DF-4717-BC4B-F5DFDF7EC7DD}"/>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04 / 26</a:t>
            </a:r>
          </a:p>
        </p:txBody>
      </p:sp>
      <p:sp>
        <p:nvSpPr>
          <p:cNvPr id="3" name="">
            <a:extLst xmlns:a="http://schemas.openxmlformats.org/drawingml/2006/main">
              <a:ext uri="{FF2B5EF4-FFF2-40B4-BE49-F238E27FC236}">
                <a16:creationId xmlns:a16="http://schemas.microsoft.com/office/drawing/2014/main" id="{C91B5F82-330D-40B7-B397-7DE06C609567}"/>
              </a:ext>
            </a:extLst>
          </p:cNvPr>
          <p:cNvSpPr>
            <a:spLocks xmlns:a="http://schemas.openxmlformats.org/drawingml/2006/main" noGrp="1"/>
          </p:cNvSpPr>
          <p:nvPr/>
        </p:nvSpPr>
        <p:spPr>
          <a:xfrm xmlns:a="http://schemas.openxmlformats.org/drawingml/2006/main">
            <a:off x="704850" y="3219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E168D3-0D65-4F78-A53B-728670749372}"/>
              </a:ext>
            </a:extLst>
          </p:cNvPr>
          <p:cNvSpPr>
            <a:spLocks xmlns:a="http://schemas.openxmlformats.org/drawingml/2006/main" noGrp="1"/>
          </p:cNvSpPr>
          <p:nvPr/>
        </p:nvSpPr>
        <p:spPr>
          <a:xfrm xmlns:a="http://schemas.openxmlformats.org/drawingml/2006/main">
            <a:off x="2276475" y="206692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00C203-D223-4FEE-9556-61D80E5660D7}"/>
              </a:ext>
            </a:extLst>
          </p:cNvPr>
          <p:cNvSpPr>
            <a:spLocks xmlns:a="http://schemas.openxmlformats.org/drawingml/2006/main" noGrp="1"/>
          </p:cNvSpPr>
          <p:nvPr/>
        </p:nvSpPr>
        <p:spPr>
          <a:xfrm xmlns:a="http://schemas.openxmlformats.org/drawingml/2006/main">
            <a:off x="2328863" y="431958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905E66-9E34-48FC-818C-3AECF40060EE}"/>
              </a:ext>
            </a:extLst>
          </p:cNvPr>
          <p:cNvSpPr>
            <a:spLocks xmlns:a="http://schemas.openxmlformats.org/drawingml/2006/main" noGrp="1"/>
          </p:cNvSpPr>
          <p:nvPr/>
        </p:nvSpPr>
        <p:spPr>
          <a:xfrm xmlns:a="http://schemas.openxmlformats.org/drawingml/2006/main">
            <a:off x="4267200" y="321945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32E12A-977C-4803-AB26-2115713A65F9}"/>
              </a:ext>
            </a:extLst>
          </p:cNvPr>
          <p:cNvSpPr>
            <a:spLocks xmlns:a="http://schemas.openxmlformats.org/drawingml/2006/main" noGrp="1"/>
          </p:cNvSpPr>
          <p:nvPr/>
        </p:nvSpPr>
        <p:spPr>
          <a:xfrm xmlns:a="http://schemas.openxmlformats.org/drawingml/2006/main">
            <a:off x="5786438" y="2171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4E8C7C-0424-4F2D-996C-A065E287128D}"/>
              </a:ext>
            </a:extLst>
          </p:cNvPr>
          <p:cNvSpPr>
            <a:spLocks xmlns:a="http://schemas.openxmlformats.org/drawingml/2006/main" noGrp="1"/>
          </p:cNvSpPr>
          <p:nvPr/>
        </p:nvSpPr>
        <p:spPr>
          <a:xfrm xmlns:a="http://schemas.openxmlformats.org/drawingml/2006/main">
            <a:off x="5786438" y="42672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47B75711-72D2-44D0-85A4-166777B71DF9}"/>
              </a:ext>
            </a:extLst>
          </p:cNvPr>
          <p:cNvSpPr>
            <a:spLocks xmlns:a="http://schemas.openxmlformats.org/drawingml/2006/main" noGrp="1"/>
          </p:cNvSpPr>
          <p:nvPr/>
        </p:nvSpPr>
        <p:spPr>
          <a:xfrm xmlns:a="http://schemas.openxmlformats.org/drawingml/2006/main">
            <a:off x="70485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F6FB5B4A-5853-49AB-B282-B058DF112724}"/>
              </a:ext>
            </a:extLst>
          </p:cNvPr>
          <p:cNvSpPr>
            <a:spLocks xmlns:a="http://schemas.openxmlformats.org/drawingml/2006/main" noGrp="1"/>
          </p:cNvSpPr>
          <p:nvPr/>
        </p:nvSpPr>
        <p:spPr>
          <a:xfrm xmlns:a="http://schemas.openxmlformats.org/drawingml/2006/main">
            <a:off x="2276475" y="216122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9710A3B1-B223-4976-B03C-5F35852CEF64}"/>
              </a:ext>
            </a:extLst>
          </p:cNvPr>
          <p:cNvSpPr>
            <a:spLocks xmlns:a="http://schemas.openxmlformats.org/drawingml/2006/main" noGrp="1"/>
          </p:cNvSpPr>
          <p:nvPr/>
        </p:nvSpPr>
        <p:spPr>
          <a:xfrm xmlns:a="http://schemas.openxmlformats.org/drawingml/2006/main">
            <a:off x="2328863" y="441388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E3019E45-4625-4045-97DB-DC8CFBED6C27}"/>
              </a:ext>
            </a:extLst>
          </p:cNvPr>
          <p:cNvSpPr>
            <a:spLocks xmlns:a="http://schemas.openxmlformats.org/drawingml/2006/main" noGrp="1"/>
          </p:cNvSpPr>
          <p:nvPr/>
        </p:nvSpPr>
        <p:spPr>
          <a:xfrm xmlns:a="http://schemas.openxmlformats.org/drawingml/2006/main">
            <a:off x="426720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744BEF3F-0CE0-4AA9-A0A7-5559F7F9C558}"/>
              </a:ext>
            </a:extLst>
          </p:cNvPr>
          <p:cNvSpPr>
            <a:spLocks xmlns:a="http://schemas.openxmlformats.org/drawingml/2006/main" noGrp="1"/>
          </p:cNvSpPr>
          <p:nvPr/>
        </p:nvSpPr>
        <p:spPr>
          <a:xfrm xmlns:a="http://schemas.openxmlformats.org/drawingml/2006/main">
            <a:off x="5786438" y="2265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0EDE001D-ABA9-4AA7-9AD5-D64817D73B40}"/>
              </a:ext>
            </a:extLst>
          </p:cNvPr>
          <p:cNvSpPr>
            <a:spLocks xmlns:a="http://schemas.openxmlformats.org/drawingml/2006/main" noGrp="1"/>
          </p:cNvSpPr>
          <p:nvPr/>
        </p:nvSpPr>
        <p:spPr>
          <a:xfrm xmlns:a="http://schemas.openxmlformats.org/drawingml/2006/main">
            <a:off x="5786438" y="43614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Nút">
            <a:extLst xmlns:a="http://schemas.openxmlformats.org/drawingml/2006/main">
              <a:ext uri="{FF2B5EF4-FFF2-40B4-BE49-F238E27FC236}">
                <a16:creationId xmlns:a16="http://schemas.microsoft.com/office/drawing/2014/main" id="{C3C3FF5C-D9D3-4F85-877A-7DB0F8FFC69D}"/>
              </a:ext>
            </a:extLst>
          </p:cNvPr>
          <p:cNvSpPr>
            <a:spLocks xmlns:a="http://schemas.openxmlformats.org/drawingml/2006/main" noGrp="1"/>
          </p:cNvSpPr>
          <p:nvPr/>
        </p:nvSpPr>
        <p:spPr>
          <a:xfrm xmlns:a="http://schemas.openxmlformats.org/drawingml/2006/main">
            <a:off x="7696200" y="18097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Nút</a:t>
            </a:r>
          </a:p>
        </p:txBody>
      </p:sp>
      <p:sp>
        <p:nvSpPr>
          <p:cNvPr id="22" name="Một giao dịch">
            <a:extLst xmlns:a="http://schemas.openxmlformats.org/drawingml/2006/main">
              <a:ext uri="{FF2B5EF4-FFF2-40B4-BE49-F238E27FC236}">
                <a16:creationId xmlns:a16="http://schemas.microsoft.com/office/drawing/2014/main" id="{4692F428-A014-4C06-829D-F20F58E59820}"/>
              </a:ext>
            </a:extLst>
          </p:cNvPr>
          <p:cNvSpPr>
            <a:spLocks xmlns:a="http://schemas.openxmlformats.org/drawingml/2006/main" noGrp="1"/>
          </p:cNvSpPr>
          <p:nvPr/>
        </p:nvSpPr>
        <p:spPr>
          <a:xfrm xmlns:a="http://schemas.openxmlformats.org/drawingml/2006/main">
            <a:off x="7696200" y="2409825"/>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Một giao dịch</a:t>
            </a:r>
          </a:p>
        </p:txBody>
      </p:sp>
      <p:sp>
        <p:nvSpPr>
          <p:cNvPr id="23" name="Cạnh có hướng">
            <a:extLst xmlns:a="http://schemas.openxmlformats.org/drawingml/2006/main">
              <a:ext uri="{FF2B5EF4-FFF2-40B4-BE49-F238E27FC236}">
                <a16:creationId xmlns:a16="http://schemas.microsoft.com/office/drawing/2014/main" id="{92099BA1-1975-4955-9278-71D55F86A05C}"/>
              </a:ext>
            </a:extLst>
          </p:cNvPr>
          <p:cNvSpPr>
            <a:spLocks xmlns:a="http://schemas.openxmlformats.org/drawingml/2006/main" noGrp="1"/>
          </p:cNvSpPr>
          <p:nvPr/>
        </p:nvSpPr>
        <p:spPr>
          <a:xfrm xmlns:a="http://schemas.openxmlformats.org/drawingml/2006/main">
            <a:off x="7696200" y="358140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Cạnh có hướng</a:t>
            </a:r>
          </a:p>
        </p:txBody>
      </p:sp>
      <p:sp>
        <p:nvSpPr>
          <p:cNvPr id="24" name="Dòng Bitcoin">
            <a:extLst xmlns:a="http://schemas.openxmlformats.org/drawingml/2006/main">
              <a:ext uri="{FF2B5EF4-FFF2-40B4-BE49-F238E27FC236}">
                <a16:creationId xmlns:a16="http://schemas.microsoft.com/office/drawing/2014/main" id="{2956A19E-02ED-485B-B31B-62FEAFB19584}"/>
              </a:ext>
            </a:extLst>
          </p:cNvPr>
          <p:cNvSpPr>
            <a:spLocks xmlns:a="http://schemas.openxmlformats.org/drawingml/2006/main" noGrp="1"/>
          </p:cNvSpPr>
          <p:nvPr/>
        </p:nvSpPr>
        <p:spPr>
          <a:xfrm xmlns:a="http://schemas.openxmlformats.org/drawingml/2006/main">
            <a:off x="7696200" y="424815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Dòng Bitcoin</a:t>
            </a:r>
          </a:p>
        </p:txBody>
      </p:sp>
      <p:sp>
        <p:nvSpPr>
          <p:cNvPr id="25" name="Graph trong dữ liệu Elliptic gốc. Các chữ A–F chỉ là ví dụ m">
            <a:extLst xmlns:a="http://schemas.openxmlformats.org/drawingml/2006/main">
              <a:ext uri="{FF2B5EF4-FFF2-40B4-BE49-F238E27FC236}">
                <a16:creationId xmlns:a16="http://schemas.microsoft.com/office/drawing/2014/main" id="{008F86F8-0C0C-49ED-B9EA-32876EAAFCFE}"/>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trong dữ liệu Elliptic gốc. Các chữ A–F chỉ là ví dụ minh họa.</a:t>
            </a:r>
          </a:p>
        </p:txBody>
      </p:sp>
    </p:spTree>
    <p:extLst>
      <p:ext uri="{BB962C8B-B14F-4D97-AF65-F5344CB8AC3E}">
        <p14:creationId xmlns:p14="http://schemas.microsoft.com/office/powerpoint/2010/main" val="388819159"/>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3E82D35-5267-4120-B15D-A86409BAB3D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Bộ dữ liệu và phạm vi sử dụng</a:t>
            </a:r>
          </a:p>
        </p:txBody>
      </p:sp>
      <p:sp>
        <p:nvSpPr>
          <p:cNvPr id="2" name="05 / 26">
            <a:extLst xmlns:a="http://schemas.openxmlformats.org/drawingml/2006/main">
              <a:ext uri="{FF2B5EF4-FFF2-40B4-BE49-F238E27FC236}">
                <a16:creationId xmlns:a16="http://schemas.microsoft.com/office/drawing/2014/main" id="{FB1219B2-F895-4068-A982-4E9AD739CC3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05 / 26</a:t>
            </a:r>
          </a:p>
        </p:txBody>
      </p:sp>
      <p:sp>
        <p:nvSpPr>
          <p:cNvPr id="3" name="203.769">
            <a:extLst xmlns:a="http://schemas.openxmlformats.org/drawingml/2006/main">
              <a:ext uri="{FF2B5EF4-FFF2-40B4-BE49-F238E27FC236}">
                <a16:creationId xmlns:a16="http://schemas.microsoft.com/office/drawing/2014/main" id="{65305FB8-A716-46E8-AAE9-C7DF1DCE312A}"/>
              </a:ext>
            </a:extLst>
          </p:cNvPr>
          <p:cNvSpPr>
            <a:spLocks xmlns:a="http://schemas.openxmlformats.org/drawingml/2006/main" noGrp="1"/>
          </p:cNvSpPr>
          <p:nvPr/>
        </p:nvSpPr>
        <p:spPr>
          <a:xfrm xmlns:a="http://schemas.openxmlformats.org/drawingml/2006/main">
            <a:off x="60960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203.769</a:t>
            </a:r>
          </a:p>
        </p:txBody>
      </p:sp>
      <p:sp>
        <p:nvSpPr>
          <p:cNvPr id="4" name="giao dịch">
            <a:extLst xmlns:a="http://schemas.openxmlformats.org/drawingml/2006/main">
              <a:ext uri="{FF2B5EF4-FFF2-40B4-BE49-F238E27FC236}">
                <a16:creationId xmlns:a16="http://schemas.microsoft.com/office/drawing/2014/main" id="{267EFCC5-250C-49FD-AC59-767A47EE3DF4}"/>
              </a:ext>
            </a:extLst>
          </p:cNvPr>
          <p:cNvSpPr>
            <a:spLocks xmlns:a="http://schemas.openxmlformats.org/drawingml/2006/main" noGrp="1"/>
          </p:cNvSpPr>
          <p:nvPr/>
        </p:nvSpPr>
        <p:spPr>
          <a:xfrm xmlns:a="http://schemas.openxmlformats.org/drawingml/2006/main">
            <a:off x="60960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giao dịch</a:t>
            </a:r>
          </a:p>
        </p:txBody>
      </p:sp>
      <p:sp>
        <p:nvSpPr>
          <p:cNvPr id="5" name="234.355">
            <a:extLst xmlns:a="http://schemas.openxmlformats.org/drawingml/2006/main">
              <a:ext uri="{FF2B5EF4-FFF2-40B4-BE49-F238E27FC236}">
                <a16:creationId xmlns:a16="http://schemas.microsoft.com/office/drawing/2014/main" id="{11FD887C-2525-427B-BA07-0D12F3D90FED}"/>
              </a:ext>
            </a:extLst>
          </p:cNvPr>
          <p:cNvSpPr>
            <a:spLocks xmlns:a="http://schemas.openxmlformats.org/drawingml/2006/main" noGrp="1"/>
          </p:cNvSpPr>
          <p:nvPr/>
        </p:nvSpPr>
        <p:spPr>
          <a:xfrm xmlns:a="http://schemas.openxmlformats.org/drawingml/2006/main">
            <a:off x="4391025"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234.355</a:t>
            </a:r>
          </a:p>
        </p:txBody>
      </p:sp>
      <p:sp>
        <p:nvSpPr>
          <p:cNvPr id="6" name="liên kết dòng tiền">
            <a:extLst xmlns:a="http://schemas.openxmlformats.org/drawingml/2006/main">
              <a:ext uri="{FF2B5EF4-FFF2-40B4-BE49-F238E27FC236}">
                <a16:creationId xmlns:a16="http://schemas.microsoft.com/office/drawing/2014/main" id="{1ECB135E-E455-4F15-8304-22B6848A67EB}"/>
              </a:ext>
            </a:extLst>
          </p:cNvPr>
          <p:cNvSpPr>
            <a:spLocks xmlns:a="http://schemas.openxmlformats.org/drawingml/2006/main" noGrp="1"/>
          </p:cNvSpPr>
          <p:nvPr/>
        </p:nvSpPr>
        <p:spPr>
          <a:xfrm xmlns:a="http://schemas.openxmlformats.org/drawingml/2006/main">
            <a:off x="4391025"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liên kết dòng tiền</a:t>
            </a:r>
          </a:p>
        </p:txBody>
      </p:sp>
      <p:sp>
        <p:nvSpPr>
          <p:cNvPr id="7" name="49">
            <a:extLst xmlns:a="http://schemas.openxmlformats.org/drawingml/2006/main">
              <a:ext uri="{FF2B5EF4-FFF2-40B4-BE49-F238E27FC236}">
                <a16:creationId xmlns:a16="http://schemas.microsoft.com/office/drawing/2014/main" id="{4015908C-CE13-48C3-91A0-FA834FF5687D}"/>
              </a:ext>
            </a:extLst>
          </p:cNvPr>
          <p:cNvSpPr>
            <a:spLocks xmlns:a="http://schemas.openxmlformats.org/drawingml/2006/main" noGrp="1"/>
          </p:cNvSpPr>
          <p:nvPr/>
        </p:nvSpPr>
        <p:spPr>
          <a:xfrm xmlns:a="http://schemas.openxmlformats.org/drawingml/2006/main">
            <a:off x="817245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49</a:t>
            </a:r>
          </a:p>
        </p:txBody>
      </p:sp>
      <p:sp>
        <p:nvSpPr>
          <p:cNvPr id="8" name="lát cắt thời gian">
            <a:extLst xmlns:a="http://schemas.openxmlformats.org/drawingml/2006/main">
              <a:ext uri="{FF2B5EF4-FFF2-40B4-BE49-F238E27FC236}">
                <a16:creationId xmlns:a16="http://schemas.microsoft.com/office/drawing/2014/main" id="{B83C3019-1528-491D-9979-1B71D5BC042E}"/>
              </a:ext>
            </a:extLst>
          </p:cNvPr>
          <p:cNvSpPr>
            <a:spLocks xmlns:a="http://schemas.openxmlformats.org/drawingml/2006/main" noGrp="1"/>
          </p:cNvSpPr>
          <p:nvPr/>
        </p:nvSpPr>
        <p:spPr>
          <a:xfrm xmlns:a="http://schemas.openxmlformats.org/drawingml/2006/main">
            <a:off x="817245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lát cắt thời gian</a:t>
            </a:r>
          </a:p>
        </p:txBody>
      </p:sp>
      <p:sp>
        <p:nvSpPr>
          <p:cNvPr id="9" name="Dữ liệu lịch sử, không có cạnh giữa các lát cắt">
            <a:extLst xmlns:a="http://schemas.openxmlformats.org/drawingml/2006/main">
              <a:ext uri="{FF2B5EF4-FFF2-40B4-BE49-F238E27FC236}">
                <a16:creationId xmlns:a16="http://schemas.microsoft.com/office/drawing/2014/main" id="{EF3358BA-A26C-46D3-9BE1-3BF8AD36BD42}"/>
              </a:ext>
            </a:extLst>
          </p:cNvPr>
          <p:cNvSpPr>
            <a:spLocks xmlns:a="http://schemas.openxmlformats.org/drawingml/2006/main" noGrp="1"/>
          </p:cNvSpPr>
          <p:nvPr/>
        </p:nvSpPr>
        <p:spPr>
          <a:xfrm xmlns:a="http://schemas.openxmlformats.org/drawingml/2006/main">
            <a:off x="609600" y="5048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Dữ liệu lịch sử, không có cạnh giữa các lát cắt</a:t>
            </a:r>
          </a:p>
        </p:txBody>
      </p:sp>
      <p:sp>
        <p:nvSpPr>
          <p:cNvPr id="10" name="Nguồn: CSV Elliptic đã tải và kiểm tra, results/data_summary">
            <a:extLst xmlns:a="http://schemas.openxmlformats.org/drawingml/2006/main">
              <a:ext uri="{FF2B5EF4-FFF2-40B4-BE49-F238E27FC236}">
                <a16:creationId xmlns:a16="http://schemas.microsoft.com/office/drawing/2014/main" id="{6FB31BD0-60EB-4DDC-9AA2-7B236DF2DF1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Nguồn: CSV Elliptic đã tải và kiểm tra, results/data_summary.json.</a:t>
            </a:r>
          </a:p>
        </p:txBody>
      </p:sp>
    </p:spTree>
    <p:extLst>
      <p:ext uri="{BB962C8B-B14F-4D97-AF65-F5344CB8AC3E}">
        <p14:creationId xmlns:p14="http://schemas.microsoft.com/office/powerpoint/2010/main" val="676135901"/>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AC0FEF3-F319-4E49-87CB-EB67B31EF23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trạng thái nhãn</a:t>
            </a:r>
          </a:p>
        </p:txBody>
      </p:sp>
      <p:sp>
        <p:nvSpPr>
          <p:cNvPr id="2" name="06 / 26">
            <a:extLst xmlns:a="http://schemas.openxmlformats.org/drawingml/2006/main">
              <a:ext uri="{FF2B5EF4-FFF2-40B4-BE49-F238E27FC236}">
                <a16:creationId xmlns:a16="http://schemas.microsoft.com/office/drawing/2014/main" id="{AE481D50-2566-4586-A342-E41238CBCF0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06 / 26</a:t>
            </a:r>
          </a:p>
        </p:txBody>
      </p:sp>
      <p:graphicFrame>
        <p:nvGraphicFramePr>
          <p:cNvPr id="3" name="Chart">
            <a:extLst xmlns:a="http://schemas.openxmlformats.org/drawingml/2006/main">
              <a:ext uri="{FF2B5EF4-FFF2-40B4-BE49-F238E27FC236}">
                <a16:creationId xmlns:a16="http://schemas.microsoft.com/office/drawing/2014/main" id="{4A73881B-BDB6-4F65-9A1A-01F025DBF815}"/>
              </a:ext>
            </a:extLst>
          </p:cNvPr>
          <p:cNvGraphicFramePr/>
          <p:nvPr/>
        </p:nvGraphicFramePr>
        <p:xfrm>
          <a:off xmlns:a="http://schemas.openxmlformats.org/drawingml/2006/main" x="609600" y="1685925"/>
          <a:ext xmlns:a="http://schemas.openxmlformats.org/drawingml/2006/main" cx="7620000" cy="3429000"/>
        </p:xfrm>
        <a:graphic xmlns:a="http://schemas.openxmlformats.org/drawingml/2006/main">
          <a:graphicData uri="http://schemas.openxmlformats.org/drawingml/2006/chart">
            <c:chart xmlns:r="http://schemas.openxmlformats.org/officeDocument/2006/relationships" xmlns:c="http://schemas.openxmlformats.org/drawingml/2006/chart" r:id="R002d975841db4279"/>
          </a:graphicData>
        </a:graphic>
      </p:graphicFrame>
      <p:sp>
        <p:nvSpPr>
          <p:cNvPr id="4" name="Unknown">
            <a:extLst xmlns:a="http://schemas.openxmlformats.org/drawingml/2006/main">
              <a:ext uri="{FF2B5EF4-FFF2-40B4-BE49-F238E27FC236}">
                <a16:creationId xmlns:a16="http://schemas.microsoft.com/office/drawing/2014/main" id="{321015AF-864C-4D48-B2FD-9B6675CB0326}"/>
              </a:ext>
            </a:extLst>
          </p:cNvPr>
          <p:cNvSpPr>
            <a:spLocks xmlns:a="http://schemas.openxmlformats.org/drawingml/2006/main" noGrp="1"/>
          </p:cNvSpPr>
          <p:nvPr/>
        </p:nvSpPr>
        <p:spPr>
          <a:xfrm xmlns:a="http://schemas.openxmlformats.org/drawingml/2006/main">
            <a:off x="8686800" y="2000250"/>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2B2D"/>
                </a:solidFill>
                <a:latin typeface="Arial"/>
                <a:ea typeface="Arial"/>
                <a:cs typeface="Arial"/>
              </a:defRPr>
            </a:defPPr>
          </a:lstStyle>
          <a:p xmlns:a="http://schemas.openxmlformats.org/drawingml/2006/main">
            <a:pPr algn="l">
              <a:defRPr sz="3150" b="1">
                <a:solidFill>
                  <a:srgbClr val="182B2D"/>
                </a:solidFill>
                <a:latin typeface="Arial"/>
                <a:ea typeface="Arial"/>
                <a:cs typeface="Arial"/>
              </a:defRPr>
            </a:pPr>
            <a:r>
              <a:rPr sz="3150" b="1">
                <a:solidFill>
                  <a:srgbClr val="182B2D"/>
                </a:solidFill>
                <a:latin typeface="Arial"/>
                <a:ea typeface="Arial"/>
                <a:cs typeface="Arial"/>
              </a:rPr>
              <a:t>Unknown</a:t>
            </a:r>
          </a:p>
        </p:txBody>
      </p:sp>
      <p:sp>
        <p:nvSpPr>
          <p:cNvPr id="5" name="Chưa có nhãn&#10;&#10;Vẫn tham gia&#10;truyền tin">
            <a:extLst xmlns:a="http://schemas.openxmlformats.org/drawingml/2006/main">
              <a:ext uri="{FF2B5EF4-FFF2-40B4-BE49-F238E27FC236}">
                <a16:creationId xmlns:a16="http://schemas.microsoft.com/office/drawing/2014/main" id="{E57AAFF0-A712-464D-BD90-84361CF6278C}"/>
              </a:ext>
            </a:extLst>
          </p:cNvPr>
          <p:cNvSpPr>
            <a:spLocks xmlns:a="http://schemas.openxmlformats.org/drawingml/2006/main" noGrp="1"/>
          </p:cNvSpPr>
          <p:nvPr/>
        </p:nvSpPr>
        <p:spPr>
          <a:xfrm xmlns:a="http://schemas.openxmlformats.org/drawingml/2006/main">
            <a:off x="8686800" y="2905125"/>
            <a:ext cx="290512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2D"/>
                </a:solidFill>
                <a:latin typeface="Arial"/>
                <a:ea typeface="Arial"/>
                <a:cs typeface="Arial"/>
              </a:defRPr>
            </a:defPPr>
          </a:lstStyle>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Chưa có nhãn</a:t>
            </a:r>
          </a:p>
          <a:p xmlns:a="http://schemas.openxmlformats.org/drawingml/2006/main">
            <a:r>
              <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Vẫn tham gia</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truyền tin</a:t>
            </a:r>
          </a:p>
        </p:txBody>
      </p:sp>
      <p:sp>
        <p:nvSpPr>
          <p:cNvPr id="6" name="Loss và đánh giá chỉ dùng các nút có nhãn">
            <a:extLst xmlns:a="http://schemas.openxmlformats.org/drawingml/2006/main">
              <a:ext uri="{FF2B5EF4-FFF2-40B4-BE49-F238E27FC236}">
                <a16:creationId xmlns:a16="http://schemas.microsoft.com/office/drawing/2014/main" id="{2C291936-FEAB-4E48-884F-7DD079BB50B5}"/>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Loss và đánh giá chỉ dùng các nút có nhãn</a:t>
            </a:r>
          </a:p>
        </p:txBody>
      </p:sp>
      <p:sp>
        <p:nvSpPr>
          <p:cNvPr id="7" name="4.545 illicit, 42.019 licit, 157.205 unknown.">
            <a:extLst xmlns:a="http://schemas.openxmlformats.org/drawingml/2006/main">
              <a:ext uri="{FF2B5EF4-FFF2-40B4-BE49-F238E27FC236}">
                <a16:creationId xmlns:a16="http://schemas.microsoft.com/office/drawing/2014/main" id="{FD2DBBE5-4319-4274-B457-001418873E1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4.545 illicit, 42.019 licit, 157.205 unknown.</a:t>
            </a:r>
          </a:p>
        </p:txBody>
      </p:sp>
    </p:spTree>
    <p:extLst>
      <p:ext uri="{BB962C8B-B14F-4D97-AF65-F5344CB8AC3E}">
        <p14:creationId xmlns:p14="http://schemas.microsoft.com/office/powerpoint/2010/main" val="514037827"/>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E235DD1-040E-4183-A0D0-B01A596E3E0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Đặc trưng đầu vào</a:t>
            </a:r>
          </a:p>
        </p:txBody>
      </p:sp>
      <p:sp>
        <p:nvSpPr>
          <p:cNvPr id="2" name="07 / 26">
            <a:extLst xmlns:a="http://schemas.openxmlformats.org/drawingml/2006/main">
              <a:ext uri="{FF2B5EF4-FFF2-40B4-BE49-F238E27FC236}">
                <a16:creationId xmlns:a16="http://schemas.microsoft.com/office/drawing/2014/main" id="{8BA4BE19-BC3F-4C1A-A70E-F9D946DF46D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CF5DD1F2-811B-4E05-B5AF-F22A8B8328FD}"/>
              </a:ext>
            </a:extLst>
          </p:cNvPr>
          <p:cNvGraphicFramePr/>
          <p:nvPr/>
        </p:nvGraphicFramePr>
        <p:xfrm>
          <a:off xmlns:a="http://schemas.openxmlformats.org/drawingml/2006/main" x="609600" y="1800225"/>
          <a:ext xmlns:a="http://schemas.openxmlformats.org/drawingml/2006/main" cx="10972800" cy="2752725"/>
        </p:xfrm>
        <a:graphic xmlns:a="http://schemas.openxmlformats.org/drawingml/2006/main">
          <a:graphicData uri="http://schemas.openxmlformats.org/drawingml/2006/table">
            <a:tbl>
              <a:tblPr firstRow="0" bandRow="0"/>
              <a:tblGrid>
                <a:gridCol w="4095750"/>
                <a:gridCol w="1809750"/>
                <a:gridCol w="5067300"/>
              </a:tblGrid>
              <a:tr h="688181">
                <a:tc>
                  <a:txBody>
                    <a:bodyPr/>
                    <a:lstStyle/>
                    <a:p>
                      <a:r>
                        <a:rPr sz="2025" b="1">
                          <a:solidFill>
                            <a:srgbClr val="FFFFFF"/>
                          </a:solidFill>
                          <a:latin typeface="Arial"/>
                          <a:ea typeface="Arial"/>
                          <a:cs typeface="Arial"/>
                        </a:rPr>
                        <a:t>Nhóm cột</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Số lượng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Mô hình sử dụng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8181">
                <a:tc>
                  <a:txBody>
                    <a:bodyPr/>
                    <a:lstStyle/>
                    <a:p>
                      <a:r>
                        <a:rPr sz="2025">
                          <a:solidFill>
                            <a:srgbClr val="182B2D"/>
                          </a:solidFill>
                          <a:latin typeface="Arial"/>
                          <a:ea typeface="Arial"/>
                          <a:cs typeface="Arial"/>
                        </a:rPr>
                        <a:t>Local dạng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93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local, MLP, GCN</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72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all dùng thêm</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ID và timestep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Tách khỏi đầu vào</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ông tự gán tên nghiệp vụ cho cột ẩn danh">
            <a:extLst xmlns:a="http://schemas.openxmlformats.org/drawingml/2006/main">
              <a:ext uri="{FF2B5EF4-FFF2-40B4-BE49-F238E27FC236}">
                <a16:creationId xmlns:a16="http://schemas.microsoft.com/office/drawing/2014/main" id="{4914C916-1390-4D5A-8A8F-DF44E123D932}"/>
              </a:ext>
            </a:extLst>
          </p:cNvPr>
          <p:cNvSpPr>
            <a:spLocks xmlns:a="http://schemas.openxmlformats.org/drawingml/2006/main" noGrp="1"/>
          </p:cNvSpPr>
          <p:nvPr/>
        </p:nvSpPr>
        <p:spPr>
          <a:xfrm xmlns:a="http://schemas.openxmlformats.org/drawingml/2006/main">
            <a:off x="609600" y="52863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Không tự gán tên nghiệp vụ cho cột ẩn danh</a:t>
            </a:r>
          </a:p>
        </p:txBody>
      </p:sp>
      <p:sp>
        <p:nvSpPr>
          <p:cNvPr id="5" name="File có 167 cột. Scaler của nhóm chỉ học từ các nút train.">
            <a:extLst xmlns:a="http://schemas.openxmlformats.org/drawingml/2006/main">
              <a:ext uri="{FF2B5EF4-FFF2-40B4-BE49-F238E27FC236}">
                <a16:creationId xmlns:a16="http://schemas.microsoft.com/office/drawing/2014/main" id="{62F570B2-F2F8-4FCE-886D-62D4CA79F37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File có 167 cột. Scaler của nhóm chỉ học từ các nút train.</a:t>
            </a:r>
          </a:p>
        </p:txBody>
      </p:sp>
    </p:spTree>
    <p:extLst>
      <p:ext uri="{BB962C8B-B14F-4D97-AF65-F5344CB8AC3E}">
        <p14:creationId xmlns:p14="http://schemas.microsoft.com/office/powerpoint/2010/main" val="1301936886"/>
      </p:ext>
    </p:extLst>
  </p:cSld>
</p:sld>
</file>

<file path=ppt/slides/slide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3D38DA3-A6E9-4932-98F4-ECF2E34BC68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Chia dữ liệu theo thời gian</a:t>
            </a:r>
          </a:p>
        </p:txBody>
      </p:sp>
      <p:sp>
        <p:nvSpPr>
          <p:cNvPr id="2" name="08 / 26">
            <a:extLst xmlns:a="http://schemas.openxmlformats.org/drawingml/2006/main">
              <a:ext uri="{FF2B5EF4-FFF2-40B4-BE49-F238E27FC236}">
                <a16:creationId xmlns:a16="http://schemas.microsoft.com/office/drawing/2014/main" id="{33ACD693-F0DC-4581-BD56-F7D56CD5A3B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08 / 26</a:t>
            </a:r>
          </a:p>
        </p:txBody>
      </p:sp>
      <p:graphicFrame>
        <p:nvGraphicFramePr>
          <p:cNvPr id="3" name="">
            <a:extLst xmlns:a="http://schemas.openxmlformats.org/drawingml/2006/main">
              <a:ext uri="{FF2B5EF4-FFF2-40B4-BE49-F238E27FC236}">
                <a16:creationId xmlns:a16="http://schemas.microsoft.com/office/drawing/2014/main" id="{9D2F1723-C3AF-40B7-9DDA-1E2E5B93FE59}"/>
              </a:ext>
            </a:extLst>
          </p:cNvPr>
          <p:cNvGraphicFramePr/>
          <p:nvPr/>
        </p:nvGraphicFramePr>
        <p:xfrm>
          <a:off xmlns:a="http://schemas.openxmlformats.org/drawingml/2006/main" x="609600" y="1733550"/>
          <a:ext xmlns:a="http://schemas.openxmlformats.org/drawingml/2006/main" cx="10972800" cy="2905125"/>
        </p:xfrm>
        <a:graphic xmlns:a="http://schemas.openxmlformats.org/drawingml/2006/main">
          <a:graphicData uri="http://schemas.openxmlformats.org/drawingml/2006/table">
            <a:tbl>
              <a:tblPr firstRow="0" bandRow="0"/>
              <a:tblGrid>
                <a:gridCol w="2667000"/>
                <a:gridCol w="2286000"/>
                <a:gridCol w="3009900"/>
                <a:gridCol w="3009900"/>
              </a:tblGrid>
              <a:tr h="726281">
                <a:tc>
                  <a:txBody>
                    <a:bodyPr/>
                    <a:lstStyle/>
                    <a:p>
                      <a:r>
                        <a:rPr sz="2100" b="1">
                          <a:solidFill>
                            <a:srgbClr val="FFFFFF"/>
                          </a:solidFill>
                          <a:latin typeface="Arial"/>
                          <a:ea typeface="Arial"/>
                          <a:cs typeface="Arial"/>
                        </a:rPr>
                        <a:t>Tập</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Lát cắt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Tổng nút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Có nhãn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26281">
                <a:tc>
                  <a:txBody>
                    <a:bodyPr/>
                    <a:lstStyle/>
                    <a:p>
                      <a:r>
                        <a:rPr sz="2100">
                          <a:solidFill>
                            <a:srgbClr val="182B2D"/>
                          </a:solidFill>
                          <a:latin typeface="Arial"/>
                          <a:ea typeface="Arial"/>
                          <a:cs typeface="Arial"/>
                        </a:rPr>
                        <a:t>Train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120.804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26.381</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Validation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30–34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15.461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3.513</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Test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35–49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67.504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16.670</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Checkpoint và ngưỡng chọn bằng validation">
            <a:extLst xmlns:a="http://schemas.openxmlformats.org/drawingml/2006/main">
              <a:ext uri="{FF2B5EF4-FFF2-40B4-BE49-F238E27FC236}">
                <a16:creationId xmlns:a16="http://schemas.microsoft.com/office/drawing/2014/main" id="{F1C02751-334A-419D-9A03-2FCC6B13C764}"/>
              </a:ext>
            </a:extLst>
          </p:cNvPr>
          <p:cNvSpPr>
            <a:spLocks xmlns:a="http://schemas.openxmlformats.org/drawingml/2006/main" noGrp="1"/>
          </p:cNvSpPr>
          <p:nvPr/>
        </p:nvSpPr>
        <p:spPr>
          <a:xfrm xmlns:a="http://schemas.openxmlformats.org/drawingml/2006/main">
            <a:off x="609600" y="5305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Checkpoint và ngưỡng chọn bằng validation</a:t>
            </a:r>
          </a:p>
        </p:txBody>
      </p:sp>
      <p:sp>
        <p:nvSpPr>
          <p:cNvPr id="5" name="Bản cập nhật dùng lại test cũ. Chưa có tập mới để xác nhận đ">
            <a:extLst xmlns:a="http://schemas.openxmlformats.org/drawingml/2006/main">
              <a:ext uri="{FF2B5EF4-FFF2-40B4-BE49-F238E27FC236}">
                <a16:creationId xmlns:a16="http://schemas.microsoft.com/office/drawing/2014/main" id="{62614E7A-92EC-4043-AF5C-5D01C2B1C0A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Bản cập nhật dùng lại test cũ. Chưa có tập mới để xác nhận độc lập.</a:t>
            </a:r>
          </a:p>
        </p:txBody>
      </p:sp>
    </p:spTree>
    <p:extLst>
      <p:ext uri="{BB962C8B-B14F-4D97-AF65-F5344CB8AC3E}">
        <p14:creationId xmlns:p14="http://schemas.microsoft.com/office/powerpoint/2010/main" val="1902390339"/>
      </p:ext>
    </p:extLst>
  </p:cSld>
</p:sld>
</file>

<file path=ppt/slides/slide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B5FE4A5-8264-471C-B1D6-DFE50B86A7C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Graph đưa vào mô hình</a:t>
            </a:r>
          </a:p>
        </p:txBody>
      </p:sp>
      <p:sp>
        <p:nvSpPr>
          <p:cNvPr id="2" name="09 / 26">
            <a:extLst xmlns:a="http://schemas.openxmlformats.org/drawingml/2006/main">
              <a:ext uri="{FF2B5EF4-FFF2-40B4-BE49-F238E27FC236}">
                <a16:creationId xmlns:a16="http://schemas.microsoft.com/office/drawing/2014/main" id="{BE178C37-BBE3-498B-A084-DDB973BEDF1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09 / 26</a:t>
            </a:r>
          </a:p>
        </p:txBody>
      </p:sp>
      <p:sp>
        <p:nvSpPr>
          <p:cNvPr id="3" name="01">
            <a:extLst xmlns:a="http://schemas.openxmlformats.org/drawingml/2006/main">
              <a:ext uri="{FF2B5EF4-FFF2-40B4-BE49-F238E27FC236}">
                <a16:creationId xmlns:a16="http://schemas.microsoft.com/office/drawing/2014/main" id="{C1BFC424-AADA-47BB-83E9-A81DA85DF858}"/>
              </a:ext>
            </a:extLst>
          </p:cNvPr>
          <p:cNvSpPr>
            <a:spLocks xmlns:a="http://schemas.openxmlformats.org/drawingml/2006/main" noGrp="1"/>
          </p:cNvSpPr>
          <p:nvPr/>
        </p:nvSpPr>
        <p:spPr>
          <a:xfrm xmlns:a="http://schemas.openxmlformats.org/drawingml/2006/main">
            <a:off x="609600" y="16954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Đối xứng hóa các cạnh">
            <a:extLst xmlns:a="http://schemas.openxmlformats.org/drawingml/2006/main">
              <a:ext uri="{FF2B5EF4-FFF2-40B4-BE49-F238E27FC236}">
                <a16:creationId xmlns:a16="http://schemas.microsoft.com/office/drawing/2014/main" id="{3E065ADB-926F-4FC6-8811-2E9AA245EE89}"/>
              </a:ext>
            </a:extLst>
          </p:cNvPr>
          <p:cNvSpPr>
            <a:spLocks xmlns:a="http://schemas.openxmlformats.org/drawingml/2006/main" noGrp="1"/>
          </p:cNvSpPr>
          <p:nvPr/>
        </p:nvSpPr>
        <p:spPr>
          <a:xfrm xmlns:a="http://schemas.openxmlformats.org/drawingml/2006/main">
            <a:off x="1752600" y="17526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Đối xứng hóa các cạnh</a:t>
            </a:r>
          </a:p>
        </p:txBody>
      </p:sp>
      <p:sp>
        <p:nvSpPr>
          <p:cNvPr id="5" name="02">
            <a:extLst xmlns:a="http://schemas.openxmlformats.org/drawingml/2006/main">
              <a:ext uri="{FF2B5EF4-FFF2-40B4-BE49-F238E27FC236}">
                <a16:creationId xmlns:a16="http://schemas.microsoft.com/office/drawing/2014/main" id="{787A0AA3-58F2-44B2-8677-0C1E568DE18A}"/>
              </a:ext>
            </a:extLst>
          </p:cNvPr>
          <p:cNvSpPr>
            <a:spLocks xmlns:a="http://schemas.openxmlformats.org/drawingml/2006/main" noGrp="1"/>
          </p:cNvSpPr>
          <p:nvPr/>
        </p:nvSpPr>
        <p:spPr>
          <a:xfrm xmlns:a="http://schemas.openxmlformats.org/drawingml/2006/main">
            <a:off x="609600" y="2809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hêm liên kết với chính nút">
            <a:extLst xmlns:a="http://schemas.openxmlformats.org/drawingml/2006/main">
              <a:ext uri="{FF2B5EF4-FFF2-40B4-BE49-F238E27FC236}">
                <a16:creationId xmlns:a16="http://schemas.microsoft.com/office/drawing/2014/main" id="{A1D803B3-7DD9-4C47-BBE1-B15F79A90B5F}"/>
              </a:ext>
            </a:extLst>
          </p:cNvPr>
          <p:cNvSpPr>
            <a:spLocks xmlns:a="http://schemas.openxmlformats.org/drawingml/2006/main" noGrp="1"/>
          </p:cNvSpPr>
          <p:nvPr/>
        </p:nvSpPr>
        <p:spPr>
          <a:xfrm xmlns:a="http://schemas.openxmlformats.org/drawingml/2006/main">
            <a:off x="1752600" y="2867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Thêm liên kết với chính nút</a:t>
            </a:r>
          </a:p>
        </p:txBody>
      </p:sp>
      <p:sp>
        <p:nvSpPr>
          <p:cNvPr id="7" name="03">
            <a:extLst xmlns:a="http://schemas.openxmlformats.org/drawingml/2006/main">
              <a:ext uri="{FF2B5EF4-FFF2-40B4-BE49-F238E27FC236}">
                <a16:creationId xmlns:a16="http://schemas.microsoft.com/office/drawing/2014/main" id="{3F80EAE4-6B25-4125-B661-105959EE439C}"/>
              </a:ext>
            </a:extLst>
          </p:cNvPr>
          <p:cNvSpPr>
            <a:spLocks xmlns:a="http://schemas.openxmlformats.org/drawingml/2006/main" noGrp="1"/>
          </p:cNvSpPr>
          <p:nvPr/>
        </p:nvSpPr>
        <p:spPr>
          <a:xfrm xmlns:a="http://schemas.openxmlformats.org/drawingml/2006/main">
            <a:off x="609600" y="39243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Chuẩn hóa theo bậc nút">
            <a:extLst xmlns:a="http://schemas.openxmlformats.org/drawingml/2006/main">
              <a:ext uri="{FF2B5EF4-FFF2-40B4-BE49-F238E27FC236}">
                <a16:creationId xmlns:a16="http://schemas.microsoft.com/office/drawing/2014/main" id="{63829FEE-7BBE-4879-B140-F57D6BD9F105}"/>
              </a:ext>
            </a:extLst>
          </p:cNvPr>
          <p:cNvSpPr>
            <a:spLocks xmlns:a="http://schemas.openxmlformats.org/drawingml/2006/main" noGrp="1"/>
          </p:cNvSpPr>
          <p:nvPr/>
        </p:nvSpPr>
        <p:spPr>
          <a:xfrm xmlns:a="http://schemas.openxmlformats.org/drawingml/2006/main">
            <a:off x="1752600" y="39814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Chuẩn hóa theo bậc nút</a:t>
            </a:r>
          </a:p>
        </p:txBody>
      </p:sp>
      <p:sp>
        <p:nvSpPr>
          <p:cNvPr id="9" name="Graph suy luận đối xứng. Giao diện hiển thị mũi tên từ dữ li">
            <a:extLst xmlns:a="http://schemas.openxmlformats.org/drawingml/2006/main">
              <a:ext uri="{FF2B5EF4-FFF2-40B4-BE49-F238E27FC236}">
                <a16:creationId xmlns:a16="http://schemas.microsoft.com/office/drawing/2014/main" id="{B8F7C01A-0D2E-4B53-BCD5-4BE81501E6ED}"/>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suy luận đối xứng. Giao diện hiển thị mũi tên từ dữ liệu gốc.</a:t>
            </a:r>
          </a:p>
        </p:txBody>
      </p:sp>
    </p:spTree>
    <p:extLst>
      <p:ext uri="{BB962C8B-B14F-4D97-AF65-F5344CB8AC3E}">
        <p14:creationId xmlns:p14="http://schemas.microsoft.com/office/powerpoint/2010/main" val="1053443075"/>
      </p:ext>
    </p:extLst>
  </p:cSld>
</p:sld>
</file>

<file path=ppt/slides/slide1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4069781-46A5-43EB-BE64-02ADA60DB97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MLP và GCN khác nhau ở đâu?</a:t>
            </a:r>
          </a:p>
        </p:txBody>
      </p:sp>
      <p:sp>
        <p:nvSpPr>
          <p:cNvPr id="2" name="10 / 26">
            <a:extLst xmlns:a="http://schemas.openxmlformats.org/drawingml/2006/main">
              <a:ext uri="{FF2B5EF4-FFF2-40B4-BE49-F238E27FC236}">
                <a16:creationId xmlns:a16="http://schemas.microsoft.com/office/drawing/2014/main" id="{E88E0FC7-F903-4F54-A076-D401BC83977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10 / 26</a:t>
            </a:r>
          </a:p>
        </p:txBody>
      </p:sp>
      <p:graphicFrame>
        <p:nvGraphicFramePr>
          <p:cNvPr id="3" name="">
            <a:extLst xmlns:a="http://schemas.openxmlformats.org/drawingml/2006/main">
              <a:ext uri="{FF2B5EF4-FFF2-40B4-BE49-F238E27FC236}">
                <a16:creationId xmlns:a16="http://schemas.microsoft.com/office/drawing/2014/main" id="{17741078-4F76-44CE-A24A-98DEC4C97167}"/>
              </a:ext>
            </a:extLst>
          </p:cNvPr>
          <p:cNvGraphicFramePr/>
          <p:nvPr/>
        </p:nvGraphicFramePr>
        <p:xfrm>
          <a:off xmlns:a="http://schemas.openxmlformats.org/drawingml/2006/main" x="609600" y="1724025"/>
          <a:ext xmlns:a="http://schemas.openxmlformats.org/drawingml/2006/main" cx="10972800" cy="3371850"/>
        </p:xfrm>
        <a:graphic xmlns:a="http://schemas.openxmlformats.org/drawingml/2006/main">
          <a:graphicData uri="http://schemas.openxmlformats.org/drawingml/2006/table">
            <a:tbl>
              <a:tblPr firstRow="0" bandRow="0"/>
              <a:tblGrid>
                <a:gridCol w="4267200"/>
                <a:gridCol w="3352800"/>
                <a:gridCol w="3352800"/>
              </a:tblGrid>
              <a:tr h="674370">
                <a:tc>
                  <a:txBody>
                    <a:bodyPr/>
                    <a:lstStyle/>
                    <a:p>
                      <a:r>
                        <a:rPr sz="1950" b="1">
                          <a:solidFill>
                            <a:srgbClr val="FFFFFF"/>
                          </a:solidFill>
                          <a:latin typeface="Arial"/>
                          <a:ea typeface="Arial"/>
                          <a:cs typeface="Arial"/>
                        </a:rPr>
                        <a:t>Thành phần</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MLP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GCN + skip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74370">
                <a:tc>
                  <a:txBody>
                    <a:bodyPr/>
                    <a:lstStyle/>
                    <a:p>
                      <a:r>
                        <a:rPr sz="1950">
                          <a:solidFill>
                            <a:srgbClr val="182B2D"/>
                          </a:solidFill>
                          <a:latin typeface="Arial"/>
                          <a:ea typeface="Arial"/>
                          <a:cs typeface="Arial"/>
                        </a:rPr>
                        <a:t>Đầu vào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A = I</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Graph đã chuẩn hóa</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Lớp ẩn và nhánh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Số tham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Cùng cấu hình học và xử lý đầu vào. MLP thay truyền tin bằng">
            <a:extLst xmlns:a="http://schemas.openxmlformats.org/drawingml/2006/main">
              <a:ext uri="{FF2B5EF4-FFF2-40B4-BE49-F238E27FC236}">
                <a16:creationId xmlns:a16="http://schemas.microsoft.com/office/drawing/2014/main" id="{36DAA8FB-2BAC-468B-BEC3-F4FBEF9D719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Cùng cấu hình học và xử lý đầu vào. MLP thay truyền tin bằng phép đồng nhất.</a:t>
            </a:r>
          </a:p>
        </p:txBody>
      </p:sp>
    </p:spTree>
    <p:extLst>
      <p:ext uri="{BB962C8B-B14F-4D97-AF65-F5344CB8AC3E}">
        <p14:creationId xmlns:p14="http://schemas.microsoft.com/office/powerpoint/2010/main" val="512756386"/>
      </p:ext>
    </p:extLst>
  </p:cSld>
</p:sld>
</file>

<file path=ppt/slides/slide1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266BEDE-E6BB-4CDA-A273-0EFCD54DEA4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Kiến trúc GCN của demo</a:t>
            </a:r>
          </a:p>
        </p:txBody>
      </p:sp>
      <p:sp>
        <p:nvSpPr>
          <p:cNvPr id="2" name="11 / 26">
            <a:extLst xmlns:a="http://schemas.openxmlformats.org/drawingml/2006/main">
              <a:ext uri="{FF2B5EF4-FFF2-40B4-BE49-F238E27FC236}">
                <a16:creationId xmlns:a16="http://schemas.microsoft.com/office/drawing/2014/main" id="{350EC587-5F83-4FCD-97D1-AB47D9FD115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11 / 26</a:t>
            </a:r>
          </a:p>
        </p:txBody>
      </p:sp>
      <p:sp>
        <p:nvSpPr>
          <p:cNvPr id="3" name="">
            <a:extLst xmlns:a="http://schemas.openxmlformats.org/drawingml/2006/main">
              <a:ext uri="{FF2B5EF4-FFF2-40B4-BE49-F238E27FC236}">
                <a16:creationId xmlns:a16="http://schemas.microsoft.com/office/drawing/2014/main" id="{28555C8E-8134-409E-93F5-5FB8F082033D}"/>
              </a:ext>
            </a:extLst>
          </p:cNvPr>
          <p:cNvSpPr>
            <a:spLocks xmlns:a="http://schemas.openxmlformats.org/drawingml/2006/main" noGrp="1"/>
          </p:cNvSpPr>
          <p:nvPr/>
        </p:nvSpPr>
        <p:spPr>
          <a:xfrm xmlns:a="http://schemas.openxmlformats.org/drawingml/2006/main">
            <a:off x="60960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4" name="Tổng hợp + lớp ẩn">
            <a:extLst xmlns:a="http://schemas.openxmlformats.org/drawingml/2006/main">
              <a:ext uri="{FF2B5EF4-FFF2-40B4-BE49-F238E27FC236}">
                <a16:creationId xmlns:a16="http://schemas.microsoft.com/office/drawing/2014/main" id="{63B3BAC2-648B-4763-A6E8-68ABB0B7A154}"/>
              </a:ext>
            </a:extLst>
          </p:cNvPr>
          <p:cNvSpPr>
            <a:spLocks xmlns:a="http://schemas.openxmlformats.org/drawingml/2006/main" noGrp="1"/>
          </p:cNvSpPr>
          <p:nvPr/>
        </p:nvSpPr>
        <p:spPr>
          <a:xfrm xmlns:a="http://schemas.openxmlformats.org/drawingml/2006/main">
            <a:off x="6096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lớp ẩn</a:t>
            </a:r>
          </a:p>
        </p:txBody>
      </p:sp>
      <p:sp>
        <p:nvSpPr>
          <p:cNvPr id="5" name="93 chiều thành 64&#10;ReLU và dropout">
            <a:extLst xmlns:a="http://schemas.openxmlformats.org/drawingml/2006/main">
              <a:ext uri="{FF2B5EF4-FFF2-40B4-BE49-F238E27FC236}">
                <a16:creationId xmlns:a16="http://schemas.microsoft.com/office/drawing/2014/main" id="{DCC3BDD8-00FD-4D0B-8DAB-AA12F17CAC3F}"/>
              </a:ext>
            </a:extLst>
          </p:cNvPr>
          <p:cNvSpPr>
            <a:spLocks xmlns:a="http://schemas.openxmlformats.org/drawingml/2006/main" noGrp="1"/>
          </p:cNvSpPr>
          <p:nvPr/>
        </p:nvSpPr>
        <p:spPr>
          <a:xfrm xmlns:a="http://schemas.openxmlformats.org/drawingml/2006/main">
            <a:off x="6096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93 chiều thành 64</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ReLU và dropout</a:t>
            </a:r>
          </a:p>
        </p:txBody>
      </p:sp>
      <p:sp>
        <p:nvSpPr>
          <p:cNvPr id="6" name="">
            <a:extLst xmlns:a="http://schemas.openxmlformats.org/drawingml/2006/main">
              <a:ext uri="{FF2B5EF4-FFF2-40B4-BE49-F238E27FC236}">
                <a16:creationId xmlns:a16="http://schemas.microsoft.com/office/drawing/2014/main" id="{EA66907C-1C6C-42A8-A503-86481DB16665}"/>
              </a:ext>
            </a:extLst>
          </p:cNvPr>
          <p:cNvSpPr>
            <a:spLocks xmlns:a="http://schemas.openxmlformats.org/drawingml/2006/main" noGrp="1"/>
          </p:cNvSpPr>
          <p:nvPr/>
        </p:nvSpPr>
        <p:spPr>
          <a:xfrm xmlns:a="http://schemas.openxmlformats.org/drawingml/2006/main">
            <a:off x="440055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7" name="Tổng hợp + đầu ra">
            <a:extLst xmlns:a="http://schemas.openxmlformats.org/drawingml/2006/main">
              <a:ext uri="{FF2B5EF4-FFF2-40B4-BE49-F238E27FC236}">
                <a16:creationId xmlns:a16="http://schemas.microsoft.com/office/drawing/2014/main" id="{8C0B21E7-4ED6-4A20-83C7-ACA5E9104388}"/>
              </a:ext>
            </a:extLst>
          </p:cNvPr>
          <p:cNvSpPr>
            <a:spLocks xmlns:a="http://schemas.openxmlformats.org/drawingml/2006/main" noGrp="1"/>
          </p:cNvSpPr>
          <p:nvPr/>
        </p:nvSpPr>
        <p:spPr>
          <a:xfrm xmlns:a="http://schemas.openxmlformats.org/drawingml/2006/main">
            <a:off x="440055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đầu ra</a:t>
            </a:r>
          </a:p>
        </p:txBody>
      </p:sp>
      <p:sp>
        <p:nvSpPr>
          <p:cNvPr id="8" name="Kết hợp nhánh skip&#10;1 giá trị / nút">
            <a:extLst xmlns:a="http://schemas.openxmlformats.org/drawingml/2006/main">
              <a:ext uri="{FF2B5EF4-FFF2-40B4-BE49-F238E27FC236}">
                <a16:creationId xmlns:a16="http://schemas.microsoft.com/office/drawing/2014/main" id="{F80A08A4-D0F0-42CA-9201-0C7AFB8BE79F}"/>
              </a:ext>
            </a:extLst>
          </p:cNvPr>
          <p:cNvSpPr>
            <a:spLocks xmlns:a="http://schemas.openxmlformats.org/drawingml/2006/main" noGrp="1"/>
          </p:cNvSpPr>
          <p:nvPr/>
        </p:nvSpPr>
        <p:spPr>
          <a:xfrm xmlns:a="http://schemas.openxmlformats.org/drawingml/2006/main">
            <a:off x="440055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Kết hợp nhánh skip</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1 giá trị / nút</a:t>
            </a:r>
          </a:p>
        </p:txBody>
      </p:sp>
      <p:sp>
        <p:nvSpPr>
          <p:cNvPr id="9" name="">
            <a:extLst xmlns:a="http://schemas.openxmlformats.org/drawingml/2006/main">
              <a:ext uri="{FF2B5EF4-FFF2-40B4-BE49-F238E27FC236}">
                <a16:creationId xmlns:a16="http://schemas.microsoft.com/office/drawing/2014/main" id="{C83BB057-F0AF-4B36-A19C-0D10D143B395}"/>
              </a:ext>
            </a:extLst>
          </p:cNvPr>
          <p:cNvSpPr>
            <a:spLocks xmlns:a="http://schemas.openxmlformats.org/drawingml/2006/main" noGrp="1"/>
          </p:cNvSpPr>
          <p:nvPr/>
        </p:nvSpPr>
        <p:spPr>
          <a:xfrm xmlns:a="http://schemas.openxmlformats.org/drawingml/2006/main">
            <a:off x="8191500" y="1971675"/>
            <a:ext cx="3209925" cy="47625"/>
          </a:xfrm>
          <a:prstGeom xmlns:a="http://schemas.openxmlformats.org/drawingml/2006/main" prst="rect">
            <a:avLst/>
          </a:prstGeom>
          <a:solidFill xmlns:a="http://schemas.openxmlformats.org/drawingml/2006/main">
            <a:srgbClr val="C7533D"/>
          </a:solidFill>
          <a:ln xmlns:a="http://schemas.openxmlformats.org/drawingml/2006/main" w="0">
            <a:noFill/>
          </a:ln>
        </p:spPr>
      </p:sp>
      <p:sp>
        <p:nvSpPr>
          <p:cNvPr id="10" name="Sigmoid">
            <a:extLst xmlns:a="http://schemas.openxmlformats.org/drawingml/2006/main">
              <a:ext uri="{FF2B5EF4-FFF2-40B4-BE49-F238E27FC236}">
                <a16:creationId xmlns:a16="http://schemas.microsoft.com/office/drawing/2014/main" id="{93DE645C-D270-4441-8F4B-7EE4FBC9BDB6}"/>
              </a:ext>
            </a:extLst>
          </p:cNvPr>
          <p:cNvSpPr>
            <a:spLocks xmlns:a="http://schemas.openxmlformats.org/drawingml/2006/main" noGrp="1"/>
          </p:cNvSpPr>
          <p:nvPr/>
        </p:nvSpPr>
        <p:spPr>
          <a:xfrm xmlns:a="http://schemas.openxmlformats.org/drawingml/2006/main">
            <a:off x="81915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Sigmoid</a:t>
            </a:r>
          </a:p>
        </p:txBody>
      </p:sp>
      <p:sp>
        <p:nvSpPr>
          <p:cNvPr id="11" name="Điểm từ 0 đến 1&#10;So với ngưỡng">
            <a:extLst xmlns:a="http://schemas.openxmlformats.org/drawingml/2006/main">
              <a:ext uri="{FF2B5EF4-FFF2-40B4-BE49-F238E27FC236}">
                <a16:creationId xmlns:a16="http://schemas.microsoft.com/office/drawing/2014/main" id="{4578026B-238B-4B51-9A73-4CA0B7503A28}"/>
              </a:ext>
            </a:extLst>
          </p:cNvPr>
          <p:cNvSpPr>
            <a:spLocks xmlns:a="http://schemas.openxmlformats.org/drawingml/2006/main" noGrp="1"/>
          </p:cNvSpPr>
          <p:nvPr/>
        </p:nvSpPr>
        <p:spPr>
          <a:xfrm xmlns:a="http://schemas.openxmlformats.org/drawingml/2006/main">
            <a:off x="81915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Điểm từ 0 đến 1</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So với ngưỡng</a:t>
            </a:r>
          </a:p>
        </p:txBody>
      </p:sp>
      <p:sp>
        <p:nvSpPr>
          <p:cNvPr id="12" name="Dropout chỉ dùng khi học. Điểm đầu ra chưa được hiệu chỉnh x">
            <a:extLst xmlns:a="http://schemas.openxmlformats.org/drawingml/2006/main">
              <a:ext uri="{FF2B5EF4-FFF2-40B4-BE49-F238E27FC236}">
                <a16:creationId xmlns:a16="http://schemas.microsoft.com/office/drawing/2014/main" id="{D5076909-2268-4013-A5C7-C9EA891C8FE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Dropout chỉ dùng khi học. Điểm đầu ra chưa được hiệu chỉnh xác suất.</a:t>
            </a:r>
          </a:p>
        </p:txBody>
      </p:sp>
    </p:spTree>
    <p:extLst>
      <p:ext uri="{BB962C8B-B14F-4D97-AF65-F5344CB8AC3E}">
        <p14:creationId xmlns:p14="http://schemas.microsoft.com/office/powerpoint/2010/main" val="678835472"/>
      </p:ext>
    </p:extLst>
  </p:cSld>
</p:sld>
</file>

<file path=ppt/slides/slide1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495C48F-13B3-41A9-B4DD-56ADFBE2B56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Huấn luyện và chọn checkpoint</a:t>
            </a:r>
          </a:p>
        </p:txBody>
      </p:sp>
      <p:sp>
        <p:nvSpPr>
          <p:cNvPr id="2" name="12 / 26">
            <a:extLst xmlns:a="http://schemas.openxmlformats.org/drawingml/2006/main">
              <a:ext uri="{FF2B5EF4-FFF2-40B4-BE49-F238E27FC236}">
                <a16:creationId xmlns:a16="http://schemas.microsoft.com/office/drawing/2014/main" id="{C4C9E7E8-7D26-4931-996C-B23C030D55E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D2DB0792-8079-4017-B593-C52A89169EAD}"/>
              </a:ext>
            </a:extLst>
          </p:cNvPr>
          <p:cNvGraphicFramePr/>
          <p:nvPr/>
        </p:nvGraphicFramePr>
        <p:xfrm>
          <a:off xmlns:a="http://schemas.openxmlformats.org/drawingml/2006/main" x="609600" y="1724025"/>
          <a:ext xmlns:a="http://schemas.openxmlformats.org/drawingml/2006/main" cx="10972800" cy="3333750"/>
        </p:xfrm>
        <a:graphic xmlns:a="http://schemas.openxmlformats.org/drawingml/2006/main">
          <a:graphicData uri="http://schemas.openxmlformats.org/drawingml/2006/table">
            <a:tbl>
              <a:tblPr firstRow="0" bandRow="0"/>
              <a:tblGrid>
                <a:gridCol w="4524375"/>
                <a:gridCol w="6448425"/>
              </a:tblGrid>
              <a:tr h="666750">
                <a:tc>
                  <a:txBody>
                    <a:bodyPr/>
                    <a:lstStyle/>
                    <a:p>
                      <a:r>
                        <a:rPr sz="2025" b="1">
                          <a:solidFill>
                            <a:srgbClr val="FFFFFF"/>
                          </a:solidFill>
                          <a:latin typeface="Arial"/>
                          <a:ea typeface="Arial"/>
                          <a:cs typeface="Arial"/>
                        </a:rPr>
                        <a:t>Thiết lập neural</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Giá trị</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66750">
                <a:tc>
                  <a:txBody>
                    <a:bodyPr/>
                    <a:lstStyle/>
                    <a:p>
                      <a:r>
                        <a:rPr sz="2025">
                          <a:solidFill>
                            <a:srgbClr val="182B2D"/>
                          </a:solidFill>
                          <a:latin typeface="Arial"/>
                          <a:ea typeface="Arial"/>
                          <a:cs typeface="Arial"/>
                        </a:rPr>
                        <a:t>Optimizer</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Adam, learning rate 0.003</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Loss</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Weighted BCE, trọng số dương 2.33</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Ngân sách</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1500 epoch, patience 150</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Chọn checkpoint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AP cao nhất trên validation</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Đầu vào: QuantileTransformer từ train. GCN seed 0 chọn epoch">
            <a:extLst xmlns:a="http://schemas.openxmlformats.org/drawingml/2006/main">
              <a:ext uri="{FF2B5EF4-FFF2-40B4-BE49-F238E27FC236}">
                <a16:creationId xmlns:a16="http://schemas.microsoft.com/office/drawing/2014/main" id="{701CF3D9-5DDA-464E-BBCB-71E9CD10945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Đầu vào: QuantileTransformer từ train. GCN seed 0 chọn epoch 811.</a:t>
            </a:r>
          </a:p>
        </p:txBody>
      </p:sp>
    </p:spTree>
    <p:extLst>
      <p:ext uri="{BB962C8B-B14F-4D97-AF65-F5344CB8AC3E}">
        <p14:creationId xmlns:p14="http://schemas.microsoft.com/office/powerpoint/2010/main" val="880664068"/>
      </p:ext>
    </p:extLst>
  </p:cSld>
</p:sld>
</file>

<file path=ppt/slides/slide1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7215497-DBCF-4415-B8CE-D108205ACA6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Chỉ số cho lớp illicit</a:t>
            </a:r>
          </a:p>
        </p:txBody>
      </p:sp>
      <p:sp>
        <p:nvSpPr>
          <p:cNvPr id="2" name="13 / 26">
            <a:extLst xmlns:a="http://schemas.openxmlformats.org/drawingml/2006/main">
              <a:ext uri="{FF2B5EF4-FFF2-40B4-BE49-F238E27FC236}">
                <a16:creationId xmlns:a16="http://schemas.microsoft.com/office/drawing/2014/main" id="{1C38E731-3BB7-4727-9682-66D84135DD9C}"/>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13 / 26</a:t>
            </a:r>
          </a:p>
        </p:txBody>
      </p:sp>
      <p:sp>
        <p:nvSpPr>
          <p:cNvPr id="3" name="10 cảnh báo">
            <a:extLst xmlns:a="http://schemas.openxmlformats.org/drawingml/2006/main">
              <a:ext uri="{FF2B5EF4-FFF2-40B4-BE49-F238E27FC236}">
                <a16:creationId xmlns:a16="http://schemas.microsoft.com/office/drawing/2014/main" id="{C1C4149C-B921-4C67-BD2C-305FF901CB32}"/>
              </a:ext>
            </a:extLst>
          </p:cNvPr>
          <p:cNvSpPr>
            <a:spLocks xmlns:a="http://schemas.openxmlformats.org/drawingml/2006/main" noGrp="1"/>
          </p:cNvSpPr>
          <p:nvPr/>
        </p:nvSpPr>
        <p:spPr>
          <a:xfrm xmlns:a="http://schemas.openxmlformats.org/drawingml/2006/main">
            <a:off x="609600" y="1819275"/>
            <a:ext cx="5762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82B2D"/>
                </a:solidFill>
                <a:latin typeface="Arial"/>
                <a:ea typeface="Arial"/>
                <a:cs typeface="Arial"/>
              </a:defRPr>
            </a:defPPr>
          </a:lstStyle>
          <a:p xmlns:a="http://schemas.openxmlformats.org/drawingml/2006/main">
            <a:pPr algn="l">
              <a:defRPr sz="4050" b="1">
                <a:solidFill>
                  <a:srgbClr val="182B2D"/>
                </a:solidFill>
                <a:latin typeface="Arial"/>
                <a:ea typeface="Arial"/>
                <a:cs typeface="Arial"/>
              </a:defRPr>
            </a:pPr>
            <a:r>
              <a:rPr sz="4050" b="1">
                <a:solidFill>
                  <a:srgbClr val="182B2D"/>
                </a:solidFill>
                <a:latin typeface="Arial"/>
                <a:ea typeface="Arial"/>
                <a:cs typeface="Arial"/>
              </a:rPr>
              <a:t>10 cảnh báo</a:t>
            </a:r>
          </a:p>
        </p:txBody>
      </p:sp>
      <p:sp>
        <p:nvSpPr>
          <p:cNvPr id="4" name="8 đúng  /  2 nhầm">
            <a:extLst xmlns:a="http://schemas.openxmlformats.org/drawingml/2006/main">
              <a:ext uri="{FF2B5EF4-FFF2-40B4-BE49-F238E27FC236}">
                <a16:creationId xmlns:a16="http://schemas.microsoft.com/office/drawing/2014/main" id="{063AE616-FDDA-4523-AD06-CA54272680B8}"/>
              </a:ext>
            </a:extLst>
          </p:cNvPr>
          <p:cNvSpPr>
            <a:spLocks xmlns:a="http://schemas.openxmlformats.org/drawingml/2006/main" noGrp="1"/>
          </p:cNvSpPr>
          <p:nvPr/>
        </p:nvSpPr>
        <p:spPr>
          <a:xfrm xmlns:a="http://schemas.openxmlformats.org/drawingml/2006/main">
            <a:off x="609600" y="2933700"/>
            <a:ext cx="590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16796F"/>
                </a:solidFill>
                <a:latin typeface="Arial"/>
                <a:ea typeface="Arial"/>
                <a:cs typeface="Arial"/>
              </a:defRPr>
            </a:defPPr>
          </a:lstStyle>
          <a:p xmlns:a="http://schemas.openxmlformats.org/drawingml/2006/main">
            <a:pPr algn="l">
              <a:defRPr sz="3075" b="0">
                <a:solidFill>
                  <a:srgbClr val="16796F"/>
                </a:solidFill>
                <a:latin typeface="Arial"/>
                <a:ea typeface="Arial"/>
                <a:cs typeface="Arial"/>
              </a:defRPr>
            </a:pPr>
            <a:r>
              <a:rPr sz="3075" b="0">
                <a:solidFill>
                  <a:srgbClr val="16796F"/>
                </a:solidFill>
                <a:latin typeface="Arial"/>
                <a:ea typeface="Arial"/>
                <a:cs typeface="Arial"/>
              </a:rPr>
              <a:t>8 đúng  /  2 nhầm</a:t>
            </a:r>
          </a:p>
        </p:txBody>
      </p:sp>
      <p:sp>
        <p:nvSpPr>
          <p:cNvPr id="5" name="Có 20 illicit trong tập">
            <a:extLst xmlns:a="http://schemas.openxmlformats.org/drawingml/2006/main">
              <a:ext uri="{FF2B5EF4-FFF2-40B4-BE49-F238E27FC236}">
                <a16:creationId xmlns:a16="http://schemas.microsoft.com/office/drawing/2014/main" id="{AD3F1276-4BF1-4EC1-8A2F-7514531230EC}"/>
              </a:ext>
            </a:extLst>
          </p:cNvPr>
          <p:cNvSpPr>
            <a:spLocks xmlns:a="http://schemas.openxmlformats.org/drawingml/2006/main" noGrp="1"/>
          </p:cNvSpPr>
          <p:nvPr/>
        </p:nvSpPr>
        <p:spPr>
          <a:xfrm xmlns:a="http://schemas.openxmlformats.org/drawingml/2006/main">
            <a:off x="609600" y="408622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B6F71"/>
                </a:solidFill>
                <a:latin typeface="Arial"/>
                <a:ea typeface="Arial"/>
                <a:cs typeface="Arial"/>
              </a:defRPr>
            </a:defPPr>
          </a:lstStyle>
          <a:p xmlns:a="http://schemas.openxmlformats.org/drawingml/2006/main">
            <a:pPr algn="l">
              <a:defRPr sz="2475" b="0">
                <a:solidFill>
                  <a:srgbClr val="5B6F71"/>
                </a:solidFill>
                <a:latin typeface="Arial"/>
                <a:ea typeface="Arial"/>
                <a:cs typeface="Arial"/>
              </a:defRPr>
            </a:pPr>
            <a:r>
              <a:rPr sz="2475" b="0">
                <a:solidFill>
                  <a:srgbClr val="5B6F71"/>
                </a:solidFill>
                <a:latin typeface="Arial"/>
                <a:ea typeface="Arial"/>
                <a:cs typeface="Arial"/>
              </a:rPr>
              <a:t>Có 20 illicit trong tập</a:t>
            </a:r>
          </a:p>
        </p:txBody>
      </p:sp>
      <p:sp>
        <p:nvSpPr>
          <p:cNvPr id="6" name="Precision 80%">
            <a:extLst xmlns:a="http://schemas.openxmlformats.org/drawingml/2006/main">
              <a:ext uri="{FF2B5EF4-FFF2-40B4-BE49-F238E27FC236}">
                <a16:creationId xmlns:a16="http://schemas.microsoft.com/office/drawing/2014/main" id="{106158A0-CBF5-4B7A-92A8-3D11221A16C7}"/>
              </a:ext>
            </a:extLst>
          </p:cNvPr>
          <p:cNvSpPr>
            <a:spLocks xmlns:a="http://schemas.openxmlformats.org/drawingml/2006/main" noGrp="1"/>
          </p:cNvSpPr>
          <p:nvPr/>
        </p:nvSpPr>
        <p:spPr>
          <a:xfrm xmlns:a="http://schemas.openxmlformats.org/drawingml/2006/main">
            <a:off x="7724775" y="1990725"/>
            <a:ext cx="3838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6796F"/>
                </a:solidFill>
                <a:latin typeface="Arial"/>
                <a:ea typeface="Arial"/>
                <a:cs typeface="Arial"/>
              </a:defRPr>
            </a:defPPr>
          </a:lstStyle>
          <a:p xmlns:a="http://schemas.openxmlformats.org/drawingml/2006/main">
            <a:pPr algn="l">
              <a:defRPr sz="3150" b="1">
                <a:solidFill>
                  <a:srgbClr val="16796F"/>
                </a:solidFill>
                <a:latin typeface="Arial"/>
                <a:ea typeface="Arial"/>
                <a:cs typeface="Arial"/>
              </a:defRPr>
            </a:pPr>
            <a:r>
              <a:rPr sz="3150" b="1">
                <a:solidFill>
                  <a:srgbClr val="16796F"/>
                </a:solidFill>
                <a:latin typeface="Arial"/>
                <a:ea typeface="Arial"/>
                <a:cs typeface="Arial"/>
              </a:rPr>
              <a:t>Precision 80%</a:t>
            </a:r>
          </a:p>
        </p:txBody>
      </p:sp>
      <p:sp>
        <p:nvSpPr>
          <p:cNvPr id="7" name="Recall 40%">
            <a:extLst xmlns:a="http://schemas.openxmlformats.org/drawingml/2006/main">
              <a:ext uri="{FF2B5EF4-FFF2-40B4-BE49-F238E27FC236}">
                <a16:creationId xmlns:a16="http://schemas.microsoft.com/office/drawing/2014/main" id="{14E38B7E-F5AE-4645-9E59-2FDCC3ECCF12}"/>
              </a:ext>
            </a:extLst>
          </p:cNvPr>
          <p:cNvSpPr>
            <a:spLocks xmlns:a="http://schemas.openxmlformats.org/drawingml/2006/main" noGrp="1"/>
          </p:cNvSpPr>
          <p:nvPr/>
        </p:nvSpPr>
        <p:spPr>
          <a:xfrm xmlns:a="http://schemas.openxmlformats.org/drawingml/2006/main">
            <a:off x="7724775" y="3305175"/>
            <a:ext cx="3838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C7533D"/>
                </a:solidFill>
                <a:latin typeface="Arial"/>
                <a:ea typeface="Arial"/>
                <a:cs typeface="Arial"/>
              </a:defRPr>
            </a:defPPr>
          </a:lstStyle>
          <a:p xmlns:a="http://schemas.openxmlformats.org/drawingml/2006/main">
            <a:pPr algn="l">
              <a:defRPr sz="3150" b="1">
                <a:solidFill>
                  <a:srgbClr val="C7533D"/>
                </a:solidFill>
                <a:latin typeface="Arial"/>
                <a:ea typeface="Arial"/>
                <a:cs typeface="Arial"/>
              </a:defRPr>
            </a:pPr>
            <a:r>
              <a:rPr sz="3150" b="1">
                <a:solidFill>
                  <a:srgbClr val="C7533D"/>
                </a:solidFill>
                <a:latin typeface="Arial"/>
                <a:ea typeface="Arial"/>
                <a:cs typeface="Arial"/>
              </a:rPr>
              <a:t>Recall 40%</a:t>
            </a:r>
          </a:p>
        </p:txBody>
      </p:sp>
      <p:sp>
        <p:nvSpPr>
          <p:cNvPr id="8" name="Ví dụ minh họa. F1 khoảng 53,3%. AP đánh giá khả năng xếp hạ">
            <a:extLst xmlns:a="http://schemas.openxmlformats.org/drawingml/2006/main">
              <a:ext uri="{FF2B5EF4-FFF2-40B4-BE49-F238E27FC236}">
                <a16:creationId xmlns:a16="http://schemas.microsoft.com/office/drawing/2014/main" id="{E4F977AD-C385-40F7-B41A-39B694135C6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Ví dụ minh họa. F1 khoảng 53,3%. AP đánh giá khả năng xếp hạng qua nhiều ngưỡng.</a:t>
            </a:r>
          </a:p>
        </p:txBody>
      </p:sp>
    </p:spTree>
    <p:extLst>
      <p:ext uri="{BB962C8B-B14F-4D97-AF65-F5344CB8AC3E}">
        <p14:creationId xmlns:p14="http://schemas.microsoft.com/office/powerpoint/2010/main" val="1806477550"/>
      </p:ext>
    </p:extLst>
  </p:cSld>
</p:sld>
</file>

<file path=ppt/slides/slide1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C37200D-ED6E-408B-B014-6F93AD5F90F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Ngưỡng cảnh báo</a:t>
            </a:r>
          </a:p>
        </p:txBody>
      </p:sp>
      <p:sp>
        <p:nvSpPr>
          <p:cNvPr id="2" name="14 / 26">
            <a:extLst xmlns:a="http://schemas.openxmlformats.org/drawingml/2006/main">
              <a:ext uri="{FF2B5EF4-FFF2-40B4-BE49-F238E27FC236}">
                <a16:creationId xmlns:a16="http://schemas.microsoft.com/office/drawing/2014/main" id="{EDEBF96F-E92C-4BA9-8001-E884715BF754}"/>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14 / 26</a:t>
            </a:r>
          </a:p>
        </p:txBody>
      </p:sp>
      <p:graphicFrame>
        <p:nvGraphicFramePr>
          <p:cNvPr id="3" name="Chart">
            <a:extLst xmlns:a="http://schemas.openxmlformats.org/drawingml/2006/main">
              <a:ext uri="{FF2B5EF4-FFF2-40B4-BE49-F238E27FC236}">
                <a16:creationId xmlns:a16="http://schemas.microsoft.com/office/drawing/2014/main" id="{294E91E2-BA7A-4AB4-8B09-D244DE4E9D98}"/>
              </a:ext>
            </a:extLst>
          </p:cNvPr>
          <p:cNvGraphicFramePr/>
          <p:nvPr/>
        </p:nvGraphicFramePr>
        <p:xfrm>
          <a:off xmlns:a="http://schemas.openxmlformats.org/drawingml/2006/main" x="609600" y="1695450"/>
          <a:ext xmlns:a="http://schemas.openxmlformats.org/drawingml/2006/main" cx="10972800" cy="3324225"/>
        </p:xfrm>
        <a:graphic xmlns:a="http://schemas.openxmlformats.org/drawingml/2006/main">
          <a:graphicData uri="http://schemas.openxmlformats.org/drawingml/2006/chart">
            <c:chart xmlns:r="http://schemas.openxmlformats.org/officeDocument/2006/relationships" xmlns:c="http://schemas.openxmlformats.org/drawingml/2006/chart" r:id="R99c786e6ed644477"/>
          </a:graphicData>
        </a:graphic>
      </p:graphicFrame>
      <p:sp>
        <p:nvSpPr>
          <p:cNvPr id="4" name="Ngưỡng thấp tạo thêm cảnh báo">
            <a:extLst xmlns:a="http://schemas.openxmlformats.org/drawingml/2006/main">
              <a:ext uri="{FF2B5EF4-FFF2-40B4-BE49-F238E27FC236}">
                <a16:creationId xmlns:a16="http://schemas.microsoft.com/office/drawing/2014/main" id="{156F6C8D-3092-4B83-ADB8-F34786603711}"/>
              </a:ext>
            </a:extLst>
          </p:cNvPr>
          <p:cNvSpPr>
            <a:spLocks xmlns:a="http://schemas.openxmlformats.org/drawingml/2006/main" noGrp="1"/>
          </p:cNvSpPr>
          <p:nvPr/>
        </p:nvSpPr>
        <p:spPr>
          <a:xfrm xmlns:a="http://schemas.openxmlformats.org/drawingml/2006/main">
            <a:off x="609600" y="5448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Ngưỡng thấp tạo thêm cảnh báo</a:t>
            </a:r>
          </a:p>
        </p:txBody>
      </p:sp>
      <p:sp>
        <p:nvSpPr>
          <p:cNvPr id="5" name="GCN seed 0 trên test. Trục ngang: ngưỡng. Biểu đồ chỉ minh h">
            <a:extLst xmlns:a="http://schemas.openxmlformats.org/drawingml/2006/main">
              <a:ext uri="{FF2B5EF4-FFF2-40B4-BE49-F238E27FC236}">
                <a16:creationId xmlns:a16="http://schemas.microsoft.com/office/drawing/2014/main" id="{9F86E018-A353-4D7E-ABF9-D525642AC4F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GCN seed 0 trên test. Trục ngang: ngưỡng. Biểu đồ chỉ minh họa đánh đổi.</a:t>
            </a:r>
          </a:p>
        </p:txBody>
      </p:sp>
    </p:spTree>
    <p:extLst>
      <p:ext uri="{BB962C8B-B14F-4D97-AF65-F5344CB8AC3E}">
        <p14:creationId xmlns:p14="http://schemas.microsoft.com/office/powerpoint/2010/main" val="1150016822"/>
      </p:ext>
    </p:extLst>
  </p:cSld>
</p:sld>
</file>

<file path=ppt/slides/slide1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09438A0-E922-4270-97AA-50B579C0D1F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Thiết lập so sánh</a:t>
            </a:r>
          </a:p>
        </p:txBody>
      </p:sp>
      <p:sp>
        <p:nvSpPr>
          <p:cNvPr id="2" name="15 / 26">
            <a:extLst xmlns:a="http://schemas.openxmlformats.org/drawingml/2006/main">
              <a:ext uri="{FF2B5EF4-FFF2-40B4-BE49-F238E27FC236}">
                <a16:creationId xmlns:a16="http://schemas.microsoft.com/office/drawing/2014/main" id="{DA2EBA47-3C63-4674-B716-35EDFF6DEBE0}"/>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15 / 26</a:t>
            </a:r>
          </a:p>
        </p:txBody>
      </p:sp>
      <p:graphicFrame>
        <p:nvGraphicFramePr>
          <p:cNvPr id="3" name="">
            <a:extLst xmlns:a="http://schemas.openxmlformats.org/drawingml/2006/main">
              <a:ext uri="{FF2B5EF4-FFF2-40B4-BE49-F238E27FC236}">
                <a16:creationId xmlns:a16="http://schemas.microsoft.com/office/drawing/2014/main" id="{9295E758-47DE-4089-92F3-437D2B0DAD03}"/>
              </a:ext>
            </a:extLst>
          </p:cNvPr>
          <p:cNvGraphicFramePr/>
          <p:nvPr/>
        </p:nvGraphicFramePr>
        <p:xfrm>
          <a:off xmlns:a="http://schemas.openxmlformats.org/drawingml/2006/main" x="609600" y="1704975"/>
          <a:ext xmlns:a="http://schemas.openxmlformats.org/drawingml/2006/main" cx="10972800" cy="3400425"/>
        </p:xfrm>
        <a:graphic xmlns:a="http://schemas.openxmlformats.org/drawingml/2006/main">
          <a:graphicData uri="http://schemas.openxmlformats.org/drawingml/2006/table">
            <a:tbl>
              <a:tblPr firstRow="0" bandRow="0"/>
              <a:tblGrid>
                <a:gridCol w="3333750"/>
                <a:gridCol w="4591050"/>
                <a:gridCol w="3048000"/>
              </a:tblGrid>
              <a:tr h="680085">
                <a:tc>
                  <a:txBody>
                    <a:bodyPr/>
                    <a:lstStyle/>
                    <a:p>
                      <a:r>
                        <a:rPr sz="1950" b="1">
                          <a:solidFill>
                            <a:srgbClr val="FFFFFF"/>
                          </a:solidFill>
                          <a:latin typeface="Arial"/>
                          <a:ea typeface="Arial"/>
                          <a:cs typeface="Arial"/>
                        </a:rPr>
                        <a:t>Cấu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Đặc trưng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Lần chạy</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0085">
                <a:tc>
                  <a:txBody>
                    <a:bodyPr/>
                    <a:lstStyle/>
                    <a:p>
                      <a:r>
                        <a:rPr sz="195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+ 72 tổng hợp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và graph</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RF: 200 cây, min_samples_leaf 2. Cùng train / validation / t">
            <a:extLst xmlns:a="http://schemas.openxmlformats.org/drawingml/2006/main">
              <a:ext uri="{FF2B5EF4-FFF2-40B4-BE49-F238E27FC236}">
                <a16:creationId xmlns:a16="http://schemas.microsoft.com/office/drawing/2014/main" id="{20918F8C-DAF3-402D-A263-36DAF25DDC49}"/>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200 cây, min_samples_leaf 2. Cùng train / validation / test.</a:t>
            </a:r>
          </a:p>
        </p:txBody>
      </p:sp>
    </p:spTree>
    <p:extLst>
      <p:ext uri="{BB962C8B-B14F-4D97-AF65-F5344CB8AC3E}">
        <p14:creationId xmlns:p14="http://schemas.microsoft.com/office/powerpoint/2010/main" val="1389553403"/>
      </p:ext>
    </p:extLst>
  </p:cSld>
</p:sld>
</file>

<file path=ppt/slides/slide1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6A40469-0398-4DF0-A357-F5AF3411192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quả F1 trên tập kiểm tra</a:t>
            </a:r>
          </a:p>
        </p:txBody>
      </p:sp>
      <p:sp>
        <p:nvSpPr>
          <p:cNvPr id="2" name="16 / 26">
            <a:extLst xmlns:a="http://schemas.openxmlformats.org/drawingml/2006/main">
              <a:ext uri="{FF2B5EF4-FFF2-40B4-BE49-F238E27FC236}">
                <a16:creationId xmlns:a16="http://schemas.microsoft.com/office/drawing/2014/main" id="{1C71713E-DADB-4324-B202-990E5FEFBDE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16 / 26</a:t>
            </a:r>
          </a:p>
        </p:txBody>
      </p:sp>
      <p:graphicFrame>
        <p:nvGraphicFramePr>
          <p:cNvPr id="3" name="Chart">
            <a:extLst xmlns:a="http://schemas.openxmlformats.org/drawingml/2006/main">
              <a:ext uri="{FF2B5EF4-FFF2-40B4-BE49-F238E27FC236}">
                <a16:creationId xmlns:a16="http://schemas.microsoft.com/office/drawing/2014/main" id="{9F3591F2-D71D-4E9A-980C-993C7F77D08C}"/>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462f330d0be44184"/>
          </a:graphicData>
        </a:graphic>
      </p:graphicFrame>
      <p:sp>
        <p:nvSpPr>
          <p:cNvPr id="4" name="GCN tăng từ 36,5% lên 61,3% F1">
            <a:extLst xmlns:a="http://schemas.openxmlformats.org/drawingml/2006/main">
              <a:ext uri="{FF2B5EF4-FFF2-40B4-BE49-F238E27FC236}">
                <a16:creationId xmlns:a16="http://schemas.microsoft.com/office/drawing/2014/main" id="{28D3895C-B8BF-430C-B4E3-88627D961423}"/>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GCN tăng từ 36,5% lên 61,3% F1</a:t>
            </a:r>
          </a:p>
        </p:txBody>
      </p:sp>
      <p:sp>
        <p:nvSpPr>
          <p:cNvPr id="5" name="Trung bình ba seed. Ngưỡng chọn bằng validation. Test cũ đượ">
            <a:extLst xmlns:a="http://schemas.openxmlformats.org/drawingml/2006/main">
              <a:ext uri="{FF2B5EF4-FFF2-40B4-BE49-F238E27FC236}">
                <a16:creationId xmlns:a16="http://schemas.microsoft.com/office/drawing/2014/main" id="{AAE17853-C268-4F7A-B28F-CAF45571103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Trung bình ba seed. Ngưỡng chọn bằng validation. Test cũ được đánh giá lại.</a:t>
            </a:r>
          </a:p>
        </p:txBody>
      </p:sp>
    </p:spTree>
    <p:extLst>
      <p:ext uri="{BB962C8B-B14F-4D97-AF65-F5344CB8AC3E}">
        <p14:creationId xmlns:p14="http://schemas.microsoft.com/office/powerpoint/2010/main" val="1360644805"/>
      </p:ext>
    </p:extLst>
  </p:cSld>
</p:sld>
</file>

<file path=ppt/slides/slide1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998BCB0-A5C5-4F68-83D8-B0B82182F7D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Precision và Recall cho thấy điều gì?</a:t>
            </a:r>
          </a:p>
        </p:txBody>
      </p:sp>
      <p:sp>
        <p:nvSpPr>
          <p:cNvPr id="2" name="17 / 26">
            <a:extLst xmlns:a="http://schemas.openxmlformats.org/drawingml/2006/main">
              <a:ext uri="{FF2B5EF4-FFF2-40B4-BE49-F238E27FC236}">
                <a16:creationId xmlns:a16="http://schemas.microsoft.com/office/drawing/2014/main" id="{B645051D-327E-4B85-8EFF-02745DD217B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17 / 26</a:t>
            </a:r>
          </a:p>
        </p:txBody>
      </p:sp>
      <p:graphicFrame>
        <p:nvGraphicFramePr>
          <p:cNvPr id="3" name="">
            <a:extLst xmlns:a="http://schemas.openxmlformats.org/drawingml/2006/main">
              <a:ext uri="{FF2B5EF4-FFF2-40B4-BE49-F238E27FC236}">
                <a16:creationId xmlns:a16="http://schemas.microsoft.com/office/drawing/2014/main" id="{3073913D-F080-49AD-B6EB-B03508CBF281}"/>
              </a:ext>
            </a:extLst>
          </p:cNvPr>
          <p:cNvGraphicFramePr/>
          <p:nvPr/>
        </p:nvGraphicFramePr>
        <p:xfrm>
          <a:off xmlns:a="http://schemas.openxmlformats.org/drawingml/2006/main" x="609600" y="1704975"/>
          <a:ext xmlns:a="http://schemas.openxmlformats.org/drawingml/2006/main" cx="10972800" cy="3409950"/>
        </p:xfrm>
        <a:graphic xmlns:a="http://schemas.openxmlformats.org/drawingml/2006/main">
          <a:graphicData uri="http://schemas.openxmlformats.org/drawingml/2006/table">
            <a:tbl>
              <a:tblPr firstRow="0" bandRow="0"/>
              <a:tblGrid>
                <a:gridCol w="2933700"/>
                <a:gridCol w="2009775"/>
                <a:gridCol w="2009775"/>
                <a:gridCol w="2009775"/>
                <a:gridCol w="2009775"/>
              </a:tblGrid>
              <a:tr h="681990">
                <a:tc>
                  <a:txBody>
                    <a:bodyPr/>
                    <a:lstStyle/>
                    <a:p>
                      <a:r>
                        <a:rPr sz="1800" b="1">
                          <a:solidFill>
                            <a:srgbClr val="FFFFFF"/>
                          </a:solidFill>
                          <a:latin typeface="Arial"/>
                          <a:ea typeface="Arial"/>
                          <a:cs typeface="Arial"/>
                        </a:rPr>
                        <a:t>Mô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Precision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Recall</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F1</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AP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1990">
                <a:tc>
                  <a:txBody>
                    <a:bodyPr/>
                    <a:lstStyle/>
                    <a:p>
                      <a:r>
                        <a:rPr sz="180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82,2 ± 4,6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72,5 ± 0,8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77,0 ± 1,6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78,2 ± 0,0</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88,7 ± 3,8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71,7 ± 0,6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79,3 ± 1,1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78,9 ± 0,4</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57,1 ± 3,8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74,3 ± 0,3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64,5 ± 2,3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78,8 ± 0,1</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52,1 ± 1,1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74,5 ± 0,1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61,3 ± 0,8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78,0 ± 0,2</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Đơn vị %. ± là độ lệch chuẩn qua 3 seed, không phải khoảng t">
            <a:extLst xmlns:a="http://schemas.openxmlformats.org/drawingml/2006/main">
              <a:ext uri="{FF2B5EF4-FFF2-40B4-BE49-F238E27FC236}">
                <a16:creationId xmlns:a16="http://schemas.microsoft.com/office/drawing/2014/main" id="{A6F9F92B-41CD-43DF-9E97-B404AC4085D7}"/>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Đơn vị %. ± là độ lệch chuẩn qua 3 seed, không phải khoảng tin cậy.</a:t>
            </a:r>
          </a:p>
        </p:txBody>
      </p:sp>
    </p:spTree>
    <p:extLst>
      <p:ext uri="{BB962C8B-B14F-4D97-AF65-F5344CB8AC3E}">
        <p14:creationId xmlns:p14="http://schemas.microsoft.com/office/powerpoint/2010/main" val="813133704"/>
      </p:ext>
    </p:extLst>
  </p:cSld>
</p:sld>
</file>

<file path=ppt/slides/slide1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905F760-C9BB-4934-8844-ED5C67AA343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Validation và test khác nhau</a:t>
            </a:r>
          </a:p>
        </p:txBody>
      </p:sp>
      <p:sp>
        <p:nvSpPr>
          <p:cNvPr id="2" name="18 / 26">
            <a:extLst xmlns:a="http://schemas.openxmlformats.org/drawingml/2006/main">
              <a:ext uri="{FF2B5EF4-FFF2-40B4-BE49-F238E27FC236}">
                <a16:creationId xmlns:a16="http://schemas.microsoft.com/office/drawing/2014/main" id="{480DA545-5A7A-4F04-A5EA-E893F982EED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18 / 26</a:t>
            </a:r>
          </a:p>
        </p:txBody>
      </p:sp>
      <p:graphicFrame>
        <p:nvGraphicFramePr>
          <p:cNvPr id="3" name="Chart">
            <a:extLst xmlns:a="http://schemas.openxmlformats.org/drawingml/2006/main">
              <a:ext uri="{FF2B5EF4-FFF2-40B4-BE49-F238E27FC236}">
                <a16:creationId xmlns:a16="http://schemas.microsoft.com/office/drawing/2014/main" id="{9E666FF3-50AE-46BE-8C97-1AABB2A920EA}"/>
              </a:ext>
            </a:extLst>
          </p:cNvPr>
          <p:cNvGraphicFramePr/>
          <p:nvPr/>
        </p:nvGraphicFramePr>
        <p:xfrm>
          <a:off xmlns:a="http://schemas.openxmlformats.org/drawingml/2006/main" x="609600" y="1695450"/>
          <a:ext xmlns:a="http://schemas.openxmlformats.org/drawingml/2006/main" cx="7810500" cy="3667125"/>
        </p:xfrm>
        <a:graphic xmlns:a="http://schemas.openxmlformats.org/drawingml/2006/main">
          <a:graphicData uri="http://schemas.openxmlformats.org/drawingml/2006/chart">
            <c:chart xmlns:r="http://schemas.openxmlformats.org/officeDocument/2006/relationships" xmlns:c="http://schemas.openxmlformats.org/drawingml/2006/chart" r:id="Rd04fa04ff9234bc3"/>
          </a:graphicData>
        </a:graphic>
      </p:graphicFrame>
      <p:sp>
        <p:nvSpPr>
          <p:cNvPr id="4" name="16,8%">
            <a:extLst xmlns:a="http://schemas.openxmlformats.org/drawingml/2006/main">
              <a:ext uri="{FF2B5EF4-FFF2-40B4-BE49-F238E27FC236}">
                <a16:creationId xmlns:a16="http://schemas.microsoft.com/office/drawing/2014/main" id="{69C92AB3-4D70-4532-A699-14A7A505E7C1}"/>
              </a:ext>
            </a:extLst>
          </p:cNvPr>
          <p:cNvSpPr>
            <a:spLocks xmlns:a="http://schemas.openxmlformats.org/drawingml/2006/main" noGrp="1"/>
          </p:cNvSpPr>
          <p:nvPr/>
        </p:nvSpPr>
        <p:spPr>
          <a:xfrm xmlns:a="http://schemas.openxmlformats.org/drawingml/2006/main">
            <a:off x="8915400" y="189547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6796F"/>
                </a:solidFill>
                <a:latin typeface="Arial"/>
                <a:ea typeface="Arial"/>
                <a:cs typeface="Arial"/>
              </a:defRPr>
            </a:defPPr>
          </a:lstStyle>
          <a:p xmlns:a="http://schemas.openxmlformats.org/drawingml/2006/main">
            <a:pPr algn="l">
              <a:defRPr sz="4125" b="1">
                <a:solidFill>
                  <a:srgbClr val="16796F"/>
                </a:solidFill>
                <a:latin typeface="Arial"/>
                <a:ea typeface="Arial"/>
                <a:cs typeface="Arial"/>
              </a:defRPr>
            </a:pPr>
            <a:r>
              <a:rPr sz="4125" b="1">
                <a:solidFill>
                  <a:srgbClr val="16796F"/>
                </a:solidFill>
                <a:latin typeface="Arial"/>
                <a:ea typeface="Arial"/>
                <a:cs typeface="Arial"/>
              </a:rPr>
              <a:t>16,8%</a:t>
            </a:r>
          </a:p>
        </p:txBody>
      </p:sp>
      <p:sp>
        <p:nvSpPr>
          <p:cNvPr id="5" name="illicit ở validation">
            <a:extLst xmlns:a="http://schemas.openxmlformats.org/drawingml/2006/main">
              <a:ext uri="{FF2B5EF4-FFF2-40B4-BE49-F238E27FC236}">
                <a16:creationId xmlns:a16="http://schemas.microsoft.com/office/drawing/2014/main" id="{8FF662C2-2615-4501-B37F-C662A229A47E}"/>
              </a:ext>
            </a:extLst>
          </p:cNvPr>
          <p:cNvSpPr>
            <a:spLocks xmlns:a="http://schemas.openxmlformats.org/drawingml/2006/main" noGrp="1"/>
          </p:cNvSpPr>
          <p:nvPr/>
        </p:nvSpPr>
        <p:spPr>
          <a:xfrm xmlns:a="http://schemas.openxmlformats.org/drawingml/2006/main">
            <a:off x="8915400" y="2771775"/>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validation</a:t>
            </a:r>
          </a:p>
        </p:txBody>
      </p:sp>
      <p:sp>
        <p:nvSpPr>
          <p:cNvPr id="6" name="6,5%">
            <a:extLst xmlns:a="http://schemas.openxmlformats.org/drawingml/2006/main">
              <a:ext uri="{FF2B5EF4-FFF2-40B4-BE49-F238E27FC236}">
                <a16:creationId xmlns:a16="http://schemas.microsoft.com/office/drawing/2014/main" id="{58DF1881-EC05-4C64-AAFF-6B46C85D3E7D}"/>
              </a:ext>
            </a:extLst>
          </p:cNvPr>
          <p:cNvSpPr>
            <a:spLocks xmlns:a="http://schemas.openxmlformats.org/drawingml/2006/main" noGrp="1"/>
          </p:cNvSpPr>
          <p:nvPr/>
        </p:nvSpPr>
        <p:spPr>
          <a:xfrm xmlns:a="http://schemas.openxmlformats.org/drawingml/2006/main">
            <a:off x="8915400" y="377190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C7533D"/>
                </a:solidFill>
                <a:latin typeface="Arial"/>
                <a:ea typeface="Arial"/>
                <a:cs typeface="Arial"/>
              </a:defRPr>
            </a:defPPr>
          </a:lstStyle>
          <a:p xmlns:a="http://schemas.openxmlformats.org/drawingml/2006/main">
            <a:pPr algn="l">
              <a:defRPr sz="4125" b="1">
                <a:solidFill>
                  <a:srgbClr val="C7533D"/>
                </a:solidFill>
                <a:latin typeface="Arial"/>
                <a:ea typeface="Arial"/>
                <a:cs typeface="Arial"/>
              </a:defRPr>
            </a:pPr>
            <a:r>
              <a:rPr sz="4125" b="1">
                <a:solidFill>
                  <a:srgbClr val="C7533D"/>
                </a:solidFill>
                <a:latin typeface="Arial"/>
                <a:ea typeface="Arial"/>
                <a:cs typeface="Arial"/>
              </a:rPr>
              <a:t>6,5%</a:t>
            </a:r>
          </a:p>
        </p:txBody>
      </p:sp>
      <p:sp>
        <p:nvSpPr>
          <p:cNvPr id="7" name="illicit ở test">
            <a:extLst xmlns:a="http://schemas.openxmlformats.org/drawingml/2006/main">
              <a:ext uri="{FF2B5EF4-FFF2-40B4-BE49-F238E27FC236}">
                <a16:creationId xmlns:a16="http://schemas.microsoft.com/office/drawing/2014/main" id="{1909A1F8-99B3-40A5-A1D1-718C670C4770}"/>
              </a:ext>
            </a:extLst>
          </p:cNvPr>
          <p:cNvSpPr>
            <a:spLocks xmlns:a="http://schemas.openxmlformats.org/drawingml/2006/main" noGrp="1"/>
          </p:cNvSpPr>
          <p:nvPr/>
        </p:nvSpPr>
        <p:spPr>
          <a:xfrm xmlns:a="http://schemas.openxmlformats.org/drawingml/2006/main">
            <a:off x="8915400" y="46482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test</a:t>
            </a:r>
          </a:p>
        </p:txBody>
      </p:sp>
      <p:sp>
        <p:nvSpPr>
          <p:cNvPr id="8" name="F1 seed 0. Tỷ lệ lớp tính trên các nút có nhãn. Chưa chứng m">
            <a:extLst xmlns:a="http://schemas.openxmlformats.org/drawingml/2006/main">
              <a:ext uri="{FF2B5EF4-FFF2-40B4-BE49-F238E27FC236}">
                <a16:creationId xmlns:a16="http://schemas.microsoft.com/office/drawing/2014/main" id="{72920434-4922-43CB-AAF9-933865E67C4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F1 seed 0. Tỷ lệ lớp tính trên các nút có nhãn. Chưa chứng minh nguyên nhân suy giảm.</a:t>
            </a:r>
          </a:p>
        </p:txBody>
      </p:sp>
    </p:spTree>
    <p:extLst>
      <p:ext uri="{BB962C8B-B14F-4D97-AF65-F5344CB8AC3E}">
        <p14:creationId xmlns:p14="http://schemas.microsoft.com/office/powerpoint/2010/main" val="723702420"/>
      </p:ext>
    </p:extLst>
  </p:cSld>
</p:sld>
</file>

<file path=ppt/slides/slide1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27A84AC-42D4-4F0E-A3AD-D55A6C822EC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Vì sao bản đầu GCN thấp?</a:t>
            </a:r>
          </a:p>
        </p:txBody>
      </p:sp>
      <p:sp>
        <p:nvSpPr>
          <p:cNvPr id="2" name="19 / 26">
            <a:extLst xmlns:a="http://schemas.openxmlformats.org/drawingml/2006/main">
              <a:ext uri="{FF2B5EF4-FFF2-40B4-BE49-F238E27FC236}">
                <a16:creationId xmlns:a16="http://schemas.microsoft.com/office/drawing/2014/main" id="{729DD2D8-B5E6-4E6F-9454-3055D1D51591}"/>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19 / 26</a:t>
            </a:r>
          </a:p>
        </p:txBody>
      </p:sp>
      <p:sp>
        <p:nvSpPr>
          <p:cNvPr id="3" name="01">
            <a:extLst xmlns:a="http://schemas.openxmlformats.org/drawingml/2006/main">
              <a:ext uri="{FF2B5EF4-FFF2-40B4-BE49-F238E27FC236}">
                <a16:creationId xmlns:a16="http://schemas.microsoft.com/office/drawing/2014/main" id="{40F3E4CC-9AB6-42EE-8B9D-E22DC40AA4BD}"/>
              </a:ext>
            </a:extLst>
          </p:cNvPr>
          <p:cNvSpPr>
            <a:spLocks xmlns:a="http://schemas.openxmlformats.org/drawingml/2006/main" noGrp="1"/>
          </p:cNvSpPr>
          <p:nvPr/>
        </p:nvSpPr>
        <p:spPr>
          <a:xfrm xmlns:a="http://schemas.openxmlformats.org/drawingml/2006/main">
            <a:off x="609600" y="17716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Ban đầu: 74,8% AP validation">
            <a:extLst xmlns:a="http://schemas.openxmlformats.org/drawingml/2006/main">
              <a:ext uri="{FF2B5EF4-FFF2-40B4-BE49-F238E27FC236}">
                <a16:creationId xmlns:a16="http://schemas.microsoft.com/office/drawing/2014/main" id="{1FE1B62B-6F46-4648-87B1-A0E16F1736C2}"/>
              </a:ext>
            </a:extLst>
          </p:cNvPr>
          <p:cNvSpPr>
            <a:spLocks xmlns:a="http://schemas.openxmlformats.org/drawingml/2006/main" noGrp="1"/>
          </p:cNvSpPr>
          <p:nvPr/>
        </p:nvSpPr>
        <p:spPr>
          <a:xfrm xmlns:a="http://schemas.openxmlformats.org/drawingml/2006/main">
            <a:off x="1752600" y="18288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Ban đầu: 74,8% AP validation</a:t>
            </a:r>
          </a:p>
        </p:txBody>
      </p:sp>
      <p:sp>
        <p:nvSpPr>
          <p:cNvPr id="5" name="02">
            <a:extLst xmlns:a="http://schemas.openxmlformats.org/drawingml/2006/main">
              <a:ext uri="{FF2B5EF4-FFF2-40B4-BE49-F238E27FC236}">
                <a16:creationId xmlns:a16="http://schemas.microsoft.com/office/drawing/2014/main" id="{62AB798B-EB83-45F0-8E05-56141DF3E00A}"/>
              </a:ext>
            </a:extLst>
          </p:cNvPr>
          <p:cNvSpPr>
            <a:spLocks xmlns:a="http://schemas.openxmlformats.org/drawingml/2006/main" noGrp="1"/>
          </p:cNvSpPr>
          <p:nvPr/>
        </p:nvSpPr>
        <p:spPr>
          <a:xfrm xmlns:a="http://schemas.openxmlformats.org/drawingml/2006/main">
            <a:off x="609600" y="29241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ăng ngân sách: 86,1% AP">
            <a:extLst xmlns:a="http://schemas.openxmlformats.org/drawingml/2006/main">
              <a:ext uri="{FF2B5EF4-FFF2-40B4-BE49-F238E27FC236}">
                <a16:creationId xmlns:a16="http://schemas.microsoft.com/office/drawing/2014/main" id="{BE5320FC-F574-4005-8D70-24CD207EB5B8}"/>
              </a:ext>
            </a:extLst>
          </p:cNvPr>
          <p:cNvSpPr>
            <a:spLocks xmlns:a="http://schemas.openxmlformats.org/drawingml/2006/main" noGrp="1"/>
          </p:cNvSpPr>
          <p:nvPr/>
        </p:nvSpPr>
        <p:spPr>
          <a:xfrm xmlns:a="http://schemas.openxmlformats.org/drawingml/2006/main">
            <a:off x="1752600" y="29813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Tăng ngân sách: 86,1% AP</a:t>
            </a:r>
          </a:p>
        </p:txBody>
      </p:sp>
      <p:sp>
        <p:nvSpPr>
          <p:cNvPr id="7" name="03">
            <a:extLst xmlns:a="http://schemas.openxmlformats.org/drawingml/2006/main">
              <a:ext uri="{FF2B5EF4-FFF2-40B4-BE49-F238E27FC236}">
                <a16:creationId xmlns:a16="http://schemas.microsoft.com/office/drawing/2014/main" id="{301EA5E7-722B-4431-8321-EBF64DE74986}"/>
              </a:ext>
            </a:extLst>
          </p:cNvPr>
          <p:cNvSpPr>
            <a:spLocks xmlns:a="http://schemas.openxmlformats.org/drawingml/2006/main" noGrp="1"/>
          </p:cNvSpPr>
          <p:nvPr/>
        </p:nvSpPr>
        <p:spPr>
          <a:xfrm xmlns:a="http://schemas.openxmlformats.org/drawingml/2006/main">
            <a:off x="609600" y="40767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Cấu hình được chọn: 96,2% AP">
            <a:extLst xmlns:a="http://schemas.openxmlformats.org/drawingml/2006/main">
              <a:ext uri="{FF2B5EF4-FFF2-40B4-BE49-F238E27FC236}">
                <a16:creationId xmlns:a16="http://schemas.microsoft.com/office/drawing/2014/main" id="{3484B6FD-D086-4999-8FD1-2AE0461D274C}"/>
              </a:ext>
            </a:extLst>
          </p:cNvPr>
          <p:cNvSpPr>
            <a:spLocks xmlns:a="http://schemas.openxmlformats.org/drawingml/2006/main" noGrp="1"/>
          </p:cNvSpPr>
          <p:nvPr/>
        </p:nvSpPr>
        <p:spPr>
          <a:xfrm xmlns:a="http://schemas.openxmlformats.org/drawingml/2006/main">
            <a:off x="1752600" y="41338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Cấu hình được chọn: 96,2% AP</a:t>
            </a:r>
          </a:p>
        </p:txBody>
      </p:sp>
      <p:sp>
        <p:nvSpPr>
          <p:cNvPr id="9" name="Đường học và số liệu từng đối chứng: optimization.html trong">
            <a:extLst xmlns:a="http://schemas.openxmlformats.org/drawingml/2006/main">
              <a:ext uri="{FF2B5EF4-FFF2-40B4-BE49-F238E27FC236}">
                <a16:creationId xmlns:a16="http://schemas.microsoft.com/office/drawing/2014/main" id="{0BC067B6-12D2-4300-A403-4FFB6D4FA81B}"/>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Đường học và số liệu từng đối chứng: optimization.html trong demo.</a:t>
            </a:r>
          </a:p>
        </p:txBody>
      </p:sp>
    </p:spTree>
    <p:extLst>
      <p:ext uri="{BB962C8B-B14F-4D97-AF65-F5344CB8AC3E}">
        <p14:creationId xmlns:p14="http://schemas.microsoft.com/office/powerpoint/2010/main" val="1497924995"/>
      </p:ext>
    </p:extLst>
  </p:cSld>
</p:sld>
</file>

<file path=ppt/slides/slide2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4C462CEA-D969-4ADE-86A2-D848FF7982AB}"/>
              </a:ext>
            </a:extLst>
          </p:cNvPr>
          <p:cNvCxnSpPr>
            <a:stCxn xmlns:a="http://schemas.openxmlformats.org/drawingml/2006/main" id="3" idx="2"/>
            <a:endCxn xmlns:a="http://schemas.openxmlformats.org/drawingml/2006/main" id="9" idx="7"/>
          </p:cNvCxnSpPr>
          <p:nvPr/>
        </p:nvCxnSpPr>
        <p:spPr>
          <a:xfrm xmlns:a="http://schemas.openxmlformats.org/drawingml/2006/main" flipH="1">
            <a:off x="1695834" y="3505200"/>
            <a:ext cx="1580766" cy="63763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2" name="">
            <a:extLst xmlns:a="http://schemas.openxmlformats.org/drawingml/2006/main">
              <a:ext uri="{FF2B5EF4-FFF2-40B4-BE49-F238E27FC236}">
                <a16:creationId xmlns:a16="http://schemas.microsoft.com/office/drawing/2014/main" id="{94A42A6A-AAA2-45AA-9529-A7D1858B38A2}"/>
              </a:ext>
            </a:extLst>
          </p:cNvPr>
          <p:cNvCxnSpPr>
            <a:stCxn xmlns:a="http://schemas.openxmlformats.org/drawingml/2006/main" id="7" idx="1"/>
            <a:endCxn xmlns:a="http://schemas.openxmlformats.org/drawingml/2006/main" id="3" idx="6"/>
          </p:cNvCxnSpPr>
          <p:nvPr/>
        </p:nvCxnSpPr>
        <p:spPr>
          <a:xfrm xmlns:a="http://schemas.openxmlformats.org/drawingml/2006/main" flipH="1" flipV="1">
            <a:off x="3695700" y="3505200"/>
            <a:ext cx="1580766" cy="63763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1" name="">
            <a:extLst xmlns:a="http://schemas.openxmlformats.org/drawingml/2006/main">
              <a:ext uri="{FF2B5EF4-FFF2-40B4-BE49-F238E27FC236}">
                <a16:creationId xmlns:a16="http://schemas.microsoft.com/office/drawing/2014/main" id="{11A6CD7A-8BC6-4791-95DE-466C32AE485B}"/>
              </a:ext>
            </a:extLst>
          </p:cNvPr>
          <p:cNvCxnSpPr>
            <a:stCxn xmlns:a="http://schemas.openxmlformats.org/drawingml/2006/main" id="3" idx="0"/>
            <a:endCxn xmlns:a="http://schemas.openxmlformats.org/drawingml/2006/main" id="5" idx="4"/>
          </p:cNvCxnSpPr>
          <p:nvPr/>
        </p:nvCxnSpPr>
        <p:spPr>
          <a:xfrm xmlns:a="http://schemas.openxmlformats.org/drawingml/2006/main" flipV="1">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1" name="slide-title">
            <a:extLst xmlns:a="http://schemas.openxmlformats.org/drawingml/2006/main">
              <a:ext uri="{FF2B5EF4-FFF2-40B4-BE49-F238E27FC236}">
                <a16:creationId xmlns:a16="http://schemas.microsoft.com/office/drawing/2014/main" id="{735A0243-AD8F-44B7-956A-7F78122AF01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GCN phát hiện đúng</a:t>
            </a:r>
          </a:p>
        </p:txBody>
      </p:sp>
      <p:sp>
        <p:nvSpPr>
          <p:cNvPr id="2" name="20 / 26">
            <a:extLst xmlns:a="http://schemas.openxmlformats.org/drawingml/2006/main">
              <a:ext uri="{FF2B5EF4-FFF2-40B4-BE49-F238E27FC236}">
                <a16:creationId xmlns:a16="http://schemas.microsoft.com/office/drawing/2014/main" id="{F32D2FBC-C1D5-420A-89A9-8B51D0A02D6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20 / 26</a:t>
            </a:r>
          </a:p>
        </p:txBody>
      </p:sp>
      <p:sp>
        <p:nvSpPr>
          <p:cNvPr id="3" name="">
            <a:extLst xmlns:a="http://schemas.openxmlformats.org/drawingml/2006/main">
              <a:ext uri="{FF2B5EF4-FFF2-40B4-BE49-F238E27FC236}">
                <a16:creationId xmlns:a16="http://schemas.microsoft.com/office/drawing/2014/main" id="{D7495157-6B73-4D4C-9DFA-C95E2F387F3C}"/>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4" name="69756172">
            <a:extLst xmlns:a="http://schemas.openxmlformats.org/drawingml/2006/main">
              <a:ext uri="{FF2B5EF4-FFF2-40B4-BE49-F238E27FC236}">
                <a16:creationId xmlns:a16="http://schemas.microsoft.com/office/drawing/2014/main" id="{133E08BB-FDF4-4B61-9B1E-DF38627F9703}"/>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69756172</a:t>
            </a:r>
          </a:p>
        </p:txBody>
      </p:sp>
      <p:sp>
        <p:nvSpPr>
          <p:cNvPr id="5" name="">
            <a:extLst xmlns:a="http://schemas.openxmlformats.org/drawingml/2006/main">
              <a:ext uri="{FF2B5EF4-FFF2-40B4-BE49-F238E27FC236}">
                <a16:creationId xmlns:a16="http://schemas.microsoft.com/office/drawing/2014/main" id="{3D6A3B83-5C36-4B92-B8E9-51849C23DA52}"/>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6" name="86875050">
            <a:extLst xmlns:a="http://schemas.openxmlformats.org/drawingml/2006/main">
              <a:ext uri="{FF2B5EF4-FFF2-40B4-BE49-F238E27FC236}">
                <a16:creationId xmlns:a16="http://schemas.microsoft.com/office/drawing/2014/main" id="{00A906A4-50C0-4296-8580-F0F9240B4238}"/>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86875050</a:t>
            </a:r>
          </a:p>
        </p:txBody>
      </p:sp>
      <p:sp>
        <p:nvSpPr>
          <p:cNvPr id="7" name="">
            <a:extLst xmlns:a="http://schemas.openxmlformats.org/drawingml/2006/main">
              <a:ext uri="{FF2B5EF4-FFF2-40B4-BE49-F238E27FC236}">
                <a16:creationId xmlns:a16="http://schemas.microsoft.com/office/drawing/2014/main" id="{FDCC3CF2-2F7D-4123-8774-2361CE069907}"/>
              </a:ext>
            </a:extLst>
          </p:cNvPr>
          <p:cNvSpPr>
            <a:spLocks xmlns:a="http://schemas.openxmlformats.org/drawingml/2006/main" noGrp="1"/>
          </p:cNvSpPr>
          <p:nvPr/>
        </p:nvSpPr>
        <p:spPr>
          <a:xfrm xmlns:a="http://schemas.openxmlformats.org/drawingml/2006/main">
            <a:off x="5215090" y="4081463"/>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8" name="69392537">
            <a:extLst xmlns:a="http://schemas.openxmlformats.org/drawingml/2006/main">
              <a:ext uri="{FF2B5EF4-FFF2-40B4-BE49-F238E27FC236}">
                <a16:creationId xmlns:a16="http://schemas.microsoft.com/office/drawing/2014/main" id="{E8F5092B-A711-4BAE-BA23-42E09780601A}"/>
              </a:ext>
            </a:extLst>
          </p:cNvPr>
          <p:cNvSpPr>
            <a:spLocks xmlns:a="http://schemas.openxmlformats.org/drawingml/2006/main" noGrp="1"/>
          </p:cNvSpPr>
          <p:nvPr/>
        </p:nvSpPr>
        <p:spPr>
          <a:xfrm xmlns:a="http://schemas.openxmlformats.org/drawingml/2006/main">
            <a:off x="4719790" y="4567238"/>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69392537</a:t>
            </a:r>
          </a:p>
        </p:txBody>
      </p:sp>
      <p:sp>
        <p:nvSpPr>
          <p:cNvPr id="9" name="">
            <a:extLst xmlns:a="http://schemas.openxmlformats.org/drawingml/2006/main">
              <a:ext uri="{FF2B5EF4-FFF2-40B4-BE49-F238E27FC236}">
                <a16:creationId xmlns:a16="http://schemas.microsoft.com/office/drawing/2014/main" id="{6581A369-75CD-4CCE-A9D4-E1EF6C56A0EB}"/>
              </a:ext>
            </a:extLst>
          </p:cNvPr>
          <p:cNvSpPr>
            <a:spLocks xmlns:a="http://schemas.openxmlformats.org/drawingml/2006/main" noGrp="1"/>
          </p:cNvSpPr>
          <p:nvPr/>
        </p:nvSpPr>
        <p:spPr>
          <a:xfrm xmlns:a="http://schemas.openxmlformats.org/drawingml/2006/main">
            <a:off x="1338110" y="4081463"/>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70360850">
            <a:extLst xmlns:a="http://schemas.openxmlformats.org/drawingml/2006/main">
              <a:ext uri="{FF2B5EF4-FFF2-40B4-BE49-F238E27FC236}">
                <a16:creationId xmlns:a16="http://schemas.microsoft.com/office/drawing/2014/main" id="{D3FCA3EB-7349-4438-BBD0-D1C8F87F1F5C}"/>
              </a:ext>
            </a:extLst>
          </p:cNvPr>
          <p:cNvSpPr>
            <a:spLocks xmlns:a="http://schemas.openxmlformats.org/drawingml/2006/main" noGrp="1"/>
          </p:cNvSpPr>
          <p:nvPr/>
        </p:nvSpPr>
        <p:spPr>
          <a:xfrm xmlns:a="http://schemas.openxmlformats.org/drawingml/2006/main">
            <a:off x="842810" y="4567238"/>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70360850</a:t>
            </a:r>
          </a:p>
        </p:txBody>
      </p:sp>
      <p:sp>
        <p:nvSpPr>
          <p:cNvPr id="14" name="Màu theo nhãn tham chiếu">
            <a:extLst xmlns:a="http://schemas.openxmlformats.org/drawingml/2006/main">
              <a:ext uri="{FF2B5EF4-FFF2-40B4-BE49-F238E27FC236}">
                <a16:creationId xmlns:a16="http://schemas.microsoft.com/office/drawing/2014/main" id="{89BA65F1-E763-4C95-ACB0-5074EC8C6E7F}"/>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15" name="Illicit / Licit / Unknown">
            <a:extLst xmlns:a="http://schemas.openxmlformats.org/drawingml/2006/main">
              <a:ext uri="{FF2B5EF4-FFF2-40B4-BE49-F238E27FC236}">
                <a16:creationId xmlns:a16="http://schemas.microsoft.com/office/drawing/2014/main" id="{3356FF7F-48F0-40E1-9F9B-55EDD29976ED}"/>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16" name="GCN + skip">
            <a:extLst xmlns:a="http://schemas.openxmlformats.org/drawingml/2006/main">
              <a:ext uri="{FF2B5EF4-FFF2-40B4-BE49-F238E27FC236}">
                <a16:creationId xmlns:a16="http://schemas.microsoft.com/office/drawing/2014/main" id="{B7569F77-1945-4331-8EC3-004E64584C8F}"/>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17" name="0,9972">
            <a:extLst xmlns:a="http://schemas.openxmlformats.org/drawingml/2006/main">
              <a:ext uri="{FF2B5EF4-FFF2-40B4-BE49-F238E27FC236}">
                <a16:creationId xmlns:a16="http://schemas.microsoft.com/office/drawing/2014/main" id="{D61D1964-B102-4511-B998-F17ABF78443F}"/>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0,9972</a:t>
            </a:r>
          </a:p>
        </p:txBody>
      </p:sp>
      <p:sp>
        <p:nvSpPr>
          <p:cNvPr id="18" name="Ngưỡng: 0,7079">
            <a:extLst xmlns:a="http://schemas.openxmlformats.org/drawingml/2006/main">
              <a:ext uri="{FF2B5EF4-FFF2-40B4-BE49-F238E27FC236}">
                <a16:creationId xmlns:a16="http://schemas.microsoft.com/office/drawing/2014/main" id="{A82E953B-3296-452D-A0EE-FA1B85B5F8B9}"/>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0,7079</a:t>
            </a:r>
          </a:p>
        </p:txBody>
      </p:sp>
      <p:sp>
        <p:nvSpPr>
          <p:cNvPr id="19" name="Nhãn: illicit">
            <a:extLst xmlns:a="http://schemas.openxmlformats.org/drawingml/2006/main">
              <a:ext uri="{FF2B5EF4-FFF2-40B4-BE49-F238E27FC236}">
                <a16:creationId xmlns:a16="http://schemas.microsoft.com/office/drawing/2014/main" id="{D82D9915-533B-4464-82BB-51B604C68967}"/>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illicit</a:t>
            </a:r>
          </a:p>
        </p:txBody>
      </p:sp>
      <p:sp>
        <p:nvSpPr>
          <p:cNvPr id="20" name="Giao dịch 69756172, lát cắt 35. Mạng một bước, chọn sau đánh">
            <a:extLst xmlns:a="http://schemas.openxmlformats.org/drawingml/2006/main">
              <a:ext uri="{FF2B5EF4-FFF2-40B4-BE49-F238E27FC236}">
                <a16:creationId xmlns:a16="http://schemas.microsoft.com/office/drawing/2014/main" id="{EDD51E2F-C40C-4917-8CD2-82A6BB4F10F1}"/>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69756172, lát cắt 35. Mạng một bước, chọn sau đánh giá để minh họa.</a:t>
            </a:r>
          </a:p>
        </p:txBody>
      </p:sp>
    </p:spTree>
    <p:extLst>
      <p:ext uri="{BB962C8B-B14F-4D97-AF65-F5344CB8AC3E}">
        <p14:creationId xmlns:p14="http://schemas.microsoft.com/office/powerpoint/2010/main" val="1736523819"/>
      </p:ext>
    </p:extLst>
  </p:cSld>
</p:sld>
</file>

<file path=ppt/slides/slide2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69C7A13-5544-4C52-AA79-6DD8999238D3}"/>
              </a:ext>
            </a:extLst>
          </p:cNvPr>
          <p:cNvCxnSpPr>
            <a:stCxn xmlns:a="http://schemas.openxmlformats.org/drawingml/2006/main" id="13" idx="6"/>
            <a:endCxn xmlns:a="http://schemas.openxmlformats.org/drawingml/2006/main" id="3" idx="2"/>
          </p:cNvCxnSpPr>
          <p:nvPr/>
        </p:nvCxnSpPr>
        <p:spPr>
          <a:xfrm xmlns:a="http://schemas.openxmlformats.org/drawingml/2006/main">
            <a:off x="1566879"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8" name="">
            <a:extLst xmlns:a="http://schemas.openxmlformats.org/drawingml/2006/main">
              <a:ext uri="{FF2B5EF4-FFF2-40B4-BE49-F238E27FC236}">
                <a16:creationId xmlns:a16="http://schemas.microsoft.com/office/drawing/2014/main" id="{08CC2AF6-9870-4597-A894-41B4D1F8FFD2}"/>
              </a:ext>
            </a:extLst>
          </p:cNvPr>
          <p:cNvCxnSpPr>
            <a:stCxn xmlns:a="http://schemas.openxmlformats.org/drawingml/2006/main" id="3" idx="3"/>
            <a:endCxn xmlns:a="http://schemas.openxmlformats.org/drawingml/2006/main" id="11" idx="7"/>
          </p:cNvCxnSpPr>
          <p:nvPr/>
        </p:nvCxnSpPr>
        <p:spPr>
          <a:xfrm xmlns:a="http://schemas.openxmlformats.org/drawingml/2006/main" flipH="1">
            <a:off x="2318640"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7" name="">
            <a:extLst xmlns:a="http://schemas.openxmlformats.org/drawingml/2006/main">
              <a:ext uri="{FF2B5EF4-FFF2-40B4-BE49-F238E27FC236}">
                <a16:creationId xmlns:a16="http://schemas.microsoft.com/office/drawing/2014/main" id="{5D1C5D59-E2DD-45F9-BD1B-C9EFBF494D96}"/>
              </a:ext>
            </a:extLst>
          </p:cNvPr>
          <p:cNvCxnSpPr>
            <a:stCxn xmlns:a="http://schemas.openxmlformats.org/drawingml/2006/main" id="9" idx="1"/>
            <a:endCxn xmlns:a="http://schemas.openxmlformats.org/drawingml/2006/main" id="3" idx="5"/>
          </p:cNvCxnSpPr>
          <p:nvPr/>
        </p:nvCxnSpPr>
        <p:spPr>
          <a:xfrm xmlns:a="http://schemas.openxmlformats.org/drawingml/2006/main" flipH="1" flipV="1">
            <a:off x="3634324"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6" name="">
            <a:extLst xmlns:a="http://schemas.openxmlformats.org/drawingml/2006/main">
              <a:ext uri="{FF2B5EF4-FFF2-40B4-BE49-F238E27FC236}">
                <a16:creationId xmlns:a16="http://schemas.microsoft.com/office/drawing/2014/main" id="{01DEED61-66D3-4CAF-902B-3C2BA8EF2FDC}"/>
              </a:ext>
            </a:extLst>
          </p:cNvPr>
          <p:cNvCxnSpPr>
            <a:stCxn xmlns:a="http://schemas.openxmlformats.org/drawingml/2006/main" id="7" idx="2"/>
            <a:endCxn xmlns:a="http://schemas.openxmlformats.org/drawingml/2006/main" id="3" idx="6"/>
          </p:cNvCxnSpPr>
          <p:nvPr/>
        </p:nvCxnSpPr>
        <p:spPr>
          <a:xfrm xmlns:a="http://schemas.openxmlformats.org/drawingml/2006/main" flipH="1">
            <a:off x="3695700"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5" name="">
            <a:extLst xmlns:a="http://schemas.openxmlformats.org/drawingml/2006/main">
              <a:ext uri="{FF2B5EF4-FFF2-40B4-BE49-F238E27FC236}">
                <a16:creationId xmlns:a16="http://schemas.microsoft.com/office/drawing/2014/main" id="{93573EE0-9E37-431D-B60A-0542DB7AF5BA}"/>
              </a:ext>
            </a:extLst>
          </p:cNvPr>
          <p:cNvCxnSpPr>
            <a:stCxn xmlns:a="http://schemas.openxmlformats.org/drawingml/2006/main" id="5" idx="4"/>
            <a:endCxn xmlns:a="http://schemas.openxmlformats.org/drawingml/2006/main" id="3" idx="0"/>
          </p:cNvCxnSpPr>
          <p:nvPr/>
        </p:nvCxnSpPr>
        <p:spPr>
          <a:xfrm xmlns:a="http://schemas.openxmlformats.org/drawingml/2006/main">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7" name="slide-title">
            <a:extLst xmlns:a="http://schemas.openxmlformats.org/drawingml/2006/main">
              <a:ext uri="{FF2B5EF4-FFF2-40B4-BE49-F238E27FC236}">
                <a16:creationId xmlns:a16="http://schemas.microsoft.com/office/drawing/2014/main" id="{9C4ACD02-AE12-49CD-AAC5-08A3AAB8E07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cảnh báo nhầm</a:t>
            </a:r>
          </a:p>
        </p:txBody>
      </p:sp>
      <p:sp>
        <p:nvSpPr>
          <p:cNvPr id="2" name="21 / 26">
            <a:extLst xmlns:a="http://schemas.openxmlformats.org/drawingml/2006/main">
              <a:ext uri="{FF2B5EF4-FFF2-40B4-BE49-F238E27FC236}">
                <a16:creationId xmlns:a16="http://schemas.microsoft.com/office/drawing/2014/main" id="{620F6680-E11D-4F8A-A160-2D2431977230}"/>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21 / 26</a:t>
            </a:r>
          </a:p>
        </p:txBody>
      </p:sp>
      <p:sp>
        <p:nvSpPr>
          <p:cNvPr id="3" name="">
            <a:extLst xmlns:a="http://schemas.openxmlformats.org/drawingml/2006/main">
              <a:ext uri="{FF2B5EF4-FFF2-40B4-BE49-F238E27FC236}">
                <a16:creationId xmlns:a16="http://schemas.microsoft.com/office/drawing/2014/main" id="{F761CFB2-A24A-4600-A3B0-AEECCEA38608}"/>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201433814">
            <a:extLst xmlns:a="http://schemas.openxmlformats.org/drawingml/2006/main">
              <a:ext uri="{FF2B5EF4-FFF2-40B4-BE49-F238E27FC236}">
                <a16:creationId xmlns:a16="http://schemas.microsoft.com/office/drawing/2014/main" id="{24A050D0-38D4-45B0-BAA8-D53287707E60}"/>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201433814</a:t>
            </a:r>
          </a:p>
        </p:txBody>
      </p:sp>
      <p:sp>
        <p:nvSpPr>
          <p:cNvPr id="5" name="">
            <a:extLst xmlns:a="http://schemas.openxmlformats.org/drawingml/2006/main">
              <a:ext uri="{FF2B5EF4-FFF2-40B4-BE49-F238E27FC236}">
                <a16:creationId xmlns:a16="http://schemas.microsoft.com/office/drawing/2014/main" id="{C7B2EA98-EF45-4B09-BB24-BFA076B4F6B6}"/>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72567022">
            <a:extLst xmlns:a="http://schemas.openxmlformats.org/drawingml/2006/main">
              <a:ext uri="{FF2B5EF4-FFF2-40B4-BE49-F238E27FC236}">
                <a16:creationId xmlns:a16="http://schemas.microsoft.com/office/drawing/2014/main" id="{5A8E11EC-79C0-428B-88B9-92CD981583F8}"/>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72567022</a:t>
            </a:r>
          </a:p>
        </p:txBody>
      </p:sp>
      <p:sp>
        <p:nvSpPr>
          <p:cNvPr id="7" name="">
            <a:extLst xmlns:a="http://schemas.openxmlformats.org/drawingml/2006/main">
              <a:ext uri="{FF2B5EF4-FFF2-40B4-BE49-F238E27FC236}">
                <a16:creationId xmlns:a16="http://schemas.microsoft.com/office/drawing/2014/main" id="{8674C0AC-85EE-45A0-9EF7-E78E77AEF83D}"/>
              </a:ext>
            </a:extLst>
          </p:cNvPr>
          <p:cNvSpPr>
            <a:spLocks xmlns:a="http://schemas.openxmlformats.org/drawingml/2006/main" noGrp="1"/>
          </p:cNvSpPr>
          <p:nvPr/>
        </p:nvSpPr>
        <p:spPr>
          <a:xfrm xmlns:a="http://schemas.openxmlformats.org/drawingml/2006/main">
            <a:off x="5405421"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217663350">
            <a:extLst xmlns:a="http://schemas.openxmlformats.org/drawingml/2006/main">
              <a:ext uri="{FF2B5EF4-FFF2-40B4-BE49-F238E27FC236}">
                <a16:creationId xmlns:a16="http://schemas.microsoft.com/office/drawing/2014/main" id="{9E274659-6483-48E5-BF59-006E569F6C9C}"/>
              </a:ext>
            </a:extLst>
          </p:cNvPr>
          <p:cNvSpPr>
            <a:spLocks xmlns:a="http://schemas.openxmlformats.org/drawingml/2006/main" noGrp="1"/>
          </p:cNvSpPr>
          <p:nvPr/>
        </p:nvSpPr>
        <p:spPr>
          <a:xfrm xmlns:a="http://schemas.openxmlformats.org/drawingml/2006/main">
            <a:off x="4910121"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217663350</a:t>
            </a:r>
          </a:p>
        </p:txBody>
      </p:sp>
      <p:sp>
        <p:nvSpPr>
          <p:cNvPr id="9" name="">
            <a:extLst xmlns:a="http://schemas.openxmlformats.org/drawingml/2006/main">
              <a:ext uri="{FF2B5EF4-FFF2-40B4-BE49-F238E27FC236}">
                <a16:creationId xmlns:a16="http://schemas.microsoft.com/office/drawing/2014/main" id="{E9AFFA8C-E3D3-41A4-87B5-75084503FB18}"/>
              </a:ext>
            </a:extLst>
          </p:cNvPr>
          <p:cNvSpPr>
            <a:spLocks xmlns:a="http://schemas.openxmlformats.org/drawingml/2006/main" noGrp="1"/>
          </p:cNvSpPr>
          <p:nvPr/>
        </p:nvSpPr>
        <p:spPr>
          <a:xfrm xmlns:a="http://schemas.openxmlformats.org/drawingml/2006/main">
            <a:off x="4592284" y="456712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0" name="46672640">
            <a:extLst xmlns:a="http://schemas.openxmlformats.org/drawingml/2006/main">
              <a:ext uri="{FF2B5EF4-FFF2-40B4-BE49-F238E27FC236}">
                <a16:creationId xmlns:a16="http://schemas.microsoft.com/office/drawing/2014/main" id="{8C835F1E-02E1-4AB9-A110-49FAE8746419}"/>
              </a:ext>
            </a:extLst>
          </p:cNvPr>
          <p:cNvSpPr>
            <a:spLocks xmlns:a="http://schemas.openxmlformats.org/drawingml/2006/main" noGrp="1"/>
          </p:cNvSpPr>
          <p:nvPr/>
        </p:nvSpPr>
        <p:spPr>
          <a:xfrm xmlns:a="http://schemas.openxmlformats.org/drawingml/2006/main">
            <a:off x="4096984"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46672640</a:t>
            </a:r>
          </a:p>
        </p:txBody>
      </p:sp>
      <p:sp>
        <p:nvSpPr>
          <p:cNvPr id="11" name="">
            <a:extLst xmlns:a="http://schemas.openxmlformats.org/drawingml/2006/main">
              <a:ext uri="{FF2B5EF4-FFF2-40B4-BE49-F238E27FC236}">
                <a16:creationId xmlns:a16="http://schemas.microsoft.com/office/drawing/2014/main" id="{9495A396-81D1-4B2B-8906-D1FE067E12D5}"/>
              </a:ext>
            </a:extLst>
          </p:cNvPr>
          <p:cNvSpPr>
            <a:spLocks xmlns:a="http://schemas.openxmlformats.org/drawingml/2006/main" noGrp="1"/>
          </p:cNvSpPr>
          <p:nvPr/>
        </p:nvSpPr>
        <p:spPr>
          <a:xfrm xmlns:a="http://schemas.openxmlformats.org/drawingml/2006/main">
            <a:off x="1960916" y="4567121"/>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2" name="219615794">
            <a:extLst xmlns:a="http://schemas.openxmlformats.org/drawingml/2006/main">
              <a:ext uri="{FF2B5EF4-FFF2-40B4-BE49-F238E27FC236}">
                <a16:creationId xmlns:a16="http://schemas.microsoft.com/office/drawing/2014/main" id="{532D97E6-FE4B-4F9C-AB0B-6E46755C29B1}"/>
              </a:ext>
            </a:extLst>
          </p:cNvPr>
          <p:cNvSpPr>
            <a:spLocks xmlns:a="http://schemas.openxmlformats.org/drawingml/2006/main" noGrp="1"/>
          </p:cNvSpPr>
          <p:nvPr/>
        </p:nvSpPr>
        <p:spPr>
          <a:xfrm xmlns:a="http://schemas.openxmlformats.org/drawingml/2006/main">
            <a:off x="1465616"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219615794</a:t>
            </a:r>
          </a:p>
        </p:txBody>
      </p:sp>
      <p:sp>
        <p:nvSpPr>
          <p:cNvPr id="13" name="">
            <a:extLst xmlns:a="http://schemas.openxmlformats.org/drawingml/2006/main">
              <a:ext uri="{FF2B5EF4-FFF2-40B4-BE49-F238E27FC236}">
                <a16:creationId xmlns:a16="http://schemas.microsoft.com/office/drawing/2014/main" id="{7FC5B1D3-F21F-458B-A5CD-27B06392BA53}"/>
              </a:ext>
            </a:extLst>
          </p:cNvPr>
          <p:cNvSpPr>
            <a:spLocks xmlns:a="http://schemas.openxmlformats.org/drawingml/2006/main" noGrp="1"/>
          </p:cNvSpPr>
          <p:nvPr/>
        </p:nvSpPr>
        <p:spPr>
          <a:xfrm xmlns:a="http://schemas.openxmlformats.org/drawingml/2006/main">
            <a:off x="1147779"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4" name="124546130">
            <a:extLst xmlns:a="http://schemas.openxmlformats.org/drawingml/2006/main">
              <a:ext uri="{FF2B5EF4-FFF2-40B4-BE49-F238E27FC236}">
                <a16:creationId xmlns:a16="http://schemas.microsoft.com/office/drawing/2014/main" id="{C9E1F526-3931-46D4-AD81-B26A08104690}"/>
              </a:ext>
            </a:extLst>
          </p:cNvPr>
          <p:cNvSpPr>
            <a:spLocks xmlns:a="http://schemas.openxmlformats.org/drawingml/2006/main" noGrp="1"/>
          </p:cNvSpPr>
          <p:nvPr/>
        </p:nvSpPr>
        <p:spPr>
          <a:xfrm xmlns:a="http://schemas.openxmlformats.org/drawingml/2006/main">
            <a:off x="652479"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124546130</a:t>
            </a:r>
          </a:p>
        </p:txBody>
      </p:sp>
      <p:sp>
        <p:nvSpPr>
          <p:cNvPr id="20" name="Màu theo nhãn tham chiếu">
            <a:extLst xmlns:a="http://schemas.openxmlformats.org/drawingml/2006/main">
              <a:ext uri="{FF2B5EF4-FFF2-40B4-BE49-F238E27FC236}">
                <a16:creationId xmlns:a16="http://schemas.microsoft.com/office/drawing/2014/main" id="{849D6186-7129-443B-9CDB-299E2B615BF1}"/>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21" name="Illicit / Licit / Unknown">
            <a:extLst xmlns:a="http://schemas.openxmlformats.org/drawingml/2006/main">
              <a:ext uri="{FF2B5EF4-FFF2-40B4-BE49-F238E27FC236}">
                <a16:creationId xmlns:a16="http://schemas.microsoft.com/office/drawing/2014/main" id="{D6294D01-957C-406C-95A4-218739F9C2B7}"/>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22" name="GCN + skip">
            <a:extLst xmlns:a="http://schemas.openxmlformats.org/drawingml/2006/main">
              <a:ext uri="{FF2B5EF4-FFF2-40B4-BE49-F238E27FC236}">
                <a16:creationId xmlns:a16="http://schemas.microsoft.com/office/drawing/2014/main" id="{0E14723D-BB68-4DF9-87FC-A8A999F7739A}"/>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23" name="0,8350">
            <a:extLst xmlns:a="http://schemas.openxmlformats.org/drawingml/2006/main">
              <a:ext uri="{FF2B5EF4-FFF2-40B4-BE49-F238E27FC236}">
                <a16:creationId xmlns:a16="http://schemas.microsoft.com/office/drawing/2014/main" id="{92B900BA-FF8A-4E8E-9A11-E3C9BAD9E09C}"/>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0,8350</a:t>
            </a:r>
          </a:p>
        </p:txBody>
      </p:sp>
      <p:sp>
        <p:nvSpPr>
          <p:cNvPr id="24" name="Ngưỡng: 0,7079">
            <a:extLst xmlns:a="http://schemas.openxmlformats.org/drawingml/2006/main">
              <a:ext uri="{FF2B5EF4-FFF2-40B4-BE49-F238E27FC236}">
                <a16:creationId xmlns:a16="http://schemas.microsoft.com/office/drawing/2014/main" id="{EC9C81E7-9C06-4C45-89A9-D4CF4D5EAF04}"/>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0,7079</a:t>
            </a:r>
          </a:p>
        </p:txBody>
      </p:sp>
      <p:sp>
        <p:nvSpPr>
          <p:cNvPr id="25" name="Nhãn: licit">
            <a:extLst xmlns:a="http://schemas.openxmlformats.org/drawingml/2006/main">
              <a:ext uri="{FF2B5EF4-FFF2-40B4-BE49-F238E27FC236}">
                <a16:creationId xmlns:a16="http://schemas.microsoft.com/office/drawing/2014/main" id="{75D2023C-6311-4A2F-ADCC-F07128075E3E}"/>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licit</a:t>
            </a:r>
          </a:p>
        </p:txBody>
      </p:sp>
      <p:sp>
        <p:nvSpPr>
          <p:cNvPr id="26" name="Giao dịch 201433814, lát cắt 36. Mạng một bước, chọn sau đán">
            <a:extLst xmlns:a="http://schemas.openxmlformats.org/drawingml/2006/main">
              <a:ext uri="{FF2B5EF4-FFF2-40B4-BE49-F238E27FC236}">
                <a16:creationId xmlns:a16="http://schemas.microsoft.com/office/drawing/2014/main" id="{1C884E9D-9F86-4996-A491-2AFD2CCA5A7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201433814, lát cắt 36. Mạng một bước, chọn sau đánh giá để minh họa.</a:t>
            </a:r>
          </a:p>
        </p:txBody>
      </p:sp>
    </p:spTree>
    <p:extLst>
      <p:ext uri="{BB962C8B-B14F-4D97-AF65-F5344CB8AC3E}">
        <p14:creationId xmlns:p14="http://schemas.microsoft.com/office/powerpoint/2010/main" val="423238991"/>
      </p:ext>
    </p:extLst>
  </p:cSld>
</p:sld>
</file>

<file path=ppt/slides/slide2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0A6F914-CB84-4856-B381-9BC4B4ED22B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Demo trực tiếp</a:t>
            </a:r>
          </a:p>
        </p:txBody>
      </p:sp>
      <p:sp>
        <p:nvSpPr>
          <p:cNvPr id="2" name="22 / 26">
            <a:extLst xmlns:a="http://schemas.openxmlformats.org/drawingml/2006/main">
              <a:ext uri="{FF2B5EF4-FFF2-40B4-BE49-F238E27FC236}">
                <a16:creationId xmlns:a16="http://schemas.microsoft.com/office/drawing/2014/main" id="{99696F8D-6DAC-41AE-879B-13A88FE9C3BB}"/>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CBC25DBD-31F6-4533-988B-D2ABDD742F8D}"/>
              </a:ext>
            </a:extLst>
          </p:cNvPr>
          <p:cNvPicPr>
            <a:picLocks xmlns:a="http://schemas.openxmlformats.org/drawingml/2006/main" noChangeAspect="1"/>
          </p:cNvPicPr>
          <p:nvPr/>
        </p:nvPicPr>
        <p:blipFill>
          <a:blip xmlns:r="http://schemas.openxmlformats.org/officeDocument/2006/relationships" xmlns:a="http://schemas.openxmlformats.org/drawingml/2006/main" r:embed="R44db5c0cd95c4b3c"/>
          <a:stretch xmlns:a="http://schemas.openxmlformats.org/drawingml/2006/main"/>
        </p:blipFill>
        <p:spPr>
          <a:xfrm xmlns:a="http://schemas.openxmlformats.org/drawingml/2006/main">
            <a:off x="2074698" y="1514475"/>
            <a:ext cx="8042603" cy="3990975"/>
          </a:xfrm>
          <a:prstGeom xmlns:a="http://schemas.openxmlformats.org/drawingml/2006/main" prst="rect">
            <a:avLst/>
          </a:prstGeom>
        </p:spPr>
      </p:pic>
      <p:sp>
        <p:nvSpPr>
          <p:cNvPr id="4" name="7 phút: mở mạng, so sánh, đối chiếu và thử ngưỡng">
            <a:extLst xmlns:a="http://schemas.openxmlformats.org/drawingml/2006/main">
              <a:ext uri="{FF2B5EF4-FFF2-40B4-BE49-F238E27FC236}">
                <a16:creationId xmlns:a16="http://schemas.microsoft.com/office/drawing/2014/main" id="{39CB3148-69BC-4102-BE3F-4B07DAC8FEB9}"/>
              </a:ext>
            </a:extLst>
          </p:cNvPr>
          <p:cNvSpPr>
            <a:spLocks xmlns:a="http://schemas.openxmlformats.org/drawingml/2006/main" noGrp="1"/>
          </p:cNvSpPr>
          <p:nvPr/>
        </p:nvSpPr>
        <p:spPr>
          <a:xfrm xmlns:a="http://schemas.openxmlformats.org/drawingml/2006/main">
            <a:off x="609600" y="5619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796F"/>
                </a:solidFill>
                <a:latin typeface="Arial"/>
                <a:ea typeface="Arial"/>
                <a:cs typeface="Arial"/>
              </a:defRPr>
            </a:defPPr>
          </a:lstStyle>
          <a:p xmlns:a="http://schemas.openxmlformats.org/drawingml/2006/main">
            <a:pPr algn="l">
              <a:defRPr sz="2175" b="1">
                <a:solidFill>
                  <a:srgbClr val="16796F"/>
                </a:solidFill>
                <a:latin typeface="Arial"/>
                <a:ea typeface="Arial"/>
                <a:cs typeface="Arial"/>
              </a:defRPr>
            </a:pPr>
            <a:r>
              <a:rPr sz="2175" b="1">
                <a:solidFill>
                  <a:srgbClr val="16796F"/>
                </a:solidFill>
                <a:latin typeface="Arial"/>
                <a:ea typeface="Arial"/>
                <a:cs typeface="Arial"/>
              </a:rPr>
              <a:t>7 phút: mở mạng, so sánh, đối chiếu và thử ngưỡng</a:t>
            </a:r>
          </a:p>
        </p:txBody>
      </p:sp>
      <p:sp>
        <p:nvSpPr>
          <p:cNvPr id="5" name="elliptic-transaction-lab.pinkwand512.chatgpt.site  /  Local:">
            <a:extLst xmlns:a="http://schemas.openxmlformats.org/drawingml/2006/main">
              <a:ext uri="{FF2B5EF4-FFF2-40B4-BE49-F238E27FC236}">
                <a16:creationId xmlns:a16="http://schemas.microsoft.com/office/drawing/2014/main" id="{57ACFA7E-C02F-4287-917E-A62227237FA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elliptic-transaction-lab.pinkwand512.chatgpt.site  /  Local: 127.0.0.1:8767</a:t>
            </a:r>
          </a:p>
        </p:txBody>
      </p:sp>
    </p:spTree>
    <p:extLst>
      <p:ext uri="{BB962C8B-B14F-4D97-AF65-F5344CB8AC3E}">
        <p14:creationId xmlns:p14="http://schemas.microsoft.com/office/powerpoint/2010/main" val="249612256"/>
      </p:ext>
    </p:extLst>
  </p:cSld>
</p:sld>
</file>

<file path=ppt/slides/slide2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92D5A66-B105-4323-8828-E71D69F90AF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Cách demo chạy trên web</a:t>
            </a:r>
          </a:p>
        </p:txBody>
      </p:sp>
      <p:sp>
        <p:nvSpPr>
          <p:cNvPr id="2" name="23 / 26">
            <a:extLst xmlns:a="http://schemas.openxmlformats.org/drawingml/2006/main">
              <a:ext uri="{FF2B5EF4-FFF2-40B4-BE49-F238E27FC236}">
                <a16:creationId xmlns:a16="http://schemas.microsoft.com/office/drawing/2014/main" id="{4F6661D7-84BE-42F4-AA3A-89B5C3B2908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23 / 26</a:t>
            </a:r>
          </a:p>
        </p:txBody>
      </p:sp>
      <p:sp>
        <p:nvSpPr>
          <p:cNvPr id="3" name="01">
            <a:extLst xmlns:a="http://schemas.openxmlformats.org/drawingml/2006/main">
              <a:ext uri="{FF2B5EF4-FFF2-40B4-BE49-F238E27FC236}">
                <a16:creationId xmlns:a16="http://schemas.microsoft.com/office/drawing/2014/main" id="{745F8DA2-5EF4-4C02-876D-6C0FBE412995}"/>
              </a:ext>
            </a:extLst>
          </p:cNvPr>
          <p:cNvSpPr>
            <a:spLocks xmlns:a="http://schemas.openxmlformats.org/drawingml/2006/main" noGrp="1"/>
          </p:cNvSpPr>
          <p:nvPr/>
        </p:nvSpPr>
        <p:spPr>
          <a:xfrm xmlns:a="http://schemas.openxmlformats.org/drawingml/2006/main">
            <a:off x="609600" y="1685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ython huấn luyện và lưu checkpoint">
            <a:extLst xmlns:a="http://schemas.openxmlformats.org/drawingml/2006/main">
              <a:ext uri="{FF2B5EF4-FFF2-40B4-BE49-F238E27FC236}">
                <a16:creationId xmlns:a16="http://schemas.microsoft.com/office/drawing/2014/main" id="{E9B9AA09-7CEC-4F16-899B-016FAEE5EE67}"/>
              </a:ext>
            </a:extLst>
          </p:cNvPr>
          <p:cNvSpPr>
            <a:spLocks xmlns:a="http://schemas.openxmlformats.org/drawingml/2006/main" noGrp="1"/>
          </p:cNvSpPr>
          <p:nvPr/>
        </p:nvSpPr>
        <p:spPr>
          <a:xfrm xmlns:a="http://schemas.openxmlformats.org/drawingml/2006/main">
            <a:off x="1752600" y="1743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Python huấn luyện và lưu checkpoint</a:t>
            </a:r>
          </a:p>
        </p:txBody>
      </p:sp>
      <p:sp>
        <p:nvSpPr>
          <p:cNvPr id="5" name="02">
            <a:extLst xmlns:a="http://schemas.openxmlformats.org/drawingml/2006/main">
              <a:ext uri="{FF2B5EF4-FFF2-40B4-BE49-F238E27FC236}">
                <a16:creationId xmlns:a16="http://schemas.microsoft.com/office/drawing/2014/main" id="{ECD90421-6273-4010-90CE-F3EA99A75AA7}"/>
              </a:ext>
            </a:extLst>
          </p:cNvPr>
          <p:cNvSpPr>
            <a:spLocks xmlns:a="http://schemas.openxmlformats.org/drawingml/2006/main" noGrp="1"/>
          </p:cNvSpPr>
          <p:nvPr/>
        </p:nvSpPr>
        <p:spPr>
          <a:xfrm xmlns:a="http://schemas.openxmlformats.org/drawingml/2006/main">
            <a:off x="609600" y="27527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rình duyệt nạp đặc trưng, graph, trọng số">
            <a:extLst xmlns:a="http://schemas.openxmlformats.org/drawingml/2006/main">
              <a:ext uri="{FF2B5EF4-FFF2-40B4-BE49-F238E27FC236}">
                <a16:creationId xmlns:a16="http://schemas.microsoft.com/office/drawing/2014/main" id="{3C200C3A-5A8D-461C-A4A6-E03C503D113B}"/>
              </a:ext>
            </a:extLst>
          </p:cNvPr>
          <p:cNvSpPr>
            <a:spLocks xmlns:a="http://schemas.openxmlformats.org/drawingml/2006/main" noGrp="1"/>
          </p:cNvSpPr>
          <p:nvPr/>
        </p:nvSpPr>
        <p:spPr>
          <a:xfrm xmlns:a="http://schemas.openxmlformats.org/drawingml/2006/main">
            <a:off x="1752600" y="28098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Trình duyệt nạp đặc trưng, graph, trọng số</a:t>
            </a:r>
          </a:p>
        </p:txBody>
      </p:sp>
      <p:sp>
        <p:nvSpPr>
          <p:cNvPr id="7" name="03">
            <a:extLst xmlns:a="http://schemas.openxmlformats.org/drawingml/2006/main">
              <a:ext uri="{FF2B5EF4-FFF2-40B4-BE49-F238E27FC236}">
                <a16:creationId xmlns:a16="http://schemas.microsoft.com/office/drawing/2014/main" id="{EC5BFD76-C86F-4628-9FDC-306E5E8F37D4}"/>
              </a:ext>
            </a:extLst>
          </p:cNvPr>
          <p:cNvSpPr>
            <a:spLocks xmlns:a="http://schemas.openxmlformats.org/drawingml/2006/main" noGrp="1"/>
          </p:cNvSpPr>
          <p:nvPr/>
        </p:nvSpPr>
        <p:spPr>
          <a:xfrm xmlns:a="http://schemas.openxmlformats.org/drawingml/2006/main">
            <a:off x="609600" y="3819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GCN và MLP suy luận tại máy người xem">
            <a:extLst xmlns:a="http://schemas.openxmlformats.org/drawingml/2006/main">
              <a:ext uri="{FF2B5EF4-FFF2-40B4-BE49-F238E27FC236}">
                <a16:creationId xmlns:a16="http://schemas.microsoft.com/office/drawing/2014/main" id="{C78D0E6C-DA3E-4F0D-94E1-99540F789436}"/>
              </a:ext>
            </a:extLst>
          </p:cNvPr>
          <p:cNvSpPr>
            <a:spLocks xmlns:a="http://schemas.openxmlformats.org/drawingml/2006/main" noGrp="1"/>
          </p:cNvSpPr>
          <p:nvPr/>
        </p:nvSpPr>
        <p:spPr>
          <a:xfrm xmlns:a="http://schemas.openxmlformats.org/drawingml/2006/main">
            <a:off x="1752600" y="38766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GCN và MLP suy luận tại máy người xem</a:t>
            </a:r>
          </a:p>
        </p:txBody>
      </p:sp>
      <p:sp>
        <p:nvSpPr>
          <p:cNvPr id="9" name="RF tính trước. GCN và MLP chạy toàn snapshot. Đã đối chiếu 1">
            <a:extLst xmlns:a="http://schemas.openxmlformats.org/drawingml/2006/main">
              <a:ext uri="{FF2B5EF4-FFF2-40B4-BE49-F238E27FC236}">
                <a16:creationId xmlns:a16="http://schemas.microsoft.com/office/drawing/2014/main" id="{72938A3E-CEA0-4EA4-908B-7F348664FB4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tính trước. GCN và MLP chạy toàn snapshot. Đã đối chiếu 135.008 đầu ra với PyTorch.</a:t>
            </a:r>
          </a:p>
        </p:txBody>
      </p:sp>
    </p:spTree>
    <p:extLst>
      <p:ext uri="{BB962C8B-B14F-4D97-AF65-F5344CB8AC3E}">
        <p14:creationId xmlns:p14="http://schemas.microsoft.com/office/powerpoint/2010/main" val="1478818719"/>
      </p:ext>
    </p:extLst>
  </p:cSld>
</p:sld>
</file>

<file path=ppt/slides/slide2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FF7FAE7-2766-4C06-8021-32A8E5CF952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Giới hạn cần nói rõ</a:t>
            </a:r>
          </a:p>
        </p:txBody>
      </p:sp>
      <p:sp>
        <p:nvSpPr>
          <p:cNvPr id="2" name="24 / 26">
            <a:extLst xmlns:a="http://schemas.openxmlformats.org/drawingml/2006/main">
              <a:ext uri="{FF2B5EF4-FFF2-40B4-BE49-F238E27FC236}">
                <a16:creationId xmlns:a16="http://schemas.microsoft.com/office/drawing/2014/main" id="{0C0A2EFF-C3D0-400D-975B-A4426CFA15B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24 / 26</a:t>
            </a:r>
          </a:p>
        </p:txBody>
      </p:sp>
      <p:sp>
        <p:nvSpPr>
          <p:cNvPr id="3" name="01">
            <a:extLst xmlns:a="http://schemas.openxmlformats.org/drawingml/2006/main">
              <a:ext uri="{FF2B5EF4-FFF2-40B4-BE49-F238E27FC236}">
                <a16:creationId xmlns:a16="http://schemas.microsoft.com/office/drawing/2014/main" id="{034F718A-26E7-41D5-AB32-6A120B0B0130}"/>
              </a:ext>
            </a:extLst>
          </p:cNvPr>
          <p:cNvSpPr>
            <a:spLocks xmlns:a="http://schemas.openxmlformats.org/drawingml/2006/main" noGrp="1"/>
          </p:cNvSpPr>
          <p:nvPr/>
        </p:nvSpPr>
        <p:spPr>
          <a:xfrm xmlns:a="http://schemas.openxmlformats.org/drawingml/2006/main">
            <a:off x="609600" y="17049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hân loại ảnh chụp mạng lịch sử">
            <a:extLst xmlns:a="http://schemas.openxmlformats.org/drawingml/2006/main">
              <a:ext uri="{FF2B5EF4-FFF2-40B4-BE49-F238E27FC236}">
                <a16:creationId xmlns:a16="http://schemas.microsoft.com/office/drawing/2014/main" id="{2E083BC0-17F3-4B0D-A39D-4C5449D43D6F}"/>
              </a:ext>
            </a:extLst>
          </p:cNvPr>
          <p:cNvSpPr>
            <a:spLocks xmlns:a="http://schemas.openxmlformats.org/drawingml/2006/main" noGrp="1"/>
          </p:cNvSpPr>
          <p:nvPr/>
        </p:nvSpPr>
        <p:spPr>
          <a:xfrm xmlns:a="http://schemas.openxmlformats.org/drawingml/2006/main">
            <a:off x="1752600" y="17621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Phân loại ảnh chụp mạng lịch sử</a:t>
            </a:r>
          </a:p>
        </p:txBody>
      </p:sp>
      <p:sp>
        <p:nvSpPr>
          <p:cNvPr id="5" name="02">
            <a:extLst xmlns:a="http://schemas.openxmlformats.org/drawingml/2006/main">
              <a:ext uri="{FF2B5EF4-FFF2-40B4-BE49-F238E27FC236}">
                <a16:creationId xmlns:a16="http://schemas.microsoft.com/office/drawing/2014/main" id="{7707E295-E0D2-4509-B93C-00ECEFD79B08}"/>
              </a:ext>
            </a:extLst>
          </p:cNvPr>
          <p:cNvSpPr>
            <a:spLocks xmlns:a="http://schemas.openxmlformats.org/drawingml/2006/main" noGrp="1"/>
          </p:cNvSpPr>
          <p:nvPr/>
        </p:nvSpPr>
        <p:spPr>
          <a:xfrm xmlns:a="http://schemas.openxmlformats.org/drawingml/2006/main">
            <a:off x="609600" y="2828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Đặc trưng ẩn danh, nhiều nút unknown">
            <a:extLst xmlns:a="http://schemas.openxmlformats.org/drawingml/2006/main">
              <a:ext uri="{FF2B5EF4-FFF2-40B4-BE49-F238E27FC236}">
                <a16:creationId xmlns:a16="http://schemas.microsoft.com/office/drawing/2014/main" id="{E11DD9F6-6D28-4ABB-BB45-61F66CBAEFAF}"/>
              </a:ext>
            </a:extLst>
          </p:cNvPr>
          <p:cNvSpPr>
            <a:spLocks xmlns:a="http://schemas.openxmlformats.org/drawingml/2006/main" noGrp="1"/>
          </p:cNvSpPr>
          <p:nvPr/>
        </p:nvSpPr>
        <p:spPr>
          <a:xfrm xmlns:a="http://schemas.openxmlformats.org/drawingml/2006/main">
            <a:off x="1752600" y="2886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Đặc trưng ẩn danh, nhiều nút unknown</a:t>
            </a:r>
          </a:p>
        </p:txBody>
      </p:sp>
      <p:sp>
        <p:nvSpPr>
          <p:cNvPr id="7" name="03">
            <a:extLst xmlns:a="http://schemas.openxmlformats.org/drawingml/2006/main">
              <a:ext uri="{FF2B5EF4-FFF2-40B4-BE49-F238E27FC236}">
                <a16:creationId xmlns:a16="http://schemas.microsoft.com/office/drawing/2014/main" id="{D47D3CFA-1F8C-40A1-9EB4-7CB4BB8485BE}"/>
              </a:ext>
            </a:extLst>
          </p:cNvPr>
          <p:cNvSpPr>
            <a:spLocks xmlns:a="http://schemas.openxmlformats.org/drawingml/2006/main" noGrp="1"/>
          </p:cNvSpPr>
          <p:nvPr/>
        </p:nvSpPr>
        <p:spPr>
          <a:xfrm xmlns:a="http://schemas.openxmlformats.org/drawingml/2006/main">
            <a:off x="609600" y="3952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Một lần chia thời gian và cấu hình gọn">
            <a:extLst xmlns:a="http://schemas.openxmlformats.org/drawingml/2006/main">
              <a:ext uri="{FF2B5EF4-FFF2-40B4-BE49-F238E27FC236}">
                <a16:creationId xmlns:a16="http://schemas.microsoft.com/office/drawing/2014/main" id="{C178E5E8-9AB2-4D2C-BB6D-DA39806DA73B}"/>
              </a:ext>
            </a:extLst>
          </p:cNvPr>
          <p:cNvSpPr>
            <a:spLocks xmlns:a="http://schemas.openxmlformats.org/drawingml/2006/main" noGrp="1"/>
          </p:cNvSpPr>
          <p:nvPr/>
        </p:nvSpPr>
        <p:spPr>
          <a:xfrm xmlns:a="http://schemas.openxmlformats.org/drawingml/2006/main">
            <a:off x="1752600" y="4010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Một lần chia thời gian và cấu hình gọn</a:t>
            </a:r>
          </a:p>
        </p:txBody>
      </p:sp>
      <p:sp>
        <p:nvSpPr>
          <p:cNvPr id="9" name="Hình graph hỗ trợ khám phá. Chưa chứng minh quan hệ nhân quả">
            <a:extLst xmlns:a="http://schemas.openxmlformats.org/drawingml/2006/main">
              <a:ext uri="{FF2B5EF4-FFF2-40B4-BE49-F238E27FC236}">
                <a16:creationId xmlns:a16="http://schemas.microsoft.com/office/drawing/2014/main" id="{4110364C-22EB-441F-81FE-FBDBDBFEB21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Hình graph hỗ trợ khám phá. Chưa chứng minh quan hệ nhân quả của dự đoán.</a:t>
            </a:r>
          </a:p>
        </p:txBody>
      </p:sp>
    </p:spTree>
    <p:extLst>
      <p:ext uri="{BB962C8B-B14F-4D97-AF65-F5344CB8AC3E}">
        <p14:creationId xmlns:p14="http://schemas.microsoft.com/office/powerpoint/2010/main" val="53028267"/>
      </p:ext>
    </p:extLst>
  </p:cSld>
</p:sld>
</file>

<file path=ppt/slides/slide2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C8BB2BA-9CBA-4F0E-8139-6C63E25AA7A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ngày chuẩn bị cho người demo</a:t>
            </a:r>
          </a:p>
        </p:txBody>
      </p:sp>
      <p:sp>
        <p:nvSpPr>
          <p:cNvPr id="2" name="25 / 26">
            <a:extLst xmlns:a="http://schemas.openxmlformats.org/drawingml/2006/main">
              <a:ext uri="{FF2B5EF4-FFF2-40B4-BE49-F238E27FC236}">
                <a16:creationId xmlns:a16="http://schemas.microsoft.com/office/drawing/2014/main" id="{20E8D2DF-F00F-483A-BA73-1B39D895143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25 / 26</a:t>
            </a:r>
          </a:p>
        </p:txBody>
      </p:sp>
      <p:graphicFrame>
        <p:nvGraphicFramePr>
          <p:cNvPr id="3" name="">
            <a:extLst xmlns:a="http://schemas.openxmlformats.org/drawingml/2006/main">
              <a:ext uri="{FF2B5EF4-FFF2-40B4-BE49-F238E27FC236}">
                <a16:creationId xmlns:a16="http://schemas.microsoft.com/office/drawing/2014/main" id="{18907EDB-A955-4066-AA9F-F4E05F9DD6CD}"/>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bandRow="0"/>
              <a:tblGrid>
                <a:gridCol w="1333500"/>
                <a:gridCol w="4095750"/>
                <a:gridCol w="5543550"/>
              </a:tblGrid>
              <a:tr h="762000">
                <a:tc>
                  <a:txBody>
                    <a:bodyPr/>
                    <a:lstStyle/>
                    <a:p>
                      <a:r>
                        <a:rPr sz="2025" b="1">
                          <a:solidFill>
                            <a:srgbClr val="FFFFFF"/>
                          </a:solidFill>
                          <a:latin typeface="Arial"/>
                          <a:ea typeface="Arial"/>
                          <a:cs typeface="Arial"/>
                        </a:rPr>
                        <a:t>Ngày</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Trọng tâm</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Tự kiểm tra</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62000">
                <a:tc>
                  <a:txBody>
                    <a:bodyPr/>
                    <a:lstStyle/>
                    <a:p>
                      <a:r>
                        <a:rPr sz="2025">
                          <a:solidFill>
                            <a:srgbClr val="182B2D"/>
                          </a:solidFill>
                          <a:latin typeface="Arial"/>
                          <a:ea typeface="Arial"/>
                          <a:cs typeface="Arial"/>
                        </a:rPr>
                        <a:t>1</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Dữ liệu, graph, nhãn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Giải thích trong 90 giây</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2</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GCN, chỉ số, ngưỡng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Đọc đúng bảng kết quả</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3</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Kịch bản và phản biện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Demo 7 phút, cả bản local</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oảng 3 giờ tập trung mỗi ngày">
            <a:extLst xmlns:a="http://schemas.openxmlformats.org/drawingml/2006/main">
              <a:ext uri="{FF2B5EF4-FFF2-40B4-BE49-F238E27FC236}">
                <a16:creationId xmlns:a16="http://schemas.microsoft.com/office/drawing/2014/main" id="{EE4BF96E-84FD-443E-877D-D2A3B4ABD43D}"/>
              </a:ext>
            </a:extLst>
          </p:cNvPr>
          <p:cNvSpPr>
            <a:spLocks xmlns:a="http://schemas.openxmlformats.org/drawingml/2006/main" noGrp="1"/>
          </p:cNvSpPr>
          <p:nvPr/>
        </p:nvSpPr>
        <p:spPr>
          <a:xfrm xmlns:a="http://schemas.openxmlformats.org/drawingml/2006/main">
            <a:off x="609600" y="53435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Khoảng 3 giờ tập trung mỗi ngày</a:t>
            </a:r>
          </a:p>
        </p:txBody>
      </p:sp>
    </p:spTree>
    <p:extLst>
      <p:ext uri="{BB962C8B-B14F-4D97-AF65-F5344CB8AC3E}">
        <p14:creationId xmlns:p14="http://schemas.microsoft.com/office/powerpoint/2010/main" val="628712444"/>
      </p:ext>
    </p:extLst>
  </p:cSld>
</p:sld>
</file>

<file path=ppt/slides/slide2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2A87E9C-D9FB-494E-B3EF-C2AD0AF173E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luận thực nghiệm</a:t>
            </a:r>
          </a:p>
        </p:txBody>
      </p:sp>
      <p:sp>
        <p:nvSpPr>
          <p:cNvPr id="2" name="26 / 26">
            <a:extLst xmlns:a="http://schemas.openxmlformats.org/drawingml/2006/main">
              <a:ext uri="{FF2B5EF4-FFF2-40B4-BE49-F238E27FC236}">
                <a16:creationId xmlns:a16="http://schemas.microsoft.com/office/drawing/2014/main" id="{5B65D4A4-A3BA-4C97-B17F-4008B0B06F0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26 / 26</a:t>
            </a:r>
          </a:p>
        </p:txBody>
      </p:sp>
      <p:sp>
        <p:nvSpPr>
          <p:cNvPr id="3" name="GCN: 36,5% thành 61,3% F1">
            <a:extLst xmlns:a="http://schemas.openxmlformats.org/drawingml/2006/main">
              <a:ext uri="{FF2B5EF4-FFF2-40B4-BE49-F238E27FC236}">
                <a16:creationId xmlns:a16="http://schemas.microsoft.com/office/drawing/2014/main" id="{08A1F86C-9B42-4E8D-907B-F09CB4A7CA9F}"/>
              </a:ext>
            </a:extLst>
          </p:cNvPr>
          <p:cNvSpPr>
            <a:spLocks xmlns:a="http://schemas.openxmlformats.org/drawingml/2006/main" noGrp="1"/>
          </p:cNvSpPr>
          <p:nvPr/>
        </p:nvSpPr>
        <p:spPr>
          <a:xfrm xmlns:a="http://schemas.openxmlformats.org/drawingml/2006/main">
            <a:off x="609600" y="167640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6796F"/>
                </a:solidFill>
                <a:latin typeface="Arial"/>
                <a:ea typeface="Arial"/>
                <a:cs typeface="Arial"/>
              </a:defRPr>
            </a:defPPr>
          </a:lstStyle>
          <a:p xmlns:a="http://schemas.openxmlformats.org/drawingml/2006/main">
            <a:pPr algn="l">
              <a:defRPr sz="4050" b="1">
                <a:solidFill>
                  <a:srgbClr val="16796F"/>
                </a:solidFill>
                <a:latin typeface="Arial"/>
                <a:ea typeface="Arial"/>
                <a:cs typeface="Arial"/>
              </a:defRPr>
            </a:pPr>
            <a:r>
              <a:rPr sz="4050" b="1">
                <a:solidFill>
                  <a:srgbClr val="16796F"/>
                </a:solidFill>
                <a:latin typeface="Arial"/>
                <a:ea typeface="Arial"/>
                <a:cs typeface="Arial"/>
              </a:rPr>
              <a:t>GCN: 36,5% thành 61,3% F1</a:t>
            </a:r>
          </a:p>
        </p:txBody>
      </p:sp>
      <p:sp>
        <p:nvSpPr>
          <p:cNvPr id="4" name="RF all có F1 cao nhất trong lần chia này">
            <a:extLst xmlns:a="http://schemas.openxmlformats.org/drawingml/2006/main">
              <a:ext uri="{FF2B5EF4-FFF2-40B4-BE49-F238E27FC236}">
                <a16:creationId xmlns:a16="http://schemas.microsoft.com/office/drawing/2014/main" id="{68FFEEEE-E7C4-48E2-ADE8-6720A8086394}"/>
              </a:ext>
            </a:extLst>
          </p:cNvPr>
          <p:cNvSpPr>
            <a:spLocks xmlns:a="http://schemas.openxmlformats.org/drawingml/2006/main" noGrp="1"/>
          </p:cNvSpPr>
          <p:nvPr/>
        </p:nvSpPr>
        <p:spPr>
          <a:xfrm xmlns:a="http://schemas.openxmlformats.org/drawingml/2006/main">
            <a:off x="638175" y="337185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82B2D"/>
                </a:solidFill>
                <a:latin typeface="Arial"/>
                <a:ea typeface="Arial"/>
                <a:cs typeface="Arial"/>
              </a:defRPr>
            </a:defPPr>
          </a:lstStyle>
          <a:p xmlns:a="http://schemas.openxmlformats.org/drawingml/2006/main">
            <a:pPr algn="l">
              <a:defRPr sz="2925" b="1">
                <a:solidFill>
                  <a:srgbClr val="182B2D"/>
                </a:solidFill>
                <a:latin typeface="Arial"/>
                <a:ea typeface="Arial"/>
                <a:cs typeface="Arial"/>
              </a:defRPr>
            </a:pPr>
            <a:r>
              <a:rPr sz="2925" b="1">
                <a:solidFill>
                  <a:srgbClr val="182B2D"/>
                </a:solidFill>
                <a:latin typeface="Arial"/>
                <a:ea typeface="Arial"/>
                <a:cs typeface="Arial"/>
              </a:rPr>
              <a:t>RF all có F1 cao nhất trong lần chia này</a:t>
            </a:r>
          </a:p>
        </p:txBody>
      </p:sp>
      <p:sp>
        <p:nvSpPr>
          <p:cNvPr id="5" name="Đối chứng cho thấy giới hạn của từng mô hình">
            <a:extLst xmlns:a="http://schemas.openxmlformats.org/drawingml/2006/main">
              <a:ext uri="{FF2B5EF4-FFF2-40B4-BE49-F238E27FC236}">
                <a16:creationId xmlns:a16="http://schemas.microsoft.com/office/drawing/2014/main" id="{E17F1529-330E-46D8-94A2-51D9A111CA6F}"/>
              </a:ext>
            </a:extLst>
          </p:cNvPr>
          <p:cNvSpPr>
            <a:spLocks xmlns:a="http://schemas.openxmlformats.org/drawingml/2006/main" noGrp="1"/>
          </p:cNvSpPr>
          <p:nvPr/>
        </p:nvSpPr>
        <p:spPr>
          <a:xfrm xmlns:a="http://schemas.openxmlformats.org/drawingml/2006/main">
            <a:off x="638175" y="48196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Đối chứng cho thấy giới hạn của từng mô hình</a:t>
            </a:r>
          </a:p>
        </p:txBody>
      </p:sp>
      <p:sp>
        <p:nvSpPr>
          <p:cNvPr id="6" name="Hỏi đáp. Nguồn dữ liệu, bài báo và kết quả từng seed có tron">
            <a:extLst xmlns:a="http://schemas.openxmlformats.org/drawingml/2006/main">
              <a:ext uri="{FF2B5EF4-FFF2-40B4-BE49-F238E27FC236}">
                <a16:creationId xmlns:a16="http://schemas.microsoft.com/office/drawing/2014/main" id="{A95AB8B6-698D-44B7-9613-0893200C2CE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Hỏi đáp. Nguồn dữ liệu, bài báo và kết quả từng seed có trong Notes và tài liệu học.</a:t>
            </a:r>
          </a:p>
        </p:txBody>
      </p:sp>
    </p:spTree>
    <p:extLst>
      <p:ext uri="{BB962C8B-B14F-4D97-AF65-F5344CB8AC3E}">
        <p14:creationId xmlns:p14="http://schemas.microsoft.com/office/powerpoint/2010/main" val="494823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2026-10-13T17:08:33.3060000Z</dcterms:created>
  <dcterms:modified xsi:type="dcterms:W3CDTF">2026-10-13T17:08:33.3060000Z</dcterms:modified>
</coreProperties>
</file>